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Lst>
  <p:sldSz cy="9753600" cx="13004800"/>
  <p:notesSz cx="6858000" cy="9144000"/>
  <p:embeddedFontLst>
    <p:embeddedFont>
      <p:font typeface="Helvetica Neue"/>
      <p:regular r:id="rId79"/>
      <p:bold r:id="rId80"/>
      <p:italic r:id="rId81"/>
      <p:boldItalic r:id="rId82"/>
    </p:embeddedFont>
    <p:embeddedFont>
      <p:font typeface="Helvetica Neue Light"/>
      <p:regular r:id="rId83"/>
      <p:bold r:id="rId84"/>
      <p:italic r:id="rId85"/>
      <p:boldItalic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7" roundtripDataSignature="AMtx7mgN3fiqsFiHnhW/LjssmOlnbuMF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font" Target="fonts/HelveticaNeueLight-bold.fntdata"/><Relationship Id="rId83" Type="http://schemas.openxmlformats.org/officeDocument/2006/relationships/font" Target="fonts/HelveticaNeueLight-regular.fntdata"/><Relationship Id="rId42" Type="http://schemas.openxmlformats.org/officeDocument/2006/relationships/slide" Target="slides/slide38.xml"/><Relationship Id="rId86" Type="http://schemas.openxmlformats.org/officeDocument/2006/relationships/font" Target="fonts/HelveticaNeueLight-boldItalic.fntdata"/><Relationship Id="rId41" Type="http://schemas.openxmlformats.org/officeDocument/2006/relationships/slide" Target="slides/slide37.xml"/><Relationship Id="rId85" Type="http://schemas.openxmlformats.org/officeDocument/2006/relationships/font" Target="fonts/HelveticaNeueLight-italic.fntdata"/><Relationship Id="rId44" Type="http://schemas.openxmlformats.org/officeDocument/2006/relationships/slide" Target="slides/slide40.xml"/><Relationship Id="rId43" Type="http://schemas.openxmlformats.org/officeDocument/2006/relationships/slide" Target="slides/slide39.xml"/><Relationship Id="rId87" Type="http://customschemas.google.com/relationships/presentationmetadata" Target="metadata"/><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font" Target="fonts/HelveticaNeue-bold.fntdata"/><Relationship Id="rId82" Type="http://schemas.openxmlformats.org/officeDocument/2006/relationships/font" Target="fonts/HelveticaNeue-boldItalic.fntdata"/><Relationship Id="rId81" Type="http://schemas.openxmlformats.org/officeDocument/2006/relationships/font" Target="fonts/HelveticaNeue-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font" Target="fonts/HelveticaNeue-regular.fntdata"/><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673eb35b80_2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673eb35b80_2_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0" name="Google Shape;9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5" name="Google Shape;10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0" name="Google Shape;11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6" name="Google Shape;12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22a1aa99bd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6" name="Google Shape;146;g222a1aa99b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22a1aa99bd_0_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2" name="Google Shape;162;g222a1aa99bd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65ac9f83fe_3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65ac9f83fe_3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65ac9f83fe_1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85" name="Google Shape;185;g365ac9f83fe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22a1aa99bd_0_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03" name="Google Shape;203;g222a1aa99bd_0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18" name="Google Shape;21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37" name="Google Shape;23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52" name="Google Shape;25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66" name="Google Shape;26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610181ab0c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82" name="Google Shape;282;g3610181ab0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610181ab0c_0_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91" name="Google Shape;291;g3610181ab0c_0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60f6df450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60f6df450a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60f6df450a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60f6df450a_0_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675a51192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675a51192a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675a51192a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675a51192a_0_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675a51192a_0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675a51192a_0_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65ac9f83fe_3_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65ac9f83fe_3_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65ac9f83fe_3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65ac9f83fe_3_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673eb35b80_0_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673eb35b80_0_6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673eb35b80_0_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673eb35b80_0_4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673eb35b80_0_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673eb35b80_0_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672ed3eb96_0_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672ed3eb96_0_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673eb35b80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673eb35b80_1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6775634400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6775634400_1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6775634400_1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6775634400_1_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676bad4611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676bad4611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676bad4611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676bad4611_0_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676bad4611_0_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676bad4611_0_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672ed3eb96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672ed3eb96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672ed3eb96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672ed3eb96_0_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673eb35b80_0_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44" name="Google Shape;444;g3673eb35b80_0_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67" name="Google Shape;46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675a51192a_0_9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93" name="Google Shape;493;g3675a51192a_0_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673eb35b80_0_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19" name="Google Shape;519;g3673eb35b80_0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673eb35b80_1_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43" name="Google Shape;543;g3673eb35b80_1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6775634400_1_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65" name="Google Shape;565;g36775634400_1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87" name="Google Shape;58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09" name="Google Shape;60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29" name="Google Shape;62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66035f45a8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55" name="Google Shape;655;g366035f45a8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6710b16073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80" name="Google Shape;680;g36710b16073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6710b16073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05" name="Google Shape;705;g36710b1607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6710b16073_0_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30" name="Google Shape;730;g36710b16073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6710b16073_0_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55" name="Google Shape;755;g36710b16073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66035f45a8_0_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80" name="Google Shape;780;g366035f45a8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673eb35b80_0_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05" name="Google Shape;805;g3673eb35b80_0_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30" name="Google Shape;83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56" name="Google Shape;85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70" name="Google Shape;87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84" name="Google Shape;88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66035f45a8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366035f45a8_0_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672ed3eb96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3672ed3eb96_0_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09" name="Google Shape;90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18" name="Google Shape;91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25" name="Google Shape;92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39" name="Google Shape;939;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54" name="Google Shape;95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69" name="Google Shape;96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83" name="Google Shape;98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97" name="Google Shape;99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11" name="Google Shape;101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25" name="Google Shape;1025;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41" name="Google Shape;104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55" name="Google Shape;105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6775634400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36775634400_0_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6775634400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36775634400_0_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6775634400_0_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36775634400_0_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84" name="Google Shape;108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ype="title">
  <p:cSld name="TITLE">
    <p:spTree>
      <p:nvGrpSpPr>
        <p:cNvPr id="9" name="Shape 9"/>
        <p:cNvGrpSpPr/>
        <p:nvPr/>
      </p:nvGrpSpPr>
      <p:grpSpPr>
        <a:xfrm>
          <a:off x="0" y="0"/>
          <a:ext cx="0" cy="0"/>
          <a:chOff x="0" y="0"/>
          <a:chExt cx="0" cy="0"/>
        </a:xfrm>
      </p:grpSpPr>
      <p:sp>
        <p:nvSpPr>
          <p:cNvPr id="10" name="Google Shape;10;p34"/>
          <p:cNvSpPr txBox="1"/>
          <p:nvPr>
            <p:ph idx="1" type="body"/>
          </p:nvPr>
        </p:nvSpPr>
        <p:spPr>
          <a:xfrm>
            <a:off x="698500" y="8657488"/>
            <a:ext cx="11607801" cy="461060"/>
          </a:xfrm>
          <a:prstGeom prst="rect">
            <a:avLst/>
          </a:prstGeom>
          <a:noFill/>
          <a:ln>
            <a:noFill/>
          </a:ln>
        </p:spPr>
        <p:txBody>
          <a:bodyPr anchorCtr="0" anchor="b" bIns="50800" lIns="50800" spcFirstLastPara="1" rIns="50800" wrap="square" tIns="50800">
            <a:noAutofit/>
          </a:bodyPr>
          <a:lstStyle>
            <a:lvl1pPr indent="-228600" lvl="0" marL="457200" algn="l">
              <a:lnSpc>
                <a:spcPct val="100000"/>
              </a:lnSpc>
              <a:spcBef>
                <a:spcPts val="0"/>
              </a:spcBef>
              <a:spcAft>
                <a:spcPts val="0"/>
              </a:spcAft>
              <a:buClr>
                <a:srgbClr val="000000"/>
              </a:buClr>
              <a:buSzPts val="2304"/>
              <a:buFont typeface="Helvetica Neue"/>
              <a:buNone/>
              <a:defRPr b="1" sz="2304"/>
            </a:lvl1pPr>
            <a:lvl2pPr indent="-369189" lvl="1" marL="914400" algn="l">
              <a:lnSpc>
                <a:spcPct val="90000"/>
              </a:lnSpc>
              <a:spcBef>
                <a:spcPts val="3200"/>
              </a:spcBef>
              <a:spcAft>
                <a:spcPts val="0"/>
              </a:spcAft>
              <a:buClr>
                <a:srgbClr val="000000"/>
              </a:buClr>
              <a:buSzPts val="2214"/>
              <a:buChar char="•"/>
              <a:defRPr/>
            </a:lvl2pPr>
            <a:lvl3pPr indent="-369189" lvl="2" marL="1371600" algn="l">
              <a:lnSpc>
                <a:spcPct val="90000"/>
              </a:lnSpc>
              <a:spcBef>
                <a:spcPts val="3200"/>
              </a:spcBef>
              <a:spcAft>
                <a:spcPts val="0"/>
              </a:spcAft>
              <a:buClr>
                <a:srgbClr val="000000"/>
              </a:buClr>
              <a:buSzPts val="2214"/>
              <a:buChar char="•"/>
              <a:defRPr/>
            </a:lvl3pPr>
            <a:lvl4pPr indent="-369189" lvl="3" marL="1828800" algn="l">
              <a:lnSpc>
                <a:spcPct val="90000"/>
              </a:lnSpc>
              <a:spcBef>
                <a:spcPts val="3200"/>
              </a:spcBef>
              <a:spcAft>
                <a:spcPts val="0"/>
              </a:spcAft>
              <a:buClr>
                <a:srgbClr val="000000"/>
              </a:buClr>
              <a:buSzPts val="2214"/>
              <a:buChar char="•"/>
              <a:defRPr/>
            </a:lvl4pPr>
            <a:lvl5pPr indent="-369189" lvl="4" marL="2286000" algn="l">
              <a:lnSpc>
                <a:spcPct val="90000"/>
              </a:lnSpc>
              <a:spcBef>
                <a:spcPts val="3200"/>
              </a:spcBef>
              <a:spcAft>
                <a:spcPts val="0"/>
              </a:spcAft>
              <a:buClr>
                <a:srgbClr val="000000"/>
              </a:buClr>
              <a:buSzPts val="2214"/>
              <a:buChar char="•"/>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11" name="Google Shape;11;p34"/>
          <p:cNvSpPr txBox="1"/>
          <p:nvPr>
            <p:ph type="title"/>
          </p:nvPr>
        </p:nvSpPr>
        <p:spPr>
          <a:xfrm>
            <a:off x="698500" y="1854200"/>
            <a:ext cx="11609057" cy="3302000"/>
          </a:xfrm>
          <a:prstGeom prst="rect">
            <a:avLst/>
          </a:prstGeom>
          <a:noFill/>
          <a:ln>
            <a:noFill/>
          </a:ln>
        </p:spPr>
        <p:txBody>
          <a:bodyPr anchorCtr="0" anchor="b" bIns="50800" lIns="50800" spcFirstLastPara="1" rIns="50800" wrap="square" tIns="50800">
            <a:noAutofit/>
          </a:bodyPr>
          <a:lstStyle>
            <a:lvl1pPr lvl="0" algn="l">
              <a:lnSpc>
                <a:spcPct val="80000"/>
              </a:lnSpc>
              <a:spcBef>
                <a:spcPts val="0"/>
              </a:spcBef>
              <a:spcAft>
                <a:spcPts val="0"/>
              </a:spcAft>
              <a:buClr>
                <a:srgbClr val="000000"/>
              </a:buClr>
              <a:buSzPts val="8200"/>
              <a:buFont typeface="Helvetica Neue"/>
              <a:buNone/>
              <a:defRPr sz="82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12" name="Google Shape;12;p34"/>
          <p:cNvSpPr txBox="1"/>
          <p:nvPr>
            <p:ph idx="2" type="body"/>
          </p:nvPr>
        </p:nvSpPr>
        <p:spPr>
          <a:xfrm>
            <a:off x="698500" y="5105400"/>
            <a:ext cx="11607800" cy="1456399"/>
          </a:xfrm>
          <a:prstGeom prst="rect">
            <a:avLst/>
          </a:prstGeom>
          <a:noFill/>
          <a:ln>
            <a:noFill/>
          </a:ln>
        </p:spPr>
        <p:txBody>
          <a:bodyPr anchorCtr="0" anchor="t" bIns="50800" lIns="50800" spcFirstLastPara="1" rIns="50800" wrap="square" tIns="50800">
            <a:noAutofit/>
          </a:bodyPr>
          <a:lstStyle>
            <a:lvl1pPr indent="-228600" lvl="0" marL="457200" algn="l">
              <a:lnSpc>
                <a:spcPct val="100000"/>
              </a:lnSpc>
              <a:spcBef>
                <a:spcPts val="0"/>
              </a:spcBef>
              <a:spcAft>
                <a:spcPts val="0"/>
              </a:spcAft>
              <a:buClr>
                <a:srgbClr val="000000"/>
              </a:buClr>
              <a:buSzPts val="3800"/>
              <a:buFont typeface="Helvetica Neue"/>
              <a:buNone/>
              <a:defRPr b="1" sz="3800"/>
            </a:lvl1pPr>
            <a:lvl2pPr indent="-228600" lvl="1" marL="914400" algn="l">
              <a:lnSpc>
                <a:spcPct val="100000"/>
              </a:lnSpc>
              <a:spcBef>
                <a:spcPts val="0"/>
              </a:spcBef>
              <a:spcAft>
                <a:spcPts val="0"/>
              </a:spcAft>
              <a:buClr>
                <a:srgbClr val="000000"/>
              </a:buClr>
              <a:buSzPts val="3800"/>
              <a:buFont typeface="Helvetica Neue"/>
              <a:buNone/>
              <a:defRPr b="1" sz="3800"/>
            </a:lvl2pPr>
            <a:lvl3pPr indent="-228600" lvl="2" marL="1371600" algn="l">
              <a:lnSpc>
                <a:spcPct val="100000"/>
              </a:lnSpc>
              <a:spcBef>
                <a:spcPts val="0"/>
              </a:spcBef>
              <a:spcAft>
                <a:spcPts val="0"/>
              </a:spcAft>
              <a:buClr>
                <a:srgbClr val="000000"/>
              </a:buClr>
              <a:buSzPts val="3800"/>
              <a:buFont typeface="Helvetica Neue"/>
              <a:buNone/>
              <a:defRPr b="1" sz="3800"/>
            </a:lvl3pPr>
            <a:lvl4pPr indent="-228600" lvl="3" marL="1828800" algn="l">
              <a:lnSpc>
                <a:spcPct val="100000"/>
              </a:lnSpc>
              <a:spcBef>
                <a:spcPts val="0"/>
              </a:spcBef>
              <a:spcAft>
                <a:spcPts val="0"/>
              </a:spcAft>
              <a:buClr>
                <a:srgbClr val="000000"/>
              </a:buClr>
              <a:buSzPts val="3800"/>
              <a:buFont typeface="Helvetica Neue"/>
              <a:buNone/>
              <a:defRPr b="1" sz="3800"/>
            </a:lvl4pPr>
            <a:lvl5pPr indent="-228600" lvl="4" marL="2286000" algn="l">
              <a:lnSpc>
                <a:spcPct val="100000"/>
              </a:lnSpc>
              <a:spcBef>
                <a:spcPts val="0"/>
              </a:spcBef>
              <a:spcAft>
                <a:spcPts val="0"/>
              </a:spcAft>
              <a:buClr>
                <a:srgbClr val="000000"/>
              </a:buClr>
              <a:buSzPts val="3800"/>
              <a:buFont typeface="Helvetica Neue"/>
              <a:buNone/>
              <a:defRPr b="1" sz="3800"/>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13" name="Google Shape;13;p34"/>
          <p:cNvSpPr txBox="1"/>
          <p:nvPr>
            <p:ph idx="12" type="sldNum"/>
          </p:nvPr>
        </p:nvSpPr>
        <p:spPr>
          <a:xfrm>
            <a:off x="6353454"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tx">
  <p:cSld name="TITLE_AND_BODY">
    <p:spTree>
      <p:nvGrpSpPr>
        <p:cNvPr id="14" name="Shape 14"/>
        <p:cNvGrpSpPr/>
        <p:nvPr/>
      </p:nvGrpSpPr>
      <p:grpSpPr>
        <a:xfrm>
          <a:off x="0" y="0"/>
          <a:ext cx="0" cy="0"/>
          <a:chOff x="0" y="0"/>
          <a:chExt cx="0" cy="0"/>
        </a:xfrm>
      </p:grpSpPr>
      <p:sp>
        <p:nvSpPr>
          <p:cNvPr id="15" name="Google Shape;15;p35"/>
          <p:cNvSpPr txBox="1"/>
          <p:nvPr>
            <p:ph idx="12" type="sldNum"/>
          </p:nvPr>
        </p:nvSpPr>
        <p:spPr>
          <a:xfrm>
            <a:off x="6350067"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viñetas">
  <p:cSld name="Título y viñetas">
    <p:spTree>
      <p:nvGrpSpPr>
        <p:cNvPr id="16" name="Shape 16"/>
        <p:cNvGrpSpPr/>
        <p:nvPr/>
      </p:nvGrpSpPr>
      <p:grpSpPr>
        <a:xfrm>
          <a:off x="0" y="0"/>
          <a:ext cx="0" cy="0"/>
          <a:chOff x="0" y="0"/>
          <a:chExt cx="0" cy="0"/>
        </a:xfrm>
      </p:grpSpPr>
      <p:sp>
        <p:nvSpPr>
          <p:cNvPr id="17" name="Google Shape;17;p36"/>
          <p:cNvSpPr txBox="1"/>
          <p:nvPr>
            <p:ph idx="1" type="body"/>
          </p:nvPr>
        </p:nvSpPr>
        <p:spPr>
          <a:xfrm>
            <a:off x="952500" y="2603500"/>
            <a:ext cx="11099800" cy="6286500"/>
          </a:xfrm>
          <a:prstGeom prst="rect">
            <a:avLst/>
          </a:prstGeom>
          <a:noFill/>
          <a:ln>
            <a:noFill/>
          </a:ln>
        </p:spPr>
        <p:txBody>
          <a:bodyPr anchorCtr="0" anchor="ctr" bIns="50800" lIns="50800" spcFirstLastPara="1" rIns="50800" wrap="square" tIns="50800">
            <a:noAutofit/>
          </a:bodyPr>
          <a:lstStyle>
            <a:lvl1pPr indent="-400050" lvl="0" marL="457200" algn="l">
              <a:lnSpc>
                <a:spcPct val="100000"/>
              </a:lnSpc>
              <a:spcBef>
                <a:spcPts val="4200"/>
              </a:spcBef>
              <a:spcAft>
                <a:spcPts val="0"/>
              </a:spcAft>
              <a:buClr>
                <a:srgbClr val="000000"/>
              </a:buClr>
              <a:buSzPts val="2700"/>
              <a:buFont typeface="Helvetica Neue"/>
              <a:buChar char="•"/>
              <a:defRPr sz="3600">
                <a:latin typeface="Helvetica Neue"/>
                <a:ea typeface="Helvetica Neue"/>
                <a:cs typeface="Helvetica Neue"/>
                <a:sym typeface="Helvetica Neue"/>
              </a:defRPr>
            </a:lvl1pPr>
            <a:lvl2pPr indent="-400050" lvl="1" marL="914400" algn="l">
              <a:lnSpc>
                <a:spcPct val="100000"/>
              </a:lnSpc>
              <a:spcBef>
                <a:spcPts val="4200"/>
              </a:spcBef>
              <a:spcAft>
                <a:spcPts val="0"/>
              </a:spcAft>
              <a:buClr>
                <a:srgbClr val="000000"/>
              </a:buClr>
              <a:buSzPts val="2700"/>
              <a:buFont typeface="Helvetica Neue"/>
              <a:buChar char="•"/>
              <a:defRPr sz="3600">
                <a:latin typeface="Helvetica Neue"/>
                <a:ea typeface="Helvetica Neue"/>
                <a:cs typeface="Helvetica Neue"/>
                <a:sym typeface="Helvetica Neue"/>
              </a:defRPr>
            </a:lvl2pPr>
            <a:lvl3pPr indent="-400050" lvl="2" marL="1371600" algn="l">
              <a:lnSpc>
                <a:spcPct val="100000"/>
              </a:lnSpc>
              <a:spcBef>
                <a:spcPts val="4200"/>
              </a:spcBef>
              <a:spcAft>
                <a:spcPts val="0"/>
              </a:spcAft>
              <a:buClr>
                <a:srgbClr val="000000"/>
              </a:buClr>
              <a:buSzPts val="2700"/>
              <a:buFont typeface="Helvetica Neue"/>
              <a:buChar char="•"/>
              <a:defRPr sz="3600">
                <a:latin typeface="Helvetica Neue"/>
                <a:ea typeface="Helvetica Neue"/>
                <a:cs typeface="Helvetica Neue"/>
                <a:sym typeface="Helvetica Neue"/>
              </a:defRPr>
            </a:lvl3pPr>
            <a:lvl4pPr indent="-400050" lvl="3" marL="1828800" algn="l">
              <a:lnSpc>
                <a:spcPct val="100000"/>
              </a:lnSpc>
              <a:spcBef>
                <a:spcPts val="4200"/>
              </a:spcBef>
              <a:spcAft>
                <a:spcPts val="0"/>
              </a:spcAft>
              <a:buClr>
                <a:srgbClr val="000000"/>
              </a:buClr>
              <a:buSzPts val="2700"/>
              <a:buFont typeface="Helvetica Neue"/>
              <a:buChar char="•"/>
              <a:defRPr sz="3600">
                <a:latin typeface="Helvetica Neue"/>
                <a:ea typeface="Helvetica Neue"/>
                <a:cs typeface="Helvetica Neue"/>
                <a:sym typeface="Helvetica Neue"/>
              </a:defRPr>
            </a:lvl4pPr>
            <a:lvl5pPr indent="-400050" lvl="4" marL="2286000" algn="l">
              <a:lnSpc>
                <a:spcPct val="100000"/>
              </a:lnSpc>
              <a:spcBef>
                <a:spcPts val="4200"/>
              </a:spcBef>
              <a:spcAft>
                <a:spcPts val="0"/>
              </a:spcAft>
              <a:buClr>
                <a:srgbClr val="000000"/>
              </a:buClr>
              <a:buSzPts val="2700"/>
              <a:buFont typeface="Helvetica Neue"/>
              <a:buChar char="•"/>
              <a:defRPr sz="3600">
                <a:latin typeface="Helvetica Neue"/>
                <a:ea typeface="Helvetica Neue"/>
                <a:cs typeface="Helvetica Neue"/>
                <a:sym typeface="Helvetica Neue"/>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18" name="Google Shape;18;p36"/>
          <p:cNvSpPr txBox="1"/>
          <p:nvPr>
            <p:ph idx="12" type="sldNum"/>
          </p:nvPr>
        </p:nvSpPr>
        <p:spPr>
          <a:xfrm>
            <a:off x="6311798" y="9251950"/>
            <a:ext cx="368504" cy="381000"/>
          </a:xfrm>
          <a:prstGeom prst="rect">
            <a:avLst/>
          </a:prstGeom>
          <a:noFill/>
          <a:ln>
            <a:noFill/>
          </a:ln>
        </p:spPr>
        <p:txBody>
          <a:bodyPr anchorCtr="0" anchor="t" bIns="50800" lIns="50800" spcFirstLastPara="1" rIns="50800" wrap="square" tIns="50800">
            <a:noAutofit/>
          </a:bodyPr>
          <a:lstStyle>
            <a:lvl1pPr indent="0" lvl="0"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9" name="Shape 19"/>
        <p:cNvGrpSpPr/>
        <p:nvPr/>
      </p:nvGrpSpPr>
      <p:grpSpPr>
        <a:xfrm>
          <a:off x="0" y="0"/>
          <a:ext cx="0" cy="0"/>
          <a:chOff x="0" y="0"/>
          <a:chExt cx="0" cy="0"/>
        </a:xfrm>
      </p:grpSpPr>
      <p:sp>
        <p:nvSpPr>
          <p:cNvPr id="20" name="Google Shape;20;p37"/>
          <p:cNvSpPr txBox="1"/>
          <p:nvPr>
            <p:ph idx="11" type="ftr"/>
          </p:nvPr>
        </p:nvSpPr>
        <p:spPr>
          <a:xfrm>
            <a:off x="4307840" y="9040142"/>
            <a:ext cx="4389000" cy="5193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Clr>
                <a:srgbClr val="000000"/>
              </a:buClr>
              <a:buSzPts val="1700"/>
              <a:buFont typeface="Arial"/>
              <a:buNone/>
              <a:defRPr b="0" i="0" sz="17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9pPr>
          </a:lstStyle>
          <a:p/>
        </p:txBody>
      </p:sp>
      <p:sp>
        <p:nvSpPr>
          <p:cNvPr id="21" name="Google Shape;21;p37"/>
          <p:cNvSpPr txBox="1"/>
          <p:nvPr>
            <p:ph idx="10" type="dt"/>
          </p:nvPr>
        </p:nvSpPr>
        <p:spPr>
          <a:xfrm>
            <a:off x="894080" y="9040142"/>
            <a:ext cx="2926200" cy="5193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700"/>
              <a:buFont typeface="Arial"/>
              <a:buNone/>
              <a:defRPr b="0" i="0" sz="17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700"/>
              <a:buFont typeface="Arial"/>
              <a:buNone/>
              <a:defRPr b="0" i="0" sz="1700" u="none" cap="none" strike="noStrike">
                <a:solidFill>
                  <a:srgbClr val="000000"/>
                </a:solidFill>
                <a:latin typeface="Arial"/>
                <a:ea typeface="Arial"/>
                <a:cs typeface="Arial"/>
                <a:sym typeface="Arial"/>
              </a:defRPr>
            </a:lvl9pPr>
          </a:lstStyle>
          <a:p/>
        </p:txBody>
      </p:sp>
      <p:sp>
        <p:nvSpPr>
          <p:cNvPr id="22" name="Google Shape;22;p37"/>
          <p:cNvSpPr txBox="1"/>
          <p:nvPr>
            <p:ph idx="12" type="sldNum"/>
          </p:nvPr>
        </p:nvSpPr>
        <p:spPr>
          <a:xfrm>
            <a:off x="9184640" y="9040142"/>
            <a:ext cx="2926200" cy="5193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300"/>
              <a:buFont typeface="Helvetica Neue"/>
              <a:buNone/>
              <a:defRPr b="0" i="0" sz="1300" u="none" cap="none" strike="noStrike">
                <a:solidFill>
                  <a:srgbClr val="888888"/>
                </a:solidFill>
                <a:latin typeface="Helvetica Neue"/>
                <a:ea typeface="Helvetica Neue"/>
                <a:cs typeface="Helvetica Neue"/>
                <a:sym typeface="Helvetica Neue"/>
              </a:defRPr>
            </a:lvl1pPr>
            <a:lvl2pPr indent="0" lvl="1" marL="0" marR="0" algn="r">
              <a:lnSpc>
                <a:spcPct val="100000"/>
              </a:lnSpc>
              <a:spcBef>
                <a:spcPts val="0"/>
              </a:spcBef>
              <a:spcAft>
                <a:spcPts val="0"/>
              </a:spcAft>
              <a:buClr>
                <a:srgbClr val="000000"/>
              </a:buClr>
              <a:buSzPts val="1300"/>
              <a:buFont typeface="Helvetica Neue"/>
              <a:buNone/>
              <a:defRPr b="0" i="0" sz="1300" u="none" cap="none" strike="noStrike">
                <a:solidFill>
                  <a:srgbClr val="888888"/>
                </a:solidFill>
                <a:latin typeface="Helvetica Neue"/>
                <a:ea typeface="Helvetica Neue"/>
                <a:cs typeface="Helvetica Neue"/>
                <a:sym typeface="Helvetica Neue"/>
              </a:defRPr>
            </a:lvl2pPr>
            <a:lvl3pPr indent="0" lvl="2" marL="0" marR="0" algn="r">
              <a:lnSpc>
                <a:spcPct val="100000"/>
              </a:lnSpc>
              <a:spcBef>
                <a:spcPts val="0"/>
              </a:spcBef>
              <a:spcAft>
                <a:spcPts val="0"/>
              </a:spcAft>
              <a:buClr>
                <a:srgbClr val="000000"/>
              </a:buClr>
              <a:buSzPts val="1300"/>
              <a:buFont typeface="Helvetica Neue"/>
              <a:buNone/>
              <a:defRPr b="0" i="0" sz="1300" u="none" cap="none" strike="noStrike">
                <a:solidFill>
                  <a:srgbClr val="888888"/>
                </a:solidFill>
                <a:latin typeface="Helvetica Neue"/>
                <a:ea typeface="Helvetica Neue"/>
                <a:cs typeface="Helvetica Neue"/>
                <a:sym typeface="Helvetica Neue"/>
              </a:defRPr>
            </a:lvl3pPr>
            <a:lvl4pPr indent="0" lvl="3" marL="0" marR="0" algn="r">
              <a:lnSpc>
                <a:spcPct val="100000"/>
              </a:lnSpc>
              <a:spcBef>
                <a:spcPts val="0"/>
              </a:spcBef>
              <a:spcAft>
                <a:spcPts val="0"/>
              </a:spcAft>
              <a:buClr>
                <a:srgbClr val="000000"/>
              </a:buClr>
              <a:buSzPts val="1300"/>
              <a:buFont typeface="Helvetica Neue"/>
              <a:buNone/>
              <a:defRPr b="0" i="0" sz="1300" u="none" cap="none" strike="noStrike">
                <a:solidFill>
                  <a:srgbClr val="888888"/>
                </a:solidFill>
                <a:latin typeface="Helvetica Neue"/>
                <a:ea typeface="Helvetica Neue"/>
                <a:cs typeface="Helvetica Neue"/>
                <a:sym typeface="Helvetica Neue"/>
              </a:defRPr>
            </a:lvl4pPr>
            <a:lvl5pPr indent="0" lvl="4" marL="0" marR="0" algn="r">
              <a:lnSpc>
                <a:spcPct val="100000"/>
              </a:lnSpc>
              <a:spcBef>
                <a:spcPts val="0"/>
              </a:spcBef>
              <a:spcAft>
                <a:spcPts val="0"/>
              </a:spcAft>
              <a:buClr>
                <a:srgbClr val="000000"/>
              </a:buClr>
              <a:buSzPts val="1300"/>
              <a:buFont typeface="Helvetica Neue"/>
              <a:buNone/>
              <a:defRPr b="0" i="0" sz="1300" u="none" cap="none" strike="noStrike">
                <a:solidFill>
                  <a:srgbClr val="888888"/>
                </a:solidFill>
                <a:latin typeface="Helvetica Neue"/>
                <a:ea typeface="Helvetica Neue"/>
                <a:cs typeface="Helvetica Neue"/>
                <a:sym typeface="Helvetica Neue"/>
              </a:defRPr>
            </a:lvl5pPr>
            <a:lvl6pPr indent="0" lvl="5" marL="0" marR="0" algn="r">
              <a:lnSpc>
                <a:spcPct val="100000"/>
              </a:lnSpc>
              <a:spcBef>
                <a:spcPts val="0"/>
              </a:spcBef>
              <a:spcAft>
                <a:spcPts val="0"/>
              </a:spcAft>
              <a:buClr>
                <a:srgbClr val="000000"/>
              </a:buClr>
              <a:buSzPts val="1300"/>
              <a:buFont typeface="Helvetica Neue"/>
              <a:buNone/>
              <a:defRPr b="0" i="0" sz="1300" u="none" cap="none" strike="noStrike">
                <a:solidFill>
                  <a:srgbClr val="888888"/>
                </a:solidFill>
                <a:latin typeface="Helvetica Neue"/>
                <a:ea typeface="Helvetica Neue"/>
                <a:cs typeface="Helvetica Neue"/>
                <a:sym typeface="Helvetica Neue"/>
              </a:defRPr>
            </a:lvl6pPr>
            <a:lvl7pPr indent="0" lvl="6" marL="0" marR="0" algn="r">
              <a:lnSpc>
                <a:spcPct val="100000"/>
              </a:lnSpc>
              <a:spcBef>
                <a:spcPts val="0"/>
              </a:spcBef>
              <a:spcAft>
                <a:spcPts val="0"/>
              </a:spcAft>
              <a:buClr>
                <a:srgbClr val="000000"/>
              </a:buClr>
              <a:buSzPts val="1300"/>
              <a:buFont typeface="Helvetica Neue"/>
              <a:buNone/>
              <a:defRPr b="0" i="0" sz="1300" u="none" cap="none" strike="noStrike">
                <a:solidFill>
                  <a:srgbClr val="888888"/>
                </a:solidFill>
                <a:latin typeface="Helvetica Neue"/>
                <a:ea typeface="Helvetica Neue"/>
                <a:cs typeface="Helvetica Neue"/>
                <a:sym typeface="Helvetica Neue"/>
              </a:defRPr>
            </a:lvl7pPr>
            <a:lvl8pPr indent="0" lvl="7" marL="0" marR="0" algn="r">
              <a:lnSpc>
                <a:spcPct val="100000"/>
              </a:lnSpc>
              <a:spcBef>
                <a:spcPts val="0"/>
              </a:spcBef>
              <a:spcAft>
                <a:spcPts val="0"/>
              </a:spcAft>
              <a:buClr>
                <a:srgbClr val="000000"/>
              </a:buClr>
              <a:buSzPts val="1300"/>
              <a:buFont typeface="Helvetica Neue"/>
              <a:buNone/>
              <a:defRPr b="0" i="0" sz="1300" u="none" cap="none" strike="noStrike">
                <a:solidFill>
                  <a:srgbClr val="888888"/>
                </a:solidFill>
                <a:latin typeface="Helvetica Neue"/>
                <a:ea typeface="Helvetica Neue"/>
                <a:cs typeface="Helvetica Neue"/>
                <a:sym typeface="Helvetica Neue"/>
              </a:defRPr>
            </a:lvl8pPr>
            <a:lvl9pPr indent="0" lvl="8" marL="0" marR="0" algn="r">
              <a:lnSpc>
                <a:spcPct val="100000"/>
              </a:lnSpc>
              <a:spcBef>
                <a:spcPts val="0"/>
              </a:spcBef>
              <a:spcAft>
                <a:spcPts val="0"/>
              </a:spcAft>
              <a:buClr>
                <a:srgbClr val="000000"/>
              </a:buClr>
              <a:buSzPts val="1300"/>
              <a:buFont typeface="Helvetica Neue"/>
              <a:buNone/>
              <a:defRPr b="0" i="0" sz="1300" u="none" cap="none" strike="noStrike">
                <a:solidFill>
                  <a:srgbClr val="888888"/>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sz="14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viñetas">
  <p:cSld name="Título y viñetas 2">
    <p:spTree>
      <p:nvGrpSpPr>
        <p:cNvPr id="23" name="Shape 23"/>
        <p:cNvGrpSpPr/>
        <p:nvPr/>
      </p:nvGrpSpPr>
      <p:grpSpPr>
        <a:xfrm>
          <a:off x="0" y="0"/>
          <a:ext cx="0" cy="0"/>
          <a:chOff x="0" y="0"/>
          <a:chExt cx="0" cy="0"/>
        </a:xfrm>
      </p:grpSpPr>
      <p:sp>
        <p:nvSpPr>
          <p:cNvPr id="24" name="Google Shape;24;p38"/>
          <p:cNvSpPr txBox="1"/>
          <p:nvPr>
            <p:ph type="title"/>
          </p:nvPr>
        </p:nvSpPr>
        <p:spPr>
          <a:xfrm>
            <a:off x="952500" y="444500"/>
            <a:ext cx="11099800" cy="2159000"/>
          </a:xfrm>
          <a:prstGeom prst="rect">
            <a:avLst/>
          </a:prstGeom>
          <a:noFill/>
          <a:ln>
            <a:noFill/>
          </a:ln>
        </p:spPr>
        <p:txBody>
          <a:bodyPr anchorCtr="0" anchor="ctr" bIns="50800" lIns="50800" spcFirstLastPara="1" rIns="50800" wrap="square" tIns="50800">
            <a:noAutofit/>
          </a:bodyPr>
          <a:lstStyle>
            <a:lvl1pPr lvl="0" algn="ctr">
              <a:lnSpc>
                <a:spcPct val="100000"/>
              </a:lnSpc>
              <a:spcBef>
                <a:spcPts val="0"/>
              </a:spcBef>
              <a:spcAft>
                <a:spcPts val="0"/>
              </a:spcAft>
              <a:buClr>
                <a:srgbClr val="000000"/>
              </a:buClr>
              <a:buSzPts val="8000"/>
              <a:buFont typeface="Helvetica Neue"/>
              <a:buNone/>
              <a:defRPr b="0" sz="8000">
                <a:latin typeface="Helvetica Neue"/>
                <a:ea typeface="Helvetica Neue"/>
                <a:cs typeface="Helvetica Neue"/>
                <a:sym typeface="Helvetica Neu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25" name="Google Shape;25;p38"/>
          <p:cNvSpPr txBox="1"/>
          <p:nvPr>
            <p:ph idx="1" type="body"/>
          </p:nvPr>
        </p:nvSpPr>
        <p:spPr>
          <a:xfrm>
            <a:off x="952500" y="2603500"/>
            <a:ext cx="11099800" cy="6286500"/>
          </a:xfrm>
          <a:prstGeom prst="rect">
            <a:avLst/>
          </a:prstGeom>
          <a:noFill/>
          <a:ln>
            <a:noFill/>
          </a:ln>
        </p:spPr>
        <p:txBody>
          <a:bodyPr anchorCtr="0" anchor="ctr" bIns="50800" lIns="50800" spcFirstLastPara="1" rIns="50800" wrap="square" tIns="50800">
            <a:noAutofit/>
          </a:bodyPr>
          <a:lstStyle>
            <a:lvl1pPr indent="-400050" lvl="0" marL="457200" algn="l">
              <a:lnSpc>
                <a:spcPct val="100000"/>
              </a:lnSpc>
              <a:spcBef>
                <a:spcPts val="4200"/>
              </a:spcBef>
              <a:spcAft>
                <a:spcPts val="0"/>
              </a:spcAft>
              <a:buClr>
                <a:srgbClr val="000000"/>
              </a:buClr>
              <a:buSzPts val="2700"/>
              <a:buFont typeface="Helvetica Neue"/>
              <a:buChar char="•"/>
              <a:defRPr sz="3600">
                <a:latin typeface="Helvetica Neue"/>
                <a:ea typeface="Helvetica Neue"/>
                <a:cs typeface="Helvetica Neue"/>
                <a:sym typeface="Helvetica Neue"/>
              </a:defRPr>
            </a:lvl1pPr>
            <a:lvl2pPr indent="-400050" lvl="1" marL="914400" algn="l">
              <a:lnSpc>
                <a:spcPct val="100000"/>
              </a:lnSpc>
              <a:spcBef>
                <a:spcPts val="4200"/>
              </a:spcBef>
              <a:spcAft>
                <a:spcPts val="0"/>
              </a:spcAft>
              <a:buClr>
                <a:srgbClr val="000000"/>
              </a:buClr>
              <a:buSzPts val="2700"/>
              <a:buFont typeface="Helvetica Neue"/>
              <a:buChar char="•"/>
              <a:defRPr sz="3600">
                <a:latin typeface="Helvetica Neue"/>
                <a:ea typeface="Helvetica Neue"/>
                <a:cs typeface="Helvetica Neue"/>
                <a:sym typeface="Helvetica Neue"/>
              </a:defRPr>
            </a:lvl2pPr>
            <a:lvl3pPr indent="-400050" lvl="2" marL="1371600" algn="l">
              <a:lnSpc>
                <a:spcPct val="100000"/>
              </a:lnSpc>
              <a:spcBef>
                <a:spcPts val="4200"/>
              </a:spcBef>
              <a:spcAft>
                <a:spcPts val="0"/>
              </a:spcAft>
              <a:buClr>
                <a:srgbClr val="000000"/>
              </a:buClr>
              <a:buSzPts val="2700"/>
              <a:buFont typeface="Helvetica Neue"/>
              <a:buChar char="•"/>
              <a:defRPr sz="3600">
                <a:latin typeface="Helvetica Neue"/>
                <a:ea typeface="Helvetica Neue"/>
                <a:cs typeface="Helvetica Neue"/>
                <a:sym typeface="Helvetica Neue"/>
              </a:defRPr>
            </a:lvl3pPr>
            <a:lvl4pPr indent="-400050" lvl="3" marL="1828800" algn="l">
              <a:lnSpc>
                <a:spcPct val="100000"/>
              </a:lnSpc>
              <a:spcBef>
                <a:spcPts val="4200"/>
              </a:spcBef>
              <a:spcAft>
                <a:spcPts val="0"/>
              </a:spcAft>
              <a:buClr>
                <a:srgbClr val="000000"/>
              </a:buClr>
              <a:buSzPts val="2700"/>
              <a:buFont typeface="Helvetica Neue"/>
              <a:buChar char="•"/>
              <a:defRPr sz="3600">
                <a:latin typeface="Helvetica Neue"/>
                <a:ea typeface="Helvetica Neue"/>
                <a:cs typeface="Helvetica Neue"/>
                <a:sym typeface="Helvetica Neue"/>
              </a:defRPr>
            </a:lvl4pPr>
            <a:lvl5pPr indent="-400050" lvl="4" marL="2286000" algn="l">
              <a:lnSpc>
                <a:spcPct val="100000"/>
              </a:lnSpc>
              <a:spcBef>
                <a:spcPts val="4200"/>
              </a:spcBef>
              <a:spcAft>
                <a:spcPts val="0"/>
              </a:spcAft>
              <a:buClr>
                <a:srgbClr val="000000"/>
              </a:buClr>
              <a:buSzPts val="2700"/>
              <a:buFont typeface="Helvetica Neue"/>
              <a:buChar char="•"/>
              <a:defRPr sz="3600">
                <a:latin typeface="Helvetica Neue"/>
                <a:ea typeface="Helvetica Neue"/>
                <a:cs typeface="Helvetica Neue"/>
                <a:sym typeface="Helvetica Neue"/>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26" name="Google Shape;26;p38"/>
          <p:cNvSpPr txBox="1"/>
          <p:nvPr>
            <p:ph idx="12" type="sldNum"/>
          </p:nvPr>
        </p:nvSpPr>
        <p:spPr>
          <a:xfrm>
            <a:off x="6311798" y="9251950"/>
            <a:ext cx="368504" cy="381000"/>
          </a:xfrm>
          <a:prstGeom prst="rect">
            <a:avLst/>
          </a:prstGeom>
          <a:noFill/>
          <a:ln>
            <a:noFill/>
          </a:ln>
        </p:spPr>
        <p:txBody>
          <a:bodyPr anchorCtr="0" anchor="t" bIns="50800" lIns="50800" spcFirstLastPara="1" rIns="50800" wrap="square" tIns="50800">
            <a:noAutofit/>
          </a:bodyPr>
          <a:lstStyle>
            <a:lvl1pPr indent="0" lvl="0"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800"/>
              <a:buFont typeface="Helvetica Neue Light"/>
              <a:buNone/>
              <a:defRPr b="0" i="0" sz="18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foto">
  <p:cSld name="Título y foto">
    <p:spTree>
      <p:nvGrpSpPr>
        <p:cNvPr id="27" name="Shape 27"/>
        <p:cNvGrpSpPr/>
        <p:nvPr/>
      </p:nvGrpSpPr>
      <p:grpSpPr>
        <a:xfrm>
          <a:off x="0" y="0"/>
          <a:ext cx="0" cy="0"/>
          <a:chOff x="0" y="0"/>
          <a:chExt cx="0" cy="0"/>
        </a:xfrm>
      </p:grpSpPr>
      <p:sp>
        <p:nvSpPr>
          <p:cNvPr id="28" name="Google Shape;28;p40"/>
          <p:cNvSpPr/>
          <p:nvPr>
            <p:ph idx="2" type="pic"/>
          </p:nvPr>
        </p:nvSpPr>
        <p:spPr>
          <a:xfrm>
            <a:off x="-376767" y="-915894"/>
            <a:ext cx="17835651" cy="10682195"/>
          </a:xfrm>
          <a:prstGeom prst="rect">
            <a:avLst/>
          </a:prstGeom>
          <a:noFill/>
          <a:ln>
            <a:noFill/>
          </a:ln>
        </p:spPr>
      </p:sp>
      <p:sp>
        <p:nvSpPr>
          <p:cNvPr id="29" name="Google Shape;29;p40"/>
          <p:cNvSpPr txBox="1"/>
          <p:nvPr>
            <p:ph type="title"/>
          </p:nvPr>
        </p:nvSpPr>
        <p:spPr>
          <a:xfrm>
            <a:off x="698500" y="5181600"/>
            <a:ext cx="11607800" cy="3302000"/>
          </a:xfrm>
          <a:prstGeom prst="rect">
            <a:avLst/>
          </a:prstGeom>
          <a:noFill/>
          <a:ln>
            <a:noFill/>
          </a:ln>
        </p:spPr>
        <p:txBody>
          <a:bodyPr anchorCtr="0" anchor="b" bIns="50800" lIns="50800" spcFirstLastPara="1" rIns="50800" wrap="square" tIns="50800">
            <a:noAutofit/>
          </a:bodyPr>
          <a:lstStyle>
            <a:lvl1pPr lvl="0" algn="l">
              <a:lnSpc>
                <a:spcPct val="80000"/>
              </a:lnSpc>
              <a:spcBef>
                <a:spcPts val="0"/>
              </a:spcBef>
              <a:spcAft>
                <a:spcPts val="0"/>
              </a:spcAft>
              <a:buClr>
                <a:srgbClr val="000000"/>
              </a:buClr>
              <a:buSzPts val="8200"/>
              <a:buFont typeface="Helvetica Neue"/>
              <a:buNone/>
              <a:defRPr sz="82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0" name="Google Shape;30;p40"/>
          <p:cNvSpPr txBox="1"/>
          <p:nvPr>
            <p:ph idx="1" type="body"/>
          </p:nvPr>
        </p:nvSpPr>
        <p:spPr>
          <a:xfrm>
            <a:off x="698500" y="8432800"/>
            <a:ext cx="11607800" cy="689769"/>
          </a:xfrm>
          <a:prstGeom prst="rect">
            <a:avLst/>
          </a:prstGeom>
          <a:noFill/>
          <a:ln>
            <a:noFill/>
          </a:ln>
        </p:spPr>
        <p:txBody>
          <a:bodyPr anchorCtr="0" anchor="t" bIns="50800" lIns="50800" spcFirstLastPara="1" rIns="50800" wrap="square" tIns="50800">
            <a:noAutofit/>
          </a:bodyPr>
          <a:lstStyle>
            <a:lvl1pPr indent="-228600" lvl="0" marL="457200" algn="l">
              <a:lnSpc>
                <a:spcPct val="100000"/>
              </a:lnSpc>
              <a:spcBef>
                <a:spcPts val="0"/>
              </a:spcBef>
              <a:spcAft>
                <a:spcPts val="0"/>
              </a:spcAft>
              <a:buClr>
                <a:srgbClr val="000000"/>
              </a:buClr>
              <a:buSzPts val="3800"/>
              <a:buFont typeface="Helvetica Neue"/>
              <a:buNone/>
              <a:defRPr b="1" sz="3800"/>
            </a:lvl1pPr>
            <a:lvl2pPr indent="-228600" lvl="1" marL="914400" algn="l">
              <a:lnSpc>
                <a:spcPct val="100000"/>
              </a:lnSpc>
              <a:spcBef>
                <a:spcPts val="0"/>
              </a:spcBef>
              <a:spcAft>
                <a:spcPts val="0"/>
              </a:spcAft>
              <a:buClr>
                <a:srgbClr val="000000"/>
              </a:buClr>
              <a:buSzPts val="3800"/>
              <a:buFont typeface="Helvetica Neue"/>
              <a:buNone/>
              <a:defRPr b="1" sz="3800"/>
            </a:lvl2pPr>
            <a:lvl3pPr indent="-228600" lvl="2" marL="1371600" algn="l">
              <a:lnSpc>
                <a:spcPct val="100000"/>
              </a:lnSpc>
              <a:spcBef>
                <a:spcPts val="0"/>
              </a:spcBef>
              <a:spcAft>
                <a:spcPts val="0"/>
              </a:spcAft>
              <a:buClr>
                <a:srgbClr val="000000"/>
              </a:buClr>
              <a:buSzPts val="3800"/>
              <a:buFont typeface="Helvetica Neue"/>
              <a:buNone/>
              <a:defRPr b="1" sz="3800"/>
            </a:lvl3pPr>
            <a:lvl4pPr indent="-228600" lvl="3" marL="1828800" algn="l">
              <a:lnSpc>
                <a:spcPct val="100000"/>
              </a:lnSpc>
              <a:spcBef>
                <a:spcPts val="0"/>
              </a:spcBef>
              <a:spcAft>
                <a:spcPts val="0"/>
              </a:spcAft>
              <a:buClr>
                <a:srgbClr val="000000"/>
              </a:buClr>
              <a:buSzPts val="3800"/>
              <a:buFont typeface="Helvetica Neue"/>
              <a:buNone/>
              <a:defRPr b="1" sz="3800"/>
            </a:lvl4pPr>
            <a:lvl5pPr indent="-228600" lvl="4" marL="2286000" algn="l">
              <a:lnSpc>
                <a:spcPct val="100000"/>
              </a:lnSpc>
              <a:spcBef>
                <a:spcPts val="0"/>
              </a:spcBef>
              <a:spcAft>
                <a:spcPts val="0"/>
              </a:spcAft>
              <a:buClr>
                <a:srgbClr val="000000"/>
              </a:buClr>
              <a:buSzPts val="3800"/>
              <a:buFont typeface="Helvetica Neue"/>
              <a:buNone/>
              <a:defRPr b="1" sz="3800"/>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31" name="Google Shape;31;p40"/>
          <p:cNvSpPr txBox="1"/>
          <p:nvPr>
            <p:ph idx="3" type="body"/>
          </p:nvPr>
        </p:nvSpPr>
        <p:spPr>
          <a:xfrm>
            <a:off x="698500" y="571500"/>
            <a:ext cx="11607801" cy="461059"/>
          </a:xfrm>
          <a:prstGeom prst="rect">
            <a:avLst/>
          </a:prstGeom>
          <a:noFill/>
          <a:ln>
            <a:noFill/>
          </a:ln>
        </p:spPr>
        <p:txBody>
          <a:bodyPr anchorCtr="0" anchor="t" bIns="50800" lIns="50800" spcFirstLastPara="1" rIns="50800" wrap="square" tIns="50800">
            <a:noAutofit/>
          </a:bodyPr>
          <a:lstStyle>
            <a:lvl1pPr indent="-228600" lvl="0" marL="457200" algn="l">
              <a:lnSpc>
                <a:spcPct val="100000"/>
              </a:lnSpc>
              <a:spcBef>
                <a:spcPts val="0"/>
              </a:spcBef>
              <a:spcAft>
                <a:spcPts val="0"/>
              </a:spcAft>
              <a:buClr>
                <a:srgbClr val="000000"/>
              </a:buClr>
              <a:buSzPts val="2304"/>
              <a:buFont typeface="Helvetica Neue"/>
              <a:buNone/>
              <a:defRPr b="1" sz="2304"/>
            </a:lvl1pPr>
            <a:lvl2pPr indent="-369189" lvl="1" marL="914400" algn="l">
              <a:lnSpc>
                <a:spcPct val="90000"/>
              </a:lnSpc>
              <a:spcBef>
                <a:spcPts val="3200"/>
              </a:spcBef>
              <a:spcAft>
                <a:spcPts val="0"/>
              </a:spcAft>
              <a:buClr>
                <a:srgbClr val="000000"/>
              </a:buClr>
              <a:buSzPts val="2214"/>
              <a:buChar char="•"/>
              <a:defRPr/>
            </a:lvl2pPr>
            <a:lvl3pPr indent="-369189" lvl="2" marL="1371600" algn="l">
              <a:lnSpc>
                <a:spcPct val="90000"/>
              </a:lnSpc>
              <a:spcBef>
                <a:spcPts val="3200"/>
              </a:spcBef>
              <a:spcAft>
                <a:spcPts val="0"/>
              </a:spcAft>
              <a:buClr>
                <a:srgbClr val="000000"/>
              </a:buClr>
              <a:buSzPts val="2214"/>
              <a:buChar char="•"/>
              <a:defRPr/>
            </a:lvl3pPr>
            <a:lvl4pPr indent="-369189" lvl="3" marL="1828800" algn="l">
              <a:lnSpc>
                <a:spcPct val="90000"/>
              </a:lnSpc>
              <a:spcBef>
                <a:spcPts val="3200"/>
              </a:spcBef>
              <a:spcAft>
                <a:spcPts val="0"/>
              </a:spcAft>
              <a:buClr>
                <a:srgbClr val="000000"/>
              </a:buClr>
              <a:buSzPts val="2214"/>
              <a:buChar char="•"/>
              <a:defRPr/>
            </a:lvl4pPr>
            <a:lvl5pPr indent="-369189" lvl="4" marL="2286000" algn="l">
              <a:lnSpc>
                <a:spcPct val="90000"/>
              </a:lnSpc>
              <a:spcBef>
                <a:spcPts val="3200"/>
              </a:spcBef>
              <a:spcAft>
                <a:spcPts val="0"/>
              </a:spcAft>
              <a:buClr>
                <a:srgbClr val="000000"/>
              </a:buClr>
              <a:buSzPts val="2214"/>
              <a:buChar char="•"/>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32" name="Google Shape;32;p40"/>
          <p:cNvSpPr txBox="1"/>
          <p:nvPr>
            <p:ph idx="12" type="sldNum"/>
          </p:nvPr>
        </p:nvSpPr>
        <p:spPr>
          <a:xfrm>
            <a:off x="6349999" y="9220199"/>
            <a:ext cx="297893"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foto alternativa">
  <p:cSld name="Título y foto alternativa">
    <p:spTree>
      <p:nvGrpSpPr>
        <p:cNvPr id="33" name="Shape 33"/>
        <p:cNvGrpSpPr/>
        <p:nvPr/>
      </p:nvGrpSpPr>
      <p:grpSpPr>
        <a:xfrm>
          <a:off x="0" y="0"/>
          <a:ext cx="0" cy="0"/>
          <a:chOff x="0" y="0"/>
          <a:chExt cx="0" cy="0"/>
        </a:xfrm>
      </p:grpSpPr>
      <p:sp>
        <p:nvSpPr>
          <p:cNvPr id="34" name="Google Shape;34;p41"/>
          <p:cNvSpPr/>
          <p:nvPr>
            <p:ph idx="2" type="pic"/>
          </p:nvPr>
        </p:nvSpPr>
        <p:spPr>
          <a:xfrm>
            <a:off x="5319129" y="495299"/>
            <a:ext cx="7543801" cy="8780059"/>
          </a:xfrm>
          <a:prstGeom prst="rect">
            <a:avLst/>
          </a:prstGeom>
          <a:noFill/>
          <a:ln>
            <a:noFill/>
          </a:ln>
        </p:spPr>
      </p:sp>
      <p:sp>
        <p:nvSpPr>
          <p:cNvPr id="35" name="Google Shape;35;p41"/>
          <p:cNvSpPr txBox="1"/>
          <p:nvPr>
            <p:ph idx="1" type="body"/>
          </p:nvPr>
        </p:nvSpPr>
        <p:spPr>
          <a:xfrm>
            <a:off x="698500" y="5003800"/>
            <a:ext cx="5105400" cy="4044566"/>
          </a:xfrm>
          <a:prstGeom prst="rect">
            <a:avLst/>
          </a:prstGeom>
          <a:noFill/>
          <a:ln>
            <a:noFill/>
          </a:ln>
        </p:spPr>
        <p:txBody>
          <a:bodyPr anchorCtr="0" anchor="t" bIns="50800" lIns="50800" spcFirstLastPara="1" rIns="50800" wrap="square" tIns="50800">
            <a:noAutofit/>
          </a:bodyPr>
          <a:lstStyle>
            <a:lvl1pPr indent="-228600" lvl="0" marL="457200" algn="l">
              <a:lnSpc>
                <a:spcPct val="100000"/>
              </a:lnSpc>
              <a:spcBef>
                <a:spcPts val="0"/>
              </a:spcBef>
              <a:spcAft>
                <a:spcPts val="0"/>
              </a:spcAft>
              <a:buClr>
                <a:srgbClr val="000000"/>
              </a:buClr>
              <a:buSzPts val="3800"/>
              <a:buFont typeface="Helvetica Neue"/>
              <a:buNone/>
              <a:defRPr b="1" sz="3800"/>
            </a:lvl1pPr>
            <a:lvl2pPr indent="-228600" lvl="1" marL="914400" algn="l">
              <a:lnSpc>
                <a:spcPct val="100000"/>
              </a:lnSpc>
              <a:spcBef>
                <a:spcPts val="0"/>
              </a:spcBef>
              <a:spcAft>
                <a:spcPts val="0"/>
              </a:spcAft>
              <a:buClr>
                <a:srgbClr val="000000"/>
              </a:buClr>
              <a:buSzPts val="3800"/>
              <a:buFont typeface="Helvetica Neue"/>
              <a:buNone/>
              <a:defRPr b="1" sz="3800"/>
            </a:lvl2pPr>
            <a:lvl3pPr indent="-228600" lvl="2" marL="1371600" algn="l">
              <a:lnSpc>
                <a:spcPct val="100000"/>
              </a:lnSpc>
              <a:spcBef>
                <a:spcPts val="0"/>
              </a:spcBef>
              <a:spcAft>
                <a:spcPts val="0"/>
              </a:spcAft>
              <a:buClr>
                <a:srgbClr val="000000"/>
              </a:buClr>
              <a:buSzPts val="3800"/>
              <a:buFont typeface="Helvetica Neue"/>
              <a:buNone/>
              <a:defRPr b="1" sz="3800"/>
            </a:lvl3pPr>
            <a:lvl4pPr indent="-228600" lvl="3" marL="1828800" algn="l">
              <a:lnSpc>
                <a:spcPct val="100000"/>
              </a:lnSpc>
              <a:spcBef>
                <a:spcPts val="0"/>
              </a:spcBef>
              <a:spcAft>
                <a:spcPts val="0"/>
              </a:spcAft>
              <a:buClr>
                <a:srgbClr val="000000"/>
              </a:buClr>
              <a:buSzPts val="3800"/>
              <a:buFont typeface="Helvetica Neue"/>
              <a:buNone/>
              <a:defRPr b="1" sz="3800"/>
            </a:lvl4pPr>
            <a:lvl5pPr indent="-228600" lvl="4" marL="2286000" algn="l">
              <a:lnSpc>
                <a:spcPct val="100000"/>
              </a:lnSpc>
              <a:spcBef>
                <a:spcPts val="0"/>
              </a:spcBef>
              <a:spcAft>
                <a:spcPts val="0"/>
              </a:spcAft>
              <a:buClr>
                <a:srgbClr val="000000"/>
              </a:buClr>
              <a:buSzPts val="3800"/>
              <a:buFont typeface="Helvetica Neue"/>
              <a:buNone/>
              <a:defRPr b="1" sz="3800"/>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36" name="Google Shape;36;p41"/>
          <p:cNvSpPr txBox="1"/>
          <p:nvPr>
            <p:ph type="title"/>
          </p:nvPr>
        </p:nvSpPr>
        <p:spPr>
          <a:xfrm>
            <a:off x="698500" y="692534"/>
            <a:ext cx="5105400" cy="4387466"/>
          </a:xfrm>
          <a:prstGeom prst="rect">
            <a:avLst/>
          </a:prstGeom>
          <a:noFill/>
          <a:ln>
            <a:noFill/>
          </a:ln>
        </p:spPr>
        <p:txBody>
          <a:bodyPr anchorCtr="0" anchor="b" bIns="50800" lIns="50800" spcFirstLastPara="1" rIns="50800" wrap="square" tIns="50800">
            <a:no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37" name="Google Shape;37;p41"/>
          <p:cNvSpPr txBox="1"/>
          <p:nvPr>
            <p:ph idx="12" type="sldNum"/>
          </p:nvPr>
        </p:nvSpPr>
        <p:spPr>
          <a:xfrm>
            <a:off x="6350067"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viñetas">
  <p:cSld name="Título y viñetas 3">
    <p:spTree>
      <p:nvGrpSpPr>
        <p:cNvPr id="38" name="Shape 38"/>
        <p:cNvGrpSpPr/>
        <p:nvPr/>
      </p:nvGrpSpPr>
      <p:grpSpPr>
        <a:xfrm>
          <a:off x="0" y="0"/>
          <a:ext cx="0" cy="0"/>
          <a:chOff x="0" y="0"/>
          <a:chExt cx="0" cy="0"/>
        </a:xfrm>
      </p:grpSpPr>
      <p:sp>
        <p:nvSpPr>
          <p:cNvPr id="39" name="Google Shape;39;p42"/>
          <p:cNvSpPr txBox="1"/>
          <p:nvPr>
            <p:ph idx="1" type="body"/>
          </p:nvPr>
        </p:nvSpPr>
        <p:spPr>
          <a:xfrm>
            <a:off x="698500" y="2959100"/>
            <a:ext cx="11607800" cy="6096000"/>
          </a:xfrm>
          <a:prstGeom prst="rect">
            <a:avLst/>
          </a:prstGeom>
          <a:noFill/>
          <a:ln>
            <a:noFill/>
          </a:ln>
        </p:spPr>
        <p:txBody>
          <a:bodyPr anchorCtr="0" anchor="t" bIns="50800" lIns="50800" spcFirstLastPara="1" rIns="50800" wrap="square" tIns="50800">
            <a:noAutofit/>
          </a:bodyPr>
          <a:lstStyle>
            <a:lvl1pPr indent="-369189" lvl="0" marL="457200" algn="l">
              <a:lnSpc>
                <a:spcPct val="90000"/>
              </a:lnSpc>
              <a:spcBef>
                <a:spcPts val="3200"/>
              </a:spcBef>
              <a:spcAft>
                <a:spcPts val="0"/>
              </a:spcAft>
              <a:buClr>
                <a:srgbClr val="000000"/>
              </a:buClr>
              <a:buSzPts val="2214"/>
              <a:buChar char="•"/>
              <a:defRPr/>
            </a:lvl1pPr>
            <a:lvl2pPr indent="-369189" lvl="1" marL="914400" algn="l">
              <a:lnSpc>
                <a:spcPct val="90000"/>
              </a:lnSpc>
              <a:spcBef>
                <a:spcPts val="3200"/>
              </a:spcBef>
              <a:spcAft>
                <a:spcPts val="0"/>
              </a:spcAft>
              <a:buClr>
                <a:srgbClr val="000000"/>
              </a:buClr>
              <a:buSzPts val="2214"/>
              <a:buChar char="•"/>
              <a:defRPr/>
            </a:lvl2pPr>
            <a:lvl3pPr indent="-369189" lvl="2" marL="1371600" algn="l">
              <a:lnSpc>
                <a:spcPct val="90000"/>
              </a:lnSpc>
              <a:spcBef>
                <a:spcPts val="3200"/>
              </a:spcBef>
              <a:spcAft>
                <a:spcPts val="0"/>
              </a:spcAft>
              <a:buClr>
                <a:srgbClr val="000000"/>
              </a:buClr>
              <a:buSzPts val="2214"/>
              <a:buChar char="•"/>
              <a:defRPr/>
            </a:lvl3pPr>
            <a:lvl4pPr indent="-369189" lvl="3" marL="1828800" algn="l">
              <a:lnSpc>
                <a:spcPct val="90000"/>
              </a:lnSpc>
              <a:spcBef>
                <a:spcPts val="3200"/>
              </a:spcBef>
              <a:spcAft>
                <a:spcPts val="0"/>
              </a:spcAft>
              <a:buClr>
                <a:srgbClr val="000000"/>
              </a:buClr>
              <a:buSzPts val="2214"/>
              <a:buChar char="•"/>
              <a:defRPr/>
            </a:lvl4pPr>
            <a:lvl5pPr indent="-369189" lvl="4" marL="2286000" algn="l">
              <a:lnSpc>
                <a:spcPct val="90000"/>
              </a:lnSpc>
              <a:spcBef>
                <a:spcPts val="3200"/>
              </a:spcBef>
              <a:spcAft>
                <a:spcPts val="0"/>
              </a:spcAft>
              <a:buClr>
                <a:srgbClr val="000000"/>
              </a:buClr>
              <a:buSzPts val="2214"/>
              <a:buChar char="•"/>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40" name="Google Shape;40;p42"/>
          <p:cNvSpPr txBox="1"/>
          <p:nvPr>
            <p:ph idx="2" type="body"/>
          </p:nvPr>
        </p:nvSpPr>
        <p:spPr>
          <a:xfrm>
            <a:off x="698500" y="1412977"/>
            <a:ext cx="11607801" cy="671803"/>
          </a:xfrm>
          <a:prstGeom prst="rect">
            <a:avLst/>
          </a:prstGeom>
          <a:noFill/>
          <a:ln>
            <a:noFill/>
          </a:ln>
        </p:spPr>
        <p:txBody>
          <a:bodyPr anchorCtr="0" anchor="t" bIns="50800" lIns="50800" spcFirstLastPara="1" rIns="50800" wrap="square" tIns="50800">
            <a:noAutofit/>
          </a:bodyPr>
          <a:lstStyle>
            <a:lvl1pPr indent="-228600" lvl="0" marL="457200" algn="l">
              <a:lnSpc>
                <a:spcPct val="100000"/>
              </a:lnSpc>
              <a:spcBef>
                <a:spcPts val="0"/>
              </a:spcBef>
              <a:spcAft>
                <a:spcPts val="0"/>
              </a:spcAft>
              <a:buClr>
                <a:srgbClr val="000000"/>
              </a:buClr>
              <a:buSzPts val="3800"/>
              <a:buFont typeface="Helvetica Neue"/>
              <a:buNone/>
              <a:defRPr b="1" sz="3800"/>
            </a:lvl1pPr>
            <a:lvl2pPr indent="-369189" lvl="1" marL="914400" algn="l">
              <a:lnSpc>
                <a:spcPct val="90000"/>
              </a:lnSpc>
              <a:spcBef>
                <a:spcPts val="3200"/>
              </a:spcBef>
              <a:spcAft>
                <a:spcPts val="0"/>
              </a:spcAft>
              <a:buClr>
                <a:srgbClr val="000000"/>
              </a:buClr>
              <a:buSzPts val="2214"/>
              <a:buChar char="•"/>
              <a:defRPr/>
            </a:lvl2pPr>
            <a:lvl3pPr indent="-369189" lvl="2" marL="1371600" algn="l">
              <a:lnSpc>
                <a:spcPct val="90000"/>
              </a:lnSpc>
              <a:spcBef>
                <a:spcPts val="3200"/>
              </a:spcBef>
              <a:spcAft>
                <a:spcPts val="0"/>
              </a:spcAft>
              <a:buClr>
                <a:srgbClr val="000000"/>
              </a:buClr>
              <a:buSzPts val="2214"/>
              <a:buChar char="•"/>
              <a:defRPr/>
            </a:lvl3pPr>
            <a:lvl4pPr indent="-369189" lvl="3" marL="1828800" algn="l">
              <a:lnSpc>
                <a:spcPct val="90000"/>
              </a:lnSpc>
              <a:spcBef>
                <a:spcPts val="3200"/>
              </a:spcBef>
              <a:spcAft>
                <a:spcPts val="0"/>
              </a:spcAft>
              <a:buClr>
                <a:srgbClr val="000000"/>
              </a:buClr>
              <a:buSzPts val="2214"/>
              <a:buChar char="•"/>
              <a:defRPr/>
            </a:lvl4pPr>
            <a:lvl5pPr indent="-369189" lvl="4" marL="2286000" algn="l">
              <a:lnSpc>
                <a:spcPct val="90000"/>
              </a:lnSpc>
              <a:spcBef>
                <a:spcPts val="3200"/>
              </a:spcBef>
              <a:spcAft>
                <a:spcPts val="0"/>
              </a:spcAft>
              <a:buClr>
                <a:srgbClr val="000000"/>
              </a:buClr>
              <a:buSzPts val="2214"/>
              <a:buChar char="•"/>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41" name="Google Shape;41;p42"/>
          <p:cNvSpPr txBox="1"/>
          <p:nvPr>
            <p:ph type="title"/>
          </p:nvPr>
        </p:nvSpPr>
        <p:spPr>
          <a:xfrm>
            <a:off x="698500" y="440266"/>
            <a:ext cx="11607800" cy="1016001"/>
          </a:xfrm>
          <a:prstGeom prst="rect">
            <a:avLst/>
          </a:prstGeom>
          <a:noFill/>
          <a:ln>
            <a:noFill/>
          </a:ln>
        </p:spPr>
        <p:txBody>
          <a:bodyPr anchorCtr="0" anchor="t" bIns="50800" lIns="50800" spcFirstLastPara="1" rIns="50800" wrap="square" tIns="50800">
            <a:no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42" name="Google Shape;42;p42"/>
          <p:cNvSpPr txBox="1"/>
          <p:nvPr>
            <p:ph idx="12" type="sldNum"/>
          </p:nvPr>
        </p:nvSpPr>
        <p:spPr>
          <a:xfrm>
            <a:off x="6350067"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ñetas">
  <p:cSld name="Viñetas">
    <p:spTree>
      <p:nvGrpSpPr>
        <p:cNvPr id="43" name="Shape 43"/>
        <p:cNvGrpSpPr/>
        <p:nvPr/>
      </p:nvGrpSpPr>
      <p:grpSpPr>
        <a:xfrm>
          <a:off x="0" y="0"/>
          <a:ext cx="0" cy="0"/>
          <a:chOff x="0" y="0"/>
          <a:chExt cx="0" cy="0"/>
        </a:xfrm>
      </p:grpSpPr>
      <p:sp>
        <p:nvSpPr>
          <p:cNvPr id="44" name="Google Shape;44;p43"/>
          <p:cNvSpPr txBox="1"/>
          <p:nvPr>
            <p:ph idx="1" type="body"/>
          </p:nvPr>
        </p:nvSpPr>
        <p:spPr>
          <a:xfrm>
            <a:off x="698500" y="2959100"/>
            <a:ext cx="11607800" cy="6096000"/>
          </a:xfrm>
          <a:prstGeom prst="rect">
            <a:avLst/>
          </a:prstGeom>
          <a:noFill/>
          <a:ln>
            <a:noFill/>
          </a:ln>
        </p:spPr>
        <p:txBody>
          <a:bodyPr anchorCtr="0" anchor="t" bIns="50800" lIns="50800" spcFirstLastPara="1" rIns="50800" wrap="square" tIns="50800">
            <a:noAutofit/>
          </a:bodyPr>
          <a:lstStyle>
            <a:lvl1pPr indent="-369189" lvl="0" marL="457200" algn="l">
              <a:lnSpc>
                <a:spcPct val="90000"/>
              </a:lnSpc>
              <a:spcBef>
                <a:spcPts val="3200"/>
              </a:spcBef>
              <a:spcAft>
                <a:spcPts val="0"/>
              </a:spcAft>
              <a:buClr>
                <a:srgbClr val="000000"/>
              </a:buClr>
              <a:buSzPts val="2214"/>
              <a:buChar char="•"/>
              <a:defRPr/>
            </a:lvl1pPr>
            <a:lvl2pPr indent="-369189" lvl="1" marL="914400" algn="l">
              <a:lnSpc>
                <a:spcPct val="90000"/>
              </a:lnSpc>
              <a:spcBef>
                <a:spcPts val="3200"/>
              </a:spcBef>
              <a:spcAft>
                <a:spcPts val="0"/>
              </a:spcAft>
              <a:buClr>
                <a:srgbClr val="000000"/>
              </a:buClr>
              <a:buSzPts val="2214"/>
              <a:buChar char="•"/>
              <a:defRPr/>
            </a:lvl2pPr>
            <a:lvl3pPr indent="-369189" lvl="2" marL="1371600" algn="l">
              <a:lnSpc>
                <a:spcPct val="90000"/>
              </a:lnSpc>
              <a:spcBef>
                <a:spcPts val="3200"/>
              </a:spcBef>
              <a:spcAft>
                <a:spcPts val="0"/>
              </a:spcAft>
              <a:buClr>
                <a:srgbClr val="000000"/>
              </a:buClr>
              <a:buSzPts val="2214"/>
              <a:buChar char="•"/>
              <a:defRPr/>
            </a:lvl3pPr>
            <a:lvl4pPr indent="-369189" lvl="3" marL="1828800" algn="l">
              <a:lnSpc>
                <a:spcPct val="90000"/>
              </a:lnSpc>
              <a:spcBef>
                <a:spcPts val="3200"/>
              </a:spcBef>
              <a:spcAft>
                <a:spcPts val="0"/>
              </a:spcAft>
              <a:buClr>
                <a:srgbClr val="000000"/>
              </a:buClr>
              <a:buSzPts val="2214"/>
              <a:buChar char="•"/>
              <a:defRPr/>
            </a:lvl4pPr>
            <a:lvl5pPr indent="-369189" lvl="4" marL="2286000" algn="l">
              <a:lnSpc>
                <a:spcPct val="90000"/>
              </a:lnSpc>
              <a:spcBef>
                <a:spcPts val="3200"/>
              </a:spcBef>
              <a:spcAft>
                <a:spcPts val="0"/>
              </a:spcAft>
              <a:buClr>
                <a:srgbClr val="000000"/>
              </a:buClr>
              <a:buSzPts val="2214"/>
              <a:buChar char="•"/>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45" name="Google Shape;45;p43"/>
          <p:cNvSpPr txBox="1"/>
          <p:nvPr>
            <p:ph idx="12" type="sldNum"/>
          </p:nvPr>
        </p:nvSpPr>
        <p:spPr>
          <a:xfrm>
            <a:off x="6350067"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iñetas y foto">
  <p:cSld name="Título, viñetas y foto">
    <p:spTree>
      <p:nvGrpSpPr>
        <p:cNvPr id="46" name="Shape 46"/>
        <p:cNvGrpSpPr/>
        <p:nvPr/>
      </p:nvGrpSpPr>
      <p:grpSpPr>
        <a:xfrm>
          <a:off x="0" y="0"/>
          <a:ext cx="0" cy="0"/>
          <a:chOff x="0" y="0"/>
          <a:chExt cx="0" cy="0"/>
        </a:xfrm>
      </p:grpSpPr>
      <p:sp>
        <p:nvSpPr>
          <p:cNvPr id="47" name="Google Shape;47;p44"/>
          <p:cNvSpPr/>
          <p:nvPr>
            <p:ph idx="2" type="pic"/>
          </p:nvPr>
        </p:nvSpPr>
        <p:spPr>
          <a:xfrm>
            <a:off x="6172200" y="596900"/>
            <a:ext cx="6448425" cy="8597900"/>
          </a:xfrm>
          <a:prstGeom prst="rect">
            <a:avLst/>
          </a:prstGeom>
          <a:noFill/>
          <a:ln>
            <a:noFill/>
          </a:ln>
        </p:spPr>
      </p:sp>
      <p:sp>
        <p:nvSpPr>
          <p:cNvPr id="48" name="Google Shape;48;p44"/>
          <p:cNvSpPr txBox="1"/>
          <p:nvPr>
            <p:ph type="title"/>
          </p:nvPr>
        </p:nvSpPr>
        <p:spPr>
          <a:xfrm>
            <a:off x="698500" y="444500"/>
            <a:ext cx="5105400" cy="1016000"/>
          </a:xfrm>
          <a:prstGeom prst="rect">
            <a:avLst/>
          </a:prstGeom>
          <a:noFill/>
          <a:ln>
            <a:noFill/>
          </a:ln>
        </p:spPr>
        <p:txBody>
          <a:bodyPr anchorCtr="0" anchor="t" bIns="50800" lIns="50800" spcFirstLastPara="1" rIns="50800" wrap="square" tIns="50800">
            <a:no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49" name="Google Shape;49;p44"/>
          <p:cNvSpPr txBox="1"/>
          <p:nvPr>
            <p:ph idx="1" type="body"/>
          </p:nvPr>
        </p:nvSpPr>
        <p:spPr>
          <a:xfrm>
            <a:off x="698500" y="1412977"/>
            <a:ext cx="5105400" cy="671803"/>
          </a:xfrm>
          <a:prstGeom prst="rect">
            <a:avLst/>
          </a:prstGeom>
          <a:noFill/>
          <a:ln>
            <a:noFill/>
          </a:ln>
        </p:spPr>
        <p:txBody>
          <a:bodyPr anchorCtr="0" anchor="t" bIns="50800" lIns="50800" spcFirstLastPara="1" rIns="50800" wrap="square" tIns="50800">
            <a:noAutofit/>
          </a:bodyPr>
          <a:lstStyle>
            <a:lvl1pPr indent="-228600" lvl="0" marL="457200" algn="l">
              <a:lnSpc>
                <a:spcPct val="100000"/>
              </a:lnSpc>
              <a:spcBef>
                <a:spcPts val="0"/>
              </a:spcBef>
              <a:spcAft>
                <a:spcPts val="0"/>
              </a:spcAft>
              <a:buClr>
                <a:srgbClr val="000000"/>
              </a:buClr>
              <a:buSzPts val="3496"/>
              <a:buFont typeface="Helvetica Neue"/>
              <a:buNone/>
              <a:defRPr b="1" sz="3496"/>
            </a:lvl1pPr>
            <a:lvl2pPr indent="-369189" lvl="1" marL="914400" algn="l">
              <a:lnSpc>
                <a:spcPct val="90000"/>
              </a:lnSpc>
              <a:spcBef>
                <a:spcPts val="3200"/>
              </a:spcBef>
              <a:spcAft>
                <a:spcPts val="0"/>
              </a:spcAft>
              <a:buClr>
                <a:srgbClr val="000000"/>
              </a:buClr>
              <a:buSzPts val="2214"/>
              <a:buChar char="•"/>
              <a:defRPr/>
            </a:lvl2pPr>
            <a:lvl3pPr indent="-369189" lvl="2" marL="1371600" algn="l">
              <a:lnSpc>
                <a:spcPct val="90000"/>
              </a:lnSpc>
              <a:spcBef>
                <a:spcPts val="3200"/>
              </a:spcBef>
              <a:spcAft>
                <a:spcPts val="0"/>
              </a:spcAft>
              <a:buClr>
                <a:srgbClr val="000000"/>
              </a:buClr>
              <a:buSzPts val="2214"/>
              <a:buChar char="•"/>
              <a:defRPr/>
            </a:lvl3pPr>
            <a:lvl4pPr indent="-369189" lvl="3" marL="1828800" algn="l">
              <a:lnSpc>
                <a:spcPct val="90000"/>
              </a:lnSpc>
              <a:spcBef>
                <a:spcPts val="3200"/>
              </a:spcBef>
              <a:spcAft>
                <a:spcPts val="0"/>
              </a:spcAft>
              <a:buClr>
                <a:srgbClr val="000000"/>
              </a:buClr>
              <a:buSzPts val="2214"/>
              <a:buChar char="•"/>
              <a:defRPr/>
            </a:lvl4pPr>
            <a:lvl5pPr indent="-369189" lvl="4" marL="2286000" algn="l">
              <a:lnSpc>
                <a:spcPct val="90000"/>
              </a:lnSpc>
              <a:spcBef>
                <a:spcPts val="3200"/>
              </a:spcBef>
              <a:spcAft>
                <a:spcPts val="0"/>
              </a:spcAft>
              <a:buClr>
                <a:srgbClr val="000000"/>
              </a:buClr>
              <a:buSzPts val="2214"/>
              <a:buChar char="•"/>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50" name="Google Shape;50;p44"/>
          <p:cNvSpPr txBox="1"/>
          <p:nvPr>
            <p:ph idx="3" type="body"/>
          </p:nvPr>
        </p:nvSpPr>
        <p:spPr>
          <a:xfrm>
            <a:off x="698500" y="3480196"/>
            <a:ext cx="5105400" cy="5593161"/>
          </a:xfrm>
          <a:prstGeom prst="rect">
            <a:avLst/>
          </a:prstGeom>
          <a:noFill/>
          <a:ln>
            <a:noFill/>
          </a:ln>
        </p:spPr>
        <p:txBody>
          <a:bodyPr anchorCtr="0" anchor="t" bIns="50800" lIns="50800" spcFirstLastPara="1" rIns="50800" wrap="square" tIns="50800">
            <a:noAutofit/>
          </a:bodyPr>
          <a:lstStyle>
            <a:lvl1pPr indent="-369189" lvl="0" marL="457200" algn="l">
              <a:lnSpc>
                <a:spcPct val="90000"/>
              </a:lnSpc>
              <a:spcBef>
                <a:spcPts val="3200"/>
              </a:spcBef>
              <a:spcAft>
                <a:spcPts val="0"/>
              </a:spcAft>
              <a:buClr>
                <a:srgbClr val="000000"/>
              </a:buClr>
              <a:buSzPts val="2214"/>
              <a:buChar char="•"/>
              <a:defRPr/>
            </a:lvl1pPr>
            <a:lvl2pPr indent="-369189" lvl="1" marL="914400" algn="l">
              <a:lnSpc>
                <a:spcPct val="90000"/>
              </a:lnSpc>
              <a:spcBef>
                <a:spcPts val="3200"/>
              </a:spcBef>
              <a:spcAft>
                <a:spcPts val="0"/>
              </a:spcAft>
              <a:buClr>
                <a:srgbClr val="000000"/>
              </a:buClr>
              <a:buSzPts val="2214"/>
              <a:buChar char="•"/>
              <a:defRPr/>
            </a:lvl2pPr>
            <a:lvl3pPr indent="-369189" lvl="2" marL="1371600" algn="l">
              <a:lnSpc>
                <a:spcPct val="90000"/>
              </a:lnSpc>
              <a:spcBef>
                <a:spcPts val="3200"/>
              </a:spcBef>
              <a:spcAft>
                <a:spcPts val="0"/>
              </a:spcAft>
              <a:buClr>
                <a:srgbClr val="000000"/>
              </a:buClr>
              <a:buSzPts val="2214"/>
              <a:buChar char="•"/>
              <a:defRPr/>
            </a:lvl3pPr>
            <a:lvl4pPr indent="-369189" lvl="3" marL="1828800" algn="l">
              <a:lnSpc>
                <a:spcPct val="90000"/>
              </a:lnSpc>
              <a:spcBef>
                <a:spcPts val="3200"/>
              </a:spcBef>
              <a:spcAft>
                <a:spcPts val="0"/>
              </a:spcAft>
              <a:buClr>
                <a:srgbClr val="000000"/>
              </a:buClr>
              <a:buSzPts val="2214"/>
              <a:buChar char="•"/>
              <a:defRPr/>
            </a:lvl4pPr>
            <a:lvl5pPr indent="-369189" lvl="4" marL="2286000" algn="l">
              <a:lnSpc>
                <a:spcPct val="90000"/>
              </a:lnSpc>
              <a:spcBef>
                <a:spcPts val="3200"/>
              </a:spcBef>
              <a:spcAft>
                <a:spcPts val="0"/>
              </a:spcAft>
              <a:buClr>
                <a:srgbClr val="000000"/>
              </a:buClr>
              <a:buSzPts val="2214"/>
              <a:buChar char="•"/>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51" name="Google Shape;51;p44"/>
          <p:cNvSpPr txBox="1"/>
          <p:nvPr>
            <p:ph idx="12" type="sldNum"/>
          </p:nvPr>
        </p:nvSpPr>
        <p:spPr>
          <a:xfrm>
            <a:off x="6350067"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ción">
  <p:cSld name="Sección">
    <p:spTree>
      <p:nvGrpSpPr>
        <p:cNvPr id="52" name="Shape 52"/>
        <p:cNvGrpSpPr/>
        <p:nvPr/>
      </p:nvGrpSpPr>
      <p:grpSpPr>
        <a:xfrm>
          <a:off x="0" y="0"/>
          <a:ext cx="0" cy="0"/>
          <a:chOff x="0" y="0"/>
          <a:chExt cx="0" cy="0"/>
        </a:xfrm>
      </p:grpSpPr>
      <p:sp>
        <p:nvSpPr>
          <p:cNvPr id="53" name="Google Shape;53;p45"/>
          <p:cNvSpPr txBox="1"/>
          <p:nvPr>
            <p:ph type="title"/>
          </p:nvPr>
        </p:nvSpPr>
        <p:spPr>
          <a:xfrm>
            <a:off x="698500" y="3225800"/>
            <a:ext cx="11607800" cy="3302000"/>
          </a:xfrm>
          <a:prstGeom prst="rect">
            <a:avLst/>
          </a:prstGeom>
          <a:noFill/>
          <a:ln>
            <a:noFill/>
          </a:ln>
        </p:spPr>
        <p:txBody>
          <a:bodyPr anchorCtr="0" anchor="ctr" bIns="50800" lIns="50800" spcFirstLastPara="1" rIns="50800" wrap="square" tIns="50800">
            <a:noAutofit/>
          </a:bodyPr>
          <a:lstStyle>
            <a:lvl1pPr lvl="0" algn="l">
              <a:lnSpc>
                <a:spcPct val="80000"/>
              </a:lnSpc>
              <a:spcBef>
                <a:spcPts val="0"/>
              </a:spcBef>
              <a:spcAft>
                <a:spcPts val="0"/>
              </a:spcAft>
              <a:buClr>
                <a:srgbClr val="000000"/>
              </a:buClr>
              <a:buSzPts val="8200"/>
              <a:buFont typeface="Helvetica Neue"/>
              <a:buNone/>
              <a:defRPr b="0" sz="8200">
                <a:latin typeface="Helvetica Neue"/>
                <a:ea typeface="Helvetica Neue"/>
                <a:cs typeface="Helvetica Neue"/>
                <a:sym typeface="Helvetica Neu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54" name="Google Shape;54;p45"/>
          <p:cNvSpPr txBox="1"/>
          <p:nvPr>
            <p:ph idx="12" type="sldNum"/>
          </p:nvPr>
        </p:nvSpPr>
        <p:spPr>
          <a:xfrm>
            <a:off x="6350067"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título">
  <p:cSld name="Sólo título">
    <p:spTree>
      <p:nvGrpSpPr>
        <p:cNvPr id="55" name="Shape 55"/>
        <p:cNvGrpSpPr/>
        <p:nvPr/>
      </p:nvGrpSpPr>
      <p:grpSpPr>
        <a:xfrm>
          <a:off x="0" y="0"/>
          <a:ext cx="0" cy="0"/>
          <a:chOff x="0" y="0"/>
          <a:chExt cx="0" cy="0"/>
        </a:xfrm>
      </p:grpSpPr>
      <p:sp>
        <p:nvSpPr>
          <p:cNvPr id="56" name="Google Shape;56;p46"/>
          <p:cNvSpPr txBox="1"/>
          <p:nvPr>
            <p:ph type="title"/>
          </p:nvPr>
        </p:nvSpPr>
        <p:spPr>
          <a:xfrm>
            <a:off x="698500" y="440266"/>
            <a:ext cx="11607800" cy="1016001"/>
          </a:xfrm>
          <a:prstGeom prst="rect">
            <a:avLst/>
          </a:prstGeom>
          <a:noFill/>
          <a:ln>
            <a:noFill/>
          </a:ln>
        </p:spPr>
        <p:txBody>
          <a:bodyPr anchorCtr="0" anchor="t" bIns="50800" lIns="50800" spcFirstLastPara="1" rIns="50800" wrap="square" tIns="50800">
            <a:no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57" name="Google Shape;57;p46"/>
          <p:cNvSpPr txBox="1"/>
          <p:nvPr>
            <p:ph idx="1" type="body"/>
          </p:nvPr>
        </p:nvSpPr>
        <p:spPr>
          <a:xfrm>
            <a:off x="698500" y="1412977"/>
            <a:ext cx="11607801" cy="671803"/>
          </a:xfrm>
          <a:prstGeom prst="rect">
            <a:avLst/>
          </a:prstGeom>
          <a:noFill/>
          <a:ln>
            <a:noFill/>
          </a:ln>
        </p:spPr>
        <p:txBody>
          <a:bodyPr anchorCtr="0" anchor="t" bIns="50800" lIns="50800" spcFirstLastPara="1" rIns="50800" wrap="square" tIns="50800">
            <a:noAutofit/>
          </a:bodyPr>
          <a:lstStyle>
            <a:lvl1pPr indent="-228600" lvl="0" marL="457200" algn="l">
              <a:lnSpc>
                <a:spcPct val="100000"/>
              </a:lnSpc>
              <a:spcBef>
                <a:spcPts val="0"/>
              </a:spcBef>
              <a:spcAft>
                <a:spcPts val="0"/>
              </a:spcAft>
              <a:buClr>
                <a:srgbClr val="000000"/>
              </a:buClr>
              <a:buSzPts val="3800"/>
              <a:buFont typeface="Helvetica Neue"/>
              <a:buNone/>
              <a:defRPr b="1" sz="3800"/>
            </a:lvl1pPr>
            <a:lvl2pPr indent="-369189" lvl="1" marL="914400" algn="l">
              <a:lnSpc>
                <a:spcPct val="90000"/>
              </a:lnSpc>
              <a:spcBef>
                <a:spcPts val="3200"/>
              </a:spcBef>
              <a:spcAft>
                <a:spcPts val="0"/>
              </a:spcAft>
              <a:buClr>
                <a:srgbClr val="000000"/>
              </a:buClr>
              <a:buSzPts val="2214"/>
              <a:buChar char="•"/>
              <a:defRPr/>
            </a:lvl2pPr>
            <a:lvl3pPr indent="-369189" lvl="2" marL="1371600" algn="l">
              <a:lnSpc>
                <a:spcPct val="90000"/>
              </a:lnSpc>
              <a:spcBef>
                <a:spcPts val="3200"/>
              </a:spcBef>
              <a:spcAft>
                <a:spcPts val="0"/>
              </a:spcAft>
              <a:buClr>
                <a:srgbClr val="000000"/>
              </a:buClr>
              <a:buSzPts val="2214"/>
              <a:buChar char="•"/>
              <a:defRPr/>
            </a:lvl3pPr>
            <a:lvl4pPr indent="-369189" lvl="3" marL="1828800" algn="l">
              <a:lnSpc>
                <a:spcPct val="90000"/>
              </a:lnSpc>
              <a:spcBef>
                <a:spcPts val="3200"/>
              </a:spcBef>
              <a:spcAft>
                <a:spcPts val="0"/>
              </a:spcAft>
              <a:buClr>
                <a:srgbClr val="000000"/>
              </a:buClr>
              <a:buSzPts val="2214"/>
              <a:buChar char="•"/>
              <a:defRPr/>
            </a:lvl4pPr>
            <a:lvl5pPr indent="-369189" lvl="4" marL="2286000" algn="l">
              <a:lnSpc>
                <a:spcPct val="90000"/>
              </a:lnSpc>
              <a:spcBef>
                <a:spcPts val="3200"/>
              </a:spcBef>
              <a:spcAft>
                <a:spcPts val="0"/>
              </a:spcAft>
              <a:buClr>
                <a:srgbClr val="000000"/>
              </a:buClr>
              <a:buSzPts val="2214"/>
              <a:buChar char="•"/>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58" name="Google Shape;58;p46"/>
          <p:cNvSpPr txBox="1"/>
          <p:nvPr>
            <p:ph idx="12" type="sldNum"/>
          </p:nvPr>
        </p:nvSpPr>
        <p:spPr>
          <a:xfrm>
            <a:off x="6350067"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59" name="Shape 59"/>
        <p:cNvGrpSpPr/>
        <p:nvPr/>
      </p:nvGrpSpPr>
      <p:grpSpPr>
        <a:xfrm>
          <a:off x="0" y="0"/>
          <a:ext cx="0" cy="0"/>
          <a:chOff x="0" y="0"/>
          <a:chExt cx="0" cy="0"/>
        </a:xfrm>
      </p:grpSpPr>
      <p:sp>
        <p:nvSpPr>
          <p:cNvPr id="60" name="Google Shape;60;p47"/>
          <p:cNvSpPr txBox="1"/>
          <p:nvPr>
            <p:ph type="title"/>
          </p:nvPr>
        </p:nvSpPr>
        <p:spPr>
          <a:xfrm>
            <a:off x="698500" y="444500"/>
            <a:ext cx="11607800" cy="1016000"/>
          </a:xfrm>
          <a:prstGeom prst="rect">
            <a:avLst/>
          </a:prstGeom>
          <a:noFill/>
          <a:ln>
            <a:noFill/>
          </a:ln>
        </p:spPr>
        <p:txBody>
          <a:bodyPr anchorCtr="0" anchor="t" bIns="50800" lIns="50800" spcFirstLastPara="1" rIns="50800" wrap="square" tIns="50800">
            <a:no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p:txBody>
      </p:sp>
      <p:sp>
        <p:nvSpPr>
          <p:cNvPr id="61" name="Google Shape;61;p47"/>
          <p:cNvSpPr txBox="1"/>
          <p:nvPr>
            <p:ph idx="1" type="body"/>
          </p:nvPr>
        </p:nvSpPr>
        <p:spPr>
          <a:xfrm>
            <a:off x="698500" y="1409700"/>
            <a:ext cx="11607801" cy="671802"/>
          </a:xfrm>
          <a:prstGeom prst="rect">
            <a:avLst/>
          </a:prstGeom>
          <a:noFill/>
          <a:ln>
            <a:noFill/>
          </a:ln>
        </p:spPr>
        <p:txBody>
          <a:bodyPr anchorCtr="0" anchor="t" bIns="50800" lIns="50800" spcFirstLastPara="1" rIns="50800" wrap="square" tIns="50800">
            <a:noAutofit/>
          </a:bodyPr>
          <a:lstStyle>
            <a:lvl1pPr indent="-228600" lvl="0" marL="457200" algn="l">
              <a:lnSpc>
                <a:spcPct val="100000"/>
              </a:lnSpc>
              <a:spcBef>
                <a:spcPts val="0"/>
              </a:spcBef>
              <a:spcAft>
                <a:spcPts val="0"/>
              </a:spcAft>
              <a:buClr>
                <a:srgbClr val="000000"/>
              </a:buClr>
              <a:buSzPts val="3800"/>
              <a:buFont typeface="Helvetica Neue"/>
              <a:buNone/>
              <a:defRPr b="1" sz="3800"/>
            </a:lvl1pPr>
            <a:lvl2pPr indent="-369189" lvl="1" marL="914400" algn="l">
              <a:lnSpc>
                <a:spcPct val="90000"/>
              </a:lnSpc>
              <a:spcBef>
                <a:spcPts val="3200"/>
              </a:spcBef>
              <a:spcAft>
                <a:spcPts val="0"/>
              </a:spcAft>
              <a:buClr>
                <a:srgbClr val="000000"/>
              </a:buClr>
              <a:buSzPts val="2214"/>
              <a:buChar char="•"/>
              <a:defRPr/>
            </a:lvl2pPr>
            <a:lvl3pPr indent="-369189" lvl="2" marL="1371600" algn="l">
              <a:lnSpc>
                <a:spcPct val="90000"/>
              </a:lnSpc>
              <a:spcBef>
                <a:spcPts val="3200"/>
              </a:spcBef>
              <a:spcAft>
                <a:spcPts val="0"/>
              </a:spcAft>
              <a:buClr>
                <a:srgbClr val="000000"/>
              </a:buClr>
              <a:buSzPts val="2214"/>
              <a:buChar char="•"/>
              <a:defRPr/>
            </a:lvl3pPr>
            <a:lvl4pPr indent="-369189" lvl="3" marL="1828800" algn="l">
              <a:lnSpc>
                <a:spcPct val="90000"/>
              </a:lnSpc>
              <a:spcBef>
                <a:spcPts val="3200"/>
              </a:spcBef>
              <a:spcAft>
                <a:spcPts val="0"/>
              </a:spcAft>
              <a:buClr>
                <a:srgbClr val="000000"/>
              </a:buClr>
              <a:buSzPts val="2214"/>
              <a:buChar char="•"/>
              <a:defRPr/>
            </a:lvl4pPr>
            <a:lvl5pPr indent="-369189" lvl="4" marL="2286000" algn="l">
              <a:lnSpc>
                <a:spcPct val="90000"/>
              </a:lnSpc>
              <a:spcBef>
                <a:spcPts val="3200"/>
              </a:spcBef>
              <a:spcAft>
                <a:spcPts val="0"/>
              </a:spcAft>
              <a:buClr>
                <a:srgbClr val="000000"/>
              </a:buClr>
              <a:buSzPts val="2214"/>
              <a:buChar char="•"/>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62" name="Google Shape;62;p47"/>
          <p:cNvSpPr txBox="1"/>
          <p:nvPr>
            <p:ph idx="2" type="body"/>
          </p:nvPr>
        </p:nvSpPr>
        <p:spPr>
          <a:xfrm>
            <a:off x="698500" y="2959100"/>
            <a:ext cx="11607800" cy="6096000"/>
          </a:xfrm>
          <a:prstGeom prst="rect">
            <a:avLst/>
          </a:prstGeom>
          <a:noFill/>
          <a:ln>
            <a:noFill/>
          </a:ln>
        </p:spPr>
        <p:txBody>
          <a:bodyPr anchorCtr="0" anchor="t" bIns="50800" lIns="50800" spcFirstLastPara="1" rIns="50800" wrap="square" tIns="50800">
            <a:noAutofit/>
          </a:bodyPr>
          <a:lstStyle>
            <a:lvl1pPr indent="-228600" lvl="0" marL="457200" algn="l">
              <a:lnSpc>
                <a:spcPct val="90000"/>
              </a:lnSpc>
              <a:spcBef>
                <a:spcPts val="1300"/>
              </a:spcBef>
              <a:spcAft>
                <a:spcPts val="0"/>
              </a:spcAft>
              <a:buClr>
                <a:srgbClr val="000000"/>
              </a:buClr>
              <a:buSzPts val="3800"/>
              <a:buFont typeface="Helvetica Neue"/>
              <a:buNone/>
              <a:defRPr sz="3800"/>
            </a:lvl1pPr>
            <a:lvl2pPr indent="-228600" lvl="1" marL="914400" algn="l">
              <a:lnSpc>
                <a:spcPct val="90000"/>
              </a:lnSpc>
              <a:spcBef>
                <a:spcPts val="1300"/>
              </a:spcBef>
              <a:spcAft>
                <a:spcPts val="0"/>
              </a:spcAft>
              <a:buClr>
                <a:srgbClr val="000000"/>
              </a:buClr>
              <a:buSzPts val="3800"/>
              <a:buFont typeface="Helvetica Neue"/>
              <a:buNone/>
              <a:defRPr sz="3800"/>
            </a:lvl2pPr>
            <a:lvl3pPr indent="-228600" lvl="2" marL="1371600" algn="l">
              <a:lnSpc>
                <a:spcPct val="90000"/>
              </a:lnSpc>
              <a:spcBef>
                <a:spcPts val="1300"/>
              </a:spcBef>
              <a:spcAft>
                <a:spcPts val="0"/>
              </a:spcAft>
              <a:buClr>
                <a:srgbClr val="000000"/>
              </a:buClr>
              <a:buSzPts val="3800"/>
              <a:buFont typeface="Helvetica Neue"/>
              <a:buNone/>
              <a:defRPr sz="3800"/>
            </a:lvl3pPr>
            <a:lvl4pPr indent="-228600" lvl="3" marL="1828800" algn="l">
              <a:lnSpc>
                <a:spcPct val="90000"/>
              </a:lnSpc>
              <a:spcBef>
                <a:spcPts val="1300"/>
              </a:spcBef>
              <a:spcAft>
                <a:spcPts val="0"/>
              </a:spcAft>
              <a:buClr>
                <a:srgbClr val="000000"/>
              </a:buClr>
              <a:buSzPts val="3800"/>
              <a:buFont typeface="Helvetica Neue"/>
              <a:buNone/>
              <a:defRPr sz="3800"/>
            </a:lvl4pPr>
            <a:lvl5pPr indent="-228600" lvl="4" marL="2286000" algn="l">
              <a:lnSpc>
                <a:spcPct val="90000"/>
              </a:lnSpc>
              <a:spcBef>
                <a:spcPts val="1300"/>
              </a:spcBef>
              <a:spcAft>
                <a:spcPts val="0"/>
              </a:spcAft>
              <a:buClr>
                <a:srgbClr val="000000"/>
              </a:buClr>
              <a:buSzPts val="3800"/>
              <a:buFont typeface="Helvetica Neue"/>
              <a:buNone/>
              <a:defRPr sz="3800"/>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63" name="Google Shape;63;p47"/>
          <p:cNvSpPr txBox="1"/>
          <p:nvPr>
            <p:ph idx="12" type="sldNum"/>
          </p:nvPr>
        </p:nvSpPr>
        <p:spPr>
          <a:xfrm>
            <a:off x="6350067"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claración">
  <p:cSld name="Declaración">
    <p:spTree>
      <p:nvGrpSpPr>
        <p:cNvPr id="64" name="Shape 64"/>
        <p:cNvGrpSpPr/>
        <p:nvPr/>
      </p:nvGrpSpPr>
      <p:grpSpPr>
        <a:xfrm>
          <a:off x="0" y="0"/>
          <a:ext cx="0" cy="0"/>
          <a:chOff x="0" y="0"/>
          <a:chExt cx="0" cy="0"/>
        </a:xfrm>
      </p:grpSpPr>
      <p:sp>
        <p:nvSpPr>
          <p:cNvPr id="65" name="Google Shape;65;p48"/>
          <p:cNvSpPr txBox="1"/>
          <p:nvPr>
            <p:ph idx="1" type="body"/>
          </p:nvPr>
        </p:nvSpPr>
        <p:spPr>
          <a:xfrm>
            <a:off x="698500" y="3568700"/>
            <a:ext cx="11607800" cy="2617788"/>
          </a:xfrm>
          <a:prstGeom prst="rect">
            <a:avLst/>
          </a:prstGeom>
          <a:noFill/>
          <a:ln>
            <a:noFill/>
          </a:ln>
        </p:spPr>
        <p:txBody>
          <a:bodyPr anchorCtr="0" anchor="ctr" bIns="50800" lIns="50800" spcFirstLastPara="1" rIns="50800" wrap="square" tIns="50800">
            <a:noAutofit/>
          </a:bodyPr>
          <a:lstStyle>
            <a:lvl1pPr indent="-228600" lvl="0" marL="457200" algn="ctr">
              <a:lnSpc>
                <a:spcPct val="80000"/>
              </a:lnSpc>
              <a:spcBef>
                <a:spcPts val="0"/>
              </a:spcBef>
              <a:spcAft>
                <a:spcPts val="0"/>
              </a:spcAft>
              <a:buClr>
                <a:srgbClr val="000000"/>
              </a:buClr>
              <a:buSzPts val="8200"/>
              <a:buFont typeface="Helvetica Neue"/>
              <a:buNone/>
              <a:defRPr sz="8200">
                <a:latin typeface="Helvetica Neue"/>
                <a:ea typeface="Helvetica Neue"/>
                <a:cs typeface="Helvetica Neue"/>
                <a:sym typeface="Helvetica Neue"/>
              </a:defRPr>
            </a:lvl1pPr>
            <a:lvl2pPr indent="-228600" lvl="1" marL="914400" algn="ctr">
              <a:lnSpc>
                <a:spcPct val="80000"/>
              </a:lnSpc>
              <a:spcBef>
                <a:spcPts val="0"/>
              </a:spcBef>
              <a:spcAft>
                <a:spcPts val="0"/>
              </a:spcAft>
              <a:buClr>
                <a:srgbClr val="000000"/>
              </a:buClr>
              <a:buSzPts val="8200"/>
              <a:buFont typeface="Helvetica Neue"/>
              <a:buNone/>
              <a:defRPr sz="8200">
                <a:latin typeface="Helvetica Neue"/>
                <a:ea typeface="Helvetica Neue"/>
                <a:cs typeface="Helvetica Neue"/>
                <a:sym typeface="Helvetica Neue"/>
              </a:defRPr>
            </a:lvl2pPr>
            <a:lvl3pPr indent="-228600" lvl="2" marL="1371600" algn="ctr">
              <a:lnSpc>
                <a:spcPct val="80000"/>
              </a:lnSpc>
              <a:spcBef>
                <a:spcPts val="0"/>
              </a:spcBef>
              <a:spcAft>
                <a:spcPts val="0"/>
              </a:spcAft>
              <a:buClr>
                <a:srgbClr val="000000"/>
              </a:buClr>
              <a:buSzPts val="8200"/>
              <a:buFont typeface="Helvetica Neue"/>
              <a:buNone/>
              <a:defRPr sz="8200">
                <a:latin typeface="Helvetica Neue"/>
                <a:ea typeface="Helvetica Neue"/>
                <a:cs typeface="Helvetica Neue"/>
                <a:sym typeface="Helvetica Neue"/>
              </a:defRPr>
            </a:lvl3pPr>
            <a:lvl4pPr indent="-228600" lvl="3" marL="1828800" algn="ctr">
              <a:lnSpc>
                <a:spcPct val="80000"/>
              </a:lnSpc>
              <a:spcBef>
                <a:spcPts val="0"/>
              </a:spcBef>
              <a:spcAft>
                <a:spcPts val="0"/>
              </a:spcAft>
              <a:buClr>
                <a:srgbClr val="000000"/>
              </a:buClr>
              <a:buSzPts val="8200"/>
              <a:buFont typeface="Helvetica Neue"/>
              <a:buNone/>
              <a:defRPr sz="8200">
                <a:latin typeface="Helvetica Neue"/>
                <a:ea typeface="Helvetica Neue"/>
                <a:cs typeface="Helvetica Neue"/>
                <a:sym typeface="Helvetica Neue"/>
              </a:defRPr>
            </a:lvl4pPr>
            <a:lvl5pPr indent="-228600" lvl="4" marL="2286000" algn="ctr">
              <a:lnSpc>
                <a:spcPct val="80000"/>
              </a:lnSpc>
              <a:spcBef>
                <a:spcPts val="0"/>
              </a:spcBef>
              <a:spcAft>
                <a:spcPts val="0"/>
              </a:spcAft>
              <a:buClr>
                <a:srgbClr val="000000"/>
              </a:buClr>
              <a:buSzPts val="8200"/>
              <a:buFont typeface="Helvetica Neue"/>
              <a:buNone/>
              <a:defRPr sz="8200">
                <a:latin typeface="Helvetica Neue"/>
                <a:ea typeface="Helvetica Neue"/>
                <a:cs typeface="Helvetica Neue"/>
                <a:sym typeface="Helvetica Neue"/>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66" name="Google Shape;66;p48"/>
          <p:cNvSpPr txBox="1"/>
          <p:nvPr>
            <p:ph idx="12" type="sldNum"/>
          </p:nvPr>
        </p:nvSpPr>
        <p:spPr>
          <a:xfrm>
            <a:off x="6350067"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cho (grande)">
  <p:cSld name="Hecho (grande)">
    <p:spTree>
      <p:nvGrpSpPr>
        <p:cNvPr id="67" name="Shape 67"/>
        <p:cNvGrpSpPr/>
        <p:nvPr/>
      </p:nvGrpSpPr>
      <p:grpSpPr>
        <a:xfrm>
          <a:off x="0" y="0"/>
          <a:ext cx="0" cy="0"/>
          <a:chOff x="0" y="0"/>
          <a:chExt cx="0" cy="0"/>
        </a:xfrm>
      </p:grpSpPr>
      <p:sp>
        <p:nvSpPr>
          <p:cNvPr id="68" name="Google Shape;68;p49"/>
          <p:cNvSpPr txBox="1"/>
          <p:nvPr>
            <p:ph idx="1" type="body"/>
          </p:nvPr>
        </p:nvSpPr>
        <p:spPr>
          <a:xfrm>
            <a:off x="698500" y="6209979"/>
            <a:ext cx="11607800" cy="671803"/>
          </a:xfrm>
          <a:prstGeom prst="rect">
            <a:avLst/>
          </a:prstGeom>
          <a:noFill/>
          <a:ln>
            <a:noFill/>
          </a:ln>
        </p:spPr>
        <p:txBody>
          <a:bodyPr anchorCtr="0" anchor="t" bIns="50800" lIns="50800" spcFirstLastPara="1" rIns="50800" wrap="square" tIns="50800">
            <a:noAutofit/>
          </a:bodyPr>
          <a:lstStyle>
            <a:lvl1pPr indent="-228600" lvl="0" marL="457200" algn="ctr">
              <a:lnSpc>
                <a:spcPct val="100000"/>
              </a:lnSpc>
              <a:spcBef>
                <a:spcPts val="0"/>
              </a:spcBef>
              <a:spcAft>
                <a:spcPts val="0"/>
              </a:spcAft>
              <a:buClr>
                <a:srgbClr val="000000"/>
              </a:buClr>
              <a:buSzPts val="3800"/>
              <a:buFont typeface="Helvetica Neue"/>
              <a:buNone/>
              <a:defRPr b="1" sz="3800"/>
            </a:lvl1pPr>
            <a:lvl2pPr indent="-369189" lvl="1" marL="914400" algn="l">
              <a:lnSpc>
                <a:spcPct val="90000"/>
              </a:lnSpc>
              <a:spcBef>
                <a:spcPts val="3200"/>
              </a:spcBef>
              <a:spcAft>
                <a:spcPts val="0"/>
              </a:spcAft>
              <a:buClr>
                <a:srgbClr val="000000"/>
              </a:buClr>
              <a:buSzPts val="2214"/>
              <a:buChar char="•"/>
              <a:defRPr/>
            </a:lvl2pPr>
            <a:lvl3pPr indent="-369189" lvl="2" marL="1371600" algn="l">
              <a:lnSpc>
                <a:spcPct val="90000"/>
              </a:lnSpc>
              <a:spcBef>
                <a:spcPts val="3200"/>
              </a:spcBef>
              <a:spcAft>
                <a:spcPts val="0"/>
              </a:spcAft>
              <a:buClr>
                <a:srgbClr val="000000"/>
              </a:buClr>
              <a:buSzPts val="2214"/>
              <a:buChar char="•"/>
              <a:defRPr/>
            </a:lvl3pPr>
            <a:lvl4pPr indent="-369189" lvl="3" marL="1828800" algn="l">
              <a:lnSpc>
                <a:spcPct val="90000"/>
              </a:lnSpc>
              <a:spcBef>
                <a:spcPts val="3200"/>
              </a:spcBef>
              <a:spcAft>
                <a:spcPts val="0"/>
              </a:spcAft>
              <a:buClr>
                <a:srgbClr val="000000"/>
              </a:buClr>
              <a:buSzPts val="2214"/>
              <a:buChar char="•"/>
              <a:defRPr/>
            </a:lvl4pPr>
            <a:lvl5pPr indent="-369189" lvl="4" marL="2286000" algn="l">
              <a:lnSpc>
                <a:spcPct val="90000"/>
              </a:lnSpc>
              <a:spcBef>
                <a:spcPts val="3200"/>
              </a:spcBef>
              <a:spcAft>
                <a:spcPts val="0"/>
              </a:spcAft>
              <a:buClr>
                <a:srgbClr val="000000"/>
              </a:buClr>
              <a:buSzPts val="2214"/>
              <a:buChar char="•"/>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69" name="Google Shape;69;p49"/>
          <p:cNvSpPr txBox="1"/>
          <p:nvPr>
            <p:ph idx="2" type="body"/>
          </p:nvPr>
        </p:nvSpPr>
        <p:spPr>
          <a:xfrm>
            <a:off x="698500" y="999066"/>
            <a:ext cx="11607800" cy="5210914"/>
          </a:xfrm>
          <a:prstGeom prst="rect">
            <a:avLst/>
          </a:prstGeom>
          <a:noFill/>
          <a:ln>
            <a:noFill/>
          </a:ln>
        </p:spPr>
        <p:txBody>
          <a:bodyPr anchorCtr="0" anchor="b" bIns="50800" lIns="50800" spcFirstLastPara="1" rIns="50800" wrap="square" tIns="50800">
            <a:noAutofit/>
          </a:bodyPr>
          <a:lstStyle>
            <a:lvl1pPr indent="-228600" lvl="0" marL="457200" algn="ctr">
              <a:lnSpc>
                <a:spcPct val="80000"/>
              </a:lnSpc>
              <a:spcBef>
                <a:spcPts val="0"/>
              </a:spcBef>
              <a:spcAft>
                <a:spcPts val="0"/>
              </a:spcAft>
              <a:buClr>
                <a:srgbClr val="000000"/>
              </a:buClr>
              <a:buSzPts val="17600"/>
              <a:buFont typeface="Helvetica Neue"/>
              <a:buNone/>
              <a:defRPr b="1" sz="17600"/>
            </a:lvl1pPr>
            <a:lvl2pPr indent="-228600" lvl="1" marL="914400" algn="ctr">
              <a:lnSpc>
                <a:spcPct val="80000"/>
              </a:lnSpc>
              <a:spcBef>
                <a:spcPts val="0"/>
              </a:spcBef>
              <a:spcAft>
                <a:spcPts val="0"/>
              </a:spcAft>
              <a:buClr>
                <a:srgbClr val="000000"/>
              </a:buClr>
              <a:buSzPts val="17600"/>
              <a:buFont typeface="Helvetica Neue"/>
              <a:buNone/>
              <a:defRPr b="1" sz="17600"/>
            </a:lvl2pPr>
            <a:lvl3pPr indent="-228600" lvl="2" marL="1371600" algn="ctr">
              <a:lnSpc>
                <a:spcPct val="80000"/>
              </a:lnSpc>
              <a:spcBef>
                <a:spcPts val="0"/>
              </a:spcBef>
              <a:spcAft>
                <a:spcPts val="0"/>
              </a:spcAft>
              <a:buClr>
                <a:srgbClr val="000000"/>
              </a:buClr>
              <a:buSzPts val="17600"/>
              <a:buFont typeface="Helvetica Neue"/>
              <a:buNone/>
              <a:defRPr b="1" sz="17600"/>
            </a:lvl3pPr>
            <a:lvl4pPr indent="-228600" lvl="3" marL="1828800" algn="ctr">
              <a:lnSpc>
                <a:spcPct val="80000"/>
              </a:lnSpc>
              <a:spcBef>
                <a:spcPts val="0"/>
              </a:spcBef>
              <a:spcAft>
                <a:spcPts val="0"/>
              </a:spcAft>
              <a:buClr>
                <a:srgbClr val="000000"/>
              </a:buClr>
              <a:buSzPts val="17600"/>
              <a:buFont typeface="Helvetica Neue"/>
              <a:buNone/>
              <a:defRPr b="1" sz="17600"/>
            </a:lvl4pPr>
            <a:lvl5pPr indent="-228600" lvl="4" marL="2286000" algn="ctr">
              <a:lnSpc>
                <a:spcPct val="80000"/>
              </a:lnSpc>
              <a:spcBef>
                <a:spcPts val="0"/>
              </a:spcBef>
              <a:spcAft>
                <a:spcPts val="0"/>
              </a:spcAft>
              <a:buClr>
                <a:srgbClr val="000000"/>
              </a:buClr>
              <a:buSzPts val="17600"/>
              <a:buFont typeface="Helvetica Neue"/>
              <a:buNone/>
              <a:defRPr b="1" sz="17600"/>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70" name="Google Shape;70;p49"/>
          <p:cNvSpPr txBox="1"/>
          <p:nvPr>
            <p:ph idx="12" type="sldNum"/>
          </p:nvPr>
        </p:nvSpPr>
        <p:spPr>
          <a:xfrm>
            <a:off x="6350067"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p:cSld name="Cita">
    <p:spTree>
      <p:nvGrpSpPr>
        <p:cNvPr id="71" name="Shape 71"/>
        <p:cNvGrpSpPr/>
        <p:nvPr/>
      </p:nvGrpSpPr>
      <p:grpSpPr>
        <a:xfrm>
          <a:off x="0" y="0"/>
          <a:ext cx="0" cy="0"/>
          <a:chOff x="0" y="0"/>
          <a:chExt cx="0" cy="0"/>
        </a:xfrm>
      </p:grpSpPr>
      <p:sp>
        <p:nvSpPr>
          <p:cNvPr id="72" name="Google Shape;72;p50"/>
          <p:cNvSpPr txBox="1"/>
          <p:nvPr>
            <p:ph idx="1" type="body"/>
          </p:nvPr>
        </p:nvSpPr>
        <p:spPr>
          <a:xfrm>
            <a:off x="736600" y="3721100"/>
            <a:ext cx="11531600" cy="2324100"/>
          </a:xfrm>
          <a:prstGeom prst="rect">
            <a:avLst/>
          </a:prstGeom>
          <a:noFill/>
          <a:ln>
            <a:noFill/>
          </a:ln>
        </p:spPr>
        <p:txBody>
          <a:bodyPr anchorCtr="0" anchor="ctr" bIns="50800" lIns="50800" spcFirstLastPara="1" rIns="50800" wrap="square" tIns="50800">
            <a:noAutofit/>
          </a:bodyPr>
          <a:lstStyle>
            <a:lvl1pPr indent="-228600" lvl="0" marL="457200" algn="l">
              <a:lnSpc>
                <a:spcPct val="90000"/>
              </a:lnSpc>
              <a:spcBef>
                <a:spcPts val="0"/>
              </a:spcBef>
              <a:spcAft>
                <a:spcPts val="0"/>
              </a:spcAft>
              <a:buClr>
                <a:srgbClr val="000000"/>
              </a:buClr>
              <a:buSzPts val="6000"/>
              <a:buFont typeface="Helvetica Neue"/>
              <a:buNone/>
              <a:defRPr sz="6000">
                <a:latin typeface="Helvetica Neue"/>
                <a:ea typeface="Helvetica Neue"/>
                <a:cs typeface="Helvetica Neue"/>
                <a:sym typeface="Helvetica Neue"/>
              </a:defRPr>
            </a:lvl1pPr>
            <a:lvl2pPr indent="-228600" lvl="1" marL="914400" algn="l">
              <a:lnSpc>
                <a:spcPct val="90000"/>
              </a:lnSpc>
              <a:spcBef>
                <a:spcPts val="0"/>
              </a:spcBef>
              <a:spcAft>
                <a:spcPts val="0"/>
              </a:spcAft>
              <a:buClr>
                <a:srgbClr val="000000"/>
              </a:buClr>
              <a:buSzPts val="6000"/>
              <a:buFont typeface="Helvetica Neue"/>
              <a:buNone/>
              <a:defRPr sz="6000">
                <a:latin typeface="Helvetica Neue"/>
                <a:ea typeface="Helvetica Neue"/>
                <a:cs typeface="Helvetica Neue"/>
                <a:sym typeface="Helvetica Neue"/>
              </a:defRPr>
            </a:lvl2pPr>
            <a:lvl3pPr indent="-228600" lvl="2" marL="1371600" algn="l">
              <a:lnSpc>
                <a:spcPct val="90000"/>
              </a:lnSpc>
              <a:spcBef>
                <a:spcPts val="0"/>
              </a:spcBef>
              <a:spcAft>
                <a:spcPts val="0"/>
              </a:spcAft>
              <a:buClr>
                <a:srgbClr val="000000"/>
              </a:buClr>
              <a:buSzPts val="6000"/>
              <a:buFont typeface="Helvetica Neue"/>
              <a:buNone/>
              <a:defRPr sz="6000">
                <a:latin typeface="Helvetica Neue"/>
                <a:ea typeface="Helvetica Neue"/>
                <a:cs typeface="Helvetica Neue"/>
                <a:sym typeface="Helvetica Neue"/>
              </a:defRPr>
            </a:lvl3pPr>
            <a:lvl4pPr indent="-228600" lvl="3" marL="1828800" algn="l">
              <a:lnSpc>
                <a:spcPct val="90000"/>
              </a:lnSpc>
              <a:spcBef>
                <a:spcPts val="0"/>
              </a:spcBef>
              <a:spcAft>
                <a:spcPts val="0"/>
              </a:spcAft>
              <a:buClr>
                <a:srgbClr val="000000"/>
              </a:buClr>
              <a:buSzPts val="6000"/>
              <a:buFont typeface="Helvetica Neue"/>
              <a:buNone/>
              <a:defRPr sz="6000">
                <a:latin typeface="Helvetica Neue"/>
                <a:ea typeface="Helvetica Neue"/>
                <a:cs typeface="Helvetica Neue"/>
                <a:sym typeface="Helvetica Neue"/>
              </a:defRPr>
            </a:lvl4pPr>
            <a:lvl5pPr indent="-228600" lvl="4" marL="2286000" algn="l">
              <a:lnSpc>
                <a:spcPct val="90000"/>
              </a:lnSpc>
              <a:spcBef>
                <a:spcPts val="0"/>
              </a:spcBef>
              <a:spcAft>
                <a:spcPts val="0"/>
              </a:spcAft>
              <a:buClr>
                <a:srgbClr val="000000"/>
              </a:buClr>
              <a:buSzPts val="6000"/>
              <a:buFont typeface="Helvetica Neue"/>
              <a:buNone/>
              <a:defRPr sz="6000">
                <a:latin typeface="Helvetica Neue"/>
                <a:ea typeface="Helvetica Neue"/>
                <a:cs typeface="Helvetica Neue"/>
                <a:sym typeface="Helvetica Neue"/>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73" name="Google Shape;73;p50"/>
          <p:cNvSpPr txBox="1"/>
          <p:nvPr>
            <p:ph idx="2" type="body"/>
          </p:nvPr>
        </p:nvSpPr>
        <p:spPr>
          <a:xfrm>
            <a:off x="1219200" y="6426200"/>
            <a:ext cx="11049000" cy="461059"/>
          </a:xfrm>
          <a:prstGeom prst="rect">
            <a:avLst/>
          </a:prstGeom>
          <a:noFill/>
          <a:ln>
            <a:noFill/>
          </a:ln>
        </p:spPr>
        <p:txBody>
          <a:bodyPr anchorCtr="0" anchor="t" bIns="50800" lIns="50800" spcFirstLastPara="1" rIns="50800" wrap="square" tIns="50800">
            <a:noAutofit/>
          </a:bodyPr>
          <a:lstStyle>
            <a:lvl1pPr indent="-228600" lvl="0" marL="457200" algn="l">
              <a:lnSpc>
                <a:spcPct val="100000"/>
              </a:lnSpc>
              <a:spcBef>
                <a:spcPts val="0"/>
              </a:spcBef>
              <a:spcAft>
                <a:spcPts val="0"/>
              </a:spcAft>
              <a:buClr>
                <a:srgbClr val="000000"/>
              </a:buClr>
              <a:buSzPts val="2304"/>
              <a:buFont typeface="Helvetica Neue"/>
              <a:buNone/>
              <a:defRPr b="1" sz="2304"/>
            </a:lvl1pPr>
            <a:lvl2pPr indent="-369189" lvl="1" marL="914400" algn="l">
              <a:lnSpc>
                <a:spcPct val="90000"/>
              </a:lnSpc>
              <a:spcBef>
                <a:spcPts val="3200"/>
              </a:spcBef>
              <a:spcAft>
                <a:spcPts val="0"/>
              </a:spcAft>
              <a:buClr>
                <a:srgbClr val="000000"/>
              </a:buClr>
              <a:buSzPts val="2214"/>
              <a:buChar char="•"/>
              <a:defRPr/>
            </a:lvl2pPr>
            <a:lvl3pPr indent="-369189" lvl="2" marL="1371600" algn="l">
              <a:lnSpc>
                <a:spcPct val="90000"/>
              </a:lnSpc>
              <a:spcBef>
                <a:spcPts val="3200"/>
              </a:spcBef>
              <a:spcAft>
                <a:spcPts val="0"/>
              </a:spcAft>
              <a:buClr>
                <a:srgbClr val="000000"/>
              </a:buClr>
              <a:buSzPts val="2214"/>
              <a:buChar char="•"/>
              <a:defRPr/>
            </a:lvl3pPr>
            <a:lvl4pPr indent="-369189" lvl="3" marL="1828800" algn="l">
              <a:lnSpc>
                <a:spcPct val="90000"/>
              </a:lnSpc>
              <a:spcBef>
                <a:spcPts val="3200"/>
              </a:spcBef>
              <a:spcAft>
                <a:spcPts val="0"/>
              </a:spcAft>
              <a:buClr>
                <a:srgbClr val="000000"/>
              </a:buClr>
              <a:buSzPts val="2214"/>
              <a:buChar char="•"/>
              <a:defRPr/>
            </a:lvl4pPr>
            <a:lvl5pPr indent="-369189" lvl="4" marL="2286000" algn="l">
              <a:lnSpc>
                <a:spcPct val="90000"/>
              </a:lnSpc>
              <a:spcBef>
                <a:spcPts val="3200"/>
              </a:spcBef>
              <a:spcAft>
                <a:spcPts val="0"/>
              </a:spcAft>
              <a:buClr>
                <a:srgbClr val="000000"/>
              </a:buClr>
              <a:buSzPts val="2214"/>
              <a:buChar char="•"/>
              <a:defRPr/>
            </a:lvl5pPr>
            <a:lvl6pPr indent="-369189" lvl="5" marL="2743200" algn="l">
              <a:lnSpc>
                <a:spcPct val="90000"/>
              </a:lnSpc>
              <a:spcBef>
                <a:spcPts val="3200"/>
              </a:spcBef>
              <a:spcAft>
                <a:spcPts val="0"/>
              </a:spcAft>
              <a:buClr>
                <a:srgbClr val="000000"/>
              </a:buClr>
              <a:buSzPts val="2214"/>
              <a:buChar char="•"/>
              <a:defRPr/>
            </a:lvl6pPr>
            <a:lvl7pPr indent="-369189" lvl="6" marL="3200400" algn="l">
              <a:lnSpc>
                <a:spcPct val="90000"/>
              </a:lnSpc>
              <a:spcBef>
                <a:spcPts val="3200"/>
              </a:spcBef>
              <a:spcAft>
                <a:spcPts val="0"/>
              </a:spcAft>
              <a:buClr>
                <a:srgbClr val="000000"/>
              </a:buClr>
              <a:buSzPts val="2214"/>
              <a:buChar char="•"/>
              <a:defRPr/>
            </a:lvl7pPr>
            <a:lvl8pPr indent="-369189" lvl="7" marL="3657600" algn="l">
              <a:lnSpc>
                <a:spcPct val="90000"/>
              </a:lnSpc>
              <a:spcBef>
                <a:spcPts val="3200"/>
              </a:spcBef>
              <a:spcAft>
                <a:spcPts val="0"/>
              </a:spcAft>
              <a:buClr>
                <a:srgbClr val="000000"/>
              </a:buClr>
              <a:buSzPts val="2214"/>
              <a:buChar char="•"/>
              <a:defRPr/>
            </a:lvl8pPr>
            <a:lvl9pPr indent="-369189" lvl="8" marL="4114800" algn="l">
              <a:lnSpc>
                <a:spcPct val="90000"/>
              </a:lnSpc>
              <a:spcBef>
                <a:spcPts val="3200"/>
              </a:spcBef>
              <a:spcAft>
                <a:spcPts val="0"/>
              </a:spcAft>
              <a:buClr>
                <a:srgbClr val="000000"/>
              </a:buClr>
              <a:buSzPts val="2214"/>
              <a:buChar char="•"/>
              <a:defRPr/>
            </a:lvl9pPr>
          </a:lstStyle>
          <a:p/>
        </p:txBody>
      </p:sp>
      <p:sp>
        <p:nvSpPr>
          <p:cNvPr id="74" name="Google Shape;74;p50"/>
          <p:cNvSpPr txBox="1"/>
          <p:nvPr>
            <p:ph idx="12" type="sldNum"/>
          </p:nvPr>
        </p:nvSpPr>
        <p:spPr>
          <a:xfrm>
            <a:off x="6350067"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fotos">
  <p:cSld name="3 fotos">
    <p:spTree>
      <p:nvGrpSpPr>
        <p:cNvPr id="75" name="Shape 75"/>
        <p:cNvGrpSpPr/>
        <p:nvPr/>
      </p:nvGrpSpPr>
      <p:grpSpPr>
        <a:xfrm>
          <a:off x="0" y="0"/>
          <a:ext cx="0" cy="0"/>
          <a:chOff x="0" y="0"/>
          <a:chExt cx="0" cy="0"/>
        </a:xfrm>
      </p:grpSpPr>
      <p:sp>
        <p:nvSpPr>
          <p:cNvPr id="76" name="Google Shape;76;p51"/>
          <p:cNvSpPr/>
          <p:nvPr>
            <p:ph idx="2" type="pic"/>
          </p:nvPr>
        </p:nvSpPr>
        <p:spPr>
          <a:xfrm>
            <a:off x="-2082800" y="687558"/>
            <a:ext cx="11165190" cy="8373892"/>
          </a:xfrm>
          <a:prstGeom prst="rect">
            <a:avLst/>
          </a:prstGeom>
          <a:noFill/>
          <a:ln>
            <a:noFill/>
          </a:ln>
        </p:spPr>
      </p:sp>
      <p:sp>
        <p:nvSpPr>
          <p:cNvPr id="77" name="Google Shape;77;p51"/>
          <p:cNvSpPr/>
          <p:nvPr>
            <p:ph idx="3" type="pic"/>
          </p:nvPr>
        </p:nvSpPr>
        <p:spPr>
          <a:xfrm>
            <a:off x="6597650" y="292100"/>
            <a:ext cx="5740400" cy="4592321"/>
          </a:xfrm>
          <a:prstGeom prst="rect">
            <a:avLst/>
          </a:prstGeom>
          <a:noFill/>
          <a:ln>
            <a:noFill/>
          </a:ln>
        </p:spPr>
      </p:sp>
      <p:sp>
        <p:nvSpPr>
          <p:cNvPr id="78" name="Google Shape;78;p51"/>
          <p:cNvSpPr/>
          <p:nvPr>
            <p:ph idx="4" type="pic"/>
          </p:nvPr>
        </p:nvSpPr>
        <p:spPr>
          <a:xfrm>
            <a:off x="4984750" y="2749550"/>
            <a:ext cx="7937500" cy="9238276"/>
          </a:xfrm>
          <a:prstGeom prst="rect">
            <a:avLst/>
          </a:prstGeom>
          <a:noFill/>
          <a:ln>
            <a:noFill/>
          </a:ln>
        </p:spPr>
      </p:sp>
      <p:sp>
        <p:nvSpPr>
          <p:cNvPr id="79" name="Google Shape;79;p51"/>
          <p:cNvSpPr txBox="1"/>
          <p:nvPr>
            <p:ph idx="12" type="sldNum"/>
          </p:nvPr>
        </p:nvSpPr>
        <p:spPr>
          <a:xfrm>
            <a:off x="6350067"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to">
  <p:cSld name="Foto">
    <p:spTree>
      <p:nvGrpSpPr>
        <p:cNvPr id="80" name="Shape 80"/>
        <p:cNvGrpSpPr/>
        <p:nvPr/>
      </p:nvGrpSpPr>
      <p:grpSpPr>
        <a:xfrm>
          <a:off x="0" y="0"/>
          <a:ext cx="0" cy="0"/>
          <a:chOff x="0" y="0"/>
          <a:chExt cx="0" cy="0"/>
        </a:xfrm>
      </p:grpSpPr>
      <p:sp>
        <p:nvSpPr>
          <p:cNvPr id="81" name="Google Shape;81;p52"/>
          <p:cNvSpPr/>
          <p:nvPr>
            <p:ph idx="2" type="pic"/>
          </p:nvPr>
        </p:nvSpPr>
        <p:spPr>
          <a:xfrm>
            <a:off x="-1016000" y="-1054100"/>
            <a:ext cx="14427200" cy="11541760"/>
          </a:xfrm>
          <a:prstGeom prst="rect">
            <a:avLst/>
          </a:prstGeom>
          <a:noFill/>
          <a:ln>
            <a:noFill/>
          </a:ln>
        </p:spPr>
      </p:sp>
      <p:sp>
        <p:nvSpPr>
          <p:cNvPr id="82" name="Google Shape;82;p52"/>
          <p:cNvSpPr txBox="1"/>
          <p:nvPr>
            <p:ph idx="12" type="sldNum"/>
          </p:nvPr>
        </p:nvSpPr>
        <p:spPr>
          <a:xfrm>
            <a:off x="6353454" y="9220199"/>
            <a:ext cx="297892" cy="287479"/>
          </a:xfrm>
          <a:prstGeom prst="rect">
            <a:avLst/>
          </a:prstGeom>
          <a:noFill/>
          <a:ln>
            <a:noFill/>
          </a:ln>
        </p:spPr>
        <p:txBody>
          <a:bodyPr anchorCtr="0" anchor="b" bIns="50800" lIns="50800" spcFirstLastPara="1" rIns="50800" wrap="square" tIns="50800">
            <a:noAutofit/>
          </a:bodyPr>
          <a:lstStyle>
            <a:lvl1pPr indent="0" lvl="0" marL="0" marR="0" algn="ctr">
              <a:lnSpc>
                <a:spcPct val="100000"/>
              </a:lnSpc>
              <a:spcBef>
                <a:spcPts val="0"/>
              </a:spcBef>
              <a:spcAft>
                <a:spcPts val="0"/>
              </a:spcAft>
              <a:buClr>
                <a:srgbClr val="FFFFFF"/>
              </a:buClr>
              <a:buSzPts val="1300"/>
              <a:buFont typeface="Helvetica Neue"/>
              <a:buNone/>
              <a:defRPr b="0" i="0" sz="1300" u="none" cap="none" strike="noStrike">
                <a:solidFill>
                  <a:srgbClr val="FFFFFF"/>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FFFFFF"/>
              </a:buClr>
              <a:buSzPts val="1300"/>
              <a:buFont typeface="Helvetica Neue"/>
              <a:buNone/>
              <a:defRPr b="0" i="0" sz="1300" u="none" cap="none" strike="noStrike">
                <a:solidFill>
                  <a:srgbClr val="FFFFFF"/>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FFFFFF"/>
              </a:buClr>
              <a:buSzPts val="1300"/>
              <a:buFont typeface="Helvetica Neue"/>
              <a:buNone/>
              <a:defRPr b="0" i="0" sz="1300" u="none" cap="none" strike="noStrike">
                <a:solidFill>
                  <a:srgbClr val="FFFFFF"/>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FFFFFF"/>
              </a:buClr>
              <a:buSzPts val="1300"/>
              <a:buFont typeface="Helvetica Neue"/>
              <a:buNone/>
              <a:defRPr b="0" i="0" sz="1300" u="none" cap="none" strike="noStrike">
                <a:solidFill>
                  <a:srgbClr val="FFFFFF"/>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FFFFFF"/>
              </a:buClr>
              <a:buSzPts val="1300"/>
              <a:buFont typeface="Helvetica Neue"/>
              <a:buNone/>
              <a:defRPr b="0" i="0" sz="1300" u="none" cap="none" strike="noStrike">
                <a:solidFill>
                  <a:srgbClr val="FFFFFF"/>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FFFFFF"/>
              </a:buClr>
              <a:buSzPts val="1300"/>
              <a:buFont typeface="Helvetica Neue"/>
              <a:buNone/>
              <a:defRPr b="0" i="0" sz="1300" u="none" cap="none" strike="noStrike">
                <a:solidFill>
                  <a:srgbClr val="FFFFFF"/>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FFFFFF"/>
              </a:buClr>
              <a:buSzPts val="1300"/>
              <a:buFont typeface="Helvetica Neue"/>
              <a:buNone/>
              <a:defRPr b="0" i="0" sz="1300" u="none" cap="none" strike="noStrike">
                <a:solidFill>
                  <a:srgbClr val="FFFFFF"/>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FFFFFF"/>
              </a:buClr>
              <a:buSzPts val="1300"/>
              <a:buFont typeface="Helvetica Neue"/>
              <a:buNone/>
              <a:defRPr b="0" i="0" sz="1300" u="none" cap="none" strike="noStrike">
                <a:solidFill>
                  <a:srgbClr val="FFFFFF"/>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FFFFFF"/>
              </a:buClr>
              <a:buSzPts val="1300"/>
              <a:buFont typeface="Helvetica Neue"/>
              <a:buNone/>
              <a:defRPr b="0" i="0" sz="13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33"/>
          <p:cNvSpPr txBox="1"/>
          <p:nvPr>
            <p:ph idx="1" type="body"/>
          </p:nvPr>
        </p:nvSpPr>
        <p:spPr>
          <a:xfrm>
            <a:off x="698500" y="2959100"/>
            <a:ext cx="11607800" cy="6096000"/>
          </a:xfrm>
          <a:prstGeom prst="rect">
            <a:avLst/>
          </a:prstGeom>
          <a:noFill/>
          <a:ln>
            <a:noFill/>
          </a:ln>
        </p:spPr>
        <p:txBody>
          <a:bodyPr anchorCtr="0" anchor="t" bIns="50800" lIns="50800" spcFirstLastPara="1" rIns="50800" wrap="square" tIns="50800">
            <a:noAutofit/>
          </a:bodyPr>
          <a:lstStyle>
            <a:lvl1pPr indent="-462915" lvl="0" marL="457200" marR="0" rtl="0" algn="l">
              <a:lnSpc>
                <a:spcPct val="90000"/>
              </a:lnSpc>
              <a:spcBef>
                <a:spcPts val="3200"/>
              </a:spcBef>
              <a:spcAft>
                <a:spcPts val="0"/>
              </a:spcAft>
              <a:buClr>
                <a:srgbClr val="000000"/>
              </a:buClr>
              <a:buSzPts val="3690"/>
              <a:buFont typeface="Helvetica Neue"/>
              <a:buChar char="•"/>
              <a:defRPr b="0" i="0" sz="3000" u="none" cap="none" strike="noStrike">
                <a:solidFill>
                  <a:srgbClr val="000000"/>
                </a:solidFill>
                <a:latin typeface="Helvetica Neue"/>
                <a:ea typeface="Helvetica Neue"/>
                <a:cs typeface="Helvetica Neue"/>
                <a:sym typeface="Helvetica Neue"/>
              </a:defRPr>
            </a:lvl1pPr>
            <a:lvl2pPr indent="-462915" lvl="1" marL="914400" marR="0" rtl="0" algn="l">
              <a:lnSpc>
                <a:spcPct val="90000"/>
              </a:lnSpc>
              <a:spcBef>
                <a:spcPts val="3200"/>
              </a:spcBef>
              <a:spcAft>
                <a:spcPts val="0"/>
              </a:spcAft>
              <a:buClr>
                <a:srgbClr val="000000"/>
              </a:buClr>
              <a:buSzPts val="3690"/>
              <a:buFont typeface="Helvetica Neue"/>
              <a:buChar char="•"/>
              <a:defRPr b="0" i="0" sz="3000" u="none" cap="none" strike="noStrike">
                <a:solidFill>
                  <a:srgbClr val="000000"/>
                </a:solidFill>
                <a:latin typeface="Helvetica Neue"/>
                <a:ea typeface="Helvetica Neue"/>
                <a:cs typeface="Helvetica Neue"/>
                <a:sym typeface="Helvetica Neue"/>
              </a:defRPr>
            </a:lvl2pPr>
            <a:lvl3pPr indent="-462914" lvl="2" marL="1371600" marR="0" rtl="0" algn="l">
              <a:lnSpc>
                <a:spcPct val="90000"/>
              </a:lnSpc>
              <a:spcBef>
                <a:spcPts val="3200"/>
              </a:spcBef>
              <a:spcAft>
                <a:spcPts val="0"/>
              </a:spcAft>
              <a:buClr>
                <a:srgbClr val="000000"/>
              </a:buClr>
              <a:buSzPts val="3690"/>
              <a:buFont typeface="Helvetica Neue"/>
              <a:buChar char="•"/>
              <a:defRPr b="0" i="0" sz="3000" u="none" cap="none" strike="noStrike">
                <a:solidFill>
                  <a:srgbClr val="000000"/>
                </a:solidFill>
                <a:latin typeface="Helvetica Neue"/>
                <a:ea typeface="Helvetica Neue"/>
                <a:cs typeface="Helvetica Neue"/>
                <a:sym typeface="Helvetica Neue"/>
              </a:defRPr>
            </a:lvl3pPr>
            <a:lvl4pPr indent="-462914" lvl="3" marL="1828800" marR="0" rtl="0" algn="l">
              <a:lnSpc>
                <a:spcPct val="90000"/>
              </a:lnSpc>
              <a:spcBef>
                <a:spcPts val="3200"/>
              </a:spcBef>
              <a:spcAft>
                <a:spcPts val="0"/>
              </a:spcAft>
              <a:buClr>
                <a:srgbClr val="000000"/>
              </a:buClr>
              <a:buSzPts val="3690"/>
              <a:buFont typeface="Helvetica Neue"/>
              <a:buChar char="•"/>
              <a:defRPr b="0" i="0" sz="3000" u="none" cap="none" strike="noStrike">
                <a:solidFill>
                  <a:srgbClr val="000000"/>
                </a:solidFill>
                <a:latin typeface="Helvetica Neue"/>
                <a:ea typeface="Helvetica Neue"/>
                <a:cs typeface="Helvetica Neue"/>
                <a:sym typeface="Helvetica Neue"/>
              </a:defRPr>
            </a:lvl4pPr>
            <a:lvl5pPr indent="-462914" lvl="4" marL="2286000" marR="0" rtl="0" algn="l">
              <a:lnSpc>
                <a:spcPct val="90000"/>
              </a:lnSpc>
              <a:spcBef>
                <a:spcPts val="3200"/>
              </a:spcBef>
              <a:spcAft>
                <a:spcPts val="0"/>
              </a:spcAft>
              <a:buClr>
                <a:srgbClr val="000000"/>
              </a:buClr>
              <a:buSzPts val="3690"/>
              <a:buFont typeface="Helvetica Neue"/>
              <a:buChar char="•"/>
              <a:defRPr b="0" i="0" sz="3000" u="none" cap="none" strike="noStrike">
                <a:solidFill>
                  <a:srgbClr val="000000"/>
                </a:solidFill>
                <a:latin typeface="Helvetica Neue"/>
                <a:ea typeface="Helvetica Neue"/>
                <a:cs typeface="Helvetica Neue"/>
                <a:sym typeface="Helvetica Neue"/>
              </a:defRPr>
            </a:lvl5pPr>
            <a:lvl6pPr indent="-462914" lvl="5" marL="2743200" marR="0" rtl="0" algn="l">
              <a:lnSpc>
                <a:spcPct val="90000"/>
              </a:lnSpc>
              <a:spcBef>
                <a:spcPts val="3200"/>
              </a:spcBef>
              <a:spcAft>
                <a:spcPts val="0"/>
              </a:spcAft>
              <a:buClr>
                <a:srgbClr val="000000"/>
              </a:buClr>
              <a:buSzPts val="3690"/>
              <a:buFont typeface="Helvetica Neue"/>
              <a:buChar char="•"/>
              <a:defRPr b="0" i="0" sz="3000" u="none" cap="none" strike="noStrike">
                <a:solidFill>
                  <a:srgbClr val="000000"/>
                </a:solidFill>
                <a:latin typeface="Helvetica Neue"/>
                <a:ea typeface="Helvetica Neue"/>
                <a:cs typeface="Helvetica Neue"/>
                <a:sym typeface="Helvetica Neue"/>
              </a:defRPr>
            </a:lvl6pPr>
            <a:lvl7pPr indent="-462914" lvl="6" marL="3200400" marR="0" rtl="0" algn="l">
              <a:lnSpc>
                <a:spcPct val="90000"/>
              </a:lnSpc>
              <a:spcBef>
                <a:spcPts val="3200"/>
              </a:spcBef>
              <a:spcAft>
                <a:spcPts val="0"/>
              </a:spcAft>
              <a:buClr>
                <a:srgbClr val="000000"/>
              </a:buClr>
              <a:buSzPts val="3690"/>
              <a:buFont typeface="Helvetica Neue"/>
              <a:buChar char="•"/>
              <a:defRPr b="0" i="0" sz="3000" u="none" cap="none" strike="noStrike">
                <a:solidFill>
                  <a:srgbClr val="000000"/>
                </a:solidFill>
                <a:latin typeface="Helvetica Neue"/>
                <a:ea typeface="Helvetica Neue"/>
                <a:cs typeface="Helvetica Neue"/>
                <a:sym typeface="Helvetica Neue"/>
              </a:defRPr>
            </a:lvl7pPr>
            <a:lvl8pPr indent="-462914" lvl="7" marL="3657600" marR="0" rtl="0" algn="l">
              <a:lnSpc>
                <a:spcPct val="90000"/>
              </a:lnSpc>
              <a:spcBef>
                <a:spcPts val="3200"/>
              </a:spcBef>
              <a:spcAft>
                <a:spcPts val="0"/>
              </a:spcAft>
              <a:buClr>
                <a:srgbClr val="000000"/>
              </a:buClr>
              <a:buSzPts val="3690"/>
              <a:buFont typeface="Helvetica Neue"/>
              <a:buChar char="•"/>
              <a:defRPr b="0" i="0" sz="3000" u="none" cap="none" strike="noStrike">
                <a:solidFill>
                  <a:srgbClr val="000000"/>
                </a:solidFill>
                <a:latin typeface="Helvetica Neue"/>
                <a:ea typeface="Helvetica Neue"/>
                <a:cs typeface="Helvetica Neue"/>
                <a:sym typeface="Helvetica Neue"/>
              </a:defRPr>
            </a:lvl8pPr>
            <a:lvl9pPr indent="-462915" lvl="8" marL="4114800" marR="0" rtl="0" algn="l">
              <a:lnSpc>
                <a:spcPct val="90000"/>
              </a:lnSpc>
              <a:spcBef>
                <a:spcPts val="3200"/>
              </a:spcBef>
              <a:spcAft>
                <a:spcPts val="0"/>
              </a:spcAft>
              <a:buClr>
                <a:srgbClr val="000000"/>
              </a:buClr>
              <a:buSzPts val="3690"/>
              <a:buFont typeface="Helvetica Neue"/>
              <a:buChar char="•"/>
              <a:defRPr b="0" i="0" sz="3000" u="none" cap="none" strike="noStrike">
                <a:solidFill>
                  <a:srgbClr val="000000"/>
                </a:solidFill>
                <a:latin typeface="Helvetica Neue"/>
                <a:ea typeface="Helvetica Neue"/>
                <a:cs typeface="Helvetica Neue"/>
                <a:sym typeface="Helvetica Neue"/>
              </a:defRPr>
            </a:lvl9pPr>
          </a:lstStyle>
          <a:p/>
        </p:txBody>
      </p:sp>
      <p:sp>
        <p:nvSpPr>
          <p:cNvPr id="7" name="Google Shape;7;p33"/>
          <p:cNvSpPr txBox="1"/>
          <p:nvPr>
            <p:ph type="title"/>
          </p:nvPr>
        </p:nvSpPr>
        <p:spPr>
          <a:xfrm>
            <a:off x="698500" y="440266"/>
            <a:ext cx="11607800" cy="1016001"/>
          </a:xfrm>
          <a:prstGeom prst="rect">
            <a:avLst/>
          </a:prstGeom>
          <a:noFill/>
          <a:ln>
            <a:noFill/>
          </a:ln>
        </p:spPr>
        <p:txBody>
          <a:bodyPr anchorCtr="0" anchor="t" bIns="50800" lIns="50800" spcFirstLastPara="1" rIns="50800" wrap="square" tIns="50800">
            <a:noAutofit/>
          </a:bodyPr>
          <a:lstStyle>
            <a:lvl1pPr lvl="0" marR="0" rtl="0" algn="l">
              <a:lnSpc>
                <a:spcPct val="80000"/>
              </a:lnSpc>
              <a:spcBef>
                <a:spcPts val="0"/>
              </a:spcBef>
              <a:spcAft>
                <a:spcPts val="0"/>
              </a:spcAft>
              <a:buClr>
                <a:srgbClr val="000000"/>
              </a:buClr>
              <a:buSzPts val="6000"/>
              <a:buFont typeface="Helvetica Neue"/>
              <a:buNone/>
              <a:defRPr b="1" i="0" sz="6000" u="none" cap="none" strike="noStrike">
                <a:solidFill>
                  <a:srgbClr val="000000"/>
                </a:solidFill>
                <a:latin typeface="Helvetica Neue"/>
                <a:ea typeface="Helvetica Neue"/>
                <a:cs typeface="Helvetica Neue"/>
                <a:sym typeface="Helvetica Neue"/>
              </a:defRPr>
            </a:lvl1pPr>
            <a:lvl2pPr lvl="1" marR="0" rtl="0" algn="l">
              <a:lnSpc>
                <a:spcPct val="80000"/>
              </a:lnSpc>
              <a:spcBef>
                <a:spcPts val="0"/>
              </a:spcBef>
              <a:spcAft>
                <a:spcPts val="0"/>
              </a:spcAft>
              <a:buClr>
                <a:srgbClr val="000000"/>
              </a:buClr>
              <a:buSzPts val="6000"/>
              <a:buFont typeface="Helvetica Neue"/>
              <a:buNone/>
              <a:defRPr b="1" i="0" sz="6000" u="none" cap="none" strike="noStrike">
                <a:solidFill>
                  <a:srgbClr val="000000"/>
                </a:solidFill>
                <a:latin typeface="Helvetica Neue"/>
                <a:ea typeface="Helvetica Neue"/>
                <a:cs typeface="Helvetica Neue"/>
                <a:sym typeface="Helvetica Neue"/>
              </a:defRPr>
            </a:lvl2pPr>
            <a:lvl3pPr lvl="2" marR="0" rtl="0" algn="l">
              <a:lnSpc>
                <a:spcPct val="80000"/>
              </a:lnSpc>
              <a:spcBef>
                <a:spcPts val="0"/>
              </a:spcBef>
              <a:spcAft>
                <a:spcPts val="0"/>
              </a:spcAft>
              <a:buClr>
                <a:srgbClr val="000000"/>
              </a:buClr>
              <a:buSzPts val="6000"/>
              <a:buFont typeface="Helvetica Neue"/>
              <a:buNone/>
              <a:defRPr b="1" i="0" sz="6000" u="none" cap="none" strike="noStrike">
                <a:solidFill>
                  <a:srgbClr val="000000"/>
                </a:solidFill>
                <a:latin typeface="Helvetica Neue"/>
                <a:ea typeface="Helvetica Neue"/>
                <a:cs typeface="Helvetica Neue"/>
                <a:sym typeface="Helvetica Neue"/>
              </a:defRPr>
            </a:lvl3pPr>
            <a:lvl4pPr lvl="3" marR="0" rtl="0" algn="l">
              <a:lnSpc>
                <a:spcPct val="80000"/>
              </a:lnSpc>
              <a:spcBef>
                <a:spcPts val="0"/>
              </a:spcBef>
              <a:spcAft>
                <a:spcPts val="0"/>
              </a:spcAft>
              <a:buClr>
                <a:srgbClr val="000000"/>
              </a:buClr>
              <a:buSzPts val="6000"/>
              <a:buFont typeface="Helvetica Neue"/>
              <a:buNone/>
              <a:defRPr b="1" i="0" sz="6000" u="none" cap="none" strike="noStrike">
                <a:solidFill>
                  <a:srgbClr val="000000"/>
                </a:solidFill>
                <a:latin typeface="Helvetica Neue"/>
                <a:ea typeface="Helvetica Neue"/>
                <a:cs typeface="Helvetica Neue"/>
                <a:sym typeface="Helvetica Neue"/>
              </a:defRPr>
            </a:lvl4pPr>
            <a:lvl5pPr lvl="4" marR="0" rtl="0" algn="l">
              <a:lnSpc>
                <a:spcPct val="80000"/>
              </a:lnSpc>
              <a:spcBef>
                <a:spcPts val="0"/>
              </a:spcBef>
              <a:spcAft>
                <a:spcPts val="0"/>
              </a:spcAft>
              <a:buClr>
                <a:srgbClr val="000000"/>
              </a:buClr>
              <a:buSzPts val="6000"/>
              <a:buFont typeface="Helvetica Neue"/>
              <a:buNone/>
              <a:defRPr b="1" i="0" sz="6000" u="none" cap="none" strike="noStrike">
                <a:solidFill>
                  <a:srgbClr val="000000"/>
                </a:solidFill>
                <a:latin typeface="Helvetica Neue"/>
                <a:ea typeface="Helvetica Neue"/>
                <a:cs typeface="Helvetica Neue"/>
                <a:sym typeface="Helvetica Neue"/>
              </a:defRPr>
            </a:lvl5pPr>
            <a:lvl6pPr lvl="5" marR="0" rtl="0" algn="l">
              <a:lnSpc>
                <a:spcPct val="80000"/>
              </a:lnSpc>
              <a:spcBef>
                <a:spcPts val="0"/>
              </a:spcBef>
              <a:spcAft>
                <a:spcPts val="0"/>
              </a:spcAft>
              <a:buClr>
                <a:srgbClr val="000000"/>
              </a:buClr>
              <a:buSzPts val="6000"/>
              <a:buFont typeface="Helvetica Neue"/>
              <a:buNone/>
              <a:defRPr b="1" i="0" sz="6000" u="none" cap="none" strike="noStrike">
                <a:solidFill>
                  <a:srgbClr val="000000"/>
                </a:solidFill>
                <a:latin typeface="Helvetica Neue"/>
                <a:ea typeface="Helvetica Neue"/>
                <a:cs typeface="Helvetica Neue"/>
                <a:sym typeface="Helvetica Neue"/>
              </a:defRPr>
            </a:lvl6pPr>
            <a:lvl7pPr lvl="6" marR="0" rtl="0" algn="l">
              <a:lnSpc>
                <a:spcPct val="80000"/>
              </a:lnSpc>
              <a:spcBef>
                <a:spcPts val="0"/>
              </a:spcBef>
              <a:spcAft>
                <a:spcPts val="0"/>
              </a:spcAft>
              <a:buClr>
                <a:srgbClr val="000000"/>
              </a:buClr>
              <a:buSzPts val="6000"/>
              <a:buFont typeface="Helvetica Neue"/>
              <a:buNone/>
              <a:defRPr b="1" i="0" sz="6000" u="none" cap="none" strike="noStrike">
                <a:solidFill>
                  <a:srgbClr val="000000"/>
                </a:solidFill>
                <a:latin typeface="Helvetica Neue"/>
                <a:ea typeface="Helvetica Neue"/>
                <a:cs typeface="Helvetica Neue"/>
                <a:sym typeface="Helvetica Neue"/>
              </a:defRPr>
            </a:lvl7pPr>
            <a:lvl8pPr lvl="7" marR="0" rtl="0" algn="l">
              <a:lnSpc>
                <a:spcPct val="80000"/>
              </a:lnSpc>
              <a:spcBef>
                <a:spcPts val="0"/>
              </a:spcBef>
              <a:spcAft>
                <a:spcPts val="0"/>
              </a:spcAft>
              <a:buClr>
                <a:srgbClr val="000000"/>
              </a:buClr>
              <a:buSzPts val="6000"/>
              <a:buFont typeface="Helvetica Neue"/>
              <a:buNone/>
              <a:defRPr b="1" i="0" sz="6000" u="none" cap="none" strike="noStrike">
                <a:solidFill>
                  <a:srgbClr val="000000"/>
                </a:solidFill>
                <a:latin typeface="Helvetica Neue"/>
                <a:ea typeface="Helvetica Neue"/>
                <a:cs typeface="Helvetica Neue"/>
                <a:sym typeface="Helvetica Neue"/>
              </a:defRPr>
            </a:lvl8pPr>
            <a:lvl9pPr lvl="8" marR="0" rtl="0" algn="l">
              <a:lnSpc>
                <a:spcPct val="80000"/>
              </a:lnSpc>
              <a:spcBef>
                <a:spcPts val="0"/>
              </a:spcBef>
              <a:spcAft>
                <a:spcPts val="0"/>
              </a:spcAft>
              <a:buClr>
                <a:srgbClr val="000000"/>
              </a:buClr>
              <a:buSzPts val="6000"/>
              <a:buFont typeface="Helvetica Neue"/>
              <a:buNone/>
              <a:defRPr b="1" i="0" sz="6000" u="none" cap="none" strike="noStrike">
                <a:solidFill>
                  <a:srgbClr val="000000"/>
                </a:solidFill>
                <a:latin typeface="Helvetica Neue"/>
                <a:ea typeface="Helvetica Neue"/>
                <a:cs typeface="Helvetica Neue"/>
                <a:sym typeface="Helvetica Neue"/>
              </a:defRPr>
            </a:lvl9pPr>
          </a:lstStyle>
          <a:p/>
        </p:txBody>
      </p:sp>
      <p:sp>
        <p:nvSpPr>
          <p:cNvPr id="8" name="Google Shape;8;p33"/>
          <p:cNvSpPr txBox="1"/>
          <p:nvPr>
            <p:ph idx="12" type="sldNum"/>
          </p:nvPr>
        </p:nvSpPr>
        <p:spPr>
          <a:xfrm>
            <a:off x="6350067" y="9220199"/>
            <a:ext cx="297892" cy="287479"/>
          </a:xfrm>
          <a:prstGeom prst="rect">
            <a:avLst/>
          </a:prstGeom>
          <a:noFill/>
          <a:ln>
            <a:noFill/>
          </a:ln>
        </p:spPr>
        <p:txBody>
          <a:bodyPr anchorCtr="0" anchor="b" bIns="50800" lIns="50800" spcFirstLastPara="1" rIns="50800" wrap="square" tIns="50800">
            <a:noAutofit/>
          </a:bodyPr>
          <a:lstStyle>
            <a:lvl1pPr indent="0" lvl="0" marL="0" marR="0" rtl="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300"/>
              <a:buFont typeface="Helvetica Neue"/>
              <a:buNone/>
              <a:defRPr b="0" i="0" sz="13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3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pn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6.pn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pn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6.png"/><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6.png"/><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8.png"/><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1.png"/><Relationship Id="rId4" Type="http://schemas.openxmlformats.org/officeDocument/2006/relationships/image" Target="../media/image34.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22.png"/><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22.png"/><Relationship Id="rId4"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22.png"/><Relationship Id="rId4"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22.png"/><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22.png"/><Relationship Id="rId4"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22.png"/><Relationship Id="rId4"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22.png"/><Relationship Id="rId4"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22.png"/><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2.png"/><Relationship Id="rId4"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2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1.png"/><Relationship Id="rId4" Type="http://schemas.openxmlformats.org/officeDocument/2006/relationships/image" Target="../media/image2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13.png"/><Relationship Id="rId4" Type="http://schemas.openxmlformats.org/officeDocument/2006/relationships/image" Target="../media/image1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1.png"/><Relationship Id="rId4" Type="http://schemas.openxmlformats.org/officeDocument/2006/relationships/hyperlink" Target="http://fablab.usm.cl"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1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11.png"/><Relationship Id="rId4" Type="http://schemas.openxmlformats.org/officeDocument/2006/relationships/image" Target="../media/image31.jpg"/><Relationship Id="rId5" Type="http://schemas.openxmlformats.org/officeDocument/2006/relationships/image" Target="../media/image33.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16.png"/><Relationship Id="rId4" Type="http://schemas.openxmlformats.org/officeDocument/2006/relationships/image" Target="../media/image1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11.png"/><Relationship Id="rId4" Type="http://schemas.openxmlformats.org/officeDocument/2006/relationships/image" Target="../media/image1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1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20.png"/></Relationships>
</file>

<file path=ppt/slides/_rels/slide74.xml.rels><?xml version="1.0" encoding="UTF-8" standalone="yes"?><Relationships xmlns="http://schemas.openxmlformats.org/package/2006/relationships"><Relationship Id="rId11" Type="http://schemas.openxmlformats.org/officeDocument/2006/relationships/image" Target="../media/image26.jpg"/><Relationship Id="rId10" Type="http://schemas.openxmlformats.org/officeDocument/2006/relationships/image" Target="../media/image25.jpg"/><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1.png"/><Relationship Id="rId4" Type="http://schemas.openxmlformats.org/officeDocument/2006/relationships/image" Target="../media/image17.jpg"/><Relationship Id="rId9" Type="http://schemas.openxmlformats.org/officeDocument/2006/relationships/image" Target="../media/image24.jpg"/><Relationship Id="rId5" Type="http://schemas.openxmlformats.org/officeDocument/2006/relationships/image" Target="../media/image29.jpg"/><Relationship Id="rId6" Type="http://schemas.openxmlformats.org/officeDocument/2006/relationships/image" Target="../media/image30.jpg"/><Relationship Id="rId7" Type="http://schemas.openxmlformats.org/officeDocument/2006/relationships/image" Target="../media/image28.jpg"/><Relationship Id="rId8" Type="http://schemas.openxmlformats.org/officeDocument/2006/relationships/image" Target="../media/image2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3673eb35b80_2_6"/>
          <p:cNvSpPr txBox="1"/>
          <p:nvPr/>
        </p:nvSpPr>
        <p:spPr>
          <a:xfrm>
            <a:off x="618100" y="775900"/>
            <a:ext cx="11726100" cy="87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latin typeface="Helvetica Neue"/>
                <a:ea typeface="Helvetica Neue"/>
                <a:cs typeface="Helvetica Neue"/>
                <a:sym typeface="Helvetica Neue"/>
              </a:rPr>
              <a:t>Entrega de bitácora grupo 7 conformado por:</a:t>
            </a:r>
            <a:endParaRPr sz="3000">
              <a:latin typeface="Helvetica Neue"/>
              <a:ea typeface="Helvetica Neue"/>
              <a:cs typeface="Helvetica Neue"/>
              <a:sym typeface="Helvetica Neue"/>
            </a:endParaRPr>
          </a:p>
          <a:p>
            <a:pPr indent="0" lvl="0" marL="0" rtl="0" algn="l">
              <a:spcBef>
                <a:spcPts val="0"/>
              </a:spcBef>
              <a:spcAft>
                <a:spcPts val="0"/>
              </a:spcAft>
              <a:buNone/>
            </a:pPr>
            <a:r>
              <a:t/>
            </a:r>
            <a:endParaRPr sz="3000">
              <a:latin typeface="Helvetica Neue"/>
              <a:ea typeface="Helvetica Neue"/>
              <a:cs typeface="Helvetica Neue"/>
              <a:sym typeface="Helvetica Neue"/>
            </a:endParaRPr>
          </a:p>
          <a:p>
            <a:pPr indent="-419100" lvl="0" marL="457200" rtl="0" algn="l">
              <a:spcBef>
                <a:spcPts val="0"/>
              </a:spcBef>
              <a:spcAft>
                <a:spcPts val="0"/>
              </a:spcAft>
              <a:buSzPts val="3000"/>
              <a:buFont typeface="Helvetica Neue"/>
              <a:buChar char="-"/>
            </a:pPr>
            <a:r>
              <a:rPr lang="en-US" sz="3000">
                <a:latin typeface="Helvetica Neue"/>
                <a:ea typeface="Helvetica Neue"/>
                <a:cs typeface="Helvetica Neue"/>
                <a:sym typeface="Helvetica Neue"/>
              </a:rPr>
              <a:t>Maithe León Zúñiga</a:t>
            </a:r>
            <a:endParaRPr sz="3000">
              <a:latin typeface="Helvetica Neue"/>
              <a:ea typeface="Helvetica Neue"/>
              <a:cs typeface="Helvetica Neue"/>
              <a:sym typeface="Helvetica Neue"/>
            </a:endParaRPr>
          </a:p>
          <a:p>
            <a:pPr indent="-419100" lvl="0" marL="457200" rtl="0" algn="l">
              <a:spcBef>
                <a:spcPts val="0"/>
              </a:spcBef>
              <a:spcAft>
                <a:spcPts val="0"/>
              </a:spcAft>
              <a:buSzPts val="3000"/>
              <a:buFont typeface="Helvetica Neue"/>
              <a:buChar char="-"/>
            </a:pPr>
            <a:r>
              <a:rPr lang="en-US" sz="3000">
                <a:latin typeface="Helvetica Neue"/>
                <a:ea typeface="Helvetica Neue"/>
                <a:cs typeface="Helvetica Neue"/>
                <a:sym typeface="Helvetica Neue"/>
              </a:rPr>
              <a:t>Francisca Mena Castro</a:t>
            </a:r>
            <a:endParaRPr sz="3000">
              <a:latin typeface="Helvetica Neue"/>
              <a:ea typeface="Helvetica Neue"/>
              <a:cs typeface="Helvetica Neue"/>
              <a:sym typeface="Helvetica Neue"/>
            </a:endParaRPr>
          </a:p>
          <a:p>
            <a:pPr indent="-419100" lvl="0" marL="457200" rtl="0" algn="l">
              <a:spcBef>
                <a:spcPts val="0"/>
              </a:spcBef>
              <a:spcAft>
                <a:spcPts val="0"/>
              </a:spcAft>
              <a:buSzPts val="3000"/>
              <a:buFont typeface="Helvetica Neue"/>
              <a:buChar char="-"/>
            </a:pPr>
            <a:r>
              <a:rPr lang="en-US" sz="3000">
                <a:latin typeface="Helvetica Neue"/>
                <a:ea typeface="Helvetica Neue"/>
                <a:cs typeface="Helvetica Neue"/>
                <a:sym typeface="Helvetica Neue"/>
              </a:rPr>
              <a:t>Franco Nicolai Corvalán Mansourova</a:t>
            </a:r>
            <a:endParaRPr sz="3000">
              <a:latin typeface="Helvetica Neue"/>
              <a:ea typeface="Helvetica Neue"/>
              <a:cs typeface="Helvetica Neue"/>
              <a:sym typeface="Helvetica Neue"/>
            </a:endParaRPr>
          </a:p>
          <a:p>
            <a:pPr indent="-419100" lvl="0" marL="457200" rtl="0" algn="l">
              <a:spcBef>
                <a:spcPts val="0"/>
              </a:spcBef>
              <a:spcAft>
                <a:spcPts val="0"/>
              </a:spcAft>
              <a:buSzPts val="3000"/>
              <a:buFont typeface="Helvetica Neue"/>
              <a:buChar char="-"/>
            </a:pPr>
            <a:r>
              <a:rPr lang="en-US" sz="3000">
                <a:latin typeface="Helvetica Neue"/>
                <a:ea typeface="Helvetica Neue"/>
                <a:cs typeface="Helvetica Neue"/>
                <a:sym typeface="Helvetica Neue"/>
              </a:rPr>
              <a:t>Javier Cañete Jirón</a:t>
            </a:r>
            <a:endParaRPr sz="3000">
              <a:latin typeface="Helvetica Neue"/>
              <a:ea typeface="Helvetica Neue"/>
              <a:cs typeface="Helvetica Neue"/>
              <a:sym typeface="Helvetica Neue"/>
            </a:endParaRPr>
          </a:p>
          <a:p>
            <a:pPr indent="-419100" lvl="0" marL="457200" rtl="0" algn="l">
              <a:spcBef>
                <a:spcPts val="0"/>
              </a:spcBef>
              <a:spcAft>
                <a:spcPts val="0"/>
              </a:spcAft>
              <a:buSzPts val="3000"/>
              <a:buFont typeface="Helvetica Neue"/>
              <a:buChar char="-"/>
            </a:pPr>
            <a:r>
              <a:rPr lang="en-US" sz="3000">
                <a:latin typeface="Helvetica Neue"/>
                <a:ea typeface="Helvetica Neue"/>
                <a:cs typeface="Helvetica Neue"/>
                <a:sym typeface="Helvetica Neue"/>
              </a:rPr>
              <a:t>Ana María Alcalde</a:t>
            </a:r>
            <a:endParaRPr sz="3000">
              <a:latin typeface="Helvetica Neue"/>
              <a:ea typeface="Helvetica Neue"/>
              <a:cs typeface="Helvetica Neue"/>
              <a:sym typeface="Helvetica Neue"/>
            </a:endParaRPr>
          </a:p>
          <a:p>
            <a:pPr indent="0" lvl="0" marL="0" rtl="0" algn="l">
              <a:spcBef>
                <a:spcPts val="0"/>
              </a:spcBef>
              <a:spcAft>
                <a:spcPts val="0"/>
              </a:spcAft>
              <a:buNone/>
            </a:pPr>
            <a:r>
              <a:t/>
            </a:r>
            <a:endParaRPr sz="3000">
              <a:latin typeface="Helvetica Neue"/>
              <a:ea typeface="Helvetica Neue"/>
              <a:cs typeface="Helvetica Neue"/>
              <a:sym typeface="Helvetica Neue"/>
            </a:endParaRPr>
          </a:p>
          <a:p>
            <a:pPr indent="0" lvl="0" marL="0" rtl="0" algn="l">
              <a:spcBef>
                <a:spcPts val="0"/>
              </a:spcBef>
              <a:spcAft>
                <a:spcPts val="0"/>
              </a:spcAft>
              <a:buNone/>
            </a:pPr>
            <a:r>
              <a:t/>
            </a:r>
            <a:endParaRPr sz="3000">
              <a:latin typeface="Helvetica Neue"/>
              <a:ea typeface="Helvetica Neue"/>
              <a:cs typeface="Helvetica Neue"/>
              <a:sym typeface="Helvetica Neue"/>
            </a:endParaRPr>
          </a:p>
          <a:p>
            <a:pPr indent="0" lvl="0" marL="0" rtl="0" algn="l">
              <a:spcBef>
                <a:spcPts val="0"/>
              </a:spcBef>
              <a:spcAft>
                <a:spcPts val="0"/>
              </a:spcAft>
              <a:buNone/>
            </a:pPr>
            <a:r>
              <a:rPr lang="en-US" sz="3000">
                <a:latin typeface="Helvetica Neue"/>
                <a:ea typeface="Helvetica Neue"/>
                <a:cs typeface="Helvetica Neue"/>
                <a:sym typeface="Helvetica Neue"/>
              </a:rPr>
              <a:t>Estimada profesora/ayudante, a </a:t>
            </a:r>
            <a:r>
              <a:rPr lang="en-US" sz="3000">
                <a:latin typeface="Helvetica Neue"/>
                <a:ea typeface="Helvetica Neue"/>
                <a:cs typeface="Helvetica Neue"/>
                <a:sym typeface="Helvetica Neue"/>
              </a:rPr>
              <a:t>continuación</a:t>
            </a:r>
            <a:r>
              <a:rPr lang="en-US" sz="3000">
                <a:latin typeface="Helvetica Neue"/>
                <a:ea typeface="Helvetica Neue"/>
                <a:cs typeface="Helvetica Neue"/>
                <a:sym typeface="Helvetica Neue"/>
              </a:rPr>
              <a:t> esta nuestra entrega de bitácora. Es influyente mencionar que este se encuentra desordenado, con varias </a:t>
            </a:r>
            <a:r>
              <a:rPr lang="en-US" sz="3000">
                <a:latin typeface="Helvetica Neue"/>
                <a:ea typeface="Helvetica Neue"/>
                <a:cs typeface="Helvetica Neue"/>
                <a:sym typeface="Helvetica Neue"/>
              </a:rPr>
              <a:t>correcciones</a:t>
            </a:r>
            <a:r>
              <a:rPr lang="en-US" sz="3000">
                <a:latin typeface="Helvetica Neue"/>
                <a:ea typeface="Helvetica Neue"/>
                <a:cs typeface="Helvetica Neue"/>
                <a:sym typeface="Helvetica Neue"/>
              </a:rPr>
              <a:t>, y esto es ya que como grupo quisimos mostrar nuestro proceso iterativo :)</a:t>
            </a:r>
            <a:endParaRPr sz="3000">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ph idx="4294967295" type="ctrTitle"/>
          </p:nvPr>
        </p:nvSpPr>
        <p:spPr>
          <a:xfrm>
            <a:off x="697833" y="2394860"/>
            <a:ext cx="11609100" cy="33021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000000"/>
              </a:buClr>
              <a:buSzPts val="6000"/>
              <a:buFont typeface="Helvetica Neue"/>
              <a:buNone/>
            </a:pPr>
            <a:r>
              <a:rPr b="0" i="0" lang="en-US" sz="6600" u="none" cap="none" strike="noStrike">
                <a:solidFill>
                  <a:srgbClr val="5E5E5E"/>
                </a:solidFill>
                <a:latin typeface="Helvetica Neue"/>
                <a:ea typeface="Helvetica Neue"/>
                <a:cs typeface="Helvetica Neue"/>
                <a:sym typeface="Helvetica Neue"/>
              </a:rPr>
              <a:t>PROCESO CREATIVO DE INNOVACIÓN </a:t>
            </a:r>
            <a:br>
              <a:rPr b="0" i="0" lang="en-US" sz="3200" u="none" cap="none" strike="noStrike">
                <a:solidFill>
                  <a:srgbClr val="000000"/>
                </a:solidFill>
                <a:latin typeface="Helvetica Neue"/>
                <a:ea typeface="Helvetica Neue"/>
                <a:cs typeface="Helvetica Neue"/>
                <a:sym typeface="Helvetica Neue"/>
              </a:rPr>
            </a:br>
            <a:r>
              <a:rPr b="0" i="0" lang="en-US" sz="4000" u="none" cap="none" strike="noStrike">
                <a:solidFill>
                  <a:srgbClr val="5E5E5E"/>
                </a:solidFill>
                <a:latin typeface="Helvetica Neue"/>
                <a:ea typeface="Helvetica Neue"/>
                <a:cs typeface="Helvetica Neue"/>
                <a:sym typeface="Helvetica Neue"/>
              </a:rPr>
              <a:t>Metodología utilizada: Design Thinking</a:t>
            </a:r>
            <a:endParaRPr b="0" i="0" sz="4000" u="none" cap="none" strike="noStrike">
              <a:solidFill>
                <a:srgbClr val="5E5E5E"/>
              </a:solidFill>
              <a:latin typeface="Helvetica Neue"/>
              <a:ea typeface="Helvetica Neue"/>
              <a:cs typeface="Helvetica Neue"/>
              <a:sym typeface="Helvetica Neue"/>
            </a:endParaRPr>
          </a:p>
        </p:txBody>
      </p:sp>
      <p:sp>
        <p:nvSpPr>
          <p:cNvPr id="93" name="Google Shape;93;p1"/>
          <p:cNvSpPr txBox="1"/>
          <p:nvPr>
            <p:ph idx="4294967295" type="subTitle"/>
          </p:nvPr>
        </p:nvSpPr>
        <p:spPr>
          <a:xfrm>
            <a:off x="644382" y="5696944"/>
            <a:ext cx="11716035" cy="1456399"/>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5E5E5E"/>
              </a:buClr>
              <a:buSzPts val="3800"/>
              <a:buFont typeface="Helvetica Neue"/>
              <a:buNone/>
            </a:pPr>
            <a:r>
              <a:rPr b="0" i="0" lang="en-US" sz="3800" u="none" cap="none" strike="noStrike">
                <a:solidFill>
                  <a:srgbClr val="5E5E5E"/>
                </a:solidFill>
                <a:latin typeface="Helvetica Neue"/>
                <a:ea typeface="Helvetica Neue"/>
                <a:cs typeface="Helvetica Neue"/>
                <a:sym typeface="Helvetica Neue"/>
              </a:rPr>
              <a:t>Bitácora</a:t>
            </a:r>
            <a:endParaRPr b="0" i="0" sz="3800" u="none" cap="none" strike="noStrike">
              <a:solidFill>
                <a:srgbClr val="5E5E5E"/>
              </a:solidFill>
              <a:latin typeface="Helvetica Neue"/>
              <a:ea typeface="Helvetica Neue"/>
              <a:cs typeface="Helvetica Neue"/>
              <a:sym typeface="Helvetica Neue"/>
            </a:endParaRPr>
          </a:p>
        </p:txBody>
      </p:sp>
      <p:pic>
        <p:nvPicPr>
          <p:cNvPr descr="EA11.png" id="94" name="Google Shape;94;p1"/>
          <p:cNvPicPr preferRelativeResize="0"/>
          <p:nvPr/>
        </p:nvPicPr>
        <p:blipFill rotWithShape="1">
          <a:blip r:embed="rId3">
            <a:alphaModFix/>
          </a:blip>
          <a:srcRect b="0" l="0" r="0" t="0"/>
          <a:stretch/>
        </p:blipFill>
        <p:spPr>
          <a:xfrm>
            <a:off x="219398" y="360248"/>
            <a:ext cx="3975324" cy="1083107"/>
          </a:xfrm>
          <a:prstGeom prst="rect">
            <a:avLst/>
          </a:prstGeom>
          <a:noFill/>
          <a:ln>
            <a:noFill/>
          </a:ln>
        </p:spPr>
      </p:pic>
      <p:sp>
        <p:nvSpPr>
          <p:cNvPr id="95" name="Google Shape;95;p1"/>
          <p:cNvSpPr txBox="1"/>
          <p:nvPr/>
        </p:nvSpPr>
        <p:spPr>
          <a:xfrm>
            <a:off x="529362" y="8812308"/>
            <a:ext cx="11946073" cy="80021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2000" u="none" cap="none" strike="noStrike">
                <a:solidFill>
                  <a:srgbClr val="000000"/>
                </a:solidFill>
                <a:latin typeface="Helvetica Neue"/>
                <a:ea typeface="Helvetica Neue"/>
                <a:cs typeface="Helvetica Neue"/>
                <a:sym typeface="Helvetica Neue"/>
              </a:rPr>
              <a:t>RESOLUCIÓN CREATIVA DE PROBLEMAS - Catalina Sabbagh</a:t>
            </a:r>
            <a:r>
              <a:rPr b="0" i="0" lang="en-US" sz="2000" u="none" cap="none" strike="noStrike">
                <a:solidFill>
                  <a:srgbClr val="929292"/>
                </a:solidFill>
                <a:latin typeface="Helvetica Neue"/>
                <a:ea typeface="Helvetica Neue"/>
                <a:cs typeface="Helvetica Neue"/>
                <a:sym typeface="Helvetica Neue"/>
              </a:rPr>
              <a:t> - </a:t>
            </a:r>
            <a:r>
              <a:rPr b="0" i="0" lang="en-US" sz="2000" u="none" cap="none" strike="noStrike">
                <a:solidFill>
                  <a:srgbClr val="000000"/>
                </a:solidFill>
                <a:latin typeface="Helvetica Neue"/>
                <a:ea typeface="Helvetica Neue"/>
                <a:cs typeface="Helvetica Neue"/>
                <a:sym typeface="Helvetica Neue"/>
              </a:rPr>
              <a:t>2023</a:t>
            </a:r>
            <a:endParaRPr b="0" i="0" sz="2000" u="none" cap="none" strike="noStrike">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None/>
            </a:pPr>
            <a:br>
              <a:rPr b="0" i="0" lang="en-US" sz="1400" u="none" cap="none" strike="noStrike">
                <a:solidFill>
                  <a:srgbClr val="000000"/>
                </a:solidFill>
                <a:latin typeface="Helvetica Neue"/>
                <a:ea typeface="Helvetica Neue"/>
                <a:cs typeface="Helvetica Neue"/>
                <a:sym typeface="Helvetica Neue"/>
              </a:rPr>
            </a:br>
            <a:r>
              <a:rPr b="0" i="0" lang="en-US" sz="1200" u="none" cap="none" strike="noStrike">
                <a:solidFill>
                  <a:srgbClr val="929292"/>
                </a:solidFill>
                <a:latin typeface="Helvetica Neue"/>
                <a:ea typeface="Helvetica Neue"/>
                <a:cs typeface="Helvetica Neue"/>
                <a:sym typeface="Helvetica Neue"/>
              </a:rPr>
              <a:t>ADAPTACIÓN DE BITÁCORA DESARROLLADA POR PROFESORA PAULA BROITMAN PARA TALLERES DE DESIGN THINKING DE MBA PUC</a:t>
            </a:r>
            <a:endParaRPr b="0" i="0" sz="14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nvSpPr>
        <p:spPr>
          <a:xfrm>
            <a:off x="933350" y="3014325"/>
            <a:ext cx="11099700" cy="2769959"/>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rgbClr val="000000"/>
              </a:buClr>
              <a:buSzPts val="2200"/>
              <a:buFont typeface="Nunito"/>
              <a:buChar char="●"/>
            </a:pPr>
            <a:r>
              <a:rPr b="0" i="0" lang="en-US" sz="2400" u="none" cap="none" strike="noStrike">
                <a:solidFill>
                  <a:srgbClr val="000000"/>
                </a:solidFill>
                <a:latin typeface="Helvetica Neue"/>
                <a:ea typeface="Helvetica Neue"/>
                <a:cs typeface="Helvetica Neue"/>
                <a:sym typeface="Helvetica Neue"/>
              </a:rPr>
              <a:t>El siguiente material ha sido preparado para su utilización en el curso RESOLUCIÓN CREATIVA DE PROBLEMAS en el proyecto final.</a:t>
            </a:r>
            <a:endParaRPr/>
          </a:p>
          <a:p>
            <a:pPr indent="-368300" lvl="0" marL="457200" marR="0" rtl="0" algn="l">
              <a:lnSpc>
                <a:spcPct val="100000"/>
              </a:lnSpc>
              <a:spcBef>
                <a:spcPts val="0"/>
              </a:spcBef>
              <a:spcAft>
                <a:spcPts val="0"/>
              </a:spcAft>
              <a:buClr>
                <a:srgbClr val="000000"/>
              </a:buClr>
              <a:buSzPts val="2200"/>
              <a:buFont typeface="Nunito"/>
              <a:buChar char="●"/>
            </a:pPr>
            <a:r>
              <a:rPr b="0" i="0" lang="en-US" sz="2400" u="none" cap="none" strike="noStrike">
                <a:solidFill>
                  <a:srgbClr val="000000"/>
                </a:solidFill>
                <a:latin typeface="Helvetica Neue"/>
                <a:ea typeface="Helvetica Neue"/>
                <a:cs typeface="Helvetica Neue"/>
                <a:sym typeface="Helvetica Neue"/>
              </a:rPr>
              <a:t>La primera lámina contiene el proceso en su totalidad.</a:t>
            </a:r>
            <a:endParaRPr b="0" i="0" sz="2400" u="none" cap="none" strike="noStrike">
              <a:solidFill>
                <a:srgbClr val="000000"/>
              </a:solidFill>
              <a:latin typeface="Helvetica Neue"/>
              <a:ea typeface="Helvetica Neue"/>
              <a:cs typeface="Helvetica Neue"/>
              <a:sym typeface="Helvetica Neue"/>
            </a:endParaRPr>
          </a:p>
          <a:p>
            <a:pPr indent="-368300" lvl="0" marL="457200" marR="0" rtl="0" algn="l">
              <a:lnSpc>
                <a:spcPct val="100000"/>
              </a:lnSpc>
              <a:spcBef>
                <a:spcPts val="0"/>
              </a:spcBef>
              <a:spcAft>
                <a:spcPts val="0"/>
              </a:spcAft>
              <a:buClr>
                <a:srgbClr val="000000"/>
              </a:buClr>
              <a:buSzPts val="2200"/>
              <a:buFont typeface="Nunito"/>
              <a:buChar char="●"/>
            </a:pPr>
            <a:r>
              <a:rPr b="0" i="0" lang="en-US" sz="2400" u="none" cap="none" strike="noStrike">
                <a:solidFill>
                  <a:srgbClr val="000000"/>
                </a:solidFill>
                <a:latin typeface="Helvetica Neue"/>
                <a:ea typeface="Helvetica Neue"/>
                <a:cs typeface="Helvetica Neue"/>
                <a:sym typeface="Helvetica Neue"/>
              </a:rPr>
              <a:t>A continuación se presentan las etapas con las herramientas de acuerdo a lo que se irá trabajando en clases. </a:t>
            </a:r>
            <a:endParaRPr b="0" i="0" sz="2400" u="none" cap="none" strike="noStrike">
              <a:solidFill>
                <a:srgbClr val="000000"/>
              </a:solidFill>
              <a:latin typeface="Helvetica Neue"/>
              <a:ea typeface="Helvetica Neue"/>
              <a:cs typeface="Helvetica Neue"/>
              <a:sym typeface="Helvetica Neue"/>
            </a:endParaRPr>
          </a:p>
          <a:p>
            <a:pPr indent="-368300" lvl="0" marL="457200" marR="0" rtl="0" algn="l">
              <a:lnSpc>
                <a:spcPct val="100000"/>
              </a:lnSpc>
              <a:spcBef>
                <a:spcPts val="0"/>
              </a:spcBef>
              <a:spcAft>
                <a:spcPts val="0"/>
              </a:spcAft>
              <a:buClr>
                <a:srgbClr val="000000"/>
              </a:buClr>
              <a:buSzPts val="2200"/>
              <a:buFont typeface="Nunito"/>
              <a:buChar char="●"/>
            </a:pPr>
            <a:r>
              <a:rPr b="0" i="0" lang="en-US" sz="2400" u="none" cap="none" strike="noStrike">
                <a:solidFill>
                  <a:srgbClr val="000000"/>
                </a:solidFill>
                <a:latin typeface="Helvetica Neue"/>
                <a:ea typeface="Helvetica Neue"/>
                <a:cs typeface="Helvetica Neue"/>
                <a:sym typeface="Helvetica Neue"/>
              </a:rPr>
              <a:t>Durante cada clase se verán ejemplos para el desarrollo de estas láminas.</a:t>
            </a:r>
            <a:endParaRPr b="0" i="0" sz="2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2200"/>
              <a:buFont typeface="Arial"/>
              <a:buNone/>
            </a:pPr>
            <a:r>
              <a:t/>
            </a:r>
            <a:endParaRPr b="0" i="0" sz="2400" u="none" cap="none" strike="noStrike">
              <a:solidFill>
                <a:srgbClr val="000000"/>
              </a:solidFill>
              <a:latin typeface="Helvetica Neue"/>
              <a:ea typeface="Helvetica Neue"/>
              <a:cs typeface="Helvetica Neue"/>
              <a:sym typeface="Helvetica Neue"/>
            </a:endParaRPr>
          </a:p>
        </p:txBody>
      </p:sp>
      <p:pic>
        <p:nvPicPr>
          <p:cNvPr descr="EA11.png" id="101" name="Google Shape;101;p2"/>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102" name="Google Shape;102;p2"/>
          <p:cNvSpPr txBox="1"/>
          <p:nvPr/>
        </p:nvSpPr>
        <p:spPr>
          <a:xfrm>
            <a:off x="1284950" y="1726700"/>
            <a:ext cx="10434900" cy="785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900"/>
              <a:buFont typeface="Arial"/>
              <a:buNone/>
            </a:pPr>
            <a:r>
              <a:rPr b="0" i="0" lang="en-US" sz="3900" u="none" cap="none" strike="noStrike">
                <a:solidFill>
                  <a:srgbClr val="000000"/>
                </a:solidFill>
                <a:latin typeface="Helvetica Neue"/>
                <a:ea typeface="Helvetica Neue"/>
                <a:cs typeface="Helvetica Neue"/>
                <a:sym typeface="Helvetica Neue"/>
              </a:rPr>
              <a:t>Introducción</a:t>
            </a:r>
            <a:endParaRPr b="0" i="0" sz="39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descr="Captura de Pantalla 2020-08-14 a la(s) 15.19.08.png" id="107" name="Google Shape;107;p3"/>
          <p:cNvPicPr preferRelativeResize="0"/>
          <p:nvPr/>
        </p:nvPicPr>
        <p:blipFill rotWithShape="1">
          <a:blip r:embed="rId3">
            <a:alphaModFix/>
          </a:blip>
          <a:srcRect b="0" l="1085" r="0" t="0"/>
          <a:stretch/>
        </p:blipFill>
        <p:spPr>
          <a:xfrm>
            <a:off x="156951" y="0"/>
            <a:ext cx="12690897" cy="95483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D1FB"/>
        </a:solidFill>
      </p:bgPr>
    </p:bg>
    <p:spTree>
      <p:nvGrpSpPr>
        <p:cNvPr id="111" name="Shape 111"/>
        <p:cNvGrpSpPr/>
        <p:nvPr/>
      </p:nvGrpSpPr>
      <p:grpSpPr>
        <a:xfrm>
          <a:off x="0" y="0"/>
          <a:ext cx="0" cy="0"/>
          <a:chOff x="0" y="0"/>
          <a:chExt cx="0" cy="0"/>
        </a:xfrm>
      </p:grpSpPr>
      <p:grpSp>
        <p:nvGrpSpPr>
          <p:cNvPr id="112" name="Google Shape;112;p4"/>
          <p:cNvGrpSpPr/>
          <p:nvPr/>
        </p:nvGrpSpPr>
        <p:grpSpPr>
          <a:xfrm>
            <a:off x="241323" y="141073"/>
            <a:ext cx="11911927" cy="9282274"/>
            <a:chOff x="241323" y="141073"/>
            <a:chExt cx="11911927" cy="9282274"/>
          </a:xfrm>
        </p:grpSpPr>
        <p:pic>
          <p:nvPicPr>
            <p:cNvPr descr="Captura de Pantalla 2020-08-14 a la(s) 15.28.34.png" id="113" name="Google Shape;113;p4"/>
            <p:cNvPicPr preferRelativeResize="0"/>
            <p:nvPr/>
          </p:nvPicPr>
          <p:blipFill rotWithShape="1">
            <a:blip r:embed="rId3">
              <a:alphaModFix/>
            </a:blip>
            <a:srcRect b="0" l="0" r="0" t="0"/>
            <a:stretch/>
          </p:blipFill>
          <p:spPr>
            <a:xfrm>
              <a:off x="472912" y="631134"/>
              <a:ext cx="11635398" cy="8719331"/>
            </a:xfrm>
            <a:prstGeom prst="rect">
              <a:avLst/>
            </a:prstGeom>
            <a:noFill/>
            <a:ln>
              <a:noFill/>
            </a:ln>
          </p:spPr>
        </p:pic>
        <p:pic>
          <p:nvPicPr>
            <p:cNvPr descr="EA11.png" id="114" name="Google Shape;114;p4"/>
            <p:cNvPicPr preferRelativeResize="0"/>
            <p:nvPr/>
          </p:nvPicPr>
          <p:blipFill rotWithShape="1">
            <a:blip r:embed="rId4">
              <a:alphaModFix/>
            </a:blip>
            <a:srcRect b="0" l="0" r="0" t="0"/>
            <a:stretch/>
          </p:blipFill>
          <p:spPr>
            <a:xfrm>
              <a:off x="241323" y="141073"/>
              <a:ext cx="3975324" cy="1083107"/>
            </a:xfrm>
            <a:prstGeom prst="rect">
              <a:avLst/>
            </a:prstGeom>
            <a:noFill/>
            <a:ln>
              <a:noFill/>
            </a:ln>
          </p:spPr>
        </p:pic>
        <p:sp>
          <p:nvSpPr>
            <p:cNvPr id="115" name="Google Shape;115;p4"/>
            <p:cNvSpPr/>
            <p:nvPr/>
          </p:nvSpPr>
          <p:spPr>
            <a:xfrm>
              <a:off x="428157" y="8237131"/>
              <a:ext cx="11725093" cy="1186216"/>
            </a:xfrm>
            <a:prstGeom prst="rect">
              <a:avLst/>
            </a:prstGeom>
            <a:solidFill>
              <a:srgbClr val="00D1F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nvGrpSpPr>
            <p:cNvPr id="116" name="Google Shape;116;p4"/>
            <p:cNvGrpSpPr/>
            <p:nvPr/>
          </p:nvGrpSpPr>
          <p:grpSpPr>
            <a:xfrm>
              <a:off x="1212905" y="8677287"/>
              <a:ext cx="10578992" cy="621064"/>
              <a:chOff x="0" y="0"/>
              <a:chExt cx="10578990" cy="621062"/>
            </a:xfrm>
          </p:grpSpPr>
          <p:cxnSp>
            <p:nvCxnSpPr>
              <p:cNvPr id="117" name="Google Shape;117;p4"/>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118" name="Google Shape;118;p4"/>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19" name="Google Shape;119;p4"/>
              <p:cNvSpPr/>
              <p:nvPr/>
            </p:nvSpPr>
            <p:spPr>
              <a:xfrm>
                <a:off x="2489481"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20" name="Google Shape;120;p4"/>
              <p:cNvSpPr/>
              <p:nvPr/>
            </p:nvSpPr>
            <p:spPr>
              <a:xfrm>
                <a:off x="4978963"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21" name="Google Shape;121;p4"/>
              <p:cNvSpPr/>
              <p:nvPr/>
            </p:nvSpPr>
            <p:spPr>
              <a:xfrm>
                <a:off x="7468444"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22" name="Google Shape;122;p4"/>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123" name="Google Shape;123;p4"/>
            <p:cNvSpPr/>
            <p:nvPr/>
          </p:nvSpPr>
          <p:spPr>
            <a:xfrm>
              <a:off x="7608857" y="863074"/>
              <a:ext cx="4199400" cy="2799600"/>
            </a:xfrm>
            <a:prstGeom prst="rect">
              <a:avLst/>
            </a:prstGeom>
            <a:solidFill>
              <a:srgbClr val="00D1F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grpSp>
        <p:nvGrpSpPr>
          <p:cNvPr id="128" name="Google Shape;128;p5"/>
          <p:cNvGrpSpPr/>
          <p:nvPr/>
        </p:nvGrpSpPr>
        <p:grpSpPr>
          <a:xfrm>
            <a:off x="241323" y="141073"/>
            <a:ext cx="11970112" cy="9157214"/>
            <a:chOff x="241323" y="141073"/>
            <a:chExt cx="11970112" cy="9157214"/>
          </a:xfrm>
        </p:grpSpPr>
        <p:pic>
          <p:nvPicPr>
            <p:cNvPr descr="EA11.png" id="129" name="Google Shape;129;p5"/>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130" name="Google Shape;130;p5"/>
            <p:cNvSpPr txBox="1"/>
            <p:nvPr/>
          </p:nvSpPr>
          <p:spPr>
            <a:xfrm>
              <a:off x="793435" y="1522813"/>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TIPS PARA OBSERVAR</a:t>
              </a:r>
              <a:endParaRPr b="0" i="0" sz="1400" u="none" cap="none" strike="noStrike">
                <a:solidFill>
                  <a:srgbClr val="000000"/>
                </a:solidFill>
                <a:latin typeface="Helvetica Neue"/>
                <a:ea typeface="Helvetica Neue"/>
                <a:cs typeface="Helvetica Neue"/>
                <a:sym typeface="Helvetica Neue"/>
              </a:endParaRPr>
            </a:p>
          </p:txBody>
        </p:sp>
        <p:sp>
          <p:nvSpPr>
            <p:cNvPr id="131" name="Google Shape;131;p5"/>
            <p:cNvSpPr/>
            <p:nvPr/>
          </p:nvSpPr>
          <p:spPr>
            <a:xfrm>
              <a:off x="2592864" y="2683596"/>
              <a:ext cx="2118900" cy="2118600"/>
            </a:xfrm>
            <a:prstGeom prst="rect">
              <a:avLst/>
            </a:prstGeom>
            <a:solidFill>
              <a:srgbClr val="3CA8F8"/>
            </a:solidFill>
            <a:ln>
              <a:noFill/>
            </a:ln>
            <a:effectLst>
              <a:outerShdw blurRad="190500" rotWithShape="0" dir="5400000" dist="8455">
                <a:srgbClr val="000000"/>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1800"/>
                <a:buFont typeface="Helvetica Neue"/>
                <a:buNone/>
              </a:pPr>
              <a:r>
                <a:rPr b="0" i="0" lang="en-US" sz="1800" u="none" cap="none" strike="noStrike">
                  <a:solidFill>
                    <a:srgbClr val="000000"/>
                  </a:solidFill>
                  <a:latin typeface="Helvetica Neue"/>
                  <a:ea typeface="Helvetica Neue"/>
                  <a:cs typeface="Helvetica Neue"/>
                  <a:sym typeface="Helvetica Neue"/>
                </a:rPr>
                <a:t>Observa cosas que provoquen una reacción</a:t>
              </a:r>
              <a:endParaRPr b="0" i="0" sz="1400" u="none" cap="none" strike="noStrike">
                <a:solidFill>
                  <a:srgbClr val="000000"/>
                </a:solidFill>
                <a:latin typeface="Helvetica Neue"/>
                <a:ea typeface="Helvetica Neue"/>
                <a:cs typeface="Helvetica Neue"/>
                <a:sym typeface="Helvetica Neue"/>
              </a:endParaRPr>
            </a:p>
          </p:txBody>
        </p:sp>
        <p:sp>
          <p:nvSpPr>
            <p:cNvPr id="132" name="Google Shape;132;p5"/>
            <p:cNvSpPr/>
            <p:nvPr/>
          </p:nvSpPr>
          <p:spPr>
            <a:xfrm>
              <a:off x="5443018" y="2683596"/>
              <a:ext cx="2118900" cy="2118600"/>
            </a:xfrm>
            <a:prstGeom prst="rect">
              <a:avLst/>
            </a:prstGeom>
            <a:solidFill>
              <a:srgbClr val="3CA8F8"/>
            </a:solidFill>
            <a:ln>
              <a:noFill/>
            </a:ln>
            <a:effectLst>
              <a:outerShdw blurRad="190500" rotWithShape="0" dir="5400000" dist="8455">
                <a:srgbClr val="000000"/>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1800"/>
                <a:buFont typeface="Helvetica Neue"/>
                <a:buNone/>
              </a:pPr>
              <a:r>
                <a:rPr b="0" i="0" lang="en-US" sz="1800" u="none" cap="none" strike="noStrike">
                  <a:solidFill>
                    <a:srgbClr val="000000"/>
                  </a:solidFill>
                  <a:latin typeface="Helvetica Neue"/>
                  <a:ea typeface="Helvetica Neue"/>
                  <a:cs typeface="Helvetica Neue"/>
                  <a:sym typeface="Helvetica Neue"/>
                </a:rPr>
                <a:t>Observa alternativas ¿Qué te dice sobre las necesidades de la gente?</a:t>
              </a:r>
              <a:endParaRPr b="0" i="0" sz="1400" u="none" cap="none" strike="noStrike">
                <a:solidFill>
                  <a:srgbClr val="000000"/>
                </a:solidFill>
                <a:latin typeface="Helvetica Neue"/>
                <a:ea typeface="Helvetica Neue"/>
                <a:cs typeface="Helvetica Neue"/>
                <a:sym typeface="Helvetica Neue"/>
              </a:endParaRPr>
            </a:p>
          </p:txBody>
        </p:sp>
        <p:sp>
          <p:nvSpPr>
            <p:cNvPr id="133" name="Google Shape;133;p5"/>
            <p:cNvSpPr/>
            <p:nvPr/>
          </p:nvSpPr>
          <p:spPr>
            <a:xfrm>
              <a:off x="8293173" y="2683596"/>
              <a:ext cx="2118900" cy="2118600"/>
            </a:xfrm>
            <a:prstGeom prst="rect">
              <a:avLst/>
            </a:prstGeom>
            <a:solidFill>
              <a:srgbClr val="3CA8F8"/>
            </a:solidFill>
            <a:ln>
              <a:noFill/>
            </a:ln>
            <a:effectLst>
              <a:outerShdw blurRad="190500" rotWithShape="0" dir="5400000" dist="8455">
                <a:srgbClr val="000000"/>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1800"/>
                <a:buFont typeface="Helvetica Neue"/>
                <a:buNone/>
              </a:pPr>
              <a:r>
                <a:rPr b="0" i="0" lang="en-US" sz="1800" u="none" cap="none" strike="noStrike">
                  <a:solidFill>
                    <a:srgbClr val="000000"/>
                  </a:solidFill>
                  <a:latin typeface="Helvetica Neue"/>
                  <a:ea typeface="Helvetica Neue"/>
                  <a:cs typeface="Helvetica Neue"/>
                  <a:sym typeface="Helvetica Neue"/>
                </a:rPr>
                <a:t>Observa lo que le importa a la gente</a:t>
              </a:r>
              <a:endParaRPr b="0" i="0" sz="1400" u="none" cap="none" strike="noStrike">
                <a:solidFill>
                  <a:srgbClr val="000000"/>
                </a:solidFill>
                <a:latin typeface="Helvetica Neue"/>
                <a:ea typeface="Helvetica Neue"/>
                <a:cs typeface="Helvetica Neue"/>
                <a:sym typeface="Helvetica Neue"/>
              </a:endParaRPr>
            </a:p>
          </p:txBody>
        </p:sp>
        <p:sp>
          <p:nvSpPr>
            <p:cNvPr id="134" name="Google Shape;134;p5"/>
            <p:cNvSpPr/>
            <p:nvPr/>
          </p:nvSpPr>
          <p:spPr>
            <a:xfrm>
              <a:off x="2592864" y="5278881"/>
              <a:ext cx="2118900" cy="2118600"/>
            </a:xfrm>
            <a:prstGeom prst="rect">
              <a:avLst/>
            </a:prstGeom>
            <a:solidFill>
              <a:srgbClr val="3CA8F8"/>
            </a:solidFill>
            <a:ln>
              <a:noFill/>
            </a:ln>
            <a:effectLst>
              <a:outerShdw blurRad="190500" rotWithShape="0" dir="5400000" dist="8455">
                <a:srgbClr val="000000"/>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1800"/>
                <a:buFont typeface="Helvetica Neue"/>
                <a:buNone/>
              </a:pPr>
              <a:r>
                <a:rPr b="0" i="0" lang="en-US" sz="1800" u="none" cap="none" strike="noStrike">
                  <a:solidFill>
                    <a:srgbClr val="000000"/>
                  </a:solidFill>
                  <a:latin typeface="Helvetica Neue"/>
                  <a:ea typeface="Helvetica Neue"/>
                  <a:cs typeface="Helvetica Neue"/>
                  <a:sym typeface="Helvetica Neue"/>
                </a:rPr>
                <a:t>Observa el lenguaje corporal</a:t>
              </a:r>
              <a:endParaRPr b="0" i="0" sz="1400" u="none" cap="none" strike="noStrike">
                <a:solidFill>
                  <a:srgbClr val="000000"/>
                </a:solidFill>
                <a:latin typeface="Helvetica Neue"/>
                <a:ea typeface="Helvetica Neue"/>
                <a:cs typeface="Helvetica Neue"/>
                <a:sym typeface="Helvetica Neue"/>
              </a:endParaRPr>
            </a:p>
          </p:txBody>
        </p:sp>
        <p:sp>
          <p:nvSpPr>
            <p:cNvPr id="135" name="Google Shape;135;p5"/>
            <p:cNvSpPr/>
            <p:nvPr/>
          </p:nvSpPr>
          <p:spPr>
            <a:xfrm>
              <a:off x="5443018" y="5278881"/>
              <a:ext cx="2118900" cy="2118600"/>
            </a:xfrm>
            <a:prstGeom prst="rect">
              <a:avLst/>
            </a:prstGeom>
            <a:solidFill>
              <a:srgbClr val="3CA8F8"/>
            </a:solidFill>
            <a:ln>
              <a:noFill/>
            </a:ln>
            <a:effectLst>
              <a:outerShdw blurRad="190500" rotWithShape="0" dir="5400000" dist="8455">
                <a:srgbClr val="000000"/>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1800"/>
                <a:buFont typeface="Helvetica Neue"/>
                <a:buNone/>
              </a:pPr>
              <a:r>
                <a:rPr b="0" i="0" lang="en-US" sz="1800" u="none" cap="none" strike="noStrike">
                  <a:solidFill>
                    <a:srgbClr val="000000"/>
                  </a:solidFill>
                  <a:latin typeface="Helvetica Neue"/>
                  <a:ea typeface="Helvetica Neue"/>
                  <a:cs typeface="Helvetica Neue"/>
                  <a:sym typeface="Helvetica Neue"/>
                </a:rPr>
                <a:t>Busca patrones</a:t>
              </a:r>
              <a:endParaRPr b="0" i="0" sz="1400" u="none" cap="none" strike="noStrike">
                <a:solidFill>
                  <a:srgbClr val="000000"/>
                </a:solidFill>
                <a:latin typeface="Helvetica Neue"/>
                <a:ea typeface="Helvetica Neue"/>
                <a:cs typeface="Helvetica Neue"/>
                <a:sym typeface="Helvetica Neue"/>
              </a:endParaRPr>
            </a:p>
          </p:txBody>
        </p:sp>
        <p:sp>
          <p:nvSpPr>
            <p:cNvPr id="136" name="Google Shape;136;p5"/>
            <p:cNvSpPr/>
            <p:nvPr/>
          </p:nvSpPr>
          <p:spPr>
            <a:xfrm>
              <a:off x="8293173" y="5278881"/>
              <a:ext cx="2118900" cy="2118600"/>
            </a:xfrm>
            <a:prstGeom prst="rect">
              <a:avLst/>
            </a:prstGeom>
            <a:solidFill>
              <a:srgbClr val="3CA8F8"/>
            </a:solidFill>
            <a:ln>
              <a:noFill/>
            </a:ln>
            <a:effectLst>
              <a:outerShdw blurRad="190500" rotWithShape="0" dir="5400000" dist="8455">
                <a:srgbClr val="000000"/>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1800"/>
                <a:buFont typeface="Helvetica Neue"/>
                <a:buNone/>
              </a:pPr>
              <a:r>
                <a:rPr b="0" i="0" lang="en-US" sz="1800" u="none" cap="none" strike="noStrike">
                  <a:solidFill>
                    <a:srgbClr val="000000"/>
                  </a:solidFill>
                  <a:latin typeface="Helvetica Neue"/>
                  <a:ea typeface="Helvetica Neue"/>
                  <a:cs typeface="Helvetica Neue"/>
                  <a:sym typeface="Helvetica Neue"/>
                </a:rPr>
                <a:t>Busca lo inesperado</a:t>
              </a:r>
              <a:endParaRPr b="0" i="0" sz="1400" u="none" cap="none" strike="noStrike">
                <a:solidFill>
                  <a:srgbClr val="000000"/>
                </a:solidFill>
                <a:latin typeface="Helvetica Neue"/>
                <a:ea typeface="Helvetica Neue"/>
                <a:cs typeface="Helvetica Neue"/>
                <a:sym typeface="Helvetica Neue"/>
              </a:endParaRPr>
            </a:p>
          </p:txBody>
        </p:sp>
        <p:grpSp>
          <p:nvGrpSpPr>
            <p:cNvPr id="137" name="Google Shape;137;p5"/>
            <p:cNvGrpSpPr/>
            <p:nvPr/>
          </p:nvGrpSpPr>
          <p:grpSpPr>
            <a:xfrm>
              <a:off x="1212905" y="8677287"/>
              <a:ext cx="10578927" cy="621000"/>
              <a:chOff x="0" y="0"/>
              <a:chExt cx="10578927" cy="621000"/>
            </a:xfrm>
          </p:grpSpPr>
          <p:cxnSp>
            <p:nvCxnSpPr>
              <p:cNvPr id="138" name="Google Shape;138;p5"/>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139" name="Google Shape;139;p5"/>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40" name="Google Shape;140;p5"/>
              <p:cNvSpPr/>
              <p:nvPr/>
            </p:nvSpPr>
            <p:spPr>
              <a:xfrm>
                <a:off x="2489481"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41" name="Google Shape;141;p5"/>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42" name="Google Shape;142;p5"/>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43" name="Google Shape;143;p5"/>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grpSp>
        <p:nvGrpSpPr>
          <p:cNvPr id="148" name="Google Shape;148;g222a1aa99bd_0_0"/>
          <p:cNvGrpSpPr/>
          <p:nvPr/>
        </p:nvGrpSpPr>
        <p:grpSpPr>
          <a:xfrm>
            <a:off x="241323" y="141073"/>
            <a:ext cx="11970112" cy="9157214"/>
            <a:chOff x="241323" y="141073"/>
            <a:chExt cx="11970112" cy="9157214"/>
          </a:xfrm>
        </p:grpSpPr>
        <p:pic>
          <p:nvPicPr>
            <p:cNvPr descr="EA11.png" id="149" name="Google Shape;149;g222a1aa99bd_0_0"/>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150" name="Google Shape;150;g222a1aa99bd_0_0"/>
            <p:cNvSpPr txBox="1"/>
            <p:nvPr/>
          </p:nvSpPr>
          <p:spPr>
            <a:xfrm>
              <a:off x="793435" y="1522813"/>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TEMA A ABORDAR</a:t>
              </a:r>
              <a:endParaRPr b="0" i="0" sz="1400" u="none" cap="none" strike="noStrike">
                <a:solidFill>
                  <a:srgbClr val="000000"/>
                </a:solidFill>
                <a:latin typeface="Helvetica Neue"/>
                <a:ea typeface="Helvetica Neue"/>
                <a:cs typeface="Helvetica Neue"/>
                <a:sym typeface="Helvetica Neue"/>
              </a:endParaRPr>
            </a:p>
          </p:txBody>
        </p:sp>
        <p:grpSp>
          <p:nvGrpSpPr>
            <p:cNvPr id="151" name="Google Shape;151;g222a1aa99bd_0_0"/>
            <p:cNvGrpSpPr/>
            <p:nvPr/>
          </p:nvGrpSpPr>
          <p:grpSpPr>
            <a:xfrm>
              <a:off x="1212905" y="8677287"/>
              <a:ext cx="10578927" cy="621000"/>
              <a:chOff x="0" y="0"/>
              <a:chExt cx="10578927" cy="621000"/>
            </a:xfrm>
          </p:grpSpPr>
          <p:cxnSp>
            <p:nvCxnSpPr>
              <p:cNvPr id="152" name="Google Shape;152;g222a1aa99bd_0_0"/>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153" name="Google Shape;153;g222a1aa99bd_0_0"/>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54" name="Google Shape;154;g222a1aa99bd_0_0"/>
              <p:cNvSpPr/>
              <p:nvPr/>
            </p:nvSpPr>
            <p:spPr>
              <a:xfrm>
                <a:off x="2489481"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55" name="Google Shape;155;g222a1aa99bd_0_0"/>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56" name="Google Shape;156;g222a1aa99bd_0_0"/>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57" name="Google Shape;157;g222a1aa99bd_0_0"/>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grpSp>
      <p:sp>
        <p:nvSpPr>
          <p:cNvPr id="158" name="Google Shape;158;g222a1aa99bd_0_0"/>
          <p:cNvSpPr txBox="1"/>
          <p:nvPr/>
        </p:nvSpPr>
        <p:spPr>
          <a:xfrm>
            <a:off x="2554825" y="2678350"/>
            <a:ext cx="7343100" cy="1108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US" sz="3000">
                <a:latin typeface="Helvetica Neue"/>
                <a:ea typeface="Helvetica Neue"/>
                <a:cs typeface="Helvetica Neue"/>
                <a:sym typeface="Helvetica Neue"/>
              </a:rPr>
              <a:t>Mejorar organización y distribución de las mochilas de estudiantes/profesores.</a:t>
            </a:r>
            <a:endParaRPr sz="3000">
              <a:latin typeface="Helvetica Neue"/>
              <a:ea typeface="Helvetica Neue"/>
              <a:cs typeface="Helvetica Neue"/>
              <a:sym typeface="Helvetica Neue"/>
            </a:endParaRPr>
          </a:p>
        </p:txBody>
      </p:sp>
      <p:sp>
        <p:nvSpPr>
          <p:cNvPr id="159" name="Google Shape;159;g222a1aa99bd_0_0"/>
          <p:cNvSpPr txBox="1"/>
          <p:nvPr/>
        </p:nvSpPr>
        <p:spPr>
          <a:xfrm>
            <a:off x="1238900" y="4471150"/>
            <a:ext cx="105270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US" sz="3000">
                <a:latin typeface="Helvetica Neue"/>
                <a:ea typeface="Helvetica Neue"/>
                <a:cs typeface="Helvetica Neue"/>
                <a:sym typeface="Helvetica Neue"/>
              </a:rPr>
              <a:t>Optimización del uso de mochilas: organización y bienestar en la vida académica</a:t>
            </a:r>
            <a:endParaRPr b="1" i="1" sz="3000">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222a1aa99bd_0_13"/>
          <p:cNvSpPr txBox="1"/>
          <p:nvPr/>
        </p:nvSpPr>
        <p:spPr>
          <a:xfrm>
            <a:off x="7248350" y="1251425"/>
            <a:ext cx="5311500" cy="13968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72B842"/>
              </a:buClr>
              <a:buSzPts val="3900"/>
              <a:buFont typeface="Helvetica Neue"/>
              <a:buNone/>
            </a:pPr>
            <a:r>
              <a:rPr b="0" i="0" lang="en-US" sz="3900" u="none" cap="none" strike="noStrike">
                <a:solidFill>
                  <a:schemeClr val="lt2"/>
                </a:solidFill>
                <a:latin typeface="Helvetica Neue"/>
                <a:ea typeface="Helvetica Neue"/>
                <a:cs typeface="Helvetica Neue"/>
                <a:sym typeface="Helvetica Neue"/>
              </a:rPr>
              <a:t>DESCUBRIMIENTOS</a:t>
            </a:r>
            <a:endParaRPr b="0" i="0" sz="1400" u="none" cap="none" strike="noStrike">
              <a:solidFill>
                <a:schemeClr val="lt2"/>
              </a:solidFill>
              <a:latin typeface="Helvetica Neue"/>
              <a:ea typeface="Helvetica Neue"/>
              <a:cs typeface="Helvetica Neue"/>
              <a:sym typeface="Helvetica Neue"/>
            </a:endParaRPr>
          </a:p>
        </p:txBody>
      </p:sp>
      <p:cxnSp>
        <p:nvCxnSpPr>
          <p:cNvPr id="165" name="Google Shape;165;g222a1aa99bd_0_13"/>
          <p:cNvCxnSpPr/>
          <p:nvPr/>
        </p:nvCxnSpPr>
        <p:spPr>
          <a:xfrm rot="10800000">
            <a:off x="6502400" y="1672812"/>
            <a:ext cx="0" cy="6408000"/>
          </a:xfrm>
          <a:prstGeom prst="straightConnector1">
            <a:avLst/>
          </a:prstGeom>
          <a:noFill/>
          <a:ln cap="flat" cmpd="sng" w="25400">
            <a:solidFill>
              <a:srgbClr val="000000"/>
            </a:solidFill>
            <a:prstDash val="solid"/>
            <a:miter lim="400000"/>
            <a:headEnd len="sm" w="sm" type="none"/>
            <a:tailEnd len="sm" w="sm" type="none"/>
          </a:ln>
        </p:spPr>
      </p:cxnSp>
      <p:sp>
        <p:nvSpPr>
          <p:cNvPr id="166" name="Google Shape;166;g222a1aa99bd_0_13"/>
          <p:cNvSpPr txBox="1"/>
          <p:nvPr/>
        </p:nvSpPr>
        <p:spPr>
          <a:xfrm>
            <a:off x="7261390" y="1845922"/>
            <a:ext cx="4740000" cy="1396500"/>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72B842"/>
              </a:buClr>
              <a:buSzPts val="3900"/>
              <a:buFont typeface="Helvetica Neue"/>
              <a:buNone/>
            </a:pPr>
            <a:r>
              <a:rPr b="0" i="1" lang="en-US" sz="3900" u="none" cap="none" strike="noStrike">
                <a:solidFill>
                  <a:srgbClr val="CCCCCC"/>
                </a:solidFill>
                <a:latin typeface="Helvetica Neue"/>
                <a:ea typeface="Helvetica Neue"/>
                <a:cs typeface="Helvetica Neue"/>
                <a:sym typeface="Helvetica Neue"/>
              </a:rPr>
              <a:t>       (INSIGHTS)</a:t>
            </a:r>
            <a:endParaRPr b="0" i="1" sz="1400" u="none" cap="none" strike="noStrike">
              <a:solidFill>
                <a:srgbClr val="CCCCCC"/>
              </a:solidFill>
              <a:latin typeface="Helvetica Neue"/>
              <a:ea typeface="Helvetica Neue"/>
              <a:cs typeface="Helvetica Neue"/>
              <a:sym typeface="Helvetica Neue"/>
            </a:endParaRPr>
          </a:p>
        </p:txBody>
      </p:sp>
      <p:pic>
        <p:nvPicPr>
          <p:cNvPr descr="EA11.png" id="167" name="Google Shape;167;g222a1aa99bd_0_13"/>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168" name="Google Shape;168;g222a1aa99bd_0_13"/>
          <p:cNvSpPr txBox="1"/>
          <p:nvPr/>
        </p:nvSpPr>
        <p:spPr>
          <a:xfrm>
            <a:off x="726751" y="1251509"/>
            <a:ext cx="4740000" cy="13965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72B843"/>
              </a:buClr>
              <a:buSzPts val="3900"/>
              <a:buFont typeface="Helvetica Neue"/>
              <a:buNone/>
            </a:pPr>
            <a:r>
              <a:rPr b="0" i="0" lang="en-US" sz="3900" u="none" cap="none" strike="noStrike">
                <a:solidFill>
                  <a:schemeClr val="accent1"/>
                </a:solidFill>
                <a:latin typeface="Helvetica Neue"/>
                <a:ea typeface="Helvetica Neue"/>
                <a:cs typeface="Helvetica Neue"/>
                <a:sym typeface="Helvetica Neue"/>
              </a:rPr>
              <a:t>HIPÓTESIS</a:t>
            </a:r>
            <a:endParaRPr b="0" i="0" sz="1400" u="none" cap="none" strike="noStrike">
              <a:solidFill>
                <a:schemeClr val="accent1"/>
              </a:solidFill>
              <a:latin typeface="Helvetica Neue"/>
              <a:ea typeface="Helvetica Neue"/>
              <a:cs typeface="Helvetica Neue"/>
              <a:sym typeface="Helvetica Neue"/>
            </a:endParaRPr>
          </a:p>
        </p:txBody>
      </p:sp>
      <p:sp>
        <p:nvSpPr>
          <p:cNvPr id="169" name="Google Shape;169;g222a1aa99bd_0_13"/>
          <p:cNvSpPr txBox="1"/>
          <p:nvPr/>
        </p:nvSpPr>
        <p:spPr>
          <a:xfrm>
            <a:off x="444950" y="2546375"/>
            <a:ext cx="5311500" cy="63165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rtl="0" algn="just">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0" lvl="0" marL="457200" rtl="0" algn="just">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330200" lvl="0" marL="457200" marR="0" rtl="0" algn="just">
              <a:lnSpc>
                <a:spcPct val="100000"/>
              </a:lnSpc>
              <a:spcBef>
                <a:spcPts val="0"/>
              </a:spcBef>
              <a:spcAft>
                <a:spcPts val="0"/>
              </a:spcAft>
              <a:buClr>
                <a:srgbClr val="5E5E5E"/>
              </a:buClr>
              <a:buSzPts val="1600"/>
              <a:buFont typeface="Helvetica Neue"/>
              <a:buChar char="●"/>
            </a:pPr>
            <a:r>
              <a:rPr lang="en-US" sz="1600">
                <a:solidFill>
                  <a:srgbClr val="5E5E5E"/>
                </a:solidFill>
                <a:latin typeface="Helvetica Neue"/>
                <a:ea typeface="Helvetica Neue"/>
                <a:cs typeface="Helvetica Neue"/>
                <a:sym typeface="Helvetica Neue"/>
              </a:rPr>
              <a:t>Las personas tienden a priorizar la estética de una mochila por sobre su comodidad y funcionalidad.</a:t>
            </a:r>
            <a:endParaRPr sz="1600">
              <a:solidFill>
                <a:srgbClr val="5E5E5E"/>
              </a:solidFill>
              <a:latin typeface="Helvetica Neue"/>
              <a:ea typeface="Helvetica Neue"/>
              <a:cs typeface="Helvetica Neue"/>
              <a:sym typeface="Helvetica Neue"/>
            </a:endParaRPr>
          </a:p>
          <a:p>
            <a:pPr indent="0" lvl="0" marL="457200" marR="0" rtl="0" algn="just">
              <a:lnSpc>
                <a:spcPct val="100000"/>
              </a:lnSpc>
              <a:spcBef>
                <a:spcPts val="0"/>
              </a:spcBef>
              <a:spcAft>
                <a:spcPts val="0"/>
              </a:spcAft>
              <a:buNone/>
            </a:pPr>
            <a:r>
              <a:t/>
            </a:r>
            <a:endParaRPr sz="1600">
              <a:solidFill>
                <a:srgbClr val="5E5E5E"/>
              </a:solidFill>
              <a:latin typeface="Helvetica Neue"/>
              <a:ea typeface="Helvetica Neue"/>
              <a:cs typeface="Helvetica Neue"/>
              <a:sym typeface="Helvetica Neue"/>
            </a:endParaRPr>
          </a:p>
          <a:p>
            <a:pPr indent="-330200" lvl="0" marL="457200" marR="0" rtl="0" algn="just">
              <a:lnSpc>
                <a:spcPct val="100000"/>
              </a:lnSpc>
              <a:spcBef>
                <a:spcPts val="0"/>
              </a:spcBef>
              <a:spcAft>
                <a:spcPts val="0"/>
              </a:spcAft>
              <a:buClr>
                <a:srgbClr val="5E5E5E"/>
              </a:buClr>
              <a:buSzPts val="1600"/>
              <a:buFont typeface="Helvetica Neue"/>
              <a:buChar char="●"/>
            </a:pPr>
            <a:r>
              <a:rPr lang="en-US" sz="1600">
                <a:solidFill>
                  <a:srgbClr val="5E5E5E"/>
                </a:solidFill>
                <a:latin typeface="Helvetica Neue"/>
                <a:ea typeface="Helvetica Neue"/>
                <a:cs typeface="Helvetica Neue"/>
                <a:sym typeface="Helvetica Neue"/>
              </a:rPr>
              <a:t>Muchos usuarios no distribuyen adecuadamente el peso en sus mochilas, lo que podría estar generando molestias físicas como mala postura o dolor de espalda.</a:t>
            </a:r>
            <a:endParaRPr sz="1600">
              <a:solidFill>
                <a:srgbClr val="5E5E5E"/>
              </a:solidFill>
              <a:latin typeface="Helvetica Neue"/>
              <a:ea typeface="Helvetica Neue"/>
              <a:cs typeface="Helvetica Neue"/>
              <a:sym typeface="Helvetica Neue"/>
            </a:endParaRPr>
          </a:p>
          <a:p>
            <a:pPr indent="0" lvl="0" marL="457200" marR="0" rtl="0" algn="just">
              <a:lnSpc>
                <a:spcPct val="100000"/>
              </a:lnSpc>
              <a:spcBef>
                <a:spcPts val="0"/>
              </a:spcBef>
              <a:spcAft>
                <a:spcPts val="0"/>
              </a:spcAft>
              <a:buNone/>
            </a:pPr>
            <a:r>
              <a:t/>
            </a:r>
            <a:endParaRPr sz="1600">
              <a:solidFill>
                <a:srgbClr val="5E5E5E"/>
              </a:solidFill>
              <a:latin typeface="Helvetica Neue"/>
              <a:ea typeface="Helvetica Neue"/>
              <a:cs typeface="Helvetica Neue"/>
              <a:sym typeface="Helvetica Neue"/>
            </a:endParaRPr>
          </a:p>
          <a:p>
            <a:pPr indent="-330200" lvl="0" marL="457200" marR="0" rtl="0" algn="just">
              <a:lnSpc>
                <a:spcPct val="100000"/>
              </a:lnSpc>
              <a:spcBef>
                <a:spcPts val="0"/>
              </a:spcBef>
              <a:spcAft>
                <a:spcPts val="0"/>
              </a:spcAft>
              <a:buClr>
                <a:srgbClr val="5E5E5E"/>
              </a:buClr>
              <a:buSzPts val="1600"/>
              <a:buFont typeface="Helvetica Neue"/>
              <a:buChar char="●"/>
            </a:pPr>
            <a:r>
              <a:rPr lang="en-US" sz="1600">
                <a:solidFill>
                  <a:srgbClr val="5E5E5E"/>
                </a:solidFill>
                <a:latin typeface="Helvetica Neue"/>
                <a:ea typeface="Helvetica Neue"/>
                <a:cs typeface="Helvetica Neue"/>
                <a:sym typeface="Helvetica Neue"/>
              </a:rPr>
              <a:t>La organización interna de las mochilas actuales no se ajusta a las necesidades de los usuarios, dificultando una distribución eficiente de sus objetos.</a:t>
            </a:r>
            <a:endParaRPr sz="1600">
              <a:solidFill>
                <a:srgbClr val="5E5E5E"/>
              </a:solidFill>
              <a:latin typeface="Helvetica Neue"/>
              <a:ea typeface="Helvetica Neue"/>
              <a:cs typeface="Helvetica Neue"/>
              <a:sym typeface="Helvetica Neue"/>
            </a:endParaRPr>
          </a:p>
          <a:p>
            <a:pPr indent="0" lvl="0" marL="457200" marR="0" rtl="0" algn="just">
              <a:lnSpc>
                <a:spcPct val="100000"/>
              </a:lnSpc>
              <a:spcBef>
                <a:spcPts val="0"/>
              </a:spcBef>
              <a:spcAft>
                <a:spcPts val="0"/>
              </a:spcAft>
              <a:buNone/>
            </a:pPr>
            <a:r>
              <a:t/>
            </a:r>
            <a:endParaRPr sz="1600">
              <a:solidFill>
                <a:srgbClr val="5E5E5E"/>
              </a:solidFill>
              <a:latin typeface="Helvetica Neue"/>
              <a:ea typeface="Helvetica Neue"/>
              <a:cs typeface="Helvetica Neue"/>
              <a:sym typeface="Helvetica Neue"/>
            </a:endParaRPr>
          </a:p>
          <a:p>
            <a:pPr indent="-330200" lvl="0" marL="457200" marR="0" rtl="0" algn="just">
              <a:lnSpc>
                <a:spcPct val="100000"/>
              </a:lnSpc>
              <a:spcBef>
                <a:spcPts val="0"/>
              </a:spcBef>
              <a:spcAft>
                <a:spcPts val="0"/>
              </a:spcAft>
              <a:buClr>
                <a:srgbClr val="5E5E5E"/>
              </a:buClr>
              <a:buSzPts val="1600"/>
              <a:buFont typeface="Helvetica Neue"/>
              <a:buChar char="●"/>
            </a:pPr>
            <a:r>
              <a:rPr lang="en-US" sz="1600">
                <a:solidFill>
                  <a:srgbClr val="5E5E5E"/>
                </a:solidFill>
                <a:latin typeface="Helvetica Neue"/>
                <a:ea typeface="Helvetica Neue"/>
                <a:cs typeface="Helvetica Neue"/>
                <a:sym typeface="Helvetica Neue"/>
              </a:rPr>
              <a:t>Los materiales usados en mochilas convencionales podrían no estar brindando el nivel de comodidad, resistencia o protección que los usuarios requieren.</a:t>
            </a:r>
            <a:endParaRPr sz="1600">
              <a:solidFill>
                <a:srgbClr val="5E5E5E"/>
              </a:solidFill>
              <a:latin typeface="Helvetica Neue"/>
              <a:ea typeface="Helvetica Neue"/>
              <a:cs typeface="Helvetica Neue"/>
              <a:sym typeface="Helvetica Neue"/>
            </a:endParaRPr>
          </a:p>
          <a:p>
            <a:pPr indent="0" lvl="0" marL="457200" marR="0" rtl="0" algn="just">
              <a:lnSpc>
                <a:spcPct val="100000"/>
              </a:lnSpc>
              <a:spcBef>
                <a:spcPts val="0"/>
              </a:spcBef>
              <a:spcAft>
                <a:spcPts val="0"/>
              </a:spcAft>
              <a:buNone/>
            </a:pPr>
            <a:r>
              <a:t/>
            </a:r>
            <a:endParaRPr sz="1600">
              <a:solidFill>
                <a:srgbClr val="5E5E5E"/>
              </a:solidFill>
              <a:latin typeface="Helvetica Neue"/>
              <a:ea typeface="Helvetica Neue"/>
              <a:cs typeface="Helvetica Neue"/>
              <a:sym typeface="Helvetica Neue"/>
            </a:endParaRPr>
          </a:p>
          <a:p>
            <a:pPr indent="-330200" lvl="0" marL="457200" marR="0" rtl="0" algn="just">
              <a:lnSpc>
                <a:spcPct val="100000"/>
              </a:lnSpc>
              <a:spcBef>
                <a:spcPts val="0"/>
              </a:spcBef>
              <a:spcAft>
                <a:spcPts val="0"/>
              </a:spcAft>
              <a:buClr>
                <a:srgbClr val="5E5E5E"/>
              </a:buClr>
              <a:buSzPts val="1600"/>
              <a:buFont typeface="Helvetica Neue"/>
              <a:buChar char="●"/>
            </a:pPr>
            <a:r>
              <a:rPr lang="en-US" sz="1600">
                <a:solidFill>
                  <a:srgbClr val="5E5E5E"/>
                </a:solidFill>
                <a:latin typeface="Helvetica Neue"/>
                <a:ea typeface="Helvetica Neue"/>
                <a:cs typeface="Helvetica Neue"/>
                <a:sym typeface="Helvetica Neue"/>
              </a:rPr>
              <a:t>La falta de espacio útil dentro de la mochila podría estar limitando la capacidad de los usuarios para organizar correctamente sus pertenencias.</a:t>
            </a:r>
            <a:endParaRPr sz="1600">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rPr lang="en-US" sz="1600">
                <a:solidFill>
                  <a:srgbClr val="5E5E5E"/>
                </a:solidFill>
                <a:latin typeface="Helvetica Neue"/>
                <a:ea typeface="Helvetica Neue"/>
                <a:cs typeface="Helvetica Neue"/>
                <a:sym typeface="Helvetica Neue"/>
              </a:rPr>
              <a:t>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70" name="Google Shape;170;g222a1aa99bd_0_13"/>
          <p:cNvSpPr txBox="1"/>
          <p:nvPr/>
        </p:nvSpPr>
        <p:spPr>
          <a:xfrm>
            <a:off x="7030625" y="5431925"/>
            <a:ext cx="4878000" cy="51252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600"/>
              <a:buFont typeface="Helvetica Neue"/>
              <a:buNone/>
            </a:pPr>
            <a:r>
              <a:t/>
            </a:r>
            <a:endParaRPr sz="1600">
              <a:solidFill>
                <a:schemeClr val="dk1"/>
              </a:solidFill>
              <a:latin typeface="Helvetica Neue"/>
              <a:ea typeface="Helvetica Neue"/>
              <a:cs typeface="Helvetica Neue"/>
              <a:sym typeface="Helvetica Neue"/>
            </a:endParaRPr>
          </a:p>
          <a:p>
            <a:pPr indent="-330200" lvl="0" marL="457200" rtl="0" algn="just">
              <a:spcBef>
                <a:spcPts val="0"/>
              </a:spcBef>
              <a:spcAft>
                <a:spcPts val="0"/>
              </a:spcAft>
              <a:buClr>
                <a:schemeClr val="dk1"/>
              </a:buClr>
              <a:buSzPts val="1600"/>
              <a:buFont typeface="Helvetica Neue"/>
              <a:buChar char="●"/>
            </a:pPr>
            <a:r>
              <a:rPr lang="en-US" sz="1600">
                <a:solidFill>
                  <a:schemeClr val="dk1"/>
                </a:solidFill>
                <a:latin typeface="Helvetica Neue"/>
                <a:ea typeface="Helvetica Neue"/>
                <a:cs typeface="Helvetica Neue"/>
                <a:sym typeface="Helvetica Neue"/>
              </a:rPr>
              <a:t>Nos dimos cuenta de que la mayoría no distribuye de manera eficiente el peso en su mochila, generando mala postura y dolor de espalda.</a:t>
            </a:r>
            <a:endParaRPr sz="1600">
              <a:solidFill>
                <a:schemeClr val="dk1"/>
              </a:solidFill>
              <a:latin typeface="Helvetica Neue"/>
              <a:ea typeface="Helvetica Neue"/>
              <a:cs typeface="Helvetica Neue"/>
              <a:sym typeface="Helvetica Neue"/>
            </a:endParaRPr>
          </a:p>
          <a:p>
            <a:pPr indent="0" lvl="0" marL="0" rtl="0" algn="just">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330200" lvl="0" marL="457200" rtl="0" algn="just">
              <a:spcBef>
                <a:spcPts val="0"/>
              </a:spcBef>
              <a:spcAft>
                <a:spcPts val="0"/>
              </a:spcAft>
              <a:buClr>
                <a:schemeClr val="dk1"/>
              </a:buClr>
              <a:buSzPts val="1600"/>
              <a:buFont typeface="Helvetica Neue"/>
              <a:buChar char="●"/>
            </a:pPr>
            <a:r>
              <a:rPr lang="en-US" sz="1600">
                <a:solidFill>
                  <a:schemeClr val="dk1"/>
                </a:solidFill>
                <a:latin typeface="Helvetica Neue"/>
                <a:ea typeface="Helvetica Neue"/>
                <a:cs typeface="Helvetica Neue"/>
                <a:sym typeface="Helvetica Neue"/>
              </a:rPr>
              <a:t>Nos dimos cuenta de que una mejor organización dentro de la mochila sería una posible solución para lo planteado anteriormente.</a:t>
            </a:r>
            <a:endParaRPr sz="1600">
              <a:solidFill>
                <a:schemeClr val="dk1"/>
              </a:solidFill>
              <a:latin typeface="Helvetica Neue"/>
              <a:ea typeface="Helvetica Neue"/>
              <a:cs typeface="Helvetica Neue"/>
              <a:sym typeface="Helvetica Neue"/>
            </a:endParaRPr>
          </a:p>
          <a:p>
            <a:pPr indent="0" lvl="0" marL="457200" rtl="0" algn="just">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330200" lvl="0" marL="457200" rtl="0" algn="just">
              <a:spcBef>
                <a:spcPts val="0"/>
              </a:spcBef>
              <a:spcAft>
                <a:spcPts val="0"/>
              </a:spcAft>
              <a:buClr>
                <a:schemeClr val="dk1"/>
              </a:buClr>
              <a:buSzPts val="1600"/>
              <a:buFont typeface="Helvetica Neue"/>
              <a:buChar char="●"/>
            </a:pPr>
            <a:r>
              <a:rPr lang="en-US" sz="1600">
                <a:solidFill>
                  <a:schemeClr val="dk1"/>
                </a:solidFill>
                <a:latin typeface="Helvetica Neue"/>
                <a:ea typeface="Helvetica Neue"/>
                <a:cs typeface="Helvetica Neue"/>
                <a:sym typeface="Helvetica Neue"/>
              </a:rPr>
              <a:t>Nos dimos cuenta de que la mala distribución y organización se debe a la poca variedad de bolsillos.</a:t>
            </a:r>
            <a:endParaRPr sz="1600">
              <a:solidFill>
                <a:schemeClr val="dk1"/>
              </a:solidFill>
              <a:latin typeface="Helvetica Neue"/>
              <a:ea typeface="Helvetica Neue"/>
              <a:cs typeface="Helvetica Neue"/>
              <a:sym typeface="Helvetica Neue"/>
            </a:endParaRPr>
          </a:p>
          <a:p>
            <a:pPr indent="0" lvl="0" marL="457200" rtl="0" algn="just">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330200" lvl="0" marL="457200" rtl="0" algn="just">
              <a:spcBef>
                <a:spcPts val="0"/>
              </a:spcBef>
              <a:spcAft>
                <a:spcPts val="0"/>
              </a:spcAft>
              <a:buClr>
                <a:schemeClr val="dk1"/>
              </a:buClr>
              <a:buSzPts val="1600"/>
              <a:buFont typeface="Helvetica Neue"/>
              <a:buChar char="●"/>
            </a:pPr>
            <a:r>
              <a:rPr lang="en-US" sz="1600">
                <a:solidFill>
                  <a:schemeClr val="dk1"/>
                </a:solidFill>
                <a:latin typeface="Helvetica Neue"/>
                <a:ea typeface="Helvetica Neue"/>
                <a:cs typeface="Helvetica Neue"/>
                <a:sym typeface="Helvetica Neue"/>
              </a:rPr>
              <a:t>Nos dimos cuenta de que es necesario un material más acolchado y resistente en el espaldar y en las hombreras, además de impermeable.</a:t>
            </a:r>
            <a:endParaRPr sz="1600">
              <a:solidFill>
                <a:schemeClr val="dk1"/>
              </a:solidFill>
              <a:latin typeface="Helvetica Neue"/>
              <a:ea typeface="Helvetica Neue"/>
              <a:cs typeface="Helvetica Neue"/>
              <a:sym typeface="Helvetica Neue"/>
            </a:endParaRPr>
          </a:p>
          <a:p>
            <a:pPr indent="0" lvl="0" marL="457200" rtl="0" algn="just">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330200" lvl="0" marL="457200" rtl="0" algn="just">
              <a:spcBef>
                <a:spcPts val="0"/>
              </a:spcBef>
              <a:spcAft>
                <a:spcPts val="0"/>
              </a:spcAft>
              <a:buClr>
                <a:schemeClr val="dk1"/>
              </a:buClr>
              <a:buSzPts val="1600"/>
              <a:buFont typeface="Helvetica Neue"/>
              <a:buChar char="●"/>
            </a:pPr>
            <a:r>
              <a:rPr lang="en-US" sz="1600">
                <a:solidFill>
                  <a:schemeClr val="dk1"/>
                </a:solidFill>
                <a:latin typeface="Helvetica Neue"/>
                <a:ea typeface="Helvetica Neue"/>
                <a:cs typeface="Helvetica Neue"/>
                <a:sym typeface="Helvetica Neue"/>
              </a:rPr>
              <a:t>Nos dimos cuenta de que la falta de espacio es uno de los mayores influyentes en la organización.</a:t>
            </a:r>
            <a:endParaRPr sz="1600">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nvGrpSpPr>
          <p:cNvPr id="171" name="Google Shape;171;g222a1aa99bd_0_13"/>
          <p:cNvGrpSpPr/>
          <p:nvPr/>
        </p:nvGrpSpPr>
        <p:grpSpPr>
          <a:xfrm>
            <a:off x="1212905" y="8677287"/>
            <a:ext cx="10578927" cy="621000"/>
            <a:chOff x="0" y="0"/>
            <a:chExt cx="10578927" cy="621000"/>
          </a:xfrm>
        </p:grpSpPr>
        <p:cxnSp>
          <p:nvCxnSpPr>
            <p:cNvPr id="172" name="Google Shape;172;g222a1aa99bd_0_13"/>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173" name="Google Shape;173;g222a1aa99bd_0_13"/>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74" name="Google Shape;174;g222a1aa99bd_0_13"/>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75" name="Google Shape;175;g222a1aa99bd_0_13"/>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76" name="Google Shape;176;g222a1aa99bd_0_13"/>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77" name="Google Shape;177;g222a1aa99bd_0_13"/>
            <p:cNvSpPr/>
            <p:nvPr/>
          </p:nvSpPr>
          <p:spPr>
            <a:xfrm>
              <a:off x="2489481" y="0"/>
              <a:ext cx="621000" cy="621000"/>
            </a:xfrm>
            <a:prstGeom prst="ellipse">
              <a:avLst/>
            </a:prstGeom>
            <a:solidFill>
              <a:schemeClr val="lt1"/>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65ac9f83fe_3_0"/>
          <p:cNvSpPr txBox="1"/>
          <p:nvPr>
            <p:ph idx="1" type="body"/>
          </p:nvPr>
        </p:nvSpPr>
        <p:spPr>
          <a:xfrm>
            <a:off x="864825" y="1733550"/>
            <a:ext cx="11099700" cy="6286500"/>
          </a:xfrm>
          <a:prstGeom prst="rect">
            <a:avLst/>
          </a:prstGeom>
        </p:spPr>
        <p:txBody>
          <a:bodyPr anchorCtr="0" anchor="ctr" bIns="50800" lIns="50800" spcFirstLastPara="1" rIns="50800" wrap="square" tIns="50800">
            <a:noAutofit/>
          </a:bodyPr>
          <a:lstStyle/>
          <a:p>
            <a:pPr indent="0" lvl="0" marL="0" rtl="0" algn="ctr">
              <a:spcBef>
                <a:spcPts val="4200"/>
              </a:spcBef>
              <a:spcAft>
                <a:spcPts val="0"/>
              </a:spcAft>
              <a:buNone/>
            </a:pPr>
            <a:r>
              <a:rPr lang="en-US"/>
              <a:t>Los anteriores </a:t>
            </a:r>
            <a:r>
              <a:rPr lang="en-US"/>
              <a:t>hipótesis</a:t>
            </a:r>
            <a:r>
              <a:rPr lang="en-US"/>
              <a:t> fueron el trabajo inicial, luego la profesora nos dio su feedback y desarrollamos las </a:t>
            </a:r>
            <a:r>
              <a:rPr lang="en-US"/>
              <a:t>correcciones</a:t>
            </a:r>
            <a:r>
              <a:rPr lang="en-US"/>
              <a:t> </a:t>
            </a:r>
            <a:r>
              <a:rPr lang="en-US"/>
              <a:t>pertinentes, </a:t>
            </a:r>
            <a:r>
              <a:rPr lang="en-US"/>
              <a:t>abordando el problema desde una perspectiva más divergente.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65ac9f83fe_1_0"/>
          <p:cNvSpPr txBox="1"/>
          <p:nvPr/>
        </p:nvSpPr>
        <p:spPr>
          <a:xfrm>
            <a:off x="7248350" y="1251425"/>
            <a:ext cx="5311500" cy="13968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72B842"/>
              </a:buClr>
              <a:buSzPts val="3900"/>
              <a:buFont typeface="Helvetica Neue"/>
              <a:buNone/>
            </a:pPr>
            <a:r>
              <a:rPr b="0" i="0" lang="en-US" sz="3900" u="none" cap="none" strike="noStrike">
                <a:solidFill>
                  <a:schemeClr val="lt2"/>
                </a:solidFill>
                <a:latin typeface="Helvetica Neue"/>
                <a:ea typeface="Helvetica Neue"/>
                <a:cs typeface="Helvetica Neue"/>
                <a:sym typeface="Helvetica Neue"/>
              </a:rPr>
              <a:t>DESCUBRIMIENTOS</a:t>
            </a:r>
            <a:endParaRPr b="0" i="0" sz="1400" u="none" cap="none" strike="noStrike">
              <a:solidFill>
                <a:schemeClr val="lt2"/>
              </a:solidFill>
              <a:latin typeface="Helvetica Neue"/>
              <a:ea typeface="Helvetica Neue"/>
              <a:cs typeface="Helvetica Neue"/>
              <a:sym typeface="Helvetica Neue"/>
            </a:endParaRPr>
          </a:p>
        </p:txBody>
      </p:sp>
      <p:cxnSp>
        <p:nvCxnSpPr>
          <p:cNvPr id="188" name="Google Shape;188;g365ac9f83fe_1_0"/>
          <p:cNvCxnSpPr/>
          <p:nvPr/>
        </p:nvCxnSpPr>
        <p:spPr>
          <a:xfrm rot="10800000">
            <a:off x="6502400" y="1672812"/>
            <a:ext cx="0" cy="6408000"/>
          </a:xfrm>
          <a:prstGeom prst="straightConnector1">
            <a:avLst/>
          </a:prstGeom>
          <a:noFill/>
          <a:ln cap="flat" cmpd="sng" w="25400">
            <a:solidFill>
              <a:srgbClr val="000000"/>
            </a:solidFill>
            <a:prstDash val="solid"/>
            <a:miter lim="400000"/>
            <a:headEnd len="sm" w="sm" type="none"/>
            <a:tailEnd len="sm" w="sm" type="none"/>
          </a:ln>
        </p:spPr>
      </p:cxnSp>
      <p:sp>
        <p:nvSpPr>
          <p:cNvPr id="189" name="Google Shape;189;g365ac9f83fe_1_0"/>
          <p:cNvSpPr txBox="1"/>
          <p:nvPr/>
        </p:nvSpPr>
        <p:spPr>
          <a:xfrm>
            <a:off x="7261390" y="1845922"/>
            <a:ext cx="4740000" cy="1396500"/>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72B842"/>
              </a:buClr>
              <a:buSzPts val="3900"/>
              <a:buFont typeface="Helvetica Neue"/>
              <a:buNone/>
            </a:pPr>
            <a:r>
              <a:rPr b="0" i="1" lang="en-US" sz="3900" u="none" cap="none" strike="noStrike">
                <a:solidFill>
                  <a:srgbClr val="CCCCCC"/>
                </a:solidFill>
                <a:latin typeface="Helvetica Neue"/>
                <a:ea typeface="Helvetica Neue"/>
                <a:cs typeface="Helvetica Neue"/>
                <a:sym typeface="Helvetica Neue"/>
              </a:rPr>
              <a:t>       (INSIGHTS)</a:t>
            </a:r>
            <a:endParaRPr b="0" i="1" sz="1400" u="none" cap="none" strike="noStrike">
              <a:solidFill>
                <a:srgbClr val="CCCCCC"/>
              </a:solidFill>
              <a:latin typeface="Helvetica Neue"/>
              <a:ea typeface="Helvetica Neue"/>
              <a:cs typeface="Helvetica Neue"/>
              <a:sym typeface="Helvetica Neue"/>
            </a:endParaRPr>
          </a:p>
        </p:txBody>
      </p:sp>
      <p:pic>
        <p:nvPicPr>
          <p:cNvPr descr="EA11.png" id="190" name="Google Shape;190;g365ac9f83fe_1_0"/>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191" name="Google Shape;191;g365ac9f83fe_1_0"/>
          <p:cNvSpPr txBox="1"/>
          <p:nvPr/>
        </p:nvSpPr>
        <p:spPr>
          <a:xfrm>
            <a:off x="726751" y="1251509"/>
            <a:ext cx="4740000" cy="13965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72B843"/>
              </a:buClr>
              <a:buSzPts val="3900"/>
              <a:buFont typeface="Helvetica Neue"/>
              <a:buNone/>
            </a:pPr>
            <a:r>
              <a:rPr b="0" i="0" lang="en-US" sz="3900" u="none" cap="none" strike="noStrike">
                <a:solidFill>
                  <a:schemeClr val="accent1"/>
                </a:solidFill>
                <a:latin typeface="Helvetica Neue"/>
                <a:ea typeface="Helvetica Neue"/>
                <a:cs typeface="Helvetica Neue"/>
                <a:sym typeface="Helvetica Neue"/>
              </a:rPr>
              <a:t>HIPÓTESIS</a:t>
            </a:r>
            <a:endParaRPr b="0" i="0" sz="1400" u="none" cap="none" strike="noStrike">
              <a:solidFill>
                <a:schemeClr val="accent1"/>
              </a:solidFill>
              <a:latin typeface="Helvetica Neue"/>
              <a:ea typeface="Helvetica Neue"/>
              <a:cs typeface="Helvetica Neue"/>
              <a:sym typeface="Helvetica Neue"/>
            </a:endParaRPr>
          </a:p>
        </p:txBody>
      </p:sp>
      <p:sp>
        <p:nvSpPr>
          <p:cNvPr id="192" name="Google Shape;192;g365ac9f83fe_1_0"/>
          <p:cNvSpPr txBox="1"/>
          <p:nvPr/>
        </p:nvSpPr>
        <p:spPr>
          <a:xfrm>
            <a:off x="444950" y="2511125"/>
            <a:ext cx="5311500" cy="6542400"/>
          </a:xfrm>
          <a:prstGeom prst="rect">
            <a:avLst/>
          </a:prstGeom>
          <a:noFill/>
          <a:ln>
            <a:noFill/>
          </a:ln>
        </p:spPr>
        <p:txBody>
          <a:bodyPr anchorCtr="0" anchor="ctr" bIns="50800" lIns="50800" spcFirstLastPara="1" rIns="50800" wrap="square" tIns="50800">
            <a:noAutofit/>
          </a:bodyPr>
          <a:lstStyle/>
          <a:p>
            <a:pPr indent="-330200" lvl="0" marL="457200" marR="0" rtl="0" algn="just">
              <a:lnSpc>
                <a:spcPct val="100000"/>
              </a:lnSpc>
              <a:spcBef>
                <a:spcPts val="0"/>
              </a:spcBef>
              <a:spcAft>
                <a:spcPts val="0"/>
              </a:spcAft>
              <a:buClr>
                <a:srgbClr val="5E5E5E"/>
              </a:buClr>
              <a:buSzPts val="1600"/>
              <a:buFont typeface="Helvetica Neue"/>
              <a:buChar char="●"/>
            </a:pPr>
            <a:r>
              <a:rPr lang="en-US" sz="1600">
                <a:solidFill>
                  <a:srgbClr val="5E5E5E"/>
                </a:solidFill>
                <a:latin typeface="Helvetica Neue"/>
                <a:ea typeface="Helvetica Neue"/>
                <a:cs typeface="Helvetica Neue"/>
                <a:sym typeface="Helvetica Neue"/>
              </a:rPr>
              <a:t>Las personas no </a:t>
            </a:r>
            <a:r>
              <a:rPr lang="en-US" sz="1600">
                <a:solidFill>
                  <a:srgbClr val="5E5E5E"/>
                </a:solidFill>
                <a:latin typeface="Helvetica Neue"/>
                <a:ea typeface="Helvetica Neue"/>
                <a:cs typeface="Helvetica Neue"/>
                <a:sym typeface="Helvetica Neue"/>
              </a:rPr>
              <a:t>diferencian</a:t>
            </a:r>
            <a:r>
              <a:rPr lang="en-US" sz="1600">
                <a:solidFill>
                  <a:srgbClr val="5E5E5E"/>
                </a:solidFill>
                <a:latin typeface="Helvetica Neue"/>
                <a:ea typeface="Helvetica Neue"/>
                <a:cs typeface="Helvetica Neue"/>
                <a:sym typeface="Helvetica Neue"/>
              </a:rPr>
              <a:t> </a:t>
            </a:r>
            <a:r>
              <a:rPr lang="en-US" sz="1600">
                <a:solidFill>
                  <a:srgbClr val="5E5E5E"/>
                </a:solidFill>
                <a:latin typeface="Helvetica Neue"/>
                <a:ea typeface="Helvetica Neue"/>
                <a:cs typeface="Helvetica Neue"/>
                <a:sym typeface="Helvetica Neue"/>
              </a:rPr>
              <a:t>fácilmente</a:t>
            </a:r>
            <a:r>
              <a:rPr lang="en-US" sz="1600">
                <a:solidFill>
                  <a:srgbClr val="5E5E5E"/>
                </a:solidFill>
                <a:latin typeface="Helvetica Neue"/>
                <a:ea typeface="Helvetica Neue"/>
                <a:cs typeface="Helvetica Neue"/>
                <a:sym typeface="Helvetica Neue"/>
              </a:rPr>
              <a:t> entre lo </a:t>
            </a:r>
            <a:r>
              <a:rPr lang="en-US" sz="1600">
                <a:solidFill>
                  <a:srgbClr val="5E5E5E"/>
                </a:solidFill>
                <a:latin typeface="Helvetica Neue"/>
                <a:ea typeface="Helvetica Neue"/>
                <a:cs typeface="Helvetica Neue"/>
                <a:sym typeface="Helvetica Neue"/>
              </a:rPr>
              <a:t>esencial</a:t>
            </a:r>
            <a:r>
              <a:rPr lang="en-US" sz="1600">
                <a:solidFill>
                  <a:srgbClr val="5E5E5E"/>
                </a:solidFill>
                <a:latin typeface="Helvetica Neue"/>
                <a:ea typeface="Helvetica Neue"/>
                <a:cs typeface="Helvetica Neue"/>
                <a:sym typeface="Helvetica Neue"/>
              </a:rPr>
              <a:t> en </a:t>
            </a:r>
            <a:r>
              <a:rPr lang="en-US" sz="1600">
                <a:solidFill>
                  <a:srgbClr val="5E5E5E"/>
                </a:solidFill>
                <a:latin typeface="Helvetica Neue"/>
                <a:ea typeface="Helvetica Neue"/>
                <a:cs typeface="Helvetica Neue"/>
                <a:sym typeface="Helvetica Neue"/>
              </a:rPr>
              <a:t>relación</a:t>
            </a:r>
            <a:r>
              <a:rPr lang="en-US" sz="1600">
                <a:solidFill>
                  <a:srgbClr val="5E5E5E"/>
                </a:solidFill>
                <a:latin typeface="Helvetica Neue"/>
                <a:ea typeface="Helvetica Neue"/>
                <a:cs typeface="Helvetica Neue"/>
                <a:sym typeface="Helvetica Neue"/>
              </a:rPr>
              <a:t> a lo que eligen transportar en sus bolsos. </a:t>
            </a:r>
            <a:endParaRPr sz="1600">
              <a:solidFill>
                <a:srgbClr val="5E5E5E"/>
              </a:solidFill>
              <a:latin typeface="Helvetica Neue"/>
              <a:ea typeface="Helvetica Neue"/>
              <a:cs typeface="Helvetica Neue"/>
              <a:sym typeface="Helvetica Neue"/>
            </a:endParaRPr>
          </a:p>
          <a:p>
            <a:pPr indent="0" lvl="0" marL="457200" marR="0" rtl="0" algn="just">
              <a:lnSpc>
                <a:spcPct val="100000"/>
              </a:lnSpc>
              <a:spcBef>
                <a:spcPts val="0"/>
              </a:spcBef>
              <a:spcAft>
                <a:spcPts val="0"/>
              </a:spcAft>
              <a:buNone/>
            </a:pPr>
            <a:r>
              <a:t/>
            </a:r>
            <a:endParaRPr sz="1600">
              <a:solidFill>
                <a:srgbClr val="5E5E5E"/>
              </a:solidFill>
              <a:latin typeface="Helvetica Neue"/>
              <a:ea typeface="Helvetica Neue"/>
              <a:cs typeface="Helvetica Neue"/>
              <a:sym typeface="Helvetica Neue"/>
            </a:endParaRPr>
          </a:p>
          <a:p>
            <a:pPr indent="-330200" lvl="0" marL="457200" marR="0" rtl="0" algn="just">
              <a:lnSpc>
                <a:spcPct val="100000"/>
              </a:lnSpc>
              <a:spcBef>
                <a:spcPts val="0"/>
              </a:spcBef>
              <a:spcAft>
                <a:spcPts val="0"/>
              </a:spcAft>
              <a:buClr>
                <a:srgbClr val="5E5E5E"/>
              </a:buClr>
              <a:buSzPts val="1600"/>
              <a:buFont typeface="Helvetica Neue"/>
              <a:buChar char="●"/>
            </a:pPr>
            <a:r>
              <a:rPr lang="en-US" sz="1600">
                <a:solidFill>
                  <a:srgbClr val="5E5E5E"/>
                </a:solidFill>
                <a:latin typeface="Helvetica Neue"/>
                <a:ea typeface="Helvetica Neue"/>
                <a:cs typeface="Helvetica Neue"/>
                <a:sym typeface="Helvetica Neue"/>
              </a:rPr>
              <a:t>Los estudiantes que organizan su </a:t>
            </a:r>
            <a:r>
              <a:rPr lang="en-US" sz="1600">
                <a:solidFill>
                  <a:srgbClr val="5E5E5E"/>
                </a:solidFill>
                <a:latin typeface="Helvetica Neue"/>
                <a:ea typeface="Helvetica Neue"/>
                <a:cs typeface="Helvetica Neue"/>
                <a:sym typeface="Helvetica Neue"/>
              </a:rPr>
              <a:t>material</a:t>
            </a:r>
            <a:r>
              <a:rPr lang="en-US" sz="1600">
                <a:solidFill>
                  <a:srgbClr val="5E5E5E"/>
                </a:solidFill>
                <a:latin typeface="Helvetica Neue"/>
                <a:ea typeface="Helvetica Neue"/>
                <a:cs typeface="Helvetica Neue"/>
                <a:sym typeface="Helvetica Neue"/>
              </a:rPr>
              <a:t> </a:t>
            </a:r>
            <a:r>
              <a:rPr lang="en-US" sz="1600">
                <a:solidFill>
                  <a:srgbClr val="5E5E5E"/>
                </a:solidFill>
                <a:latin typeface="Helvetica Neue"/>
                <a:ea typeface="Helvetica Neue"/>
                <a:cs typeface="Helvetica Neue"/>
                <a:sym typeface="Helvetica Neue"/>
              </a:rPr>
              <a:t>académico</a:t>
            </a:r>
            <a:r>
              <a:rPr lang="en-US" sz="1600">
                <a:solidFill>
                  <a:srgbClr val="5E5E5E"/>
                </a:solidFill>
                <a:latin typeface="Helvetica Neue"/>
                <a:ea typeface="Helvetica Neue"/>
                <a:cs typeface="Helvetica Neue"/>
                <a:sym typeface="Helvetica Neue"/>
              </a:rPr>
              <a:t> en </a:t>
            </a:r>
            <a:r>
              <a:rPr lang="en-US" sz="1600">
                <a:solidFill>
                  <a:srgbClr val="5E5E5E"/>
                </a:solidFill>
                <a:latin typeface="Helvetica Neue"/>
                <a:ea typeface="Helvetica Neue"/>
                <a:cs typeface="Helvetica Neue"/>
                <a:sym typeface="Helvetica Neue"/>
              </a:rPr>
              <a:t>recursos</a:t>
            </a:r>
            <a:r>
              <a:rPr lang="en-US" sz="1600">
                <a:solidFill>
                  <a:srgbClr val="5E5E5E"/>
                </a:solidFill>
                <a:latin typeface="Helvetica Neue"/>
                <a:ea typeface="Helvetica Neue"/>
                <a:cs typeface="Helvetica Neue"/>
                <a:sym typeface="Helvetica Neue"/>
              </a:rPr>
              <a:t> </a:t>
            </a:r>
            <a:r>
              <a:rPr lang="en-US" sz="1600">
                <a:solidFill>
                  <a:srgbClr val="5E5E5E"/>
                </a:solidFill>
                <a:latin typeface="Helvetica Neue"/>
                <a:ea typeface="Helvetica Neue"/>
                <a:cs typeface="Helvetica Neue"/>
                <a:sym typeface="Helvetica Neue"/>
              </a:rPr>
              <a:t>electrónicos</a:t>
            </a:r>
            <a:r>
              <a:rPr lang="en-US" sz="1600">
                <a:solidFill>
                  <a:srgbClr val="5E5E5E"/>
                </a:solidFill>
                <a:latin typeface="Helvetica Neue"/>
                <a:ea typeface="Helvetica Neue"/>
                <a:cs typeface="Helvetica Neue"/>
                <a:sym typeface="Helvetica Neue"/>
              </a:rPr>
              <a:t> (ipad, computador) tienden a ser </a:t>
            </a:r>
            <a:r>
              <a:rPr lang="en-US" sz="1600">
                <a:solidFill>
                  <a:srgbClr val="5E5E5E"/>
                </a:solidFill>
                <a:latin typeface="Helvetica Neue"/>
                <a:ea typeface="Helvetica Neue"/>
                <a:cs typeface="Helvetica Neue"/>
                <a:sym typeface="Helvetica Neue"/>
              </a:rPr>
              <a:t>más</a:t>
            </a:r>
            <a:r>
              <a:rPr lang="en-US" sz="1600">
                <a:solidFill>
                  <a:srgbClr val="5E5E5E"/>
                </a:solidFill>
                <a:latin typeface="Helvetica Neue"/>
                <a:ea typeface="Helvetica Neue"/>
                <a:cs typeface="Helvetica Neue"/>
                <a:sym typeface="Helvetica Neue"/>
              </a:rPr>
              <a:t> ordenados que los que usan recursos materiales (cuadernos y </a:t>
            </a:r>
            <a:r>
              <a:rPr lang="en-US" sz="1600">
                <a:solidFill>
                  <a:srgbClr val="5E5E5E"/>
                </a:solidFill>
                <a:latin typeface="Helvetica Neue"/>
                <a:ea typeface="Helvetica Neue"/>
                <a:cs typeface="Helvetica Neue"/>
                <a:sym typeface="Helvetica Neue"/>
              </a:rPr>
              <a:t>lápices</a:t>
            </a:r>
            <a:r>
              <a:rPr lang="en-US" sz="1600">
                <a:solidFill>
                  <a:srgbClr val="5E5E5E"/>
                </a:solidFill>
                <a:latin typeface="Helvetica Neue"/>
                <a:ea typeface="Helvetica Neue"/>
                <a:cs typeface="Helvetica Neue"/>
                <a:sym typeface="Helvetica Neue"/>
              </a:rPr>
              <a:t>)</a:t>
            </a:r>
            <a:endParaRPr sz="1600">
              <a:solidFill>
                <a:srgbClr val="5E5E5E"/>
              </a:solidFill>
              <a:latin typeface="Helvetica Neue"/>
              <a:ea typeface="Helvetica Neue"/>
              <a:cs typeface="Helvetica Neue"/>
              <a:sym typeface="Helvetica Neue"/>
            </a:endParaRPr>
          </a:p>
          <a:p>
            <a:pPr indent="0" lvl="0" marL="457200" marR="0" rtl="0" algn="just">
              <a:lnSpc>
                <a:spcPct val="100000"/>
              </a:lnSpc>
              <a:spcBef>
                <a:spcPts val="0"/>
              </a:spcBef>
              <a:spcAft>
                <a:spcPts val="0"/>
              </a:spcAft>
              <a:buNone/>
            </a:pPr>
            <a:r>
              <a:t/>
            </a:r>
            <a:endParaRPr sz="1600">
              <a:solidFill>
                <a:srgbClr val="5E5E5E"/>
              </a:solidFill>
              <a:latin typeface="Helvetica Neue"/>
              <a:ea typeface="Helvetica Neue"/>
              <a:cs typeface="Helvetica Neue"/>
              <a:sym typeface="Helvetica Neue"/>
            </a:endParaRPr>
          </a:p>
          <a:p>
            <a:pPr indent="-330200" lvl="0" marL="457200" marR="0" rtl="0" algn="just">
              <a:lnSpc>
                <a:spcPct val="100000"/>
              </a:lnSpc>
              <a:spcBef>
                <a:spcPts val="0"/>
              </a:spcBef>
              <a:spcAft>
                <a:spcPts val="0"/>
              </a:spcAft>
              <a:buClr>
                <a:srgbClr val="5E5E5E"/>
              </a:buClr>
              <a:buSzPts val="1600"/>
              <a:buFont typeface="Helvetica Neue"/>
              <a:buChar char="●"/>
            </a:pPr>
            <a:r>
              <a:rPr lang="en-US" sz="1600">
                <a:solidFill>
                  <a:srgbClr val="5E5E5E"/>
                </a:solidFill>
                <a:latin typeface="Helvetica Neue"/>
                <a:ea typeface="Helvetica Neue"/>
                <a:cs typeface="Helvetica Neue"/>
                <a:sym typeface="Helvetica Neue"/>
              </a:rPr>
              <a:t>Un mayor nivel de </a:t>
            </a:r>
            <a:r>
              <a:rPr lang="en-US" sz="1600">
                <a:solidFill>
                  <a:srgbClr val="5E5E5E"/>
                </a:solidFill>
                <a:latin typeface="Helvetica Neue"/>
                <a:ea typeface="Helvetica Neue"/>
                <a:cs typeface="Helvetica Neue"/>
                <a:sym typeface="Helvetica Neue"/>
              </a:rPr>
              <a:t>organización</a:t>
            </a:r>
            <a:r>
              <a:rPr lang="en-US" sz="1600">
                <a:solidFill>
                  <a:srgbClr val="5E5E5E"/>
                </a:solidFill>
                <a:latin typeface="Helvetica Neue"/>
                <a:ea typeface="Helvetica Neue"/>
                <a:cs typeface="Helvetica Neue"/>
                <a:sym typeface="Helvetica Neue"/>
              </a:rPr>
              <a:t> en los materiales usados para el estudio (apuntes ordenados) repercute en un mayor rendimiento </a:t>
            </a:r>
            <a:r>
              <a:rPr lang="en-US" sz="1600">
                <a:solidFill>
                  <a:srgbClr val="5E5E5E"/>
                </a:solidFill>
                <a:latin typeface="Helvetica Neue"/>
                <a:ea typeface="Helvetica Neue"/>
                <a:cs typeface="Helvetica Neue"/>
                <a:sym typeface="Helvetica Neue"/>
              </a:rPr>
              <a:t>académico</a:t>
            </a:r>
            <a:r>
              <a:rPr lang="en-US" sz="1600">
                <a:solidFill>
                  <a:srgbClr val="5E5E5E"/>
                </a:solidFill>
                <a:latin typeface="Helvetica Neue"/>
                <a:ea typeface="Helvetica Neue"/>
                <a:cs typeface="Helvetica Neue"/>
                <a:sym typeface="Helvetica Neue"/>
              </a:rPr>
              <a:t> en los alumnos. . </a:t>
            </a:r>
            <a:endParaRPr sz="16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330200" lvl="0" marL="457200" marR="0" rtl="0" algn="just">
              <a:lnSpc>
                <a:spcPct val="100000"/>
              </a:lnSpc>
              <a:spcBef>
                <a:spcPts val="0"/>
              </a:spcBef>
              <a:spcAft>
                <a:spcPts val="0"/>
              </a:spcAft>
              <a:buClr>
                <a:srgbClr val="5E5E5E"/>
              </a:buClr>
              <a:buSzPts val="1600"/>
              <a:buFont typeface="Helvetica Neue"/>
              <a:buChar char="●"/>
            </a:pPr>
            <a:r>
              <a:rPr lang="en-US" sz="1600">
                <a:solidFill>
                  <a:srgbClr val="5E5E5E"/>
                </a:solidFill>
                <a:latin typeface="Helvetica Neue"/>
                <a:ea typeface="Helvetica Neue"/>
                <a:cs typeface="Helvetica Neue"/>
                <a:sym typeface="Helvetica Neue"/>
              </a:rPr>
              <a:t>Los estudiantes que no tiene muy buena organización tienden a traer muchas cosas a la universidad para poder avanzar en lo que más puedan entre clases. </a:t>
            </a:r>
            <a:r>
              <a:rPr lang="en-US" sz="1600">
                <a:solidFill>
                  <a:srgbClr val="5E5E5E"/>
                </a:solidFill>
                <a:latin typeface="Helvetica Neue"/>
                <a:ea typeface="Helvetica Neue"/>
                <a:cs typeface="Helvetica Neue"/>
                <a:sym typeface="Helvetica Neue"/>
              </a:rPr>
              <a:t> </a:t>
            </a:r>
            <a:endParaRPr sz="16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None/>
            </a:pPr>
            <a:r>
              <a:t/>
            </a:r>
            <a:endParaRPr sz="1600">
              <a:solidFill>
                <a:srgbClr val="5E5E5E"/>
              </a:solidFill>
              <a:latin typeface="Helvetica Neue"/>
              <a:ea typeface="Helvetica Neue"/>
              <a:cs typeface="Helvetica Neue"/>
              <a:sym typeface="Helvetica Neue"/>
            </a:endParaRPr>
          </a:p>
          <a:p>
            <a:pPr indent="-330200" lvl="0" marL="457200" marR="0" rtl="0" algn="just">
              <a:lnSpc>
                <a:spcPct val="100000"/>
              </a:lnSpc>
              <a:spcBef>
                <a:spcPts val="0"/>
              </a:spcBef>
              <a:spcAft>
                <a:spcPts val="0"/>
              </a:spcAft>
              <a:buClr>
                <a:srgbClr val="5E5E5E"/>
              </a:buClr>
              <a:buSzPts val="1600"/>
              <a:buFont typeface="Helvetica Neue"/>
              <a:buChar char="●"/>
            </a:pPr>
            <a:r>
              <a:rPr lang="en-US" sz="1600">
                <a:solidFill>
                  <a:srgbClr val="5E5E5E"/>
                </a:solidFill>
                <a:latin typeface="Helvetica Neue"/>
                <a:ea typeface="Helvetica Neue"/>
                <a:cs typeface="Helvetica Neue"/>
                <a:sym typeface="Helvetica Neue"/>
              </a:rPr>
              <a:t>La duración de la jornada </a:t>
            </a:r>
            <a:r>
              <a:rPr lang="en-US" sz="1600">
                <a:solidFill>
                  <a:srgbClr val="5E5E5E"/>
                </a:solidFill>
                <a:latin typeface="Helvetica Neue"/>
                <a:ea typeface="Helvetica Neue"/>
                <a:cs typeface="Helvetica Neue"/>
                <a:sym typeface="Helvetica Neue"/>
              </a:rPr>
              <a:t>académica</a:t>
            </a:r>
            <a:r>
              <a:rPr lang="en-US" sz="1600">
                <a:solidFill>
                  <a:srgbClr val="5E5E5E"/>
                </a:solidFill>
                <a:latin typeface="Helvetica Neue"/>
                <a:ea typeface="Helvetica Neue"/>
                <a:cs typeface="Helvetica Neue"/>
                <a:sym typeface="Helvetica Neue"/>
              </a:rPr>
              <a:t> puede tener un efecto negativo en la organización del material </a:t>
            </a:r>
            <a:r>
              <a:rPr lang="en-US" sz="1600">
                <a:solidFill>
                  <a:srgbClr val="5E5E5E"/>
                </a:solidFill>
                <a:latin typeface="Helvetica Neue"/>
                <a:ea typeface="Helvetica Neue"/>
                <a:cs typeface="Helvetica Neue"/>
                <a:sym typeface="Helvetica Neue"/>
              </a:rPr>
              <a:t>académico</a:t>
            </a:r>
            <a:r>
              <a:rPr lang="en-US" sz="1600">
                <a:solidFill>
                  <a:srgbClr val="5E5E5E"/>
                </a:solidFill>
                <a:latin typeface="Helvetica Neue"/>
                <a:ea typeface="Helvetica Neue"/>
                <a:cs typeface="Helvetica Neue"/>
                <a:sym typeface="Helvetica Neue"/>
              </a:rPr>
              <a:t> ya que aumenta la cantidad de objetos que deben traer o </a:t>
            </a:r>
            <a:r>
              <a:rPr lang="en-US" sz="1600">
                <a:solidFill>
                  <a:srgbClr val="5E5E5E"/>
                </a:solidFill>
                <a:latin typeface="Helvetica Neue"/>
                <a:ea typeface="Helvetica Neue"/>
                <a:cs typeface="Helvetica Neue"/>
                <a:sym typeface="Helvetica Neue"/>
              </a:rPr>
              <a:t>transportar</a:t>
            </a:r>
            <a:r>
              <a:rPr lang="en-US" sz="1600">
                <a:solidFill>
                  <a:srgbClr val="5E5E5E"/>
                </a:solidFill>
                <a:latin typeface="Helvetica Neue"/>
                <a:ea typeface="Helvetica Neue"/>
                <a:cs typeface="Helvetica Neue"/>
                <a:sym typeface="Helvetica Neue"/>
              </a:rPr>
              <a:t>.</a:t>
            </a:r>
            <a:endParaRPr sz="1600">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93" name="Google Shape;193;g365ac9f83fe_1_0"/>
          <p:cNvSpPr txBox="1"/>
          <p:nvPr/>
        </p:nvSpPr>
        <p:spPr>
          <a:xfrm>
            <a:off x="7123400" y="4414600"/>
            <a:ext cx="4878000" cy="60180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Clr>
                <a:schemeClr val="dk1"/>
              </a:buClr>
              <a:buSzPts val="1600"/>
              <a:buFont typeface="Helvetica Neue"/>
              <a:buNone/>
            </a:pPr>
            <a:r>
              <a:t/>
            </a:r>
            <a:endParaRPr sz="1600">
              <a:solidFill>
                <a:schemeClr val="dk1"/>
              </a:solidFill>
              <a:latin typeface="Helvetica Neue"/>
              <a:ea typeface="Helvetica Neue"/>
              <a:cs typeface="Helvetica Neue"/>
              <a:sym typeface="Helvetica Neue"/>
            </a:endParaRPr>
          </a:p>
          <a:p>
            <a:pPr indent="-330200" lvl="0" marL="457200" rtl="0" algn="just">
              <a:spcBef>
                <a:spcPts val="0"/>
              </a:spcBef>
              <a:spcAft>
                <a:spcPts val="0"/>
              </a:spcAft>
              <a:buClr>
                <a:schemeClr val="dk1"/>
              </a:buClr>
              <a:buSzPts val="1600"/>
              <a:buFont typeface="Helvetica Neue"/>
              <a:buChar char="●"/>
            </a:pPr>
            <a:r>
              <a:rPr lang="en-US" sz="1600">
                <a:solidFill>
                  <a:schemeClr val="dk1"/>
                </a:solidFill>
                <a:latin typeface="Helvetica Neue"/>
                <a:ea typeface="Helvetica Neue"/>
                <a:cs typeface="Helvetica Neue"/>
                <a:sym typeface="Helvetica Neue"/>
              </a:rPr>
              <a:t>Nos dimos cuenta de que las personas no diferencian entre lo esencial y lo accesorio.</a:t>
            </a:r>
            <a:endParaRPr sz="1600">
              <a:solidFill>
                <a:schemeClr val="dk1"/>
              </a:solidFill>
              <a:latin typeface="Helvetica Neue"/>
              <a:ea typeface="Helvetica Neue"/>
              <a:cs typeface="Helvetica Neue"/>
              <a:sym typeface="Helvetica Neue"/>
            </a:endParaRPr>
          </a:p>
          <a:p>
            <a:pPr indent="0" lvl="0" marL="914400" rtl="0" algn="just">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330200" lvl="0" marL="457200" rtl="0" algn="just">
              <a:spcBef>
                <a:spcPts val="0"/>
              </a:spcBef>
              <a:spcAft>
                <a:spcPts val="0"/>
              </a:spcAft>
              <a:buClr>
                <a:schemeClr val="dk1"/>
              </a:buClr>
              <a:buSzPts val="1600"/>
              <a:buFont typeface="Helvetica Neue"/>
              <a:buChar char="●"/>
            </a:pPr>
            <a:r>
              <a:rPr lang="en-US" sz="1600">
                <a:solidFill>
                  <a:schemeClr val="dk1"/>
                </a:solidFill>
                <a:latin typeface="Helvetica Neue"/>
                <a:ea typeface="Helvetica Neue"/>
                <a:cs typeface="Helvetica Neue"/>
                <a:sym typeface="Helvetica Neue"/>
              </a:rPr>
              <a:t>Existe una relación entre desorganización y sobrecarga. Como no hay claridad sobre lo necesario, se tiende a "traer todo por si acaso"</a:t>
            </a:r>
            <a:endParaRPr sz="1600">
              <a:solidFill>
                <a:schemeClr val="dk1"/>
              </a:solidFill>
              <a:latin typeface="Helvetica Neue"/>
              <a:ea typeface="Helvetica Neue"/>
              <a:cs typeface="Helvetica Neue"/>
              <a:sym typeface="Helvetica Neue"/>
            </a:endParaRPr>
          </a:p>
          <a:p>
            <a:pPr indent="0" lvl="0" marL="914400" rtl="0" algn="just">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330200" lvl="0" marL="457200" rtl="0" algn="just">
              <a:spcBef>
                <a:spcPts val="0"/>
              </a:spcBef>
              <a:spcAft>
                <a:spcPts val="0"/>
              </a:spcAft>
              <a:buClr>
                <a:schemeClr val="dk1"/>
              </a:buClr>
              <a:buSzPts val="1600"/>
              <a:buFont typeface="Helvetica Neue"/>
              <a:buChar char="●"/>
            </a:pPr>
            <a:r>
              <a:rPr lang="en-US" sz="1600">
                <a:solidFill>
                  <a:schemeClr val="dk1"/>
                </a:solidFill>
                <a:latin typeface="Helvetica Neue"/>
                <a:ea typeface="Helvetica Neue"/>
                <a:cs typeface="Helvetica Neue"/>
                <a:sym typeface="Helvetica Neue"/>
              </a:rPr>
              <a:t>Cuando las jornadas son largas aumenta la necesidad de recursos (almuerzo, materiales para distintas asignaturas, ropa de cambio, etc.)</a:t>
            </a:r>
            <a:endParaRPr sz="1600">
              <a:solidFill>
                <a:schemeClr val="dk1"/>
              </a:solidFill>
              <a:latin typeface="Helvetica Neue"/>
              <a:ea typeface="Helvetica Neue"/>
              <a:cs typeface="Helvetica Neue"/>
              <a:sym typeface="Helvetica Neue"/>
            </a:endParaRPr>
          </a:p>
          <a:p>
            <a:pPr indent="0" lvl="0" marL="914400" rtl="0" algn="just">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330200" lvl="0" marL="457200" rtl="0" algn="just">
              <a:spcBef>
                <a:spcPts val="0"/>
              </a:spcBef>
              <a:spcAft>
                <a:spcPts val="0"/>
              </a:spcAft>
              <a:buClr>
                <a:schemeClr val="dk1"/>
              </a:buClr>
              <a:buSzPts val="1600"/>
              <a:buFont typeface="Helvetica Neue"/>
              <a:buChar char="●"/>
            </a:pPr>
            <a:r>
              <a:rPr lang="en-US" sz="1600">
                <a:solidFill>
                  <a:schemeClr val="dk1"/>
                </a:solidFill>
                <a:latin typeface="Helvetica Neue"/>
                <a:ea typeface="Helvetica Neue"/>
                <a:cs typeface="Helvetica Neue"/>
                <a:sym typeface="Helvetica Neue"/>
              </a:rPr>
              <a:t>Se puede inferir que la educación en organización y planificación podría tener un impacto positivo tanto en el bienestar físico como en el rendimiento de los estudiantes.</a:t>
            </a:r>
            <a:endParaRPr sz="1600">
              <a:solidFill>
                <a:schemeClr val="dk1"/>
              </a:solidFill>
              <a:latin typeface="Helvetica Neue"/>
              <a:ea typeface="Helvetica Neue"/>
              <a:cs typeface="Helvetica Neue"/>
              <a:sym typeface="Helvetica Neue"/>
            </a:endParaRPr>
          </a:p>
          <a:p>
            <a:pPr indent="0" lvl="0" marL="914400" rtl="0" algn="just">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330200" lvl="0" marL="457200" rtl="0" algn="just">
              <a:spcBef>
                <a:spcPts val="0"/>
              </a:spcBef>
              <a:spcAft>
                <a:spcPts val="0"/>
              </a:spcAft>
              <a:buClr>
                <a:schemeClr val="dk1"/>
              </a:buClr>
              <a:buSzPts val="1600"/>
              <a:buFont typeface="Helvetica Neue"/>
              <a:buChar char="●"/>
            </a:pPr>
            <a:r>
              <a:rPr lang="en-US" sz="1600">
                <a:solidFill>
                  <a:schemeClr val="dk1"/>
                </a:solidFill>
                <a:latin typeface="Helvetica Neue"/>
                <a:ea typeface="Helvetica Neue"/>
                <a:cs typeface="Helvetica Neue"/>
                <a:sym typeface="Helvetica Neue"/>
              </a:rPr>
              <a:t>La mayoría prefiere el uso de recursos digitales, lo que parece estar asociado a mejores niveles de organización. </a:t>
            </a:r>
            <a:endParaRPr sz="1600">
              <a:solidFill>
                <a:schemeClr val="dk1"/>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nvGrpSpPr>
          <p:cNvPr id="194" name="Google Shape;194;g365ac9f83fe_1_0"/>
          <p:cNvGrpSpPr/>
          <p:nvPr/>
        </p:nvGrpSpPr>
        <p:grpSpPr>
          <a:xfrm>
            <a:off x="1212905" y="8677287"/>
            <a:ext cx="10578927" cy="621000"/>
            <a:chOff x="0" y="0"/>
            <a:chExt cx="10578927" cy="621000"/>
          </a:xfrm>
        </p:grpSpPr>
        <p:cxnSp>
          <p:nvCxnSpPr>
            <p:cNvPr id="195" name="Google Shape;195;g365ac9f83fe_1_0"/>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196" name="Google Shape;196;g365ac9f83fe_1_0"/>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5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97" name="Google Shape;197;g365ac9f83fe_1_0"/>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5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98" name="Google Shape;198;g365ac9f83fe_1_0"/>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5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99" name="Google Shape;199;g365ac9f83fe_1_0"/>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5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00" name="Google Shape;200;g365ac9f83fe_1_0"/>
            <p:cNvSpPr/>
            <p:nvPr/>
          </p:nvSpPr>
          <p:spPr>
            <a:xfrm>
              <a:off x="2489481" y="0"/>
              <a:ext cx="621000" cy="621000"/>
            </a:xfrm>
            <a:prstGeom prst="ellipse">
              <a:avLst/>
            </a:prstGeom>
            <a:solidFill>
              <a:schemeClr val="lt1"/>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50"/>
                </a:srgbClr>
              </a:outerShdw>
            </a:effectLst>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grpSp>
        <p:nvGrpSpPr>
          <p:cNvPr id="205" name="Google Shape;205;g222a1aa99bd_0_30"/>
          <p:cNvGrpSpPr/>
          <p:nvPr/>
        </p:nvGrpSpPr>
        <p:grpSpPr>
          <a:xfrm>
            <a:off x="241323" y="141073"/>
            <a:ext cx="11970112" cy="9157214"/>
            <a:chOff x="241323" y="141073"/>
            <a:chExt cx="11970112" cy="9157214"/>
          </a:xfrm>
        </p:grpSpPr>
        <p:pic>
          <p:nvPicPr>
            <p:cNvPr descr="EA11.png" id="206" name="Google Shape;206;g222a1aa99bd_0_30"/>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207" name="Google Shape;207;g222a1aa99bd_0_30"/>
            <p:cNvSpPr txBox="1"/>
            <p:nvPr/>
          </p:nvSpPr>
          <p:spPr>
            <a:xfrm>
              <a:off x="793435" y="1522813"/>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ACTORES RELEVANTES</a:t>
              </a:r>
              <a:endParaRPr b="0" i="0" sz="1400" u="none" cap="none" strike="noStrike">
                <a:solidFill>
                  <a:srgbClr val="000000"/>
                </a:solidFill>
                <a:latin typeface="Helvetica Neue"/>
                <a:ea typeface="Helvetica Neue"/>
                <a:cs typeface="Helvetica Neue"/>
                <a:sym typeface="Helvetica Neue"/>
              </a:endParaRPr>
            </a:p>
          </p:txBody>
        </p:sp>
        <p:grpSp>
          <p:nvGrpSpPr>
            <p:cNvPr id="208" name="Google Shape;208;g222a1aa99bd_0_30"/>
            <p:cNvGrpSpPr/>
            <p:nvPr/>
          </p:nvGrpSpPr>
          <p:grpSpPr>
            <a:xfrm>
              <a:off x="1212905" y="8677287"/>
              <a:ext cx="10578927" cy="621000"/>
              <a:chOff x="0" y="0"/>
              <a:chExt cx="10578927" cy="621000"/>
            </a:xfrm>
          </p:grpSpPr>
          <p:cxnSp>
            <p:nvCxnSpPr>
              <p:cNvPr id="209" name="Google Shape;209;g222a1aa99bd_0_30"/>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210" name="Google Shape;210;g222a1aa99bd_0_30"/>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11" name="Google Shape;211;g222a1aa99bd_0_30"/>
              <p:cNvSpPr/>
              <p:nvPr/>
            </p:nvSpPr>
            <p:spPr>
              <a:xfrm>
                <a:off x="2489481"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12" name="Google Shape;212;g222a1aa99bd_0_30"/>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13" name="Google Shape;213;g222a1aa99bd_0_30"/>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14" name="Google Shape;214;g222a1aa99bd_0_30"/>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549"/>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grpSp>
      <p:sp>
        <p:nvSpPr>
          <p:cNvPr id="215" name="Google Shape;215;g222a1aa99bd_0_30"/>
          <p:cNvSpPr txBox="1"/>
          <p:nvPr/>
        </p:nvSpPr>
        <p:spPr>
          <a:xfrm>
            <a:off x="2476675" y="2678325"/>
            <a:ext cx="7499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latin typeface="Helvetica Neue"/>
                <a:ea typeface="Helvetica Neue"/>
                <a:cs typeface="Helvetica Neue"/>
                <a:sym typeface="Helvetica Neue"/>
              </a:rPr>
              <a:t>Usuario más afectado: Estudiantes y/o profesores.</a:t>
            </a:r>
            <a:endParaRPr sz="3000">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EA11.png" id="220" name="Google Shape;220;p9"/>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221" name="Google Shape;221;p9"/>
          <p:cNvSpPr txBox="1"/>
          <p:nvPr/>
        </p:nvSpPr>
        <p:spPr>
          <a:xfrm>
            <a:off x="685494" y="1522813"/>
            <a:ext cx="11525871" cy="684134"/>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OBSERVACIÓN SILENCIOSA</a:t>
            </a:r>
            <a:endParaRPr/>
          </a:p>
          <a:p>
            <a:pPr indent="0" lvl="0" marL="0" marR="0" rtl="0" algn="ctr">
              <a:lnSpc>
                <a:spcPct val="80000"/>
              </a:lnSpc>
              <a:spcBef>
                <a:spcPts val="0"/>
              </a:spcBef>
              <a:spcAft>
                <a:spcPts val="0"/>
              </a:spcAft>
              <a:buClr>
                <a:srgbClr val="3CA8F8"/>
              </a:buClr>
              <a:buSzPts val="3900"/>
              <a:buFont typeface="Helvetica Neue"/>
              <a:buNone/>
            </a:pPr>
            <a:r>
              <a:rPr b="0" i="1" lang="en-US" sz="3900" u="none" cap="none" strike="noStrike">
                <a:solidFill>
                  <a:srgbClr val="3CA8F8"/>
                </a:solidFill>
                <a:latin typeface="Helvetica Neue"/>
                <a:ea typeface="Helvetica Neue"/>
                <a:cs typeface="Helvetica Neue"/>
                <a:sym typeface="Helvetica Neue"/>
              </a:rPr>
              <a:t>(FLY ON THE WALL)</a:t>
            </a:r>
            <a:endParaRPr b="0" i="1" sz="1400" u="none" cap="none" strike="noStrike">
              <a:solidFill>
                <a:srgbClr val="000000"/>
              </a:solidFill>
              <a:latin typeface="Helvetica Neue"/>
              <a:ea typeface="Helvetica Neue"/>
              <a:cs typeface="Helvetica Neue"/>
              <a:sym typeface="Helvetica Neue"/>
            </a:endParaRPr>
          </a:p>
        </p:txBody>
      </p:sp>
      <p:sp>
        <p:nvSpPr>
          <p:cNvPr id="222" name="Google Shape;222;p9"/>
          <p:cNvSpPr txBox="1"/>
          <p:nvPr/>
        </p:nvSpPr>
        <p:spPr>
          <a:xfrm>
            <a:off x="685500" y="2923454"/>
            <a:ext cx="3552300" cy="2721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rPr b="1" i="0" lang="en-US" sz="1800" u="none" cap="none" strike="noStrike">
                <a:solidFill>
                  <a:srgbClr val="5E5E5E"/>
                </a:solidFill>
                <a:latin typeface="Helvetica Neue"/>
                <a:ea typeface="Helvetica Neue"/>
                <a:cs typeface="Helvetica Neue"/>
                <a:sym typeface="Helvetica Neue"/>
              </a:rPr>
              <a:t>Observaciones:</a:t>
            </a:r>
            <a:endParaRPr b="1" i="0" sz="18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Observamos a estudiantes portando sus mochilas con una postura corporal incorrecta.</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23" name="Google Shape;223;p9"/>
          <p:cNvSpPr txBox="1"/>
          <p:nvPr/>
        </p:nvSpPr>
        <p:spPr>
          <a:xfrm>
            <a:off x="685494" y="5712030"/>
            <a:ext cx="3087155" cy="2139545"/>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900"/>
              <a:buFont typeface="Helvetica Neue"/>
              <a:buNone/>
            </a:pPr>
            <a:r>
              <a:rPr b="0" i="0" lang="en-US" sz="1900" u="none" cap="none" strike="noStrike">
                <a:solidFill>
                  <a:srgbClr val="5E5E5E"/>
                </a:solidFill>
                <a:latin typeface="Helvetica Neue"/>
                <a:ea typeface="Helvetica Neue"/>
                <a:cs typeface="Helvetica Neue"/>
                <a:sym typeface="Helvetica Neue"/>
              </a:rPr>
              <a:t>Imágenes</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24" name="Google Shape;224;p9"/>
          <p:cNvSpPr txBox="1"/>
          <p:nvPr/>
        </p:nvSpPr>
        <p:spPr>
          <a:xfrm>
            <a:off x="4682505" y="5712030"/>
            <a:ext cx="3087155" cy="2051000"/>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Imágenes</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25" name="Google Shape;225;p9"/>
          <p:cNvSpPr txBox="1"/>
          <p:nvPr/>
        </p:nvSpPr>
        <p:spPr>
          <a:xfrm>
            <a:off x="8902779" y="5712030"/>
            <a:ext cx="3087155" cy="2051000"/>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Imágenes</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26" name="Google Shape;226;p9"/>
          <p:cNvSpPr txBox="1"/>
          <p:nvPr/>
        </p:nvSpPr>
        <p:spPr>
          <a:xfrm>
            <a:off x="4726200" y="2758575"/>
            <a:ext cx="3552300" cy="2886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rPr b="1" i="0" lang="en-US" sz="1800" u="none" cap="none" strike="noStrike">
                <a:solidFill>
                  <a:srgbClr val="5E5E5E"/>
                </a:solidFill>
                <a:latin typeface="Helvetica Neue"/>
                <a:ea typeface="Helvetica Neue"/>
                <a:cs typeface="Helvetica Neue"/>
                <a:sym typeface="Helvetica Neue"/>
              </a:rPr>
              <a:t>Observaciones:</a:t>
            </a:r>
            <a:endParaRPr b="1" i="0" sz="18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Observamos una tendencia de que en muchos de los casos los estudiantes tienen mochilas más grandes que ellos mismos.</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27" name="Google Shape;227;p9"/>
          <p:cNvSpPr txBox="1"/>
          <p:nvPr/>
        </p:nvSpPr>
        <p:spPr>
          <a:xfrm>
            <a:off x="8912850" y="2758349"/>
            <a:ext cx="3552300" cy="2886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rPr b="1" i="0" lang="en-US" sz="1800" u="none" cap="none" strike="noStrike">
                <a:solidFill>
                  <a:srgbClr val="5E5E5E"/>
                </a:solidFill>
                <a:latin typeface="Helvetica Neue"/>
                <a:ea typeface="Helvetica Neue"/>
                <a:cs typeface="Helvetica Neue"/>
                <a:sym typeface="Helvetica Neue"/>
              </a:rPr>
              <a:t>Observaciones:</a:t>
            </a:r>
            <a:endParaRPr b="1" i="0" sz="18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Observamos que cuando un estudiante saca algún elemento de su mochila, debe sacar en muchos casos, otros elementos hasta llegar a lo que busca sacar.</a:t>
            </a:r>
            <a:endParaRPr b="0" i="0" sz="1600" u="none" cap="none" strike="noStrike">
              <a:solidFill>
                <a:srgbClr val="5E5E5E"/>
              </a:solidFill>
              <a:latin typeface="Helvetica Neue"/>
              <a:ea typeface="Helvetica Neue"/>
              <a:cs typeface="Helvetica Neue"/>
              <a:sym typeface="Helvetica Neue"/>
            </a:endParaRPr>
          </a:p>
        </p:txBody>
      </p:sp>
      <p:grpSp>
        <p:nvGrpSpPr>
          <p:cNvPr id="228" name="Google Shape;228;p9"/>
          <p:cNvGrpSpPr/>
          <p:nvPr/>
        </p:nvGrpSpPr>
        <p:grpSpPr>
          <a:xfrm>
            <a:off x="1212905" y="8677287"/>
            <a:ext cx="10578992" cy="621064"/>
            <a:chOff x="0" y="0"/>
            <a:chExt cx="10578990" cy="621062"/>
          </a:xfrm>
        </p:grpSpPr>
        <p:cxnSp>
          <p:nvCxnSpPr>
            <p:cNvPr id="229" name="Google Shape;229;p9"/>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230" name="Google Shape;230;p9"/>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31" name="Google Shape;231;p9"/>
            <p:cNvSpPr/>
            <p:nvPr/>
          </p:nvSpPr>
          <p:spPr>
            <a:xfrm>
              <a:off x="2489481"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32" name="Google Shape;232;p9"/>
            <p:cNvSpPr/>
            <p:nvPr/>
          </p:nvSpPr>
          <p:spPr>
            <a:xfrm>
              <a:off x="4978963"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33" name="Google Shape;233;p9"/>
            <p:cNvSpPr/>
            <p:nvPr/>
          </p:nvSpPr>
          <p:spPr>
            <a:xfrm>
              <a:off x="7468444"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34" name="Google Shape;234;p9"/>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grpSp>
        <p:nvGrpSpPr>
          <p:cNvPr id="239" name="Google Shape;239;p6"/>
          <p:cNvGrpSpPr/>
          <p:nvPr/>
        </p:nvGrpSpPr>
        <p:grpSpPr>
          <a:xfrm>
            <a:off x="241323" y="141073"/>
            <a:ext cx="11970042" cy="9157278"/>
            <a:chOff x="241323" y="141073"/>
            <a:chExt cx="11970042" cy="9157278"/>
          </a:xfrm>
        </p:grpSpPr>
        <p:pic>
          <p:nvPicPr>
            <p:cNvPr descr="EA11.png" id="240" name="Google Shape;240;p6"/>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241" name="Google Shape;241;p6"/>
            <p:cNvSpPr txBox="1"/>
            <p:nvPr/>
          </p:nvSpPr>
          <p:spPr>
            <a:xfrm>
              <a:off x="793435" y="1379272"/>
              <a:ext cx="11417930" cy="684133"/>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TIPS ENTREVISTA EN PROFUNDIDAD </a:t>
              </a:r>
              <a:endParaRPr b="0" i="0" sz="1400" u="none" cap="none" strike="noStrike">
                <a:solidFill>
                  <a:srgbClr val="000000"/>
                </a:solidFill>
                <a:latin typeface="Helvetica Neue"/>
                <a:ea typeface="Helvetica Neue"/>
                <a:cs typeface="Helvetica Neue"/>
                <a:sym typeface="Helvetica Neue"/>
              </a:endParaRPr>
            </a:p>
          </p:txBody>
        </p:sp>
        <p:sp>
          <p:nvSpPr>
            <p:cNvPr id="242" name="Google Shape;242;p6"/>
            <p:cNvSpPr txBox="1"/>
            <p:nvPr/>
          </p:nvSpPr>
          <p:spPr>
            <a:xfrm>
              <a:off x="1442825" y="2925452"/>
              <a:ext cx="10119300" cy="5443800"/>
            </a:xfrm>
            <a:prstGeom prst="rect">
              <a:avLst/>
            </a:prstGeom>
            <a:noFill/>
            <a:ln>
              <a:noFill/>
            </a:ln>
          </p:spPr>
          <p:txBody>
            <a:bodyPr anchorCtr="0" anchor="ctr" bIns="50800" lIns="50800" spcFirstLastPara="1" rIns="50800" wrap="square" tIns="50800">
              <a:normAutofit/>
            </a:bodyPr>
            <a:lstStyle/>
            <a:p>
              <a:pPr indent="-387350" lvl="0" marL="457200" marR="0" rtl="0" algn="l">
                <a:lnSpc>
                  <a:spcPct val="100000"/>
                </a:lnSpc>
                <a:spcBef>
                  <a:spcPts val="0"/>
                </a:spcBef>
                <a:spcAft>
                  <a:spcPts val="0"/>
                </a:spcAft>
                <a:buClr>
                  <a:srgbClr val="5E5E5E"/>
                </a:buClr>
                <a:buSzPts val="2500"/>
                <a:buFont typeface="Nunito"/>
                <a:buChar char="●"/>
              </a:pPr>
              <a:r>
                <a:rPr b="0" i="0" lang="en-US" sz="2500" u="none" cap="none" strike="noStrike">
                  <a:solidFill>
                    <a:srgbClr val="5E5E5E"/>
                  </a:solidFill>
                  <a:latin typeface="Helvetica Neue"/>
                  <a:ea typeface="Helvetica Neue"/>
                  <a:cs typeface="Helvetica Neue"/>
                  <a:sym typeface="Helvetica Neue"/>
                </a:rPr>
                <a:t>Arma las entrevistas a partir de las </a:t>
              </a:r>
              <a:r>
                <a:rPr b="0" i="0" lang="en-US" sz="2500" u="sng" cap="none" strike="noStrike">
                  <a:solidFill>
                    <a:srgbClr val="5E5E5E"/>
                  </a:solidFill>
                  <a:latin typeface="Helvetica Neue"/>
                  <a:ea typeface="Helvetica Neue"/>
                  <a:cs typeface="Helvetica Neue"/>
                  <a:sym typeface="Helvetica Neue"/>
                </a:rPr>
                <a:t>hipótesis o supuestos </a:t>
              </a:r>
              <a:r>
                <a:rPr b="0" i="0" lang="en-US" sz="2500" u="none" cap="none" strike="noStrike">
                  <a:solidFill>
                    <a:srgbClr val="5E5E5E"/>
                  </a:solidFill>
                  <a:latin typeface="Helvetica Neue"/>
                  <a:ea typeface="Helvetica Neue"/>
                  <a:cs typeface="Helvetica Neue"/>
                  <a:sym typeface="Helvetica Neue"/>
                </a:rPr>
                <a:t>que tengas del problema que vas a abordar</a:t>
              </a:r>
              <a:endParaRPr b="0" i="0" sz="2500" u="none" cap="none" strike="noStrike">
                <a:solidFill>
                  <a:srgbClr val="5E5E5E"/>
                </a:solidFill>
                <a:latin typeface="Helvetica Neue"/>
                <a:ea typeface="Helvetica Neue"/>
                <a:cs typeface="Helvetica Neue"/>
                <a:sym typeface="Helvetica Neue"/>
              </a:endParaRPr>
            </a:p>
            <a:p>
              <a:pPr indent="-387350" lvl="0" marL="457200" marR="0" rtl="0" algn="l">
                <a:lnSpc>
                  <a:spcPct val="100000"/>
                </a:lnSpc>
                <a:spcBef>
                  <a:spcPts val="0"/>
                </a:spcBef>
                <a:spcAft>
                  <a:spcPts val="0"/>
                </a:spcAft>
                <a:buClr>
                  <a:srgbClr val="5E5E5E"/>
                </a:buClr>
                <a:buSzPts val="2500"/>
                <a:buFont typeface="Nunito"/>
                <a:buChar char="●"/>
              </a:pPr>
              <a:r>
                <a:rPr b="0" i="0" lang="en-US" sz="2500" u="none" cap="none" strike="noStrike">
                  <a:solidFill>
                    <a:srgbClr val="5E5E5E"/>
                  </a:solidFill>
                  <a:latin typeface="Helvetica Neue"/>
                  <a:ea typeface="Helvetica Neue"/>
                  <a:cs typeface="Helvetica Neue"/>
                  <a:sym typeface="Helvetica Neue"/>
                </a:rPr>
                <a:t>Pregunta por qué</a:t>
              </a:r>
              <a:endParaRPr b="0" i="0" sz="1400" u="none" cap="none" strike="noStrike">
                <a:solidFill>
                  <a:srgbClr val="000000"/>
                </a:solidFill>
                <a:latin typeface="Helvetica Neue"/>
                <a:ea typeface="Helvetica Neue"/>
                <a:cs typeface="Helvetica Neue"/>
                <a:sym typeface="Helvetica Neue"/>
              </a:endParaRPr>
            </a:p>
            <a:p>
              <a:pPr indent="-387350" lvl="0" marL="457200" marR="0" rtl="0" algn="l">
                <a:lnSpc>
                  <a:spcPct val="100000"/>
                </a:lnSpc>
                <a:spcBef>
                  <a:spcPts val="0"/>
                </a:spcBef>
                <a:spcAft>
                  <a:spcPts val="0"/>
                </a:spcAft>
                <a:buClr>
                  <a:srgbClr val="5E5E5E"/>
                </a:buClr>
                <a:buSzPts val="2500"/>
                <a:buFont typeface="Nunito"/>
                <a:buChar char="●"/>
              </a:pPr>
              <a:r>
                <a:rPr b="0" i="0" lang="en-US" sz="2500" u="none" cap="none" strike="noStrike">
                  <a:solidFill>
                    <a:srgbClr val="5E5E5E"/>
                  </a:solidFill>
                  <a:latin typeface="Helvetica Neue"/>
                  <a:ea typeface="Helvetica Neue"/>
                  <a:cs typeface="Helvetica Neue"/>
                  <a:sym typeface="Helvetica Neue"/>
                </a:rPr>
                <a:t>No preguntes por “generalmente”, sino por situaciones específicas</a:t>
              </a:r>
              <a:endParaRPr b="0" i="0" sz="1400" u="none" cap="none" strike="noStrike">
                <a:solidFill>
                  <a:srgbClr val="000000"/>
                </a:solidFill>
                <a:latin typeface="Helvetica Neue"/>
                <a:ea typeface="Helvetica Neue"/>
                <a:cs typeface="Helvetica Neue"/>
                <a:sym typeface="Helvetica Neue"/>
              </a:endParaRPr>
            </a:p>
            <a:p>
              <a:pPr indent="-387350" lvl="0" marL="457200" marR="0" rtl="0" algn="l">
                <a:lnSpc>
                  <a:spcPct val="100000"/>
                </a:lnSpc>
                <a:spcBef>
                  <a:spcPts val="0"/>
                </a:spcBef>
                <a:spcAft>
                  <a:spcPts val="0"/>
                </a:spcAft>
                <a:buClr>
                  <a:srgbClr val="5E5E5E"/>
                </a:buClr>
                <a:buSzPts val="2500"/>
                <a:buFont typeface="Nunito"/>
                <a:buChar char="●"/>
              </a:pPr>
              <a:r>
                <a:rPr b="0" i="0" lang="en-US" sz="2500" u="none" cap="none" strike="noStrike">
                  <a:solidFill>
                    <a:srgbClr val="5E5E5E"/>
                  </a:solidFill>
                  <a:latin typeface="Helvetica Neue"/>
                  <a:ea typeface="Helvetica Neue"/>
                  <a:cs typeface="Helvetica Neue"/>
                  <a:sym typeface="Helvetica Neue"/>
                </a:rPr>
                <a:t>Incentiva las historias</a:t>
              </a:r>
              <a:endParaRPr b="0" i="0" sz="1400" u="none" cap="none" strike="noStrike">
                <a:solidFill>
                  <a:srgbClr val="000000"/>
                </a:solidFill>
                <a:latin typeface="Helvetica Neue"/>
                <a:ea typeface="Helvetica Neue"/>
                <a:cs typeface="Helvetica Neue"/>
                <a:sym typeface="Helvetica Neue"/>
              </a:endParaRPr>
            </a:p>
            <a:p>
              <a:pPr indent="-387350" lvl="0" marL="457200" marR="0" rtl="0" algn="l">
                <a:lnSpc>
                  <a:spcPct val="100000"/>
                </a:lnSpc>
                <a:spcBef>
                  <a:spcPts val="0"/>
                </a:spcBef>
                <a:spcAft>
                  <a:spcPts val="0"/>
                </a:spcAft>
                <a:buClr>
                  <a:srgbClr val="5E5E5E"/>
                </a:buClr>
                <a:buSzPts val="2500"/>
                <a:buFont typeface="Nunito"/>
                <a:buChar char="●"/>
              </a:pPr>
              <a:r>
                <a:rPr b="0" i="0" lang="en-US" sz="2500" u="none" cap="none" strike="noStrike">
                  <a:solidFill>
                    <a:srgbClr val="5E5E5E"/>
                  </a:solidFill>
                  <a:latin typeface="Helvetica Neue"/>
                  <a:ea typeface="Helvetica Neue"/>
                  <a:cs typeface="Helvetica Neue"/>
                  <a:sym typeface="Helvetica Neue"/>
                </a:rPr>
                <a:t>Busca inconsistencias</a:t>
              </a:r>
              <a:endParaRPr b="0" i="0" sz="1400" u="none" cap="none" strike="noStrike">
                <a:solidFill>
                  <a:srgbClr val="000000"/>
                </a:solidFill>
                <a:latin typeface="Helvetica Neue"/>
                <a:ea typeface="Helvetica Neue"/>
                <a:cs typeface="Helvetica Neue"/>
                <a:sym typeface="Helvetica Neue"/>
              </a:endParaRPr>
            </a:p>
            <a:p>
              <a:pPr indent="-387350" lvl="0" marL="457200" marR="0" rtl="0" algn="l">
                <a:lnSpc>
                  <a:spcPct val="100000"/>
                </a:lnSpc>
                <a:spcBef>
                  <a:spcPts val="0"/>
                </a:spcBef>
                <a:spcAft>
                  <a:spcPts val="0"/>
                </a:spcAft>
                <a:buClr>
                  <a:srgbClr val="5E5E5E"/>
                </a:buClr>
                <a:buSzPts val="2500"/>
                <a:buFont typeface="Nunito"/>
                <a:buChar char="●"/>
              </a:pPr>
              <a:r>
                <a:rPr b="0" i="0" lang="en-US" sz="2500" u="none" cap="none" strike="noStrike">
                  <a:solidFill>
                    <a:srgbClr val="5E5E5E"/>
                  </a:solidFill>
                  <a:latin typeface="Helvetica Neue"/>
                  <a:ea typeface="Helvetica Neue"/>
                  <a:cs typeface="Helvetica Neue"/>
                  <a:sym typeface="Helvetica Neue"/>
                </a:rPr>
                <a:t>Escucha el silencio</a:t>
              </a:r>
              <a:endParaRPr b="0" i="0" sz="1400" u="none" cap="none" strike="noStrike">
                <a:solidFill>
                  <a:srgbClr val="000000"/>
                </a:solidFill>
                <a:latin typeface="Helvetica Neue"/>
                <a:ea typeface="Helvetica Neue"/>
                <a:cs typeface="Helvetica Neue"/>
                <a:sym typeface="Helvetica Neue"/>
              </a:endParaRPr>
            </a:p>
            <a:p>
              <a:pPr indent="-387350" lvl="0" marL="457200" marR="0" rtl="0" algn="l">
                <a:lnSpc>
                  <a:spcPct val="100000"/>
                </a:lnSpc>
                <a:spcBef>
                  <a:spcPts val="0"/>
                </a:spcBef>
                <a:spcAft>
                  <a:spcPts val="0"/>
                </a:spcAft>
                <a:buClr>
                  <a:srgbClr val="5E5E5E"/>
                </a:buClr>
                <a:buSzPts val="2500"/>
                <a:buFont typeface="Nunito"/>
                <a:buChar char="●"/>
              </a:pPr>
              <a:r>
                <a:rPr b="0" i="0" lang="en-US" sz="2500" u="none" cap="none" strike="noStrike">
                  <a:solidFill>
                    <a:srgbClr val="5E5E5E"/>
                  </a:solidFill>
                  <a:latin typeface="Helvetica Neue"/>
                  <a:ea typeface="Helvetica Neue"/>
                  <a:cs typeface="Helvetica Neue"/>
                  <a:sym typeface="Helvetica Neue"/>
                </a:rPr>
                <a:t>Pon atención al lenguaje NO verbal</a:t>
              </a:r>
              <a:endParaRPr b="0" i="0" sz="1400" u="none" cap="none" strike="noStrike">
                <a:solidFill>
                  <a:srgbClr val="000000"/>
                </a:solidFill>
                <a:latin typeface="Helvetica Neue"/>
                <a:ea typeface="Helvetica Neue"/>
                <a:cs typeface="Helvetica Neue"/>
                <a:sym typeface="Helvetica Neue"/>
              </a:endParaRPr>
            </a:p>
            <a:p>
              <a:pPr indent="-387350" lvl="0" marL="457200" marR="0" rtl="0" algn="l">
                <a:lnSpc>
                  <a:spcPct val="100000"/>
                </a:lnSpc>
                <a:spcBef>
                  <a:spcPts val="0"/>
                </a:spcBef>
                <a:spcAft>
                  <a:spcPts val="0"/>
                </a:spcAft>
                <a:buClr>
                  <a:srgbClr val="5E5E5E"/>
                </a:buClr>
                <a:buSzPts val="2500"/>
                <a:buFont typeface="Nunito"/>
                <a:buChar char="●"/>
              </a:pPr>
              <a:r>
                <a:rPr b="0" i="0" lang="en-US" sz="2500" u="none" cap="none" strike="noStrike">
                  <a:solidFill>
                    <a:srgbClr val="5E5E5E"/>
                  </a:solidFill>
                  <a:latin typeface="Helvetica Neue"/>
                  <a:ea typeface="Helvetica Neue"/>
                  <a:cs typeface="Helvetica Neue"/>
                  <a:sym typeface="Helvetica Neue"/>
                </a:rPr>
                <a:t>No sugieras respuestas</a:t>
              </a:r>
              <a:endParaRPr b="0" i="0" sz="1400" u="none" cap="none" strike="noStrike">
                <a:solidFill>
                  <a:srgbClr val="000000"/>
                </a:solidFill>
                <a:latin typeface="Helvetica Neue"/>
                <a:ea typeface="Helvetica Neue"/>
                <a:cs typeface="Helvetica Neue"/>
                <a:sym typeface="Helvetica Neue"/>
              </a:endParaRPr>
            </a:p>
            <a:p>
              <a:pPr indent="-387350" lvl="0" marL="457200" marR="0" rtl="0" algn="l">
                <a:lnSpc>
                  <a:spcPct val="100000"/>
                </a:lnSpc>
                <a:spcBef>
                  <a:spcPts val="0"/>
                </a:spcBef>
                <a:spcAft>
                  <a:spcPts val="0"/>
                </a:spcAft>
                <a:buClr>
                  <a:srgbClr val="5E5E5E"/>
                </a:buClr>
                <a:buSzPts val="2500"/>
                <a:buFont typeface="Nunito"/>
                <a:buChar char="●"/>
              </a:pPr>
              <a:r>
                <a:rPr b="0" i="0" lang="en-US" sz="2500" u="none" cap="none" strike="noStrike">
                  <a:solidFill>
                    <a:srgbClr val="5E5E5E"/>
                  </a:solidFill>
                  <a:latin typeface="Helvetica Neue"/>
                  <a:ea typeface="Helvetica Neue"/>
                  <a:cs typeface="Helvetica Neue"/>
                  <a:sym typeface="Helvetica Neue"/>
                </a:rPr>
                <a:t>Haz preguntas abiertas y neutras</a:t>
              </a:r>
              <a:endParaRPr b="0" i="0" sz="1400" u="none" cap="none" strike="noStrike">
                <a:solidFill>
                  <a:srgbClr val="000000"/>
                </a:solidFill>
                <a:latin typeface="Helvetica Neue"/>
                <a:ea typeface="Helvetica Neue"/>
                <a:cs typeface="Helvetica Neue"/>
                <a:sym typeface="Helvetica Neue"/>
              </a:endParaRPr>
            </a:p>
            <a:p>
              <a:pPr indent="-387350" lvl="0" marL="457200" marR="0" rtl="0" algn="l">
                <a:lnSpc>
                  <a:spcPct val="100000"/>
                </a:lnSpc>
                <a:spcBef>
                  <a:spcPts val="0"/>
                </a:spcBef>
                <a:spcAft>
                  <a:spcPts val="0"/>
                </a:spcAft>
                <a:buClr>
                  <a:srgbClr val="5E5E5E"/>
                </a:buClr>
                <a:buSzPts val="2500"/>
                <a:buFont typeface="Nunito"/>
                <a:buChar char="●"/>
              </a:pPr>
              <a:r>
                <a:rPr b="0" i="0" lang="en-US" sz="2500" u="none" cap="none" strike="noStrike">
                  <a:solidFill>
                    <a:srgbClr val="5E5E5E"/>
                  </a:solidFill>
                  <a:latin typeface="Helvetica Neue"/>
                  <a:ea typeface="Helvetica Neue"/>
                  <a:cs typeface="Helvetica Neue"/>
                  <a:sym typeface="Helvetica Neue"/>
                </a:rPr>
                <a:t>Sólo diez palabras para hacer una pregunta y…</a:t>
              </a:r>
              <a:endParaRPr b="0" i="0" sz="1400" u="none" cap="none" strike="noStrike">
                <a:solidFill>
                  <a:srgbClr val="000000"/>
                </a:solidFill>
                <a:latin typeface="Helvetica Neue"/>
                <a:ea typeface="Helvetica Neue"/>
                <a:cs typeface="Helvetica Neue"/>
                <a:sym typeface="Helvetica Neue"/>
              </a:endParaRPr>
            </a:p>
            <a:p>
              <a:pPr indent="-387350" lvl="0" marL="457200" marR="0" rtl="0" algn="l">
                <a:lnSpc>
                  <a:spcPct val="100000"/>
                </a:lnSpc>
                <a:spcBef>
                  <a:spcPts val="0"/>
                </a:spcBef>
                <a:spcAft>
                  <a:spcPts val="0"/>
                </a:spcAft>
                <a:buClr>
                  <a:srgbClr val="5E5E5E"/>
                </a:buClr>
                <a:buSzPts val="2500"/>
                <a:buFont typeface="Nunito"/>
                <a:buChar char="●"/>
              </a:pPr>
              <a:r>
                <a:rPr b="0" i="0" lang="en-US" sz="2500" u="none" cap="none" strike="noStrike">
                  <a:solidFill>
                    <a:srgbClr val="5E5E5E"/>
                  </a:solidFill>
                  <a:latin typeface="Helvetica Neue"/>
                  <a:ea typeface="Helvetica Neue"/>
                  <a:cs typeface="Helvetica Neue"/>
                  <a:sym typeface="Helvetica Neue"/>
                </a:rPr>
                <a:t>¡Prepárate para registrar!</a:t>
              </a:r>
              <a:endParaRPr b="0" i="0" sz="2500" u="none" cap="none" strike="noStrike">
                <a:solidFill>
                  <a:srgbClr val="5E5E5E"/>
                </a:solidFill>
                <a:latin typeface="Helvetica Neue"/>
                <a:ea typeface="Helvetica Neue"/>
                <a:cs typeface="Helvetica Neue"/>
                <a:sym typeface="Helvetica Neue"/>
              </a:endParaRPr>
            </a:p>
            <a:p>
              <a:pPr indent="-387350" lvl="0" marL="457200" marR="0" rtl="0" algn="l">
                <a:lnSpc>
                  <a:spcPct val="100000"/>
                </a:lnSpc>
                <a:spcBef>
                  <a:spcPts val="0"/>
                </a:spcBef>
                <a:spcAft>
                  <a:spcPts val="0"/>
                </a:spcAft>
                <a:buClr>
                  <a:srgbClr val="5E5E5E"/>
                </a:buClr>
                <a:buSzPts val="2500"/>
                <a:buFont typeface="Nunito"/>
                <a:buChar char="●"/>
              </a:pPr>
              <a:r>
                <a:rPr b="0" i="0" lang="en-US" sz="2500" u="none" cap="none" strike="noStrike">
                  <a:solidFill>
                    <a:srgbClr val="5E5E5E"/>
                  </a:solidFill>
                  <a:latin typeface="Helvetica Neue"/>
                  <a:ea typeface="Helvetica Neue"/>
                  <a:cs typeface="Helvetica Neue"/>
                  <a:sym typeface="Helvetica Neue"/>
                </a:rPr>
                <a:t>(A continuación encontrarás una plantilla para el registro)</a:t>
              </a:r>
              <a:endParaRPr b="0" i="0" sz="2500" u="none" cap="none" strike="noStrike">
                <a:solidFill>
                  <a:srgbClr val="5E5E5E"/>
                </a:solidFill>
                <a:latin typeface="Helvetica Neue"/>
                <a:ea typeface="Helvetica Neue"/>
                <a:cs typeface="Helvetica Neue"/>
                <a:sym typeface="Helvetica Neue"/>
              </a:endParaRPr>
            </a:p>
          </p:txBody>
        </p:sp>
        <p:grpSp>
          <p:nvGrpSpPr>
            <p:cNvPr id="243" name="Google Shape;243;p6"/>
            <p:cNvGrpSpPr/>
            <p:nvPr/>
          </p:nvGrpSpPr>
          <p:grpSpPr>
            <a:xfrm>
              <a:off x="1212905" y="8677287"/>
              <a:ext cx="10578992" cy="621064"/>
              <a:chOff x="0" y="0"/>
              <a:chExt cx="10578990" cy="621062"/>
            </a:xfrm>
          </p:grpSpPr>
          <p:cxnSp>
            <p:nvCxnSpPr>
              <p:cNvPr id="244" name="Google Shape;244;p6"/>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245" name="Google Shape;245;p6"/>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46" name="Google Shape;246;p6"/>
              <p:cNvSpPr/>
              <p:nvPr/>
            </p:nvSpPr>
            <p:spPr>
              <a:xfrm>
                <a:off x="2489481"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47" name="Google Shape;247;p6"/>
              <p:cNvSpPr/>
              <p:nvPr/>
            </p:nvSpPr>
            <p:spPr>
              <a:xfrm>
                <a:off x="4978963"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48" name="Google Shape;248;p6"/>
              <p:cNvSpPr/>
              <p:nvPr/>
            </p:nvSpPr>
            <p:spPr>
              <a:xfrm>
                <a:off x="7468444"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49" name="Google Shape;249;p6"/>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descr="EA11.png" id="254" name="Google Shape;254;p8"/>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255" name="Google Shape;255;p8"/>
          <p:cNvSpPr txBox="1"/>
          <p:nvPr/>
        </p:nvSpPr>
        <p:spPr>
          <a:xfrm>
            <a:off x="793435" y="1379272"/>
            <a:ext cx="11417930" cy="684133"/>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5 POR QUÉ ’ S</a:t>
            </a:r>
            <a:endParaRPr b="0" i="0" sz="1400" u="none" cap="none" strike="noStrike">
              <a:solidFill>
                <a:srgbClr val="000000"/>
              </a:solidFill>
              <a:latin typeface="Helvetica Neue"/>
              <a:ea typeface="Helvetica Neue"/>
              <a:cs typeface="Helvetica Neue"/>
              <a:sym typeface="Helvetica Neue"/>
            </a:endParaRPr>
          </a:p>
        </p:txBody>
      </p:sp>
      <p:sp>
        <p:nvSpPr>
          <p:cNvPr id="256" name="Google Shape;256;p8"/>
          <p:cNvSpPr txBox="1"/>
          <p:nvPr/>
        </p:nvSpPr>
        <p:spPr>
          <a:xfrm>
            <a:off x="1042652" y="2210638"/>
            <a:ext cx="10919496" cy="5778852"/>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3200"/>
              <a:buFont typeface="Helvetica Neue"/>
              <a:buNone/>
            </a:pPr>
            <a:r>
              <a:rPr b="0" i="0" lang="en-US" sz="3200" u="none" cap="none" strike="noStrike">
                <a:solidFill>
                  <a:srgbClr val="5E5E5E"/>
                </a:solidFill>
                <a:latin typeface="Helvetica Neue"/>
                <a:ea typeface="Helvetica Neue"/>
                <a:cs typeface="Helvetica Neue"/>
                <a:sym typeface="Helvetica Neue"/>
              </a:rPr>
              <a:t>Siempre pregunta </a:t>
            </a:r>
            <a:r>
              <a:rPr b="1" i="0" lang="en-US" sz="3200" u="none" cap="none" strike="noStrike">
                <a:solidFill>
                  <a:srgbClr val="00A9FF"/>
                </a:solidFill>
                <a:latin typeface="Helvetica Neue"/>
                <a:ea typeface="Helvetica Neue"/>
                <a:cs typeface="Helvetica Neue"/>
                <a:sym typeface="Helvetica Neue"/>
              </a:rPr>
              <a:t>“Por qué?”</a:t>
            </a:r>
            <a:endParaRPr b="1"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600"/>
              <a:buFont typeface="Helvetica Neue"/>
              <a:buNone/>
            </a:pPr>
            <a:r>
              <a:t/>
            </a:r>
            <a:endParaRPr b="0" i="0" sz="1600" u="none" cap="none" strike="noStrike">
              <a:solidFill>
                <a:srgbClr val="00A9FF"/>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2700"/>
              <a:buFont typeface="Helvetica Neue"/>
              <a:buNone/>
            </a:pPr>
            <a:r>
              <a:rPr b="0" i="0" lang="en-US" sz="2700" u="none" cap="none" strike="noStrike">
                <a:solidFill>
                  <a:srgbClr val="5E5E5E"/>
                </a:solidFill>
                <a:latin typeface="Helvetica Neue"/>
                <a:ea typeface="Helvetica Neue"/>
                <a:cs typeface="Helvetica Neue"/>
                <a:sym typeface="Helvetica Neue"/>
              </a:rPr>
              <a:t> Ejemplo de entrevista “5 por qué”: </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514350" lvl="0" marL="514350" marR="0" rtl="0" algn="l">
              <a:lnSpc>
                <a:spcPct val="100000"/>
              </a:lnSpc>
              <a:spcBef>
                <a:spcPts val="1000"/>
              </a:spcBef>
              <a:spcAft>
                <a:spcPts val="0"/>
              </a:spcAft>
              <a:buClr>
                <a:srgbClr val="5E5E5E"/>
              </a:buClr>
              <a:buSzPts val="2700"/>
              <a:buFont typeface="Helvetica Neue"/>
              <a:buAutoNum type="arabicPeriod"/>
            </a:pPr>
            <a:r>
              <a:rPr b="0" i="0" lang="en-US" sz="2700" u="none" cap="none" strike="noStrike">
                <a:solidFill>
                  <a:srgbClr val="5E5E5E"/>
                </a:solidFill>
                <a:latin typeface="Helvetica Neue"/>
                <a:ea typeface="Helvetica Neue"/>
                <a:cs typeface="Helvetica Neue"/>
                <a:sym typeface="Helvetica Neue"/>
              </a:rPr>
              <a:t>¿Cuántas horas duermes al día? ¿</a:t>
            </a:r>
            <a:r>
              <a:rPr b="1" i="0" lang="en-US" sz="2700" u="none" cap="none" strike="noStrike">
                <a:solidFill>
                  <a:srgbClr val="00A9FF"/>
                </a:solidFill>
                <a:latin typeface="Helvetica Neue"/>
                <a:ea typeface="Helvetica Neue"/>
                <a:cs typeface="Helvetica Neue"/>
                <a:sym typeface="Helvetica Neue"/>
              </a:rPr>
              <a:t>por qué</a:t>
            </a:r>
            <a:r>
              <a:rPr b="0" i="0" lang="en-US" sz="2700" u="none" cap="none" strike="noStrike">
                <a:solidFill>
                  <a:srgbClr val="5E5E5E"/>
                </a:solidFill>
                <a:latin typeface="Helvetica Neue"/>
                <a:ea typeface="Helvetica Neue"/>
                <a:cs typeface="Helvetica Neue"/>
                <a:sym typeface="Helvetica Neue"/>
              </a:rPr>
              <a:t>?</a:t>
            </a:r>
            <a:endParaRPr b="0" i="0" sz="1400" u="none" cap="none" strike="noStrike">
              <a:solidFill>
                <a:srgbClr val="000000"/>
              </a:solidFill>
              <a:latin typeface="Helvetica Neue"/>
              <a:ea typeface="Helvetica Neue"/>
              <a:cs typeface="Helvetica Neue"/>
              <a:sym typeface="Helvetica Neue"/>
            </a:endParaRPr>
          </a:p>
          <a:p>
            <a:pPr indent="-514350" lvl="0" marL="514350" marR="0" rtl="0" algn="l">
              <a:lnSpc>
                <a:spcPct val="100000"/>
              </a:lnSpc>
              <a:spcBef>
                <a:spcPts val="1000"/>
              </a:spcBef>
              <a:spcAft>
                <a:spcPts val="0"/>
              </a:spcAft>
              <a:buClr>
                <a:srgbClr val="5E5E5E"/>
              </a:buClr>
              <a:buSzPts val="2700"/>
              <a:buFont typeface="Helvetica Neue"/>
              <a:buAutoNum type="arabicPeriod"/>
            </a:pPr>
            <a:r>
              <a:rPr b="0" i="0" lang="en-US" sz="2700" u="none" cap="none" strike="noStrike">
                <a:solidFill>
                  <a:srgbClr val="5E5E5E"/>
                </a:solidFill>
                <a:latin typeface="Helvetica Neue"/>
                <a:ea typeface="Helvetica Neue"/>
                <a:cs typeface="Helvetica Neue"/>
                <a:sym typeface="Helvetica Neue"/>
              </a:rPr>
              <a:t>¿Y me puedes decir</a:t>
            </a:r>
            <a:r>
              <a:rPr b="0" i="0" lang="en-US" sz="2700" u="none" cap="none" strike="noStrike">
                <a:solidFill>
                  <a:srgbClr val="000000"/>
                </a:solidFill>
                <a:latin typeface="Helvetica Neue"/>
                <a:ea typeface="Helvetica Neue"/>
                <a:cs typeface="Helvetica Neue"/>
                <a:sym typeface="Helvetica Neue"/>
              </a:rPr>
              <a:t> </a:t>
            </a:r>
            <a:r>
              <a:rPr b="1" i="0" lang="en-US" sz="2700" u="none" cap="none" strike="noStrike">
                <a:solidFill>
                  <a:srgbClr val="00A9FF"/>
                </a:solidFill>
                <a:latin typeface="Helvetica Neue"/>
                <a:ea typeface="Helvetica Neue"/>
                <a:cs typeface="Helvetica Neue"/>
                <a:sym typeface="Helvetica Neue"/>
              </a:rPr>
              <a:t>por qué </a:t>
            </a:r>
            <a:r>
              <a:rPr b="0" i="0" lang="en-US" sz="2700" u="none" cap="none" strike="noStrike">
                <a:solidFill>
                  <a:srgbClr val="5E5E5E"/>
                </a:solidFill>
                <a:latin typeface="Helvetica Neue"/>
                <a:ea typeface="Helvetica Neue"/>
                <a:cs typeface="Helvetica Neue"/>
                <a:sym typeface="Helvetica Neue"/>
              </a:rPr>
              <a:t>eso es importante para ti?</a:t>
            </a:r>
            <a:endParaRPr b="0" i="0" sz="1400" u="none" cap="none" strike="noStrike">
              <a:solidFill>
                <a:srgbClr val="000000"/>
              </a:solidFill>
              <a:latin typeface="Helvetica Neue"/>
              <a:ea typeface="Helvetica Neue"/>
              <a:cs typeface="Helvetica Neue"/>
              <a:sym typeface="Helvetica Neue"/>
            </a:endParaRPr>
          </a:p>
          <a:p>
            <a:pPr indent="-514350" lvl="0" marL="514350" marR="0" rtl="0" algn="l">
              <a:lnSpc>
                <a:spcPct val="100000"/>
              </a:lnSpc>
              <a:spcBef>
                <a:spcPts val="1000"/>
              </a:spcBef>
              <a:spcAft>
                <a:spcPts val="0"/>
              </a:spcAft>
              <a:buClr>
                <a:srgbClr val="5E5E5E"/>
              </a:buClr>
              <a:buSzPts val="2700"/>
              <a:buFont typeface="Helvetica Neue"/>
              <a:buAutoNum type="arabicPeriod"/>
            </a:pPr>
            <a:r>
              <a:rPr b="0" i="0" lang="en-US" sz="2700" u="none" cap="none" strike="noStrike">
                <a:solidFill>
                  <a:srgbClr val="5E5E5E"/>
                </a:solidFill>
                <a:latin typeface="Helvetica Neue"/>
                <a:ea typeface="Helvetica Neue"/>
                <a:cs typeface="Helvetica Neue"/>
                <a:sym typeface="Helvetica Neue"/>
              </a:rPr>
              <a:t>Cuéntame más sobre eso . . . Ah… entiendo ¿Sabes</a:t>
            </a:r>
            <a:r>
              <a:rPr b="0" i="0" lang="en-US" sz="2700" u="none" cap="none" strike="noStrike">
                <a:solidFill>
                  <a:srgbClr val="000000"/>
                </a:solidFill>
                <a:latin typeface="Helvetica Neue"/>
                <a:ea typeface="Helvetica Neue"/>
                <a:cs typeface="Helvetica Neue"/>
                <a:sym typeface="Helvetica Neue"/>
              </a:rPr>
              <a:t> </a:t>
            </a:r>
            <a:r>
              <a:rPr b="1" i="0" lang="en-US" sz="2700" u="none" cap="none" strike="noStrike">
                <a:solidFill>
                  <a:srgbClr val="00A9FF"/>
                </a:solidFill>
                <a:latin typeface="Helvetica Neue"/>
                <a:ea typeface="Helvetica Neue"/>
                <a:cs typeface="Helvetica Neue"/>
                <a:sym typeface="Helvetica Neue"/>
              </a:rPr>
              <a:t>por qué</a:t>
            </a:r>
            <a:r>
              <a:rPr b="0" i="0" lang="en-US" sz="2700" u="none" cap="none" strike="noStrike">
                <a:solidFill>
                  <a:srgbClr val="00A9FF"/>
                </a:solidFill>
                <a:latin typeface="Helvetica Neue"/>
                <a:ea typeface="Helvetica Neue"/>
                <a:cs typeface="Helvetica Neue"/>
                <a:sym typeface="Helvetica Neue"/>
              </a:rPr>
              <a:t> </a:t>
            </a:r>
            <a:r>
              <a:rPr b="0" i="0" lang="en-US" sz="2700" u="none" cap="none" strike="noStrike">
                <a:solidFill>
                  <a:srgbClr val="5E5E5E"/>
                </a:solidFill>
                <a:latin typeface="Helvetica Neue"/>
                <a:ea typeface="Helvetica Neue"/>
                <a:cs typeface="Helvetica Neue"/>
                <a:sym typeface="Helvetica Neue"/>
              </a:rPr>
              <a:t>pensaste o sentiste eso?</a:t>
            </a:r>
            <a:endParaRPr b="0" i="0" sz="1400" u="none" cap="none" strike="noStrike">
              <a:solidFill>
                <a:srgbClr val="000000"/>
              </a:solidFill>
              <a:latin typeface="Helvetica Neue"/>
              <a:ea typeface="Helvetica Neue"/>
              <a:cs typeface="Helvetica Neue"/>
              <a:sym typeface="Helvetica Neue"/>
            </a:endParaRPr>
          </a:p>
          <a:p>
            <a:pPr indent="-514350" lvl="0" marL="514350" marR="0" rtl="0" algn="l">
              <a:lnSpc>
                <a:spcPct val="100000"/>
              </a:lnSpc>
              <a:spcBef>
                <a:spcPts val="1000"/>
              </a:spcBef>
              <a:spcAft>
                <a:spcPts val="0"/>
              </a:spcAft>
              <a:buClr>
                <a:srgbClr val="5E5E5E"/>
              </a:buClr>
              <a:buSzPts val="2700"/>
              <a:buFont typeface="Helvetica Neue"/>
              <a:buAutoNum type="arabicPeriod"/>
            </a:pPr>
            <a:r>
              <a:rPr b="0" i="0" lang="en-US" sz="2700" u="none" cap="none" strike="noStrike">
                <a:solidFill>
                  <a:srgbClr val="5E5E5E"/>
                </a:solidFill>
                <a:latin typeface="Helvetica Neue"/>
                <a:ea typeface="Helvetica Neue"/>
                <a:cs typeface="Helvetica Neue"/>
                <a:sym typeface="Helvetica Neue"/>
              </a:rPr>
              <a:t>Entiendo. Entonces ¿</a:t>
            </a:r>
            <a:r>
              <a:rPr b="1" i="0" lang="en-US" sz="2700" u="none" cap="none" strike="noStrike">
                <a:solidFill>
                  <a:srgbClr val="00A9FF"/>
                </a:solidFill>
                <a:latin typeface="Helvetica Neue"/>
                <a:ea typeface="Helvetica Neue"/>
                <a:cs typeface="Helvetica Neue"/>
                <a:sym typeface="Helvetica Neue"/>
              </a:rPr>
              <a:t>por qué </a:t>
            </a:r>
            <a:r>
              <a:rPr b="0" i="0" lang="en-US" sz="2700" u="none" cap="none" strike="noStrike">
                <a:solidFill>
                  <a:srgbClr val="5E5E5E"/>
                </a:solidFill>
                <a:latin typeface="Helvetica Neue"/>
                <a:ea typeface="Helvetica Neue"/>
                <a:cs typeface="Helvetica Neue"/>
                <a:sym typeface="Helvetica Neue"/>
              </a:rPr>
              <a:t>eso es tan importante?</a:t>
            </a:r>
            <a:endParaRPr b="0" i="0" sz="1400" u="none" cap="none" strike="noStrike">
              <a:solidFill>
                <a:srgbClr val="000000"/>
              </a:solidFill>
              <a:latin typeface="Helvetica Neue"/>
              <a:ea typeface="Helvetica Neue"/>
              <a:cs typeface="Helvetica Neue"/>
              <a:sym typeface="Helvetica Neue"/>
            </a:endParaRPr>
          </a:p>
          <a:p>
            <a:pPr indent="-514350" lvl="0" marL="514350" marR="0" rtl="0" algn="l">
              <a:lnSpc>
                <a:spcPct val="100000"/>
              </a:lnSpc>
              <a:spcBef>
                <a:spcPts val="0"/>
              </a:spcBef>
              <a:spcAft>
                <a:spcPts val="0"/>
              </a:spcAft>
              <a:buClr>
                <a:srgbClr val="5E5E5E"/>
              </a:buClr>
              <a:buSzPts val="2700"/>
              <a:buFont typeface="Helvetica Neue"/>
              <a:buAutoNum type="arabicPeriod"/>
            </a:pPr>
            <a:r>
              <a:rPr b="0" i="0" lang="en-US" sz="2700" u="none" cap="none" strike="noStrike">
                <a:solidFill>
                  <a:srgbClr val="5E5E5E"/>
                </a:solidFill>
                <a:latin typeface="Helvetica Neue"/>
                <a:ea typeface="Helvetica Neue"/>
                <a:cs typeface="Helvetica Neue"/>
                <a:sym typeface="Helvetica Neue"/>
              </a:rPr>
              <a:t>¿</a:t>
            </a:r>
            <a:r>
              <a:rPr b="1" i="0" lang="en-US" sz="2700" u="none" cap="none" strike="noStrike">
                <a:solidFill>
                  <a:srgbClr val="00A9FF"/>
                </a:solidFill>
                <a:latin typeface="Helvetica Neue"/>
                <a:ea typeface="Helvetica Neue"/>
                <a:cs typeface="Helvetica Neue"/>
                <a:sym typeface="Helvetica Neue"/>
              </a:rPr>
              <a:t>por qué </a:t>
            </a:r>
            <a:r>
              <a:rPr b="0" i="0" lang="en-US" sz="2700" u="none" cap="none" strike="noStrike">
                <a:solidFill>
                  <a:srgbClr val="5E5E5E"/>
                </a:solidFill>
                <a:latin typeface="Helvetica Neue"/>
                <a:ea typeface="Helvetica Neue"/>
                <a:cs typeface="Helvetica Neue"/>
                <a:sym typeface="Helvetica Neue"/>
              </a:rPr>
              <a:t>crees que lo haces? ¿</a:t>
            </a:r>
            <a:r>
              <a:rPr b="1" i="0" lang="en-US" sz="2700" u="none" cap="none" strike="noStrike">
                <a:solidFill>
                  <a:srgbClr val="00A9FF"/>
                </a:solidFill>
                <a:latin typeface="Helvetica Neue"/>
                <a:ea typeface="Helvetica Neue"/>
                <a:cs typeface="Helvetica Neue"/>
                <a:sym typeface="Helvetica Neue"/>
              </a:rPr>
              <a:t>por qué </a:t>
            </a:r>
            <a:r>
              <a:rPr b="0" i="0" lang="en-US" sz="2700" u="none" cap="none" strike="noStrike">
                <a:solidFill>
                  <a:srgbClr val="5E5E5E"/>
                </a:solidFill>
                <a:latin typeface="Helvetica Neue"/>
                <a:ea typeface="Helvetica Neue"/>
                <a:cs typeface="Helvetica Neue"/>
                <a:sym typeface="Helvetica Neue"/>
              </a:rPr>
              <a:t>crees que puedes /o no puedes hacerlo? </a:t>
            </a:r>
            <a:r>
              <a:rPr b="1" i="0" lang="en-US" sz="2700" u="none" cap="none" strike="noStrike">
                <a:solidFill>
                  <a:srgbClr val="3CA8F8"/>
                </a:solidFill>
                <a:latin typeface="Helvetica Neue"/>
                <a:ea typeface="Helvetica Neue"/>
                <a:cs typeface="Helvetica Neue"/>
                <a:sym typeface="Helvetica Neue"/>
              </a:rPr>
              <a:t>Intenta llegar a entender cuáles son sus necesidades </a:t>
            </a:r>
            <a:endParaRPr b="1" i="0" sz="1400" u="none" cap="none" strike="noStrike">
              <a:solidFill>
                <a:srgbClr val="000000"/>
              </a:solidFill>
              <a:latin typeface="Helvetica Neue"/>
              <a:ea typeface="Helvetica Neue"/>
              <a:cs typeface="Helvetica Neue"/>
              <a:sym typeface="Helvetica Neue"/>
            </a:endParaRPr>
          </a:p>
        </p:txBody>
      </p:sp>
      <p:grpSp>
        <p:nvGrpSpPr>
          <p:cNvPr id="257" name="Google Shape;257;p8"/>
          <p:cNvGrpSpPr/>
          <p:nvPr/>
        </p:nvGrpSpPr>
        <p:grpSpPr>
          <a:xfrm>
            <a:off x="1212905" y="8677287"/>
            <a:ext cx="10578992" cy="621064"/>
            <a:chOff x="0" y="0"/>
            <a:chExt cx="10578990" cy="621062"/>
          </a:xfrm>
        </p:grpSpPr>
        <p:cxnSp>
          <p:nvCxnSpPr>
            <p:cNvPr id="258" name="Google Shape;258;p8"/>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259" name="Google Shape;259;p8"/>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60" name="Google Shape;260;p8"/>
            <p:cNvSpPr/>
            <p:nvPr/>
          </p:nvSpPr>
          <p:spPr>
            <a:xfrm>
              <a:off x="2489481"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61" name="Google Shape;261;p8"/>
            <p:cNvSpPr/>
            <p:nvPr/>
          </p:nvSpPr>
          <p:spPr>
            <a:xfrm>
              <a:off x="4978963"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62" name="Google Shape;262;p8"/>
            <p:cNvSpPr/>
            <p:nvPr/>
          </p:nvSpPr>
          <p:spPr>
            <a:xfrm>
              <a:off x="7468444"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63" name="Google Shape;263;p8"/>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descr="EA11.png" id="268" name="Google Shape;268;p7"/>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269" name="Google Shape;269;p7"/>
          <p:cNvSpPr txBox="1"/>
          <p:nvPr/>
        </p:nvSpPr>
        <p:spPr>
          <a:xfrm>
            <a:off x="789684" y="2224881"/>
            <a:ext cx="5298210" cy="1784301"/>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rPr b="0" i="0" lang="en-US" sz="1600" u="none" cap="none" strike="noStrike">
                <a:solidFill>
                  <a:srgbClr val="5E5E5E"/>
                </a:solidFill>
                <a:latin typeface="Helvetica Neue"/>
                <a:ea typeface="Helvetica Neue"/>
                <a:cs typeface="Helvetica Neue"/>
                <a:sym typeface="Helvetica Neue"/>
              </a:rPr>
              <a:t>Nombre Entrevistado: </a:t>
            </a:r>
            <a:r>
              <a:rPr lang="en-US" sz="1600">
                <a:solidFill>
                  <a:srgbClr val="5E5E5E"/>
                </a:solidFill>
                <a:latin typeface="Helvetica Neue"/>
                <a:ea typeface="Helvetica Neue"/>
                <a:cs typeface="Helvetica Neue"/>
                <a:sym typeface="Helvetica Neue"/>
              </a:rPr>
              <a:t>Catalina Stanley</a:t>
            </a:r>
            <a:endParaRPr b="0" i="0" sz="16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600" u="none" cap="none" strike="noStrike">
                <a:solidFill>
                  <a:srgbClr val="5E5E5E"/>
                </a:solidFill>
                <a:latin typeface="Helvetica Neue"/>
                <a:ea typeface="Helvetica Neue"/>
                <a:cs typeface="Helvetica Neue"/>
                <a:sym typeface="Helvetica Neue"/>
              </a:rPr>
              <a:t>Nombre Entrevistador: Ana Mar</a:t>
            </a:r>
            <a:r>
              <a:rPr lang="en-US" sz="1600">
                <a:solidFill>
                  <a:srgbClr val="5E5E5E"/>
                </a:solidFill>
                <a:latin typeface="Helvetica Neue"/>
                <a:ea typeface="Helvetica Neue"/>
                <a:cs typeface="Helvetica Neue"/>
                <a:sym typeface="Helvetica Neue"/>
              </a:rPr>
              <a:t>ía Alcalde</a:t>
            </a:r>
            <a:endParaRPr b="0" i="0" sz="16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600" u="none" cap="none" strike="noStrike">
                <a:solidFill>
                  <a:srgbClr val="5E5E5E"/>
                </a:solidFill>
                <a:latin typeface="Helvetica Neue"/>
                <a:ea typeface="Helvetica Neue"/>
                <a:cs typeface="Helvetica Neue"/>
                <a:sym typeface="Helvetica Neue"/>
              </a:rPr>
              <a:t>Fecha: 10 de junio</a:t>
            </a:r>
            <a:endParaRPr b="0" i="0" sz="16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600" u="none" cap="none" strike="noStrike">
                <a:solidFill>
                  <a:srgbClr val="5E5E5E"/>
                </a:solidFill>
                <a:latin typeface="Helvetica Neue"/>
                <a:ea typeface="Helvetica Neue"/>
                <a:cs typeface="Helvetica Neue"/>
                <a:sym typeface="Helvetica Neue"/>
              </a:rPr>
              <a:t>Hora: 1</a:t>
            </a:r>
            <a:r>
              <a:rPr lang="en-US" sz="1600">
                <a:solidFill>
                  <a:srgbClr val="5E5E5E"/>
                </a:solidFill>
                <a:latin typeface="Helvetica Neue"/>
                <a:ea typeface="Helvetica Neue"/>
                <a:cs typeface="Helvetica Neue"/>
                <a:sym typeface="Helvetica Neue"/>
              </a:rPr>
              <a:t>6</a:t>
            </a:r>
            <a:r>
              <a:rPr b="0" i="0" lang="en-US" sz="1600" u="none" cap="none" strike="noStrike">
                <a:solidFill>
                  <a:srgbClr val="5E5E5E"/>
                </a:solidFill>
                <a:latin typeface="Helvetica Neue"/>
                <a:ea typeface="Helvetica Neue"/>
                <a:cs typeface="Helvetica Neue"/>
                <a:sym typeface="Helvetica Neue"/>
              </a:rPr>
              <a:t>:30</a:t>
            </a:r>
            <a:endParaRPr b="0" i="0" sz="16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600" u="none" cap="none" strike="noStrike">
                <a:solidFill>
                  <a:srgbClr val="5E5E5E"/>
                </a:solidFill>
                <a:latin typeface="Helvetica Neue"/>
                <a:ea typeface="Helvetica Neue"/>
                <a:cs typeface="Helvetica Neue"/>
                <a:sym typeface="Helvetica Neue"/>
              </a:rPr>
              <a:t>Lugar: Colegio Sa</a:t>
            </a:r>
            <a:r>
              <a:rPr lang="en-US" sz="1600">
                <a:solidFill>
                  <a:srgbClr val="5E5E5E"/>
                </a:solidFill>
                <a:latin typeface="Helvetica Neue"/>
                <a:ea typeface="Helvetica Neue"/>
                <a:cs typeface="Helvetica Neue"/>
                <a:sym typeface="Helvetica Neue"/>
              </a:rPr>
              <a:t>n Benito</a:t>
            </a:r>
            <a:r>
              <a:rPr b="0" i="0" lang="en-US" sz="1600" u="none" cap="none" strike="noStrike">
                <a:solidFill>
                  <a:srgbClr val="5E5E5E"/>
                </a:solidFill>
                <a:latin typeface="Helvetica Neue"/>
                <a:ea typeface="Helvetica Neue"/>
                <a:cs typeface="Helvetica Neue"/>
                <a:sym typeface="Helvetica Neue"/>
              </a:rPr>
              <a:t> </a:t>
            </a:r>
            <a:endParaRPr b="0" i="0" sz="16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600" u="none" cap="none" strike="noStrike">
                <a:solidFill>
                  <a:srgbClr val="5E5E5E"/>
                </a:solidFill>
                <a:latin typeface="Helvetica Neue"/>
                <a:ea typeface="Helvetica Neue"/>
                <a:cs typeface="Helvetica Neue"/>
                <a:sym typeface="Helvetica Neue"/>
              </a:rPr>
              <a:t>Justificación de entrevista: Estudiante </a:t>
            </a:r>
            <a:r>
              <a:rPr lang="en-US" sz="1600">
                <a:solidFill>
                  <a:srgbClr val="5E5E5E"/>
                </a:solidFill>
                <a:latin typeface="Helvetica Neue"/>
                <a:ea typeface="Helvetica Neue"/>
                <a:cs typeface="Helvetica Neue"/>
                <a:sym typeface="Helvetica Neue"/>
              </a:rPr>
              <a:t>arquitectura UDD, siempre acarrea mucho peso y maquetas. Usa bolso.  </a:t>
            </a:r>
            <a:endParaRPr b="0" i="0" sz="1600" u="none" cap="none" strike="noStrike">
              <a:solidFill>
                <a:srgbClr val="000000"/>
              </a:solidFill>
              <a:latin typeface="Helvetica Neue"/>
              <a:ea typeface="Helvetica Neue"/>
              <a:cs typeface="Helvetica Neue"/>
              <a:sym typeface="Helvetica Neue"/>
            </a:endParaRPr>
          </a:p>
        </p:txBody>
      </p:sp>
      <p:sp>
        <p:nvSpPr>
          <p:cNvPr id="270" name="Google Shape;270;p7"/>
          <p:cNvSpPr txBox="1"/>
          <p:nvPr/>
        </p:nvSpPr>
        <p:spPr>
          <a:xfrm>
            <a:off x="789684" y="4431458"/>
            <a:ext cx="5298300" cy="40455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t/>
            </a:r>
            <a:endParaRPr sz="16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600" u="none" cap="none" strike="noStrike">
                <a:solidFill>
                  <a:srgbClr val="5E5E5E"/>
                </a:solidFill>
                <a:latin typeface="Helvetica Neue"/>
                <a:ea typeface="Helvetica Neue"/>
                <a:cs typeface="Helvetica Neue"/>
                <a:sym typeface="Helvetica Neue"/>
              </a:rPr>
              <a:t>Preguntas: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600">
                <a:solidFill>
                  <a:srgbClr val="5E5E5E"/>
                </a:solidFill>
                <a:latin typeface="Helvetica Neue"/>
                <a:ea typeface="Helvetica Neue"/>
                <a:cs typeface="Helvetica Neue"/>
                <a:sym typeface="Helvetica Neue"/>
              </a:rPr>
              <a:t>1.- ¿Consideras que </a:t>
            </a:r>
            <a:r>
              <a:rPr lang="en-US" sz="1600">
                <a:solidFill>
                  <a:srgbClr val="5E5E5E"/>
                </a:solidFill>
                <a:latin typeface="Helvetica Neue"/>
                <a:ea typeface="Helvetica Neue"/>
                <a:cs typeface="Helvetica Neue"/>
                <a:sym typeface="Helvetica Neue"/>
              </a:rPr>
              <a:t>distribuyes</a:t>
            </a:r>
            <a:r>
              <a:rPr lang="en-US" sz="1600">
                <a:solidFill>
                  <a:srgbClr val="5E5E5E"/>
                </a:solidFill>
                <a:latin typeface="Helvetica Neue"/>
                <a:ea typeface="Helvetica Neue"/>
                <a:cs typeface="Helvetica Neue"/>
                <a:sym typeface="Helvetica Neue"/>
              </a:rPr>
              <a:t> de manera eficiente el peso en </a:t>
            </a:r>
            <a:r>
              <a:rPr lang="en-US" sz="1600">
                <a:solidFill>
                  <a:srgbClr val="5E5E5E"/>
                </a:solidFill>
                <a:latin typeface="Helvetica Neue"/>
                <a:ea typeface="Helvetica Neue"/>
                <a:cs typeface="Helvetica Neue"/>
                <a:sym typeface="Helvetica Neue"/>
              </a:rPr>
              <a:t>tu</a:t>
            </a:r>
            <a:r>
              <a:rPr lang="en-US" sz="1600">
                <a:solidFill>
                  <a:srgbClr val="5E5E5E"/>
                </a:solidFill>
                <a:latin typeface="Helvetica Neue"/>
                <a:ea typeface="Helvetica Neue"/>
                <a:cs typeface="Helvetica Neue"/>
                <a:sym typeface="Helvetica Neue"/>
              </a:rPr>
              <a:t> mochila?¿a qué crees que se debe esto?¿por qué?</a:t>
            </a:r>
            <a:endParaRPr sz="16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6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600">
                <a:solidFill>
                  <a:srgbClr val="5E5E5E"/>
                </a:solidFill>
                <a:latin typeface="Helvetica Neue"/>
                <a:ea typeface="Helvetica Neue"/>
                <a:cs typeface="Helvetica Neue"/>
                <a:sym typeface="Helvetica Neue"/>
              </a:rPr>
              <a:t>2.- ¿Qué prefieres, estética, comodidad o eficiencia?(puede ser más de una)¿Consideras que tu mochila posee estas cosas?¿por qué? </a:t>
            </a:r>
            <a:endParaRPr sz="16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6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600">
                <a:solidFill>
                  <a:srgbClr val="5E5E5E"/>
                </a:solidFill>
                <a:latin typeface="Helvetica Neue"/>
                <a:ea typeface="Helvetica Neue"/>
                <a:cs typeface="Helvetica Neue"/>
                <a:sym typeface="Helvetica Neue"/>
              </a:rPr>
              <a:t>3.- ¿Has experimentado o notado molestias físicas relacionadas con el uso de mochilas?</a:t>
            </a:r>
            <a:endParaRPr sz="16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6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600">
                <a:solidFill>
                  <a:srgbClr val="5E5E5E"/>
                </a:solidFill>
                <a:latin typeface="Helvetica Neue"/>
                <a:ea typeface="Helvetica Neue"/>
                <a:cs typeface="Helvetica Neue"/>
                <a:sym typeface="Helvetica Neue"/>
              </a:rPr>
              <a:t>4.- ¿Como organizas las cosas que debes llevar al ir a la </a:t>
            </a:r>
            <a:r>
              <a:rPr lang="en-US" sz="1600">
                <a:solidFill>
                  <a:srgbClr val="5E5E5E"/>
                </a:solidFill>
                <a:latin typeface="Helvetica Neue"/>
                <a:ea typeface="Helvetica Neue"/>
                <a:cs typeface="Helvetica Neue"/>
                <a:sym typeface="Helvetica Neue"/>
              </a:rPr>
              <a:t>universidad</a:t>
            </a:r>
            <a:r>
              <a:rPr lang="en-US" sz="1600">
                <a:solidFill>
                  <a:srgbClr val="5E5E5E"/>
                </a:solidFill>
                <a:latin typeface="Helvetica Neue"/>
                <a:ea typeface="Helvetica Neue"/>
                <a:cs typeface="Helvetica Neue"/>
                <a:sym typeface="Helvetica Neue"/>
              </a:rPr>
              <a:t>?</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71" name="Google Shape;271;p7"/>
          <p:cNvSpPr txBox="1"/>
          <p:nvPr/>
        </p:nvSpPr>
        <p:spPr>
          <a:xfrm>
            <a:off x="6453625" y="2224875"/>
            <a:ext cx="5298300" cy="59976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t/>
            </a:r>
            <a:endParaRPr b="0" i="0" sz="18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Respuestas: </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330200" lvl="0" marL="457200" marR="0" rtl="0" algn="l">
              <a:lnSpc>
                <a:spcPct val="100000"/>
              </a:lnSpc>
              <a:spcBef>
                <a:spcPts val="0"/>
              </a:spcBef>
              <a:spcAft>
                <a:spcPts val="0"/>
              </a:spcAft>
              <a:buClr>
                <a:srgbClr val="5E5E5E"/>
              </a:buClr>
              <a:buSzPts val="1600"/>
              <a:buFont typeface="Helvetica Neue"/>
              <a:buAutoNum type="arabicPeriod"/>
            </a:pPr>
            <a:r>
              <a:rPr lang="en-US" sz="1600">
                <a:solidFill>
                  <a:srgbClr val="5E5E5E"/>
                </a:solidFill>
                <a:latin typeface="Helvetica Neue"/>
                <a:ea typeface="Helvetica Neue"/>
                <a:cs typeface="Helvetica Neue"/>
                <a:sym typeface="Helvetica Neue"/>
              </a:rPr>
              <a:t>No mucho, porque siempre cuando meto las cosas estoy apurada y las meto a la rapida nomas, y el peso queda mal distribuido aparte.</a:t>
            </a:r>
            <a:endParaRPr sz="1600">
              <a:solidFill>
                <a:srgbClr val="5E5E5E"/>
              </a:solidFill>
              <a:latin typeface="Helvetica Neue"/>
              <a:ea typeface="Helvetica Neue"/>
              <a:cs typeface="Helvetica Neue"/>
              <a:sym typeface="Helvetica Neue"/>
            </a:endParaRPr>
          </a:p>
          <a:p>
            <a:pPr indent="-330200" lvl="0" marL="457200" marR="0" rtl="0" algn="l">
              <a:lnSpc>
                <a:spcPct val="100000"/>
              </a:lnSpc>
              <a:spcBef>
                <a:spcPts val="0"/>
              </a:spcBef>
              <a:spcAft>
                <a:spcPts val="0"/>
              </a:spcAft>
              <a:buClr>
                <a:srgbClr val="5E5E5E"/>
              </a:buClr>
              <a:buSzPts val="1600"/>
              <a:buFont typeface="Helvetica Neue"/>
              <a:buAutoNum type="arabicPeriod"/>
            </a:pPr>
            <a:r>
              <a:rPr lang="en-US" sz="1600">
                <a:solidFill>
                  <a:srgbClr val="5E5E5E"/>
                </a:solidFill>
                <a:latin typeface="Helvetica Neue"/>
                <a:ea typeface="Helvetica Neue"/>
                <a:cs typeface="Helvetica Neue"/>
                <a:sym typeface="Helvetica Neue"/>
              </a:rPr>
              <a:t>E</a:t>
            </a:r>
            <a:r>
              <a:rPr lang="en-US" sz="1600">
                <a:solidFill>
                  <a:srgbClr val="5E5E5E"/>
                </a:solidFill>
                <a:latin typeface="Helvetica Neue"/>
                <a:ea typeface="Helvetica Neue"/>
                <a:cs typeface="Helvetica Neue"/>
                <a:sym typeface="Helvetica Neue"/>
              </a:rPr>
              <a:t>stética</a:t>
            </a:r>
            <a:r>
              <a:rPr lang="en-US" sz="1600">
                <a:solidFill>
                  <a:srgbClr val="5E5E5E"/>
                </a:solidFill>
                <a:latin typeface="Helvetica Neue"/>
                <a:ea typeface="Helvetica Neue"/>
                <a:cs typeface="Helvetica Neue"/>
                <a:sym typeface="Helvetica Neue"/>
              </a:rPr>
              <a:t> y comodidad, ocupo un bolso que me resulta </a:t>
            </a:r>
            <a:r>
              <a:rPr lang="en-US" sz="1600">
                <a:solidFill>
                  <a:srgbClr val="5E5E5E"/>
                </a:solidFill>
                <a:latin typeface="Helvetica Neue"/>
                <a:ea typeface="Helvetica Neue"/>
                <a:cs typeface="Helvetica Neue"/>
                <a:sym typeface="Helvetica Neue"/>
              </a:rPr>
              <a:t>cómodo</a:t>
            </a:r>
            <a:r>
              <a:rPr lang="en-US" sz="1600">
                <a:solidFill>
                  <a:srgbClr val="5E5E5E"/>
                </a:solidFill>
                <a:latin typeface="Helvetica Neue"/>
                <a:ea typeface="Helvetica Neue"/>
                <a:cs typeface="Helvetica Neue"/>
                <a:sym typeface="Helvetica Neue"/>
              </a:rPr>
              <a:t> y lindo, que una mochila de </a:t>
            </a:r>
            <a:r>
              <a:rPr lang="en-US" sz="1600">
                <a:solidFill>
                  <a:srgbClr val="5E5E5E"/>
                </a:solidFill>
                <a:latin typeface="Helvetica Neue"/>
                <a:ea typeface="Helvetica Neue"/>
                <a:cs typeface="Helvetica Neue"/>
                <a:sym typeface="Helvetica Neue"/>
              </a:rPr>
              <a:t>repente</a:t>
            </a:r>
            <a:r>
              <a:rPr lang="en-US" sz="1600">
                <a:solidFill>
                  <a:srgbClr val="5E5E5E"/>
                </a:solidFill>
                <a:latin typeface="Helvetica Neue"/>
                <a:ea typeface="Helvetica Neue"/>
                <a:cs typeface="Helvetica Neue"/>
                <a:sym typeface="Helvetica Neue"/>
              </a:rPr>
              <a:t> me duele mas la espalda por tener el peso en un solo lado. </a:t>
            </a:r>
            <a:endParaRPr sz="1600">
              <a:solidFill>
                <a:srgbClr val="5E5E5E"/>
              </a:solidFill>
              <a:latin typeface="Helvetica Neue"/>
              <a:ea typeface="Helvetica Neue"/>
              <a:cs typeface="Helvetica Neue"/>
              <a:sym typeface="Helvetica Neue"/>
            </a:endParaRPr>
          </a:p>
          <a:p>
            <a:pPr indent="-330200" lvl="0" marL="457200" marR="0" rtl="0" algn="l">
              <a:lnSpc>
                <a:spcPct val="100000"/>
              </a:lnSpc>
              <a:spcBef>
                <a:spcPts val="0"/>
              </a:spcBef>
              <a:spcAft>
                <a:spcPts val="0"/>
              </a:spcAft>
              <a:buClr>
                <a:srgbClr val="5E5E5E"/>
              </a:buClr>
              <a:buSzPts val="1600"/>
              <a:buFont typeface="Helvetica Neue"/>
              <a:buAutoNum type="arabicPeriod"/>
            </a:pPr>
            <a:r>
              <a:rPr lang="en-US" sz="1600">
                <a:solidFill>
                  <a:srgbClr val="5E5E5E"/>
                </a:solidFill>
                <a:latin typeface="Helvetica Neue"/>
                <a:ea typeface="Helvetica Neue"/>
                <a:cs typeface="Helvetica Neue"/>
                <a:sym typeface="Helvetica Neue"/>
              </a:rPr>
              <a:t>Si, cuando uso mi bolso por mucho rato, con mucho peso me empieza a molestar la espalda, </a:t>
            </a:r>
            <a:r>
              <a:rPr lang="en-US" sz="1600">
                <a:solidFill>
                  <a:srgbClr val="5E5E5E"/>
                </a:solidFill>
                <a:latin typeface="Helvetica Neue"/>
                <a:ea typeface="Helvetica Neue"/>
                <a:cs typeface="Helvetica Neue"/>
                <a:sym typeface="Helvetica Neue"/>
              </a:rPr>
              <a:t>además</a:t>
            </a:r>
            <a:r>
              <a:rPr lang="en-US" sz="1600">
                <a:solidFill>
                  <a:srgbClr val="5E5E5E"/>
                </a:solidFill>
                <a:latin typeface="Helvetica Neue"/>
                <a:ea typeface="Helvetica Neue"/>
                <a:cs typeface="Helvetica Neue"/>
                <a:sym typeface="Helvetica Neue"/>
              </a:rPr>
              <a:t> tengo problemas en la espalda entonces no tengo tanta fuerza </a:t>
            </a:r>
            <a:r>
              <a:rPr lang="en-US" sz="1600">
                <a:solidFill>
                  <a:srgbClr val="5E5E5E"/>
                </a:solidFill>
                <a:latin typeface="Helvetica Neue"/>
                <a:ea typeface="Helvetica Neue"/>
                <a:cs typeface="Helvetica Neue"/>
                <a:sym typeface="Helvetica Neue"/>
              </a:rPr>
              <a:t>ahí</a:t>
            </a:r>
            <a:r>
              <a:rPr lang="en-US" sz="1600">
                <a:solidFill>
                  <a:srgbClr val="5E5E5E"/>
                </a:solidFill>
                <a:latin typeface="Helvetica Neue"/>
                <a:ea typeface="Helvetica Neue"/>
                <a:cs typeface="Helvetica Neue"/>
                <a:sym typeface="Helvetica Neue"/>
              </a:rPr>
              <a:t>. </a:t>
            </a:r>
            <a:endParaRPr sz="1600">
              <a:solidFill>
                <a:srgbClr val="5E5E5E"/>
              </a:solidFill>
              <a:latin typeface="Helvetica Neue"/>
              <a:ea typeface="Helvetica Neue"/>
              <a:cs typeface="Helvetica Neue"/>
              <a:sym typeface="Helvetica Neue"/>
            </a:endParaRPr>
          </a:p>
          <a:p>
            <a:pPr indent="-330200" lvl="0" marL="457200" marR="0" rtl="0" algn="l">
              <a:lnSpc>
                <a:spcPct val="100000"/>
              </a:lnSpc>
              <a:spcBef>
                <a:spcPts val="0"/>
              </a:spcBef>
              <a:spcAft>
                <a:spcPts val="0"/>
              </a:spcAft>
              <a:buClr>
                <a:srgbClr val="5E5E5E"/>
              </a:buClr>
              <a:buSzPts val="1600"/>
              <a:buFont typeface="Helvetica Neue"/>
              <a:buAutoNum type="arabicPeriod"/>
            </a:pPr>
            <a:r>
              <a:rPr lang="en-US" sz="1600">
                <a:solidFill>
                  <a:srgbClr val="5E5E5E"/>
                </a:solidFill>
                <a:latin typeface="Helvetica Neue"/>
                <a:ea typeface="Helvetica Neue"/>
                <a:cs typeface="Helvetica Neue"/>
                <a:sym typeface="Helvetica Neue"/>
              </a:rPr>
              <a:t>Por un lado del bolso pongo lo mas importante como computador o cables, y en el otro lado los cuadernos o hojas.</a:t>
            </a:r>
            <a:endParaRPr sz="16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72" name="Google Shape;272;p7"/>
          <p:cNvSpPr txBox="1"/>
          <p:nvPr/>
        </p:nvSpPr>
        <p:spPr>
          <a:xfrm>
            <a:off x="793435" y="1379272"/>
            <a:ext cx="11417930" cy="684133"/>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grpSp>
        <p:nvGrpSpPr>
          <p:cNvPr id="273" name="Google Shape;273;p7"/>
          <p:cNvGrpSpPr/>
          <p:nvPr/>
        </p:nvGrpSpPr>
        <p:grpSpPr>
          <a:xfrm>
            <a:off x="1212905" y="8677287"/>
            <a:ext cx="10578992" cy="621064"/>
            <a:chOff x="0" y="0"/>
            <a:chExt cx="10578990" cy="621062"/>
          </a:xfrm>
        </p:grpSpPr>
        <p:cxnSp>
          <p:nvCxnSpPr>
            <p:cNvPr id="274" name="Google Shape;274;p7"/>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275" name="Google Shape;275;p7"/>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76" name="Google Shape;276;p7"/>
            <p:cNvSpPr/>
            <p:nvPr/>
          </p:nvSpPr>
          <p:spPr>
            <a:xfrm>
              <a:off x="2489481"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77" name="Google Shape;277;p7"/>
            <p:cNvSpPr/>
            <p:nvPr/>
          </p:nvSpPr>
          <p:spPr>
            <a:xfrm>
              <a:off x="4978963"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78" name="Google Shape;278;p7"/>
            <p:cNvSpPr/>
            <p:nvPr/>
          </p:nvSpPr>
          <p:spPr>
            <a:xfrm>
              <a:off x="7468444"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79" name="Google Shape;279;p7"/>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descr="EA11.png" id="284" name="Google Shape;284;g3610181ab0c_0_0"/>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285" name="Google Shape;285;g3610181ab0c_0_0"/>
          <p:cNvSpPr txBox="1"/>
          <p:nvPr/>
        </p:nvSpPr>
        <p:spPr>
          <a:xfrm>
            <a:off x="789684" y="2224881"/>
            <a:ext cx="5298300" cy="17844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Nombre Entrevistado:</a:t>
            </a:r>
            <a:r>
              <a:rPr lang="en-US" sz="1800">
                <a:solidFill>
                  <a:srgbClr val="5E5E5E"/>
                </a:solidFill>
                <a:latin typeface="Helvetica Neue"/>
                <a:ea typeface="Helvetica Neue"/>
                <a:cs typeface="Helvetica Neue"/>
                <a:sym typeface="Helvetica Neue"/>
              </a:rPr>
              <a:t> </a:t>
            </a:r>
            <a:r>
              <a:rPr lang="en-US" sz="1800">
                <a:solidFill>
                  <a:schemeClr val="dk1"/>
                </a:solidFill>
                <a:latin typeface="Helvetica Neue"/>
                <a:ea typeface="Helvetica Neue"/>
                <a:cs typeface="Helvetica Neue"/>
                <a:sym typeface="Helvetica Neue"/>
              </a:rPr>
              <a:t>Magdalena Zuñiga </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Nombre Entrevistador:</a:t>
            </a:r>
            <a:r>
              <a:rPr lang="en-US" sz="1800">
                <a:solidFill>
                  <a:srgbClr val="5E5E5E"/>
                </a:solidFill>
                <a:latin typeface="Helvetica Neue"/>
                <a:ea typeface="Helvetica Neue"/>
                <a:cs typeface="Helvetica Neue"/>
                <a:sym typeface="Helvetica Neue"/>
              </a:rPr>
              <a:t> </a:t>
            </a:r>
            <a:r>
              <a:rPr lang="en-US" sz="1800">
                <a:solidFill>
                  <a:schemeClr val="dk1"/>
                </a:solidFill>
                <a:latin typeface="Helvetica Neue"/>
                <a:ea typeface="Helvetica Neue"/>
                <a:cs typeface="Helvetica Neue"/>
                <a:sym typeface="Helvetica Neue"/>
              </a:rPr>
              <a:t>Franco Nicolai</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Fecha: 10/06/2025</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Hora: 10:32</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Lugar: Construcción </a:t>
            </a:r>
            <a:r>
              <a:rPr lang="en-US" sz="1800">
                <a:solidFill>
                  <a:srgbClr val="5E5E5E"/>
                </a:solidFill>
                <a:latin typeface="Helvetica Neue"/>
                <a:ea typeface="Helvetica Neue"/>
                <a:cs typeface="Helvetica Neue"/>
                <a:sym typeface="Helvetica Neue"/>
              </a:rPr>
              <a:t>C</a:t>
            </a:r>
            <a:r>
              <a:rPr b="0" i="0" lang="en-US" sz="1800" u="none" cap="none" strike="noStrike">
                <a:solidFill>
                  <a:srgbClr val="5E5E5E"/>
                </a:solidFill>
                <a:latin typeface="Helvetica Neue"/>
                <a:ea typeface="Helvetica Neue"/>
                <a:cs typeface="Helvetica Neue"/>
                <a:sym typeface="Helvetica Neue"/>
              </a:rPr>
              <a:t>ivil UC</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Justificación de entrevista: tenia una mala postura.</a:t>
            </a:r>
            <a:endParaRPr b="0" i="0" sz="1400" u="none" cap="none" strike="noStrike">
              <a:solidFill>
                <a:srgbClr val="000000"/>
              </a:solidFill>
              <a:latin typeface="Helvetica Neue"/>
              <a:ea typeface="Helvetica Neue"/>
              <a:cs typeface="Helvetica Neue"/>
              <a:sym typeface="Helvetica Neue"/>
            </a:endParaRPr>
          </a:p>
        </p:txBody>
      </p:sp>
      <p:sp>
        <p:nvSpPr>
          <p:cNvPr id="286" name="Google Shape;286;g3610181ab0c_0_0"/>
          <p:cNvSpPr txBox="1"/>
          <p:nvPr/>
        </p:nvSpPr>
        <p:spPr>
          <a:xfrm>
            <a:off x="789684" y="4431458"/>
            <a:ext cx="5298300" cy="40455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Preguntas: </a:t>
            </a:r>
            <a:endParaRPr b="0" i="0" sz="18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1.- ¿Consideras que </a:t>
            </a:r>
            <a:r>
              <a:rPr lang="en-US" sz="1800">
                <a:solidFill>
                  <a:srgbClr val="5E5E5E"/>
                </a:solidFill>
                <a:latin typeface="Helvetica Neue"/>
                <a:ea typeface="Helvetica Neue"/>
                <a:cs typeface="Helvetica Neue"/>
                <a:sym typeface="Helvetica Neue"/>
              </a:rPr>
              <a:t>distribuyes</a:t>
            </a:r>
            <a:r>
              <a:rPr lang="en-US" sz="1800">
                <a:solidFill>
                  <a:srgbClr val="5E5E5E"/>
                </a:solidFill>
                <a:latin typeface="Helvetica Neue"/>
                <a:ea typeface="Helvetica Neue"/>
                <a:cs typeface="Helvetica Neue"/>
                <a:sym typeface="Helvetica Neue"/>
              </a:rPr>
              <a:t> de manera eficiente el peso en tu mochila?¿a qué crees que se debe esto?¿por qué?</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2.- ¿Qué prefieres, estética, comodidad o eficiencia?(puede ser más de una)¿Consideras que tu mochila posee estas cosas?¿por qué?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3.- ¿Has experimentado o notado molestias físicas relacionadas con el uso de mochilas?</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4.- ¿</a:t>
            </a:r>
            <a:r>
              <a:rPr lang="en-US" sz="1800">
                <a:solidFill>
                  <a:srgbClr val="5E5E5E"/>
                </a:solidFill>
                <a:latin typeface="Helvetica Neue"/>
                <a:ea typeface="Helvetica Neue"/>
                <a:cs typeface="Helvetica Neue"/>
                <a:sym typeface="Helvetica Neue"/>
              </a:rPr>
              <a:t>Cómo</a:t>
            </a:r>
            <a:r>
              <a:rPr lang="en-US" sz="1800">
                <a:solidFill>
                  <a:srgbClr val="5E5E5E"/>
                </a:solidFill>
                <a:latin typeface="Helvetica Neue"/>
                <a:ea typeface="Helvetica Neue"/>
                <a:cs typeface="Helvetica Neue"/>
                <a:sym typeface="Helvetica Neue"/>
              </a:rPr>
              <a:t> organizas las cosas que debes llevar al ir a la universidad?</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87" name="Google Shape;287;g3610181ab0c_0_0"/>
          <p:cNvSpPr txBox="1"/>
          <p:nvPr/>
        </p:nvSpPr>
        <p:spPr>
          <a:xfrm>
            <a:off x="6453625" y="2224875"/>
            <a:ext cx="5298300" cy="6252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t/>
            </a:r>
            <a:endParaRPr b="0" i="0" sz="18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r>
              <a:rPr b="0" i="0" lang="en-US" sz="1800" u="none" cap="none" strike="noStrike">
                <a:solidFill>
                  <a:srgbClr val="5E5E5E"/>
                </a:solidFill>
                <a:latin typeface="Helvetica Neue"/>
                <a:ea typeface="Helvetica Neue"/>
                <a:cs typeface="Helvetica Neue"/>
                <a:sym typeface="Helvetica Neue"/>
              </a:rPr>
              <a:t>Respuestas:</a:t>
            </a: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r>
              <a:rPr lang="en-US" sz="1800">
                <a:solidFill>
                  <a:srgbClr val="5E5E5E"/>
                </a:solidFill>
                <a:latin typeface="Helvetica Neue"/>
                <a:ea typeface="Helvetica Neue"/>
                <a:cs typeface="Helvetica Neue"/>
                <a:sym typeface="Helvetica Neue"/>
              </a:rPr>
              <a:t>1. No se, trato de distribuirlo lo mejor posible porque traigo muchas cosas en la mochila, pero igual hay veces en que me pesa más y otras veces en que me pesa menos. Yo creo que se debe al hecho que mi mochila siempre está muy cargada</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2. Prefiero comodidad y eficiencia. Al principio, cuando compré la mochila, si poseía estas cualidades, pero ahora que ya la llevo usando muchos años, se le ha ido por completo la comodidad.</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3. Sí, me duele la espalda después de un día largo cargando con la mochila</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4. Siempre traigo todas las cosas que necesito para estudiar a la universidad, además de un bolso de vez en cuando</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88" name="Google Shape;288;g3610181ab0c_0_0"/>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descr="EA11.png" id="293" name="Google Shape;293;g3610181ab0c_0_30"/>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294" name="Google Shape;294;g3610181ab0c_0_30"/>
          <p:cNvSpPr txBox="1"/>
          <p:nvPr/>
        </p:nvSpPr>
        <p:spPr>
          <a:xfrm>
            <a:off x="789684" y="2224881"/>
            <a:ext cx="5298300" cy="17844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Nombre Entrevistado:</a:t>
            </a:r>
            <a:r>
              <a:rPr lang="en-US" sz="1800">
                <a:solidFill>
                  <a:srgbClr val="5E5E5E"/>
                </a:solidFill>
                <a:latin typeface="Helvetica Neue"/>
                <a:ea typeface="Helvetica Neue"/>
                <a:cs typeface="Helvetica Neue"/>
                <a:sym typeface="Helvetica Neue"/>
              </a:rPr>
              <a:t> </a:t>
            </a:r>
            <a:r>
              <a:rPr lang="en-US" sz="1800">
                <a:solidFill>
                  <a:schemeClr val="dk1"/>
                </a:solidFill>
                <a:latin typeface="Helvetica Neue"/>
                <a:ea typeface="Helvetica Neue"/>
                <a:cs typeface="Helvetica Neue"/>
                <a:sym typeface="Helvetica Neue"/>
              </a:rPr>
              <a:t>Vicente Olea</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Nombre Entrevistador:</a:t>
            </a:r>
            <a:r>
              <a:rPr lang="en-US" sz="1800">
                <a:solidFill>
                  <a:srgbClr val="5E5E5E"/>
                </a:solidFill>
                <a:latin typeface="Helvetica Neue"/>
                <a:ea typeface="Helvetica Neue"/>
                <a:cs typeface="Helvetica Neue"/>
                <a:sym typeface="Helvetica Neue"/>
              </a:rPr>
              <a:t> </a:t>
            </a:r>
            <a:r>
              <a:rPr lang="en-US" sz="1800">
                <a:solidFill>
                  <a:schemeClr val="dk1"/>
                </a:solidFill>
                <a:latin typeface="Helvetica Neue"/>
                <a:ea typeface="Helvetica Neue"/>
                <a:cs typeface="Helvetica Neue"/>
                <a:sym typeface="Helvetica Neue"/>
              </a:rPr>
              <a:t>Franco Nicolai</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echa: 10/06/2025</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Hora: 10:32</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Lugar: </a:t>
            </a:r>
            <a:r>
              <a:rPr lang="en-US" sz="1800">
                <a:solidFill>
                  <a:srgbClr val="5E5E5E"/>
                </a:solidFill>
                <a:latin typeface="Helvetica Neue"/>
                <a:ea typeface="Helvetica Neue"/>
                <a:cs typeface="Helvetica Neue"/>
                <a:sym typeface="Helvetica Neue"/>
              </a:rPr>
              <a:t>Facultad de Matemáticas</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Justificación de entrevista: </a:t>
            </a:r>
            <a:r>
              <a:rPr lang="en-US" sz="1800">
                <a:solidFill>
                  <a:srgbClr val="5E5E5E"/>
                </a:solidFill>
                <a:latin typeface="Helvetica Neue"/>
                <a:ea typeface="Helvetica Neue"/>
                <a:cs typeface="Helvetica Neue"/>
                <a:sym typeface="Helvetica Neue"/>
              </a:rPr>
              <a:t>random</a:t>
            </a:r>
            <a:endParaRPr b="0" i="0" sz="1400" u="none" cap="none" strike="noStrike">
              <a:solidFill>
                <a:srgbClr val="000000"/>
              </a:solidFill>
              <a:latin typeface="Helvetica Neue"/>
              <a:ea typeface="Helvetica Neue"/>
              <a:cs typeface="Helvetica Neue"/>
              <a:sym typeface="Helvetica Neue"/>
            </a:endParaRPr>
          </a:p>
        </p:txBody>
      </p:sp>
      <p:sp>
        <p:nvSpPr>
          <p:cNvPr id="295" name="Google Shape;295;g3610181ab0c_0_30"/>
          <p:cNvSpPr txBox="1"/>
          <p:nvPr/>
        </p:nvSpPr>
        <p:spPr>
          <a:xfrm>
            <a:off x="789684" y="4431458"/>
            <a:ext cx="5298300" cy="40455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Preguntas: </a:t>
            </a:r>
            <a:endParaRPr b="0" i="0" sz="18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1.- ¿Consideras que distribuyen de manera eficiente el peso en tu mochila?¿a qué crees que se debe esto?¿por qué?</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2.- ¿Qué prefieres, estética, comodidad o eficiencia?(puede ser más de una)¿Consideras que tu mochila posee estas cosas?¿por qué?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3.- ¿Has experimentado o notado molestias físicas relacionadas con el uso de mochilas?</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4.- ¿Cómo organizas las cosas que debes llevar al ir a la universidad?</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96" name="Google Shape;296;g3610181ab0c_0_30"/>
          <p:cNvSpPr txBox="1"/>
          <p:nvPr/>
        </p:nvSpPr>
        <p:spPr>
          <a:xfrm>
            <a:off x="6453625" y="2224875"/>
            <a:ext cx="5298300" cy="6252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r>
              <a:rPr b="0" i="0" lang="en-US" sz="1800" u="none" cap="none" strike="noStrike">
                <a:solidFill>
                  <a:srgbClr val="5E5E5E"/>
                </a:solidFill>
                <a:latin typeface="Helvetica Neue"/>
                <a:ea typeface="Helvetica Neue"/>
                <a:cs typeface="Helvetica Neue"/>
                <a:sym typeface="Helvetica Neue"/>
              </a:rPr>
              <a:t>Respuestas:</a:t>
            </a: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r>
              <a:rPr lang="en-US" sz="1800">
                <a:solidFill>
                  <a:srgbClr val="5E5E5E"/>
                </a:solidFill>
                <a:latin typeface="Helvetica Neue"/>
                <a:ea typeface="Helvetica Neue"/>
                <a:cs typeface="Helvetica Neue"/>
                <a:sym typeface="Helvetica Neue"/>
              </a:rPr>
              <a:t>1. Si, esto se debe a que me preocupo de organizar donde van las cosas en mi mochila para que no quede descompensada.</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2. Prefiero comodidad y eficiencia, siempre y cuando no sea horrible xd. Considero que mi mochila si posee estas 3 cosas. Me gusta el diseño y tiene buena capacidad y no es incomoda.</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3. Algunas veces sí, cuando esta está muy llena o muy pesada.</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4. Pongo tablet </a:t>
            </a:r>
            <a:r>
              <a:rPr lang="en-US" sz="1800">
                <a:solidFill>
                  <a:srgbClr val="5E5E5E"/>
                </a:solidFill>
                <a:latin typeface="Helvetica Neue"/>
                <a:ea typeface="Helvetica Neue"/>
                <a:cs typeface="Helvetica Neue"/>
                <a:sym typeface="Helvetica Neue"/>
              </a:rPr>
              <a:t>o</a:t>
            </a:r>
            <a:r>
              <a:rPr lang="en-US" sz="1800">
                <a:solidFill>
                  <a:srgbClr val="5E5E5E"/>
                </a:solidFill>
                <a:latin typeface="Helvetica Neue"/>
                <a:ea typeface="Helvetica Neue"/>
                <a:cs typeface="Helvetica Neue"/>
                <a:sym typeface="Helvetica Neue"/>
              </a:rPr>
              <a:t> computadora bolsillo que tiene para llevar esto, y el resto de las cosas las acomodo en el bolsillo grande de forma que los pesos queden distribuidos.</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297" name="Google Shape;297;g3610181ab0c_0_30"/>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descr="EA11.png" id="302" name="Google Shape;302;g360f6df450a_0_0"/>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303" name="Google Shape;303;g360f6df450a_0_0"/>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
        <p:nvSpPr>
          <p:cNvPr id="304" name="Google Shape;304;g360f6df450a_0_0"/>
          <p:cNvSpPr txBox="1"/>
          <p:nvPr/>
        </p:nvSpPr>
        <p:spPr>
          <a:xfrm>
            <a:off x="789675" y="2224946"/>
            <a:ext cx="5298300" cy="6252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Nombre Entrevistado: </a:t>
            </a:r>
            <a:r>
              <a:rPr lang="en-US" sz="1800">
                <a:solidFill>
                  <a:schemeClr val="dk1"/>
                </a:solidFill>
                <a:latin typeface="Helvetica Neue"/>
                <a:ea typeface="Helvetica Neue"/>
                <a:cs typeface="Helvetica Neue"/>
                <a:sym typeface="Helvetica Neue"/>
              </a:rPr>
              <a:t>Javiera Zamora</a:t>
            </a:r>
            <a:endParaRPr>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Nombre Entrevistador: </a:t>
            </a:r>
            <a:r>
              <a:rPr lang="en-US" sz="1800">
                <a:solidFill>
                  <a:schemeClr val="dk1"/>
                </a:solidFill>
                <a:latin typeface="Helvetica Neue"/>
                <a:ea typeface="Helvetica Neue"/>
                <a:cs typeface="Helvetica Neue"/>
                <a:sym typeface="Helvetica Neue"/>
              </a:rPr>
              <a:t>Maithe León</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Fecha: 10/06/2025</a:t>
            </a:r>
            <a:endParaRPr>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Hora: 19:41</a:t>
            </a:r>
            <a:endParaRPr>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Lugar: Facultad de Ingeniería </a:t>
            </a:r>
            <a:endParaRPr>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Justificación de entrevista: Mochila bonita</a:t>
            </a:r>
            <a:endParaRPr>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Preguntas: </a:t>
            </a:r>
            <a:endParaRPr b="0" i="0" sz="1800" u="none" cap="none" strike="noStrike">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1.- ¿Consideras que distribuyen de manera eficiente el peso en tu mochila?¿a qué crees que se debe esto?¿por qué?</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2.- ¿Qué prefieres, estética, comodidad o eficiencia?(puede ser más de una)¿Consideras que tu mochila posee estas cosas?¿por qué?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3.- ¿Has experimentado o notado molestias físicas relacionadas con el uso de mochilas?</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4.- ¿Cómo organizas las cosas que debes llevar al ir a la universidad?</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305" name="Google Shape;305;g360f6df450a_0_0"/>
          <p:cNvSpPr txBox="1"/>
          <p:nvPr/>
        </p:nvSpPr>
        <p:spPr>
          <a:xfrm>
            <a:off x="6453625" y="2224875"/>
            <a:ext cx="5298300" cy="6252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Respuestas:</a:t>
            </a:r>
            <a:endParaRPr b="0" i="0" sz="1800" u="none" cap="none" strike="noStrike">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br>
              <a:rPr lang="en-US" sz="1800">
                <a:solidFill>
                  <a:srgbClr val="5E5E5E"/>
                </a:solidFill>
                <a:latin typeface="Helvetica Neue"/>
                <a:ea typeface="Helvetica Neue"/>
                <a:cs typeface="Helvetica Neue"/>
                <a:sym typeface="Helvetica Neue"/>
              </a:rPr>
            </a:br>
            <a:r>
              <a:rPr lang="en-US" sz="1800">
                <a:solidFill>
                  <a:srgbClr val="5E5E5E"/>
                </a:solidFill>
                <a:latin typeface="Helvetica Neue"/>
                <a:ea typeface="Helvetica Neue"/>
                <a:cs typeface="Helvetica Neue"/>
                <a:sym typeface="Helvetica Neue"/>
              </a:rPr>
              <a:t>1. Si, ya que siempre trato de poner cosas pesadas en cada lado de la mochila para que cuando ,e la coloque no tienda a irse hacia un lado por el </a:t>
            </a:r>
            <a:r>
              <a:rPr lang="en-US" sz="1800">
                <a:solidFill>
                  <a:srgbClr val="5E5E5E"/>
                </a:solidFill>
                <a:latin typeface="Helvetica Neue"/>
                <a:ea typeface="Helvetica Neue"/>
                <a:cs typeface="Helvetica Neue"/>
                <a:sym typeface="Helvetica Neue"/>
              </a:rPr>
              <a:t>peso lo</a:t>
            </a:r>
            <a:r>
              <a:rPr lang="en-US" sz="1800">
                <a:solidFill>
                  <a:srgbClr val="5E5E5E"/>
                </a:solidFill>
                <a:latin typeface="Helvetica Neue"/>
                <a:ea typeface="Helvetica Neue"/>
                <a:cs typeface="Helvetica Neue"/>
                <a:sym typeface="Helvetica Neue"/>
              </a:rPr>
              <a:t> que </a:t>
            </a:r>
            <a:r>
              <a:rPr lang="en-US" sz="1800">
                <a:solidFill>
                  <a:srgbClr val="5E5E5E"/>
                </a:solidFill>
                <a:latin typeface="Helvetica Neue"/>
                <a:ea typeface="Helvetica Neue"/>
                <a:cs typeface="Helvetica Neue"/>
                <a:sym typeface="Helvetica Neue"/>
              </a:rPr>
              <a:t>haría</a:t>
            </a:r>
            <a:r>
              <a:rPr lang="en-US" sz="1800">
                <a:solidFill>
                  <a:srgbClr val="5E5E5E"/>
                </a:solidFill>
                <a:latin typeface="Helvetica Neue"/>
                <a:ea typeface="Helvetica Neue"/>
                <a:cs typeface="Helvetica Neue"/>
                <a:sym typeface="Helvetica Neue"/>
              </a:rPr>
              <a:t> que me enchuecara yo, por lo que siempre trato de distribuir bien el peso con el fin de andar más </a:t>
            </a:r>
            <a:r>
              <a:rPr lang="en-US" sz="1800">
                <a:solidFill>
                  <a:srgbClr val="5E5E5E"/>
                </a:solidFill>
                <a:latin typeface="Helvetica Neue"/>
                <a:ea typeface="Helvetica Neue"/>
                <a:cs typeface="Helvetica Neue"/>
                <a:sym typeface="Helvetica Neue"/>
              </a:rPr>
              <a:t>cómoda</a:t>
            </a:r>
            <a:r>
              <a:rPr lang="en-US" sz="1800">
                <a:solidFill>
                  <a:srgbClr val="5E5E5E"/>
                </a:solidFill>
                <a:latin typeface="Helvetica Neue"/>
                <a:ea typeface="Helvetica Neue"/>
                <a:cs typeface="Helvetica Neue"/>
                <a:sym typeface="Helvetica Neue"/>
              </a:rPr>
              <a:t>.</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2. Siento que lo mejor es encontrar un equilibrio entre las 3, yo siempre trato de que mis mochilas sean </a:t>
            </a:r>
            <a:r>
              <a:rPr lang="en-US" sz="1800">
                <a:solidFill>
                  <a:srgbClr val="5E5E5E"/>
                </a:solidFill>
                <a:latin typeface="Helvetica Neue"/>
                <a:ea typeface="Helvetica Neue"/>
                <a:cs typeface="Helvetica Neue"/>
                <a:sym typeface="Helvetica Neue"/>
              </a:rPr>
              <a:t>cómodas</a:t>
            </a:r>
            <a:r>
              <a:rPr lang="en-US" sz="1800">
                <a:solidFill>
                  <a:srgbClr val="5E5E5E"/>
                </a:solidFill>
                <a:latin typeface="Helvetica Neue"/>
                <a:ea typeface="Helvetica Neue"/>
                <a:cs typeface="Helvetica Neue"/>
                <a:sym typeface="Helvetica Neue"/>
              </a:rPr>
              <a:t> y </a:t>
            </a:r>
            <a:r>
              <a:rPr lang="en-US" sz="1800">
                <a:solidFill>
                  <a:srgbClr val="5E5E5E"/>
                </a:solidFill>
                <a:latin typeface="Helvetica Neue"/>
                <a:ea typeface="Helvetica Neue"/>
                <a:cs typeface="Helvetica Neue"/>
                <a:sym typeface="Helvetica Neue"/>
              </a:rPr>
              <a:t>prácticas</a:t>
            </a:r>
            <a:r>
              <a:rPr lang="en-US" sz="1800">
                <a:solidFill>
                  <a:srgbClr val="5E5E5E"/>
                </a:solidFill>
                <a:latin typeface="Helvetica Neue"/>
                <a:ea typeface="Helvetica Neue"/>
                <a:cs typeface="Helvetica Neue"/>
                <a:sym typeface="Helvetica Neue"/>
              </a:rPr>
              <a:t> y que </a:t>
            </a:r>
            <a:r>
              <a:rPr lang="en-US" sz="1800">
                <a:solidFill>
                  <a:srgbClr val="5E5E5E"/>
                </a:solidFill>
                <a:latin typeface="Helvetica Neue"/>
                <a:ea typeface="Helvetica Neue"/>
                <a:cs typeface="Helvetica Neue"/>
                <a:sym typeface="Helvetica Neue"/>
              </a:rPr>
              <a:t>también sean bonitas. Actualmente siento que mi mochila cumple bastante bien las 3 cosas, ya que la encuentro bonita y siempre entran todas mis cosas.</a:t>
            </a:r>
            <a:r>
              <a:rPr lang="en-US" sz="1800">
                <a:solidFill>
                  <a:srgbClr val="5E5E5E"/>
                </a:solidFill>
                <a:latin typeface="Helvetica Neue"/>
                <a:ea typeface="Helvetica Neue"/>
                <a:cs typeface="Helvetica Neue"/>
                <a:sym typeface="Helvetica Neue"/>
              </a:rPr>
              <a:t>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3. Si, con frecuencia me duelen los hombros y la </a:t>
            </a:r>
            <a:r>
              <a:rPr lang="en-US" sz="1800">
                <a:solidFill>
                  <a:srgbClr val="5E5E5E"/>
                </a:solidFill>
                <a:latin typeface="Helvetica Neue"/>
                <a:ea typeface="Helvetica Neue"/>
                <a:cs typeface="Helvetica Neue"/>
                <a:sym typeface="Helvetica Neue"/>
              </a:rPr>
              <a:t>espalda</a:t>
            </a:r>
            <a:r>
              <a:rPr lang="en-US" sz="1800">
                <a:solidFill>
                  <a:srgbClr val="5E5E5E"/>
                </a:solidFill>
                <a:latin typeface="Helvetica Neue"/>
                <a:ea typeface="Helvetica Neue"/>
                <a:cs typeface="Helvetica Neue"/>
                <a:sym typeface="Helvetica Neue"/>
              </a:rPr>
              <a:t>, pero eso es porque muchas veces llevo mucho peso en la mochila, lo que obviamente significa un esfuerzo mayor para mi cuerpo.</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4. Normalmente las organizo la noche anterior y voy haciendo una checklist mental de todo lo que tengo en el día para que no se me olvide nada.</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60f6df450a_0_9"/>
          <p:cNvSpPr txBox="1"/>
          <p:nvPr/>
        </p:nvSpPr>
        <p:spPr>
          <a:xfrm>
            <a:off x="793425" y="2218375"/>
            <a:ext cx="4847400" cy="7227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Nombre Entrevistado: </a:t>
            </a:r>
            <a:r>
              <a:rPr lang="en-US" sz="1800">
                <a:solidFill>
                  <a:schemeClr val="dk1"/>
                </a:solidFill>
                <a:latin typeface="Helvetica Neue"/>
                <a:ea typeface="Helvetica Neue"/>
                <a:cs typeface="Helvetica Neue"/>
                <a:sym typeface="Helvetica Neue"/>
              </a:rPr>
              <a:t>Laura Salgado</a:t>
            </a:r>
            <a:endParaRPr>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Nombre Entrevistador: </a:t>
            </a:r>
            <a:r>
              <a:rPr lang="en-US" sz="1800">
                <a:solidFill>
                  <a:schemeClr val="dk1"/>
                </a:solidFill>
                <a:latin typeface="Helvetica Neue"/>
                <a:ea typeface="Helvetica Neue"/>
                <a:cs typeface="Helvetica Neue"/>
                <a:sym typeface="Helvetica Neue"/>
              </a:rPr>
              <a:t>Maithe León</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Fecha: 10/06/2025</a:t>
            </a:r>
            <a:endParaRPr>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Hora: 19:43</a:t>
            </a:r>
            <a:endParaRPr>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Lugar: Facultad de Ingeniería </a:t>
            </a:r>
            <a:endParaRPr>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Justificación de entrevista: Mochila práctica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Preguntas: </a:t>
            </a:r>
            <a:endParaRPr b="0" i="0" sz="1800" u="none" cap="none" strike="noStrike">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1.- ¿Consideras que distribuyen de manera eficiente el peso en tu mochila?¿a qué crees que se debe esto?¿por qué?</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2.- ¿Qué prefieres, estética, comodidad o eficiencia?(puede ser más de una)¿Consideras que tu mochila posee estas cosas?¿por qué?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3.- ¿Has experimentado o notado molestias físicas relacionadas con el uso de mochilas?</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4.- ¿Cómo organizas las cosas que debes llevar al ir a la universidad?</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311" name="Google Shape;311;g360f6df450a_0_9"/>
          <p:cNvSpPr txBox="1"/>
          <p:nvPr/>
        </p:nvSpPr>
        <p:spPr>
          <a:xfrm>
            <a:off x="5999325" y="2224875"/>
            <a:ext cx="5752500" cy="7227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Respuestas:</a:t>
            </a:r>
            <a:endParaRPr b="0" i="0" sz="1800" u="none" cap="none" strike="noStrike">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br>
              <a:rPr lang="en-US" sz="1800">
                <a:solidFill>
                  <a:srgbClr val="5E5E5E"/>
                </a:solidFill>
                <a:latin typeface="Helvetica Neue"/>
                <a:ea typeface="Helvetica Neue"/>
                <a:cs typeface="Helvetica Neue"/>
                <a:sym typeface="Helvetica Neue"/>
              </a:rPr>
            </a:br>
            <a:r>
              <a:rPr lang="en-US" sz="1800">
                <a:solidFill>
                  <a:srgbClr val="5E5E5E"/>
                </a:solidFill>
                <a:latin typeface="Helvetica Neue"/>
                <a:ea typeface="Helvetica Neue"/>
                <a:cs typeface="Helvetica Neue"/>
                <a:sym typeface="Helvetica Neue"/>
              </a:rPr>
              <a:t>1. Considero que distribuyo bien el peso en la mochila, porque mi mochila tiene un espacio para poner el computador, los cuadernos y todo lo demás. Luego en la parte más grande pongo mi lonchera, agua, estuche, entre otras cosas.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2. Prefiero eficiencia y </a:t>
            </a:r>
            <a:r>
              <a:rPr lang="en-US" sz="1800">
                <a:solidFill>
                  <a:srgbClr val="5E5E5E"/>
                </a:solidFill>
                <a:latin typeface="Helvetica Neue"/>
                <a:ea typeface="Helvetica Neue"/>
                <a:cs typeface="Helvetica Neue"/>
                <a:sym typeface="Helvetica Neue"/>
              </a:rPr>
              <a:t>estética</a:t>
            </a:r>
            <a:r>
              <a:rPr lang="en-US" sz="1800">
                <a:solidFill>
                  <a:srgbClr val="5E5E5E"/>
                </a:solidFill>
                <a:latin typeface="Helvetica Neue"/>
                <a:ea typeface="Helvetica Neue"/>
                <a:cs typeface="Helvetica Neue"/>
                <a:sym typeface="Helvetica Neue"/>
              </a:rPr>
              <a:t>. Considero que mi mochila posee esas características, pero creo que podría mejorar. Me gustaría que tuviera más espacios y bolsillos de formas que se adapten a lo que uno normalmente lleva. Por ejemplo, me gustaría que dentro de la mochila hubiera un espacio para poner una botella de agua o termo para que no se derramara. A demás, me gustaría una mochila más bonita, pero considero que son muy caras.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3. Sí, me suele doler la espalda en el camino a la universidad.</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4. Pongo el computador, cuadernos y ipad en la parte más cercana a mi espalda, de forma que queden vertical. Luego al fondo pongo mi lonchera, encima pongo mi estuche y lentes. Finalmente intento poner mi botella de agua por el lado, de forma que quede parada y no correr riesgo de que se derrame.</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pic>
        <p:nvPicPr>
          <p:cNvPr descr="EA11.png" id="312" name="Google Shape;312;g360f6df450a_0_9"/>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313" name="Google Shape;313;g360f6df450a_0_9"/>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675a51192a_0_0"/>
          <p:cNvSpPr txBox="1"/>
          <p:nvPr/>
        </p:nvSpPr>
        <p:spPr>
          <a:xfrm>
            <a:off x="793425" y="2218375"/>
            <a:ext cx="4847400" cy="7227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Nombre Entrevistado: Sofía Morales</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Nombre Entrevistador: Javier Cañete</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Fecha: 19/06/2025</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Hora: 10:10</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Lugar: Sala de estudio Biblioteca Central UC</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Justificación de entrevista: Estudiante de Letras, ordenando su mochila.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Preguntas: </a:t>
            </a:r>
            <a:endParaRPr b="0" i="0" sz="1800" u="none" cap="none" strike="noStrike">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1.- ¿Consideras que distribuyen de manera eficiente el peso en tu mochila?¿a qué crees que se debe esto?¿por qué?</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2.- ¿Qué prefieres, estética, comodidad o eficiencia?(puede ser más de una)¿Consideras que tu mochila posee estas cosas?¿por qué?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3.- ¿Has experimentado o notado molestias físicas relacionadas con el uso de mochilas?</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4.- ¿Cómo organizas las cosas que debes llevar al ir a la universidad?</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319" name="Google Shape;319;g3675a51192a_0_0"/>
          <p:cNvSpPr txBox="1"/>
          <p:nvPr/>
        </p:nvSpPr>
        <p:spPr>
          <a:xfrm>
            <a:off x="5999325" y="2224875"/>
            <a:ext cx="6811500" cy="7227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Respuestas:</a:t>
            </a:r>
            <a:endParaRPr b="0" i="0" sz="1800" u="none" cap="none" strike="noStrike">
              <a:solidFill>
                <a:srgbClr val="5E5E5E"/>
              </a:solidFill>
              <a:latin typeface="Helvetica Neue"/>
              <a:ea typeface="Helvetica Neue"/>
              <a:cs typeface="Helvetica Neue"/>
              <a:sym typeface="Helvetica Neue"/>
            </a:endParaRPr>
          </a:p>
          <a:p>
            <a:pPr indent="-342900" lvl="0" marL="457200" marR="0" rtl="0" algn="just">
              <a:lnSpc>
                <a:spcPct val="100000"/>
              </a:lnSpc>
              <a:spcBef>
                <a:spcPts val="0"/>
              </a:spcBef>
              <a:spcAft>
                <a:spcPts val="0"/>
              </a:spcAft>
              <a:buClr>
                <a:srgbClr val="5E5E5E"/>
              </a:buClr>
              <a:buSzPts val="1800"/>
              <a:buFont typeface="Helvetica Neue"/>
              <a:buAutoNum type="arabicPeriod"/>
            </a:pPr>
            <a:r>
              <a:rPr lang="en-US" sz="1800">
                <a:solidFill>
                  <a:srgbClr val="5E5E5E"/>
                </a:solidFill>
                <a:latin typeface="Helvetica Neue"/>
                <a:ea typeface="Helvetica Neue"/>
                <a:cs typeface="Helvetica Neue"/>
                <a:sym typeface="Helvetica Neue"/>
              </a:rPr>
              <a:t>Creo que sí. Trato de dejar el computador lo más pegado a la espalda posible y los libros al fondo. Si no lo hago así, se me carga todo a un lado y me incomoda.</a:t>
            </a:r>
            <a:br>
              <a:rPr lang="en-US" sz="1800">
                <a:solidFill>
                  <a:srgbClr val="5E5E5E"/>
                </a:solidFill>
                <a:latin typeface="Helvetica Neue"/>
                <a:ea typeface="Helvetica Neue"/>
                <a:cs typeface="Helvetica Neue"/>
                <a:sym typeface="Helvetica Neue"/>
              </a:rPr>
            </a:br>
            <a:endParaRPr sz="1800">
              <a:solidFill>
                <a:srgbClr val="5E5E5E"/>
              </a:solidFill>
              <a:latin typeface="Helvetica Neue"/>
              <a:ea typeface="Helvetica Neue"/>
              <a:cs typeface="Helvetica Neue"/>
              <a:sym typeface="Helvetica Neue"/>
            </a:endParaRPr>
          </a:p>
          <a:p>
            <a:pPr indent="-342900" lvl="0" marL="457200" rtl="0" algn="just">
              <a:spcBef>
                <a:spcPts val="0"/>
              </a:spcBef>
              <a:spcAft>
                <a:spcPts val="0"/>
              </a:spcAft>
              <a:buClr>
                <a:srgbClr val="5E5E5E"/>
              </a:buClr>
              <a:buSzPts val="1800"/>
              <a:buFont typeface="Helvetica Neue"/>
              <a:buAutoNum type="arabicPeriod"/>
            </a:pPr>
            <a:r>
              <a:rPr lang="en-US" sz="1800">
                <a:solidFill>
                  <a:srgbClr val="5E5E5E"/>
                </a:solidFill>
                <a:latin typeface="Helvetica Neue"/>
                <a:ea typeface="Helvetica Neue"/>
                <a:cs typeface="Helvetica Neue"/>
                <a:sym typeface="Helvetica Neue"/>
              </a:rPr>
              <a:t>Comodidad y eficiencia. Estética me da lo mismo. Esta mochila me la regaló mi hermana y tiene hartos bolsillos. Me gusta porque sé exactamente dónde va cada cosa.</a:t>
            </a:r>
            <a:br>
              <a:rPr lang="en-US" sz="1800">
                <a:solidFill>
                  <a:srgbClr val="5E5E5E"/>
                </a:solidFill>
                <a:latin typeface="Helvetica Neue"/>
                <a:ea typeface="Helvetica Neue"/>
                <a:cs typeface="Helvetica Neue"/>
                <a:sym typeface="Helvetica Neue"/>
              </a:rPr>
            </a:br>
            <a:endParaRPr sz="1800">
              <a:solidFill>
                <a:srgbClr val="5E5E5E"/>
              </a:solidFill>
              <a:latin typeface="Helvetica Neue"/>
              <a:ea typeface="Helvetica Neue"/>
              <a:cs typeface="Helvetica Neue"/>
              <a:sym typeface="Helvetica Neue"/>
            </a:endParaRPr>
          </a:p>
          <a:p>
            <a:pPr indent="-342900" lvl="0" marL="457200" rtl="0" algn="just">
              <a:spcBef>
                <a:spcPts val="0"/>
              </a:spcBef>
              <a:spcAft>
                <a:spcPts val="0"/>
              </a:spcAft>
              <a:buClr>
                <a:srgbClr val="5E5E5E"/>
              </a:buClr>
              <a:buSzPts val="1800"/>
              <a:buFont typeface="Helvetica Neue"/>
              <a:buAutoNum type="arabicPeriod"/>
            </a:pPr>
            <a:r>
              <a:rPr lang="en-US" sz="1800">
                <a:solidFill>
                  <a:srgbClr val="5E5E5E"/>
                </a:solidFill>
                <a:latin typeface="Helvetica Neue"/>
                <a:ea typeface="Helvetica Neue"/>
                <a:cs typeface="Helvetica Neue"/>
                <a:sym typeface="Helvetica Neue"/>
              </a:rPr>
              <a:t>Sí, cuando traigo libros muy pesados me empieza a doler la espalda baja. Por eso trato de traer solo lo justo.</a:t>
            </a:r>
            <a:br>
              <a:rPr lang="en-US" sz="1800">
                <a:solidFill>
                  <a:srgbClr val="5E5E5E"/>
                </a:solidFill>
                <a:latin typeface="Helvetica Neue"/>
                <a:ea typeface="Helvetica Neue"/>
                <a:cs typeface="Helvetica Neue"/>
                <a:sym typeface="Helvetica Neue"/>
              </a:rPr>
            </a:br>
            <a:endParaRPr sz="1800">
              <a:solidFill>
                <a:srgbClr val="5E5E5E"/>
              </a:solidFill>
              <a:latin typeface="Helvetica Neue"/>
              <a:ea typeface="Helvetica Neue"/>
              <a:cs typeface="Helvetica Neue"/>
              <a:sym typeface="Helvetica Neue"/>
            </a:endParaRPr>
          </a:p>
          <a:p>
            <a:pPr indent="-342900" lvl="0" marL="457200" rtl="0" algn="just">
              <a:spcBef>
                <a:spcPts val="0"/>
              </a:spcBef>
              <a:spcAft>
                <a:spcPts val="0"/>
              </a:spcAft>
              <a:buClr>
                <a:srgbClr val="5E5E5E"/>
              </a:buClr>
              <a:buSzPts val="1800"/>
              <a:buFont typeface="Helvetica Neue"/>
              <a:buAutoNum type="arabicPeriod"/>
            </a:pPr>
            <a:r>
              <a:rPr lang="en-US" sz="1800">
                <a:solidFill>
                  <a:srgbClr val="5E5E5E"/>
                </a:solidFill>
                <a:latin typeface="Helvetica Neue"/>
                <a:ea typeface="Helvetica Neue"/>
                <a:cs typeface="Helvetica Neue"/>
                <a:sym typeface="Helvetica Neue"/>
              </a:rPr>
              <a:t>Según el horario del día. Veo qué clases tengo y en base a eso agarro los cuadernos y los dejo listos la noche anterior. Siempre llevo botella de agua en el lado externo.</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pic>
        <p:nvPicPr>
          <p:cNvPr descr="EA11.png" id="320" name="Google Shape;320;g3675a51192a_0_0"/>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321" name="Google Shape;321;g3675a51192a_0_0"/>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3675a51192a_0_9"/>
          <p:cNvSpPr txBox="1"/>
          <p:nvPr/>
        </p:nvSpPr>
        <p:spPr>
          <a:xfrm>
            <a:off x="793425" y="2218375"/>
            <a:ext cx="4847400" cy="7227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Nombre Entrevistado: Tomás Gutiérrez</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Nombre Entrevistador: Javier Cañete</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Fecha: 17/06/2025</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Hora: 12:35</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Lugar: Patio de Ingeniería</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Justificación de entrevista: Estaba almorzando con su mochila abierta y muy cargada al lado.</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Preguntas: </a:t>
            </a:r>
            <a:endParaRPr b="0" i="0" sz="1800" u="none" cap="none" strike="noStrike">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1.- ¿Consideras que distribuyen de manera eficiente el peso en tu mochila?¿a qué crees que se debe esto?¿por qué?</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2.- ¿Qué prefieres, estética, comodidad o eficiencia?(puede ser más de una)¿Consideras que tu mochila posee estas cosas?¿por qué?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3.- ¿Has experimentado o notado molestias físicas relacionadas con el uso de mochilas?</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4.- ¿Cómo organizas las cosas que debes llevar al ir a la universidad?</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327" name="Google Shape;327;g3675a51192a_0_9"/>
          <p:cNvSpPr txBox="1"/>
          <p:nvPr/>
        </p:nvSpPr>
        <p:spPr>
          <a:xfrm>
            <a:off x="5999325" y="2224875"/>
            <a:ext cx="6811500" cy="7227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Respuestas:</a:t>
            </a:r>
            <a:endParaRPr b="0" i="0" sz="1800" u="none" cap="none" strike="noStrike">
              <a:solidFill>
                <a:srgbClr val="5E5E5E"/>
              </a:solidFill>
              <a:latin typeface="Helvetica Neue"/>
              <a:ea typeface="Helvetica Neue"/>
              <a:cs typeface="Helvetica Neue"/>
              <a:sym typeface="Helvetica Neue"/>
            </a:endParaRPr>
          </a:p>
          <a:p>
            <a:pPr indent="-342900" lvl="0" marL="457200" rtl="0" algn="just">
              <a:spcBef>
                <a:spcPts val="0"/>
              </a:spcBef>
              <a:spcAft>
                <a:spcPts val="0"/>
              </a:spcAft>
              <a:buClr>
                <a:srgbClr val="5E5E5E"/>
              </a:buClr>
              <a:buSzPts val="1800"/>
              <a:buFont typeface="Helvetica Neue"/>
              <a:buAutoNum type="arabicPeriod"/>
            </a:pPr>
            <a:r>
              <a:rPr lang="en-US" sz="1800">
                <a:solidFill>
                  <a:srgbClr val="5E5E5E"/>
                </a:solidFill>
                <a:latin typeface="Helvetica Neue"/>
                <a:ea typeface="Helvetica Neue"/>
                <a:cs typeface="Helvetica Neue"/>
                <a:sym typeface="Helvetica Neue"/>
              </a:rPr>
              <a:t>No. Nunca pienso dónde pongo las cosas. Y cuando me acuerdo ya estoy en el metro con la mochila desbalanceada y el hombro a medio morir. Me pasa todo el tiempo.</a:t>
            </a:r>
            <a:endParaRPr sz="1800">
              <a:solidFill>
                <a:srgbClr val="5E5E5E"/>
              </a:solidFill>
              <a:latin typeface="Helvetica Neue"/>
              <a:ea typeface="Helvetica Neue"/>
              <a:cs typeface="Helvetica Neue"/>
              <a:sym typeface="Helvetica Neue"/>
            </a:endParaRPr>
          </a:p>
          <a:p>
            <a:pPr indent="0" lvl="0" marL="457200" rtl="0" algn="just">
              <a:spcBef>
                <a:spcPts val="0"/>
              </a:spcBef>
              <a:spcAft>
                <a:spcPts val="0"/>
              </a:spcAft>
              <a:buNone/>
            </a:pPr>
            <a:r>
              <a:t/>
            </a:r>
            <a:endParaRPr sz="1800">
              <a:solidFill>
                <a:srgbClr val="5E5E5E"/>
              </a:solidFill>
              <a:latin typeface="Helvetica Neue"/>
              <a:ea typeface="Helvetica Neue"/>
              <a:cs typeface="Helvetica Neue"/>
              <a:sym typeface="Helvetica Neue"/>
            </a:endParaRPr>
          </a:p>
          <a:p>
            <a:pPr indent="-342900" lvl="0" marL="457200" rtl="0" algn="just">
              <a:spcBef>
                <a:spcPts val="0"/>
              </a:spcBef>
              <a:spcAft>
                <a:spcPts val="0"/>
              </a:spcAft>
              <a:buClr>
                <a:srgbClr val="5E5E5E"/>
              </a:buClr>
              <a:buSzPts val="1800"/>
              <a:buFont typeface="Helvetica Neue"/>
              <a:buAutoNum type="arabicPeriod"/>
            </a:pPr>
            <a:r>
              <a:rPr lang="en-US" sz="1800">
                <a:solidFill>
                  <a:srgbClr val="5E5E5E"/>
                </a:solidFill>
                <a:latin typeface="Helvetica Neue"/>
                <a:ea typeface="Helvetica Neue"/>
                <a:cs typeface="Helvetica Neue"/>
                <a:sym typeface="Helvetica Neue"/>
              </a:rPr>
              <a:t>Diría eficiencia, pero al final ni sé qué tan eficiente es mi mochila. Tiene bolsillos, sí, pero los uso todos igual y después ni me acuerdo dónde dejé las llaves los audifonos.</a:t>
            </a:r>
            <a:endParaRPr sz="1800">
              <a:solidFill>
                <a:srgbClr val="5E5E5E"/>
              </a:solidFill>
              <a:latin typeface="Helvetica Neue"/>
              <a:ea typeface="Helvetica Neue"/>
              <a:cs typeface="Helvetica Neue"/>
              <a:sym typeface="Helvetica Neue"/>
            </a:endParaRPr>
          </a:p>
          <a:p>
            <a:pPr indent="0" lvl="0" marL="457200" rtl="0" algn="just">
              <a:spcBef>
                <a:spcPts val="0"/>
              </a:spcBef>
              <a:spcAft>
                <a:spcPts val="0"/>
              </a:spcAft>
              <a:buNone/>
            </a:pPr>
            <a:r>
              <a:t/>
            </a:r>
            <a:endParaRPr sz="1800">
              <a:solidFill>
                <a:srgbClr val="5E5E5E"/>
              </a:solidFill>
              <a:latin typeface="Helvetica Neue"/>
              <a:ea typeface="Helvetica Neue"/>
              <a:cs typeface="Helvetica Neue"/>
              <a:sym typeface="Helvetica Neue"/>
            </a:endParaRPr>
          </a:p>
          <a:p>
            <a:pPr indent="-342900" lvl="0" marL="457200" rtl="0" algn="just">
              <a:spcBef>
                <a:spcPts val="0"/>
              </a:spcBef>
              <a:spcAft>
                <a:spcPts val="0"/>
              </a:spcAft>
              <a:buClr>
                <a:srgbClr val="5E5E5E"/>
              </a:buClr>
              <a:buSzPts val="1800"/>
              <a:buFont typeface="Helvetica Neue"/>
              <a:buAutoNum type="arabicPeriod"/>
            </a:pPr>
            <a:r>
              <a:rPr lang="en-US" sz="1800">
                <a:solidFill>
                  <a:srgbClr val="5E5E5E"/>
                </a:solidFill>
                <a:latin typeface="Helvetica Neue"/>
                <a:ea typeface="Helvetica Neue"/>
                <a:cs typeface="Helvetica Neue"/>
                <a:sym typeface="Helvetica Neue"/>
              </a:rPr>
              <a:t>Sí, especialmente los días largos. Siento que el cuerpo se resiente, pero uno lo normaliza. Y más encima los profes a veces hacen que llevemos cosas que ni usamos…</a:t>
            </a:r>
            <a:endParaRPr sz="1800">
              <a:solidFill>
                <a:srgbClr val="5E5E5E"/>
              </a:solidFill>
              <a:latin typeface="Helvetica Neue"/>
              <a:ea typeface="Helvetica Neue"/>
              <a:cs typeface="Helvetica Neue"/>
              <a:sym typeface="Helvetica Neue"/>
            </a:endParaRPr>
          </a:p>
          <a:p>
            <a:pPr indent="0" lvl="0" marL="457200" rtl="0" algn="just">
              <a:spcBef>
                <a:spcPts val="0"/>
              </a:spcBef>
              <a:spcAft>
                <a:spcPts val="0"/>
              </a:spcAft>
              <a:buNone/>
            </a:pPr>
            <a:r>
              <a:t/>
            </a:r>
            <a:endParaRPr sz="1800">
              <a:solidFill>
                <a:srgbClr val="5E5E5E"/>
              </a:solidFill>
              <a:latin typeface="Helvetica Neue"/>
              <a:ea typeface="Helvetica Neue"/>
              <a:cs typeface="Helvetica Neue"/>
              <a:sym typeface="Helvetica Neue"/>
            </a:endParaRPr>
          </a:p>
          <a:p>
            <a:pPr indent="-342900" lvl="0" marL="457200" rtl="0" algn="just">
              <a:spcBef>
                <a:spcPts val="0"/>
              </a:spcBef>
              <a:spcAft>
                <a:spcPts val="0"/>
              </a:spcAft>
              <a:buClr>
                <a:srgbClr val="5E5E5E"/>
              </a:buClr>
              <a:buSzPts val="1800"/>
              <a:buFont typeface="Helvetica Neue"/>
              <a:buAutoNum type="arabicPeriod"/>
            </a:pPr>
            <a:r>
              <a:rPr lang="en-US" sz="1800">
                <a:solidFill>
                  <a:srgbClr val="5E5E5E"/>
                </a:solidFill>
                <a:latin typeface="Helvetica Neue"/>
                <a:ea typeface="Helvetica Neue"/>
                <a:cs typeface="Helvetica Neue"/>
                <a:sym typeface="Helvetica Neue"/>
              </a:rPr>
              <a:t>Lo organizo mal, esa es la verdad. Siempre digo “mañana me organizo mejor” pero nunca pasa.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pic>
        <p:nvPicPr>
          <p:cNvPr descr="EA11.png" id="328" name="Google Shape;328;g3675a51192a_0_9"/>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329" name="Google Shape;329;g3675a51192a_0_9"/>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3675a51192a_0_18"/>
          <p:cNvSpPr txBox="1"/>
          <p:nvPr/>
        </p:nvSpPr>
        <p:spPr>
          <a:xfrm>
            <a:off x="793425" y="2218375"/>
            <a:ext cx="4847400" cy="7227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l">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Nombre Entrevistado: Diego Pavez</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Nombre Entrevistador: Javier Cañete</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Fecha: 19/06/2025</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Hora: 14:50</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Lugar: Estacionamiento de bicicletas, Campus San Joaquín</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Justificación de entrevista: Se mueve en bicicleta con mochila deportiva.</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rtl="0" algn="just">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Preguntas: </a:t>
            </a:r>
            <a:endParaRPr b="0" i="0" sz="1800" u="none" cap="none" strike="noStrike">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1.- ¿Consideras que distribuyen de manera eficiente el peso en tu mochila?¿a qué crees que se debe esto?¿por qué?</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2.- ¿Qué prefieres, estética, comodidad o eficiencia?(puede ser más de una)¿Consideras que tu mochila posee estas cosas?¿por qué?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3.- ¿Has experimentado o notado molestias físicas relacionadas con el uso de mochilas?</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lang="en-US" sz="1800">
                <a:solidFill>
                  <a:srgbClr val="5E5E5E"/>
                </a:solidFill>
                <a:latin typeface="Helvetica Neue"/>
                <a:ea typeface="Helvetica Neue"/>
                <a:cs typeface="Helvetica Neue"/>
                <a:sym typeface="Helvetica Neue"/>
              </a:rPr>
              <a:t>4.- ¿Cómo organizas las cosas que debes llevar al ir a la universidad?</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335" name="Google Shape;335;g3675a51192a_0_18"/>
          <p:cNvSpPr txBox="1"/>
          <p:nvPr/>
        </p:nvSpPr>
        <p:spPr>
          <a:xfrm>
            <a:off x="5640825" y="2224875"/>
            <a:ext cx="7170000" cy="7227000"/>
          </a:xfrm>
          <a:prstGeom prst="rect">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br>
              <a:rPr lang="en-US" sz="1800">
                <a:solidFill>
                  <a:srgbClr val="5E5E5E"/>
                </a:solidFill>
                <a:latin typeface="Helvetica Neue"/>
                <a:ea typeface="Helvetica Neue"/>
                <a:cs typeface="Helvetica Neue"/>
                <a:sym typeface="Helvetica Neue"/>
              </a:rPr>
            </a:b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rPr b="0" i="0" lang="en-US" sz="1800" u="none" cap="none" strike="noStrike">
                <a:solidFill>
                  <a:srgbClr val="5E5E5E"/>
                </a:solidFill>
                <a:latin typeface="Helvetica Neue"/>
                <a:ea typeface="Helvetica Neue"/>
                <a:cs typeface="Helvetica Neue"/>
                <a:sym typeface="Helvetica Neue"/>
              </a:rPr>
              <a:t>Respuestas:</a:t>
            </a:r>
            <a:endParaRPr b="0" i="0" sz="1800" u="none" cap="none" strike="noStrike">
              <a:solidFill>
                <a:srgbClr val="5E5E5E"/>
              </a:solidFill>
              <a:latin typeface="Helvetica Neue"/>
              <a:ea typeface="Helvetica Neue"/>
              <a:cs typeface="Helvetica Neue"/>
              <a:sym typeface="Helvetica Neue"/>
            </a:endParaRPr>
          </a:p>
          <a:p>
            <a:pPr indent="-342900" lvl="0" marL="457200" rtl="0" algn="just">
              <a:spcBef>
                <a:spcPts val="0"/>
              </a:spcBef>
              <a:spcAft>
                <a:spcPts val="0"/>
              </a:spcAft>
              <a:buClr>
                <a:srgbClr val="5E5E5E"/>
              </a:buClr>
              <a:buSzPts val="1800"/>
              <a:buFont typeface="Helvetica Neue"/>
              <a:buAutoNum type="arabicPeriod"/>
            </a:pPr>
            <a:r>
              <a:rPr lang="en-US" sz="1800">
                <a:solidFill>
                  <a:srgbClr val="5E5E5E"/>
                </a:solidFill>
                <a:latin typeface="Helvetica Neue"/>
                <a:ea typeface="Helvetica Neue"/>
                <a:cs typeface="Helvetica Neue"/>
                <a:sym typeface="Helvetica Neue"/>
              </a:rPr>
              <a:t>Intento distribuir bien el peso, pero igual hay días en que voy apurado y la mochila queda chueca. Me doy cuenta cuando ya estoy pedaleando y se me va todo para un lado. Ahí ya es tarde y ando todo el día incómodo.</a:t>
            </a:r>
            <a:endParaRPr sz="1800">
              <a:solidFill>
                <a:srgbClr val="5E5E5E"/>
              </a:solidFill>
              <a:latin typeface="Helvetica Neue"/>
              <a:ea typeface="Helvetica Neue"/>
              <a:cs typeface="Helvetica Neue"/>
              <a:sym typeface="Helvetica Neue"/>
            </a:endParaRPr>
          </a:p>
          <a:p>
            <a:pPr indent="0" lvl="0" marL="457200" rtl="0" algn="just">
              <a:spcBef>
                <a:spcPts val="0"/>
              </a:spcBef>
              <a:spcAft>
                <a:spcPts val="0"/>
              </a:spcAft>
              <a:buNone/>
            </a:pPr>
            <a:r>
              <a:t/>
            </a:r>
            <a:endParaRPr sz="1800">
              <a:solidFill>
                <a:srgbClr val="5E5E5E"/>
              </a:solidFill>
              <a:latin typeface="Helvetica Neue"/>
              <a:ea typeface="Helvetica Neue"/>
              <a:cs typeface="Helvetica Neue"/>
              <a:sym typeface="Helvetica Neue"/>
            </a:endParaRPr>
          </a:p>
          <a:p>
            <a:pPr indent="-342900" lvl="0" marL="457200" rtl="0" algn="just">
              <a:spcBef>
                <a:spcPts val="0"/>
              </a:spcBef>
              <a:spcAft>
                <a:spcPts val="0"/>
              </a:spcAft>
              <a:buClr>
                <a:srgbClr val="5E5E5E"/>
              </a:buClr>
              <a:buSzPts val="1800"/>
              <a:buFont typeface="Helvetica Neue"/>
              <a:buAutoNum type="arabicPeriod"/>
            </a:pPr>
            <a:r>
              <a:rPr lang="en-US" sz="1800">
                <a:solidFill>
                  <a:srgbClr val="5E5E5E"/>
                </a:solidFill>
                <a:latin typeface="Helvetica Neue"/>
                <a:ea typeface="Helvetica Neue"/>
                <a:cs typeface="Helvetica Neue"/>
                <a:sym typeface="Helvetica Neue"/>
              </a:rPr>
              <a:t>Prefiero comodidad. Estética cero. Uso una mochila de trekking que heredé de mi hermano, que tiene buenas correas y acolchado, pero igual está media rota ya. La sigo usando porque me salva.</a:t>
            </a:r>
            <a:endParaRPr sz="1800">
              <a:solidFill>
                <a:srgbClr val="5E5E5E"/>
              </a:solidFill>
              <a:latin typeface="Helvetica Neue"/>
              <a:ea typeface="Helvetica Neue"/>
              <a:cs typeface="Helvetica Neue"/>
              <a:sym typeface="Helvetica Neue"/>
            </a:endParaRPr>
          </a:p>
          <a:p>
            <a:pPr indent="0" lvl="0" marL="457200" rtl="0" algn="just">
              <a:spcBef>
                <a:spcPts val="0"/>
              </a:spcBef>
              <a:spcAft>
                <a:spcPts val="0"/>
              </a:spcAft>
              <a:buNone/>
            </a:pPr>
            <a:r>
              <a:t/>
            </a:r>
            <a:endParaRPr sz="1800">
              <a:solidFill>
                <a:srgbClr val="5E5E5E"/>
              </a:solidFill>
              <a:latin typeface="Helvetica Neue"/>
              <a:ea typeface="Helvetica Neue"/>
              <a:cs typeface="Helvetica Neue"/>
              <a:sym typeface="Helvetica Neue"/>
            </a:endParaRPr>
          </a:p>
          <a:p>
            <a:pPr indent="-342900" lvl="0" marL="457200" rtl="0" algn="just">
              <a:spcBef>
                <a:spcPts val="0"/>
              </a:spcBef>
              <a:spcAft>
                <a:spcPts val="0"/>
              </a:spcAft>
              <a:buClr>
                <a:srgbClr val="5E5E5E"/>
              </a:buClr>
              <a:buSzPts val="1800"/>
              <a:buFont typeface="Helvetica Neue"/>
              <a:buAutoNum type="arabicPeriod"/>
            </a:pPr>
            <a:r>
              <a:rPr lang="en-US" sz="1800">
                <a:solidFill>
                  <a:srgbClr val="5E5E5E"/>
                </a:solidFill>
                <a:latin typeface="Helvetica Neue"/>
                <a:ea typeface="Helvetica Neue"/>
                <a:cs typeface="Helvetica Neue"/>
                <a:sym typeface="Helvetica Neue"/>
              </a:rPr>
              <a:t>Sí, harto. Sobre todo en los hombros si me paso con lo que cargo. Y cuando dejo la bici mal estacionada, tengo que caminar con todo al hombro y ahí se siente peor. Es como que uno se acostumbra al dolor y lo deja pasar.</a:t>
            </a:r>
            <a:endParaRPr sz="1800">
              <a:solidFill>
                <a:srgbClr val="5E5E5E"/>
              </a:solidFill>
              <a:latin typeface="Helvetica Neue"/>
              <a:ea typeface="Helvetica Neue"/>
              <a:cs typeface="Helvetica Neue"/>
              <a:sym typeface="Helvetica Neue"/>
            </a:endParaRPr>
          </a:p>
          <a:p>
            <a:pPr indent="0" lvl="0" marL="457200" rtl="0" algn="just">
              <a:spcBef>
                <a:spcPts val="0"/>
              </a:spcBef>
              <a:spcAft>
                <a:spcPts val="0"/>
              </a:spcAft>
              <a:buNone/>
            </a:pPr>
            <a:r>
              <a:t/>
            </a:r>
            <a:endParaRPr sz="1800">
              <a:solidFill>
                <a:srgbClr val="5E5E5E"/>
              </a:solidFill>
              <a:latin typeface="Helvetica Neue"/>
              <a:ea typeface="Helvetica Neue"/>
              <a:cs typeface="Helvetica Neue"/>
              <a:sym typeface="Helvetica Neue"/>
            </a:endParaRPr>
          </a:p>
          <a:p>
            <a:pPr indent="-342900" lvl="0" marL="457200" rtl="0" algn="just">
              <a:spcBef>
                <a:spcPts val="0"/>
              </a:spcBef>
              <a:spcAft>
                <a:spcPts val="0"/>
              </a:spcAft>
              <a:buClr>
                <a:srgbClr val="5E5E5E"/>
              </a:buClr>
              <a:buSzPts val="1800"/>
              <a:buFont typeface="Helvetica Neue"/>
              <a:buAutoNum type="arabicPeriod"/>
            </a:pPr>
            <a:r>
              <a:rPr lang="en-US" sz="1800">
                <a:solidFill>
                  <a:srgbClr val="5E5E5E"/>
                </a:solidFill>
                <a:latin typeface="Helvetica Neue"/>
                <a:ea typeface="Helvetica Neue"/>
                <a:cs typeface="Helvetica Neue"/>
                <a:sym typeface="Helvetica Neue"/>
              </a:rPr>
              <a:t>Llevo lo mínimo, pero a veces me pasa que me falta algo porque me fui en la volá de aligerar peso. Por ejemplo, he llegado sin cuaderno o sin comida. </a:t>
            </a:r>
            <a:endParaRPr sz="1800">
              <a:solidFill>
                <a:srgbClr val="5E5E5E"/>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5E5E5E"/>
              </a:buClr>
              <a:buSzPts val="1800"/>
              <a:buFont typeface="Helvetica Neue"/>
              <a:buNone/>
            </a:pPr>
            <a:r>
              <a:t/>
            </a:r>
            <a:endParaRPr sz="1800">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pic>
        <p:nvPicPr>
          <p:cNvPr descr="EA11.png" id="336" name="Google Shape;336;g3675a51192a_0_18"/>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337" name="Google Shape;337;g3675a51192a_0_18"/>
          <p:cNvSpPr txBox="1"/>
          <p:nvPr/>
        </p:nvSpPr>
        <p:spPr>
          <a:xfrm>
            <a:off x="793410"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65ac9f83fe_3_4"/>
          <p:cNvSpPr txBox="1"/>
          <p:nvPr/>
        </p:nvSpPr>
        <p:spPr>
          <a:xfrm>
            <a:off x="998750" y="3399150"/>
            <a:ext cx="11007300" cy="3509400"/>
          </a:xfrm>
          <a:prstGeom prst="rect">
            <a:avLst/>
          </a:prstGeom>
          <a:noFill/>
          <a:ln>
            <a:noFill/>
          </a:ln>
        </p:spPr>
        <p:txBody>
          <a:bodyPr anchorCtr="0" anchor="t" bIns="91425" lIns="91425" spcFirstLastPara="1" rIns="91425" wrap="square" tIns="91425">
            <a:spAutoFit/>
          </a:bodyPr>
          <a:lstStyle/>
          <a:p>
            <a:pPr indent="0" lvl="0" marL="0" rtl="0" algn="ctr">
              <a:spcBef>
                <a:spcPts val="4200"/>
              </a:spcBef>
              <a:spcAft>
                <a:spcPts val="0"/>
              </a:spcAft>
              <a:buNone/>
            </a:pPr>
            <a:r>
              <a:rPr lang="en-US" sz="3600">
                <a:latin typeface="Helvetica Neue"/>
                <a:ea typeface="Helvetica Neue"/>
                <a:cs typeface="Helvetica Neue"/>
                <a:sym typeface="Helvetica Neue"/>
              </a:rPr>
              <a:t>Los anteriores entrevistas fueron desarrolladas con las </a:t>
            </a:r>
            <a:r>
              <a:rPr lang="en-US" sz="3600">
                <a:latin typeface="Helvetica Neue"/>
                <a:ea typeface="Helvetica Neue"/>
                <a:cs typeface="Helvetica Neue"/>
                <a:sym typeface="Helvetica Neue"/>
              </a:rPr>
              <a:t>hipótesis planteadas inicialmente, con eso en mente nos dimos cuenta que estas estaban centrada en los objetos y no en la persona, por lo que a continuación mostramos una iteración de nuestro proceso.</a:t>
            </a:r>
            <a:r>
              <a:rPr lang="en-US" sz="3600">
                <a:latin typeface="Helvetica Neue"/>
                <a:ea typeface="Helvetica Neue"/>
                <a:cs typeface="Helvetica Neue"/>
                <a:sym typeface="Helvetica Neue"/>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descr="EA11.png" id="347" name="Google Shape;347;g365ac9f83fe_3_9"/>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348" name="Google Shape;348;g365ac9f83fe_3_9"/>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
        <p:nvSpPr>
          <p:cNvPr id="349" name="Google Shape;349;g365ac9f83fe_3_9"/>
          <p:cNvSpPr txBox="1"/>
          <p:nvPr/>
        </p:nvSpPr>
        <p:spPr>
          <a:xfrm>
            <a:off x="661925" y="2224925"/>
            <a:ext cx="5298300" cy="625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 </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Fecha: </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Hora: </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Lugar: </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Justificación de entrevista: </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Preguntas: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¿Cómo decides qué llevar en tu bolso para la universidad y qué dejar fuera?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¿Prefieres organizar tu material académico en formato digital (por ejemplo, iPad o computador) o físico (cuadernos, carpetas)? ¿Por qué?</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¿Crees que tu nivel de organización en los apuntes y materiales de estudio influye en tu rendimiento académico? ¿De qué forma?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Cuando tienes una jornada larga de clases, ¿sientes que eso afecta la cantidad de cosas que necesitas llevar contigo? ¿Cómo lo manejas?</a:t>
            </a:r>
            <a:endParaRPr sz="3000">
              <a:latin typeface="Helvetica Neue"/>
              <a:ea typeface="Helvetica Neue"/>
              <a:cs typeface="Helvetica Neue"/>
              <a:sym typeface="Helvetica Neue"/>
            </a:endParaRPr>
          </a:p>
        </p:txBody>
      </p:sp>
      <p:sp>
        <p:nvSpPr>
          <p:cNvPr id="350" name="Google Shape;350;g365ac9f83fe_3_9"/>
          <p:cNvSpPr txBox="1"/>
          <p:nvPr/>
        </p:nvSpPr>
        <p:spPr>
          <a:xfrm>
            <a:off x="6207225" y="2332100"/>
            <a:ext cx="5085000" cy="58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Respuesta:</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descr="EA11.png" id="355" name="Google Shape;355;g3673eb35b80_0_68"/>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356" name="Google Shape;356;g3673eb35b80_0_68"/>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
        <p:nvSpPr>
          <p:cNvPr id="357" name="Google Shape;357;g3673eb35b80_0_68"/>
          <p:cNvSpPr txBox="1"/>
          <p:nvPr/>
        </p:nvSpPr>
        <p:spPr>
          <a:xfrm>
            <a:off x="661925" y="2224925"/>
            <a:ext cx="5298300" cy="625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 Gabriel</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Entrevistador: Maithe León</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Fecha: 16/06/25</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Hora: 11:23</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Lugar: Biblioteca</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Justificación de entrevista: Llevaba muchas cosas.</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Preguntas: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¿Cómo decides qué llevar en tu bolso para la universidad y qué dejar fuera?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¿Prefieres organizar tu material académico en formato digital (por ejemplo, iPad o computador) o físico (cuadernos, carpetas)? ¿Por qué?</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¿Crees que tu nivel de organización en los apuntes y materiales de estudio influye en tu rendimiento académico? ¿De qué forma?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Cuando tienes una jornada larga de clases, ¿sientes que eso afecta la cantidad de cosas que necesitas llevar contigo? ¿Cómo lo manejas?</a:t>
            </a:r>
            <a:endParaRPr sz="3000">
              <a:latin typeface="Helvetica Neue"/>
              <a:ea typeface="Helvetica Neue"/>
              <a:cs typeface="Helvetica Neue"/>
              <a:sym typeface="Helvetica Neue"/>
            </a:endParaRPr>
          </a:p>
        </p:txBody>
      </p:sp>
      <p:sp>
        <p:nvSpPr>
          <p:cNvPr id="358" name="Google Shape;358;g3673eb35b80_0_68"/>
          <p:cNvSpPr txBox="1"/>
          <p:nvPr/>
        </p:nvSpPr>
        <p:spPr>
          <a:xfrm>
            <a:off x="6207225" y="2332100"/>
            <a:ext cx="5085000" cy="58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Respuesta:</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Como paso varias horas en la universidad siempre intento llevar la menor cantidad de cosas porque es molesto andar con muchas. Lo </a:t>
            </a:r>
            <a:r>
              <a:rPr lang="en-US" sz="1800">
                <a:solidFill>
                  <a:schemeClr val="dk1"/>
                </a:solidFill>
                <a:latin typeface="Helvetica Neue"/>
                <a:ea typeface="Helvetica Neue"/>
                <a:cs typeface="Helvetica Neue"/>
                <a:sym typeface="Helvetica Neue"/>
              </a:rPr>
              <a:t>esencial</a:t>
            </a:r>
            <a:r>
              <a:rPr lang="en-US" sz="1800">
                <a:solidFill>
                  <a:schemeClr val="dk1"/>
                </a:solidFill>
                <a:latin typeface="Helvetica Neue"/>
                <a:ea typeface="Helvetica Neue"/>
                <a:cs typeface="Helvetica Neue"/>
                <a:sym typeface="Helvetica Neue"/>
              </a:rPr>
              <a:t> son los cuadernos, comida y el bolso si tengo deportivo.</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Para ordenar el material prefiero el computador, </a:t>
            </a:r>
            <a:r>
              <a:rPr lang="en-US" sz="1800">
                <a:solidFill>
                  <a:schemeClr val="dk1"/>
                </a:solidFill>
                <a:latin typeface="Helvetica Neue"/>
                <a:ea typeface="Helvetica Neue"/>
                <a:cs typeface="Helvetica Neue"/>
                <a:sym typeface="Helvetica Neue"/>
              </a:rPr>
              <a:t>porque</a:t>
            </a:r>
            <a:r>
              <a:rPr lang="en-US" sz="1800">
                <a:solidFill>
                  <a:schemeClr val="dk1"/>
                </a:solidFill>
                <a:latin typeface="Helvetica Neue"/>
                <a:ea typeface="Helvetica Neue"/>
                <a:cs typeface="Helvetica Neue"/>
                <a:sym typeface="Helvetica Neue"/>
              </a:rPr>
              <a:t> ahí tengo todas las materias de forma ordenada y a la hora de querer ahorrar en espacio se compensa el peso del computador.</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Creo que es importante la organización personal para conseguir un buen rendimiento, porque hay veces que tenemos 3 pruebas en una semana y tenemos que saber que priorizar.</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Depende, </a:t>
            </a:r>
            <a:r>
              <a:rPr lang="en-US" sz="1800">
                <a:solidFill>
                  <a:schemeClr val="dk1"/>
                </a:solidFill>
                <a:latin typeface="Helvetica Neue"/>
                <a:ea typeface="Helvetica Neue"/>
                <a:cs typeface="Helvetica Neue"/>
                <a:sym typeface="Helvetica Neue"/>
              </a:rPr>
              <a:t>a veces</a:t>
            </a:r>
            <a:r>
              <a:rPr lang="en-US" sz="1800">
                <a:solidFill>
                  <a:schemeClr val="dk1"/>
                </a:solidFill>
                <a:latin typeface="Helvetica Neue"/>
                <a:ea typeface="Helvetica Neue"/>
                <a:cs typeface="Helvetica Neue"/>
                <a:sym typeface="Helvetica Neue"/>
              </a:rPr>
              <a:t> solo debo llevar cuadernos y otras el material de deporte, pero si tengo que estudiar </a:t>
            </a:r>
            <a:r>
              <a:rPr lang="en-US" sz="1800">
                <a:solidFill>
                  <a:schemeClr val="dk1"/>
                </a:solidFill>
                <a:latin typeface="Helvetica Neue"/>
                <a:ea typeface="Helvetica Neue"/>
                <a:cs typeface="Helvetica Neue"/>
                <a:sym typeface="Helvetica Neue"/>
              </a:rPr>
              <a:t>intentó</a:t>
            </a:r>
            <a:r>
              <a:rPr lang="en-US" sz="1800">
                <a:solidFill>
                  <a:schemeClr val="dk1"/>
                </a:solidFill>
                <a:latin typeface="Helvetica Neue"/>
                <a:ea typeface="Helvetica Neue"/>
                <a:cs typeface="Helvetica Neue"/>
                <a:sym typeface="Helvetica Neue"/>
              </a:rPr>
              <a:t> llevar solo el compu y el cuaderno del ramo que voy a estudiar.</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descr="EA11.png" id="363" name="Google Shape;363;g3673eb35b80_0_49"/>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364" name="Google Shape;364;g3673eb35b80_0_49"/>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
        <p:nvSpPr>
          <p:cNvPr id="365" name="Google Shape;365;g3673eb35b80_0_49"/>
          <p:cNvSpPr txBox="1"/>
          <p:nvPr/>
        </p:nvSpPr>
        <p:spPr>
          <a:xfrm>
            <a:off x="661925" y="2224925"/>
            <a:ext cx="5298300" cy="625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 Alondra Jeldres</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Entrevistador: Maithe León</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Fecha:16/06/25</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Hora: 13:30</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Lugar: Facultad de física</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Justificación de entrevista: Mochila visiblemente vacía.</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Preguntas: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¿Cómo decides qué llevar en tu bolso para la universidad y qué dejar fuera?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¿Prefieres organizar tu material académico en formato digital (por ejemplo, iPad o computador) o físico (cuadernos, carpetas)? ¿Por qué?</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¿Crees que tu nivel de organización en los apuntes y materiales de estudio influye en tu rendimiento académico? ¿De qué forma?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Cuando tienes una jornada larga de clases, ¿sientes que eso afecta la cantidad de cosas que necesitas llevar contigo? ¿Cómo lo manejas?</a:t>
            </a:r>
            <a:endParaRPr sz="3000">
              <a:latin typeface="Helvetica Neue"/>
              <a:ea typeface="Helvetica Neue"/>
              <a:cs typeface="Helvetica Neue"/>
              <a:sym typeface="Helvetica Neue"/>
            </a:endParaRPr>
          </a:p>
        </p:txBody>
      </p:sp>
      <p:sp>
        <p:nvSpPr>
          <p:cNvPr id="366" name="Google Shape;366;g3673eb35b80_0_49"/>
          <p:cNvSpPr txBox="1"/>
          <p:nvPr/>
        </p:nvSpPr>
        <p:spPr>
          <a:xfrm>
            <a:off x="6207225" y="2063275"/>
            <a:ext cx="5844000" cy="58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latin typeface="Helvetica Neue"/>
                <a:ea typeface="Helvetica Neue"/>
                <a:cs typeface="Helvetica Neue"/>
                <a:sym typeface="Helvetica Neue"/>
              </a:rPr>
              <a:t>Respuesta:  </a:t>
            </a:r>
            <a:endParaRPr sz="17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700">
                <a:solidFill>
                  <a:schemeClr val="dk1"/>
                </a:solidFill>
                <a:latin typeface="Helvetica Neue"/>
                <a:ea typeface="Helvetica Neue"/>
                <a:cs typeface="Helvetica Neue"/>
                <a:sym typeface="Helvetica Neue"/>
              </a:rPr>
              <a:t>1.Depende de que ramos tenga, para algunos llevo computador, cuaderno o ipad. Trato de llevar lo menos posible los días que debo caminar mucho entre facultades por el peso, y si no me quedo a estudiar no llevo colación.</a:t>
            </a:r>
            <a:endParaRPr sz="17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7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700">
                <a:solidFill>
                  <a:schemeClr val="dk1"/>
                </a:solidFill>
                <a:latin typeface="Helvetica Neue"/>
                <a:ea typeface="Helvetica Neue"/>
                <a:cs typeface="Helvetica Neue"/>
                <a:sym typeface="Helvetica Neue"/>
              </a:rPr>
              <a:t>2.Para el ramo que debo programar, el computador, y para el resto de ramos prefiero el ipad, ya que me ayuda a prestar atención en las clases en lugar de anotar lo que ya está subido en las plataformas. Aunque para estudiar me sirve mucho escribir en cuadernos. </a:t>
            </a:r>
            <a:endParaRPr sz="17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7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700">
                <a:solidFill>
                  <a:schemeClr val="dk1"/>
                </a:solidFill>
                <a:latin typeface="Helvetica Neue"/>
                <a:ea typeface="Helvetica Neue"/>
                <a:cs typeface="Helvetica Neue"/>
                <a:sym typeface="Helvetica Neue"/>
              </a:rPr>
              <a:t>3.Totalmente, cuando me esfuerzo en optimizar la forma en la que tomo apuntes entiendo mucho mejor la materia sobre todo al repasar luego de la clase y organizar las notas que hice. Cuando escribo todo en el cuaderno pierdo mucho tiempo y no lo entiendo, además no me preocupo por escribir lo que hablan, por eso me ayuda mucho tener el material abierto en el ipad. </a:t>
            </a:r>
            <a:endParaRPr sz="17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7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700">
                <a:solidFill>
                  <a:schemeClr val="dk1"/>
                </a:solidFill>
                <a:latin typeface="Helvetica Neue"/>
                <a:ea typeface="Helvetica Neue"/>
                <a:cs typeface="Helvetica Neue"/>
                <a:sym typeface="Helvetica Neue"/>
              </a:rPr>
              <a:t>4.Si, porque si tengo varios ramos normalmente debo llevar cuaderno, ipad y computador, además de la colación. Intento llevar la colación en recipientes mas livianos, para que al menos a la vuelta no pese tanto mi mochila, llevo la menor cantidad de cuadernos y lápices. También reviso el clima, para saber si es necesario o no llevar ropa extra.</a:t>
            </a:r>
            <a:endParaRPr sz="1700">
              <a:solidFill>
                <a:schemeClr val="dk1"/>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descr="EA11.png" id="371" name="Google Shape;371;g3673eb35b80_0_56"/>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372" name="Google Shape;372;g3673eb35b80_0_56"/>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
        <p:nvSpPr>
          <p:cNvPr id="373" name="Google Shape;373;g3673eb35b80_0_56"/>
          <p:cNvSpPr txBox="1"/>
          <p:nvPr/>
        </p:nvSpPr>
        <p:spPr>
          <a:xfrm>
            <a:off x="661925" y="2224925"/>
            <a:ext cx="5298300" cy="625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 Sandra</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Entrevistador: Maithe León</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Fecha:17/06/25</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Hora: 13:30</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Lugar: Starbucks</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Justificación de entrevista: Visible experiencia y trayectoria en la vida universitaria.</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Preguntas: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¿Cómo decides qué llevar en tu bolso para la universidad y qué dejar fuera?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¿Prefieres organizar tu material académico en formato digital (por ejemplo, iPad o computador) o físico (cuadernos, carpetas)? ¿Por qué?</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¿Crees que tu nivel de organización en los apuntes y materiales de estudio influye en tu rendimiento académico? ¿De qué forma?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Cuando tienes una jornada larga de clases, ¿sientes que eso afecta la cantidad de cosas que necesitas llevar contigo? ¿Cómo lo manejas?</a:t>
            </a:r>
            <a:endParaRPr sz="3000">
              <a:latin typeface="Helvetica Neue"/>
              <a:ea typeface="Helvetica Neue"/>
              <a:cs typeface="Helvetica Neue"/>
              <a:sym typeface="Helvetica Neue"/>
            </a:endParaRPr>
          </a:p>
        </p:txBody>
      </p:sp>
      <p:sp>
        <p:nvSpPr>
          <p:cNvPr id="374" name="Google Shape;374;g3673eb35b80_0_56"/>
          <p:cNvSpPr txBox="1"/>
          <p:nvPr/>
        </p:nvSpPr>
        <p:spPr>
          <a:xfrm>
            <a:off x="6207225" y="2332100"/>
            <a:ext cx="5085000" cy="58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Respuesta:  </a:t>
            </a:r>
            <a:endParaRPr sz="1800">
              <a:solidFill>
                <a:schemeClr val="dk1"/>
              </a:solidFill>
              <a:latin typeface="Helvetica Neue"/>
              <a:ea typeface="Helvetica Neue"/>
              <a:cs typeface="Helvetica Neue"/>
              <a:sym typeface="Helvetica Neue"/>
            </a:endParaRPr>
          </a:p>
        </p:txBody>
      </p:sp>
      <p:pic>
        <p:nvPicPr>
          <p:cNvPr id="375" name="Google Shape;375;g3673eb35b80_0_56" title="WhatsApp Image 2025-06-18 at 11.13.55.jpeg"/>
          <p:cNvPicPr preferRelativeResize="0"/>
          <p:nvPr/>
        </p:nvPicPr>
        <p:blipFill>
          <a:blip r:embed="rId4">
            <a:alphaModFix/>
          </a:blip>
          <a:stretch>
            <a:fillRect/>
          </a:stretch>
        </p:blipFill>
        <p:spPr>
          <a:xfrm>
            <a:off x="6397275" y="2791275"/>
            <a:ext cx="4985677" cy="3739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descr="EA11.png" id="380" name="Google Shape;380;g3672ed3eb96_0_3"/>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381" name="Google Shape;381;g3672ed3eb96_0_3"/>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
        <p:nvSpPr>
          <p:cNvPr id="382" name="Google Shape;382;g3672ed3eb96_0_3"/>
          <p:cNvSpPr txBox="1"/>
          <p:nvPr/>
        </p:nvSpPr>
        <p:spPr>
          <a:xfrm>
            <a:off x="661925" y="2224925"/>
            <a:ext cx="5298300" cy="625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 Franco Nicolai</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Entrevistador: José Rojas</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Fecha: 17:06:2025</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Hora: 16:13</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Lugar: </a:t>
            </a:r>
            <a:r>
              <a:rPr lang="en-US" sz="1800">
                <a:solidFill>
                  <a:schemeClr val="dk1"/>
                </a:solidFill>
                <a:latin typeface="Helvetica Neue"/>
                <a:ea typeface="Helvetica Neue"/>
                <a:cs typeface="Helvetica Neue"/>
                <a:sym typeface="Helvetica Neue"/>
              </a:rPr>
              <a:t>Al frente del castaño de College</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Justificación de entrevista: </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Preguntas: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¿Cómo decides qué llevar en tu bolso para la universidad y qué dejar fuera?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¿Prefieres organizar tu material académico en formato digital (por ejemplo, iPad o computador) o físico (cuadernos, carpetas)? ¿Por qué?</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¿Crees que tu nivel de organización en los apuntes y materiales de estudio influye en tu rendimiento académico? ¿De qué forma?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Cuando tienes una jornada larga de clases, ¿sientes que eso afecta la cantidad de cosas que necesitas llevar contigo? ¿Cómo lo manejas?</a:t>
            </a:r>
            <a:endParaRPr sz="3000">
              <a:latin typeface="Helvetica Neue"/>
              <a:ea typeface="Helvetica Neue"/>
              <a:cs typeface="Helvetica Neue"/>
              <a:sym typeface="Helvetica Neue"/>
            </a:endParaRPr>
          </a:p>
        </p:txBody>
      </p:sp>
      <p:sp>
        <p:nvSpPr>
          <p:cNvPr id="383" name="Google Shape;383;g3672ed3eb96_0_3"/>
          <p:cNvSpPr txBox="1"/>
          <p:nvPr/>
        </p:nvSpPr>
        <p:spPr>
          <a:xfrm>
            <a:off x="6207225" y="2332100"/>
            <a:ext cx="5085000" cy="58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Respuesta:</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Honestamente solo coloco las cosas </a:t>
            </a:r>
            <a:r>
              <a:rPr lang="en-US" sz="1800">
                <a:solidFill>
                  <a:schemeClr val="dk1"/>
                </a:solidFill>
                <a:latin typeface="Helvetica Neue"/>
                <a:ea typeface="Helvetica Neue"/>
                <a:cs typeface="Helvetica Neue"/>
                <a:sym typeface="Helvetica Neue"/>
              </a:rPr>
              <a:t>dentro</a:t>
            </a:r>
            <a:r>
              <a:rPr lang="en-US" sz="1800">
                <a:solidFill>
                  <a:schemeClr val="dk1"/>
                </a:solidFill>
                <a:latin typeface="Helvetica Neue"/>
                <a:ea typeface="Helvetica Neue"/>
                <a:cs typeface="Helvetica Neue"/>
                <a:sym typeface="Helvetica Neue"/>
              </a:rPr>
              <a:t> de la mochila, no lo pienso tanto…</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Usualmente uso físico pero siempre lo complemento de el computador, por lo que si termino llevando muchas cosas… por ejemplo, doy clases y me traigo pequeñas pizarras… eso más todo lo que cargo pues es bastante.</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eee depende de la dificultad de la carrera, hay carreras que es solo memorizar, en cual con un buen orden estas listo… en </a:t>
            </a:r>
            <a:r>
              <a:rPr lang="en-US" sz="1800">
                <a:solidFill>
                  <a:schemeClr val="dk1"/>
                </a:solidFill>
                <a:latin typeface="Helvetica Neue"/>
                <a:ea typeface="Helvetica Neue"/>
                <a:cs typeface="Helvetica Neue"/>
                <a:sym typeface="Helvetica Neue"/>
              </a:rPr>
              <a:t>ingeniería</a:t>
            </a:r>
            <a:r>
              <a:rPr lang="en-US" sz="1800">
                <a:solidFill>
                  <a:schemeClr val="dk1"/>
                </a:solidFill>
                <a:latin typeface="Helvetica Neue"/>
                <a:ea typeface="Helvetica Neue"/>
                <a:cs typeface="Helvetica Neue"/>
                <a:sym typeface="Helvetica Neue"/>
              </a:rPr>
              <a:t> aunque seas ordenado no te garantiza que te vaya bien.</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Todos los días tengo jornadas largas…</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descr="EA11.png" id="388" name="Google Shape;388;g3673eb35b80_1_0"/>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389" name="Google Shape;389;g3673eb35b80_1_0"/>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
        <p:nvSpPr>
          <p:cNvPr id="390" name="Google Shape;390;g3673eb35b80_1_0"/>
          <p:cNvSpPr txBox="1"/>
          <p:nvPr/>
        </p:nvSpPr>
        <p:spPr>
          <a:xfrm>
            <a:off x="661925" y="2224925"/>
            <a:ext cx="5298300" cy="625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 </a:t>
            </a:r>
            <a:r>
              <a:rPr lang="en-US" sz="1800">
                <a:solidFill>
                  <a:schemeClr val="dk1"/>
                </a:solidFill>
                <a:latin typeface="Helvetica Neue"/>
                <a:ea typeface="Helvetica Neue"/>
                <a:cs typeface="Helvetica Neue"/>
                <a:sym typeface="Helvetica Neue"/>
              </a:rPr>
              <a:t>Manuel</a:t>
            </a:r>
            <a:r>
              <a:rPr lang="en-US" sz="1800">
                <a:solidFill>
                  <a:schemeClr val="dk1"/>
                </a:solidFill>
                <a:latin typeface="Helvetica Neue"/>
                <a:ea typeface="Helvetica Neue"/>
                <a:cs typeface="Helvetica Neue"/>
                <a:sym typeface="Helvetica Neue"/>
              </a:rPr>
              <a:t> Miranda</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Entrevistador: Francisca Mena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Fecha: 17:06:2025</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Hora: 12:31</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Lugar: Patio de Ingenieria</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Justificación de entrevista: </a:t>
            </a:r>
            <a:r>
              <a:rPr lang="en-US" sz="1800">
                <a:solidFill>
                  <a:schemeClr val="dk1"/>
                </a:solidFill>
                <a:latin typeface="Helvetica Neue"/>
                <a:ea typeface="Helvetica Neue"/>
                <a:cs typeface="Helvetica Neue"/>
                <a:sym typeface="Helvetica Neue"/>
              </a:rPr>
              <a:t>Veía</a:t>
            </a:r>
            <a:r>
              <a:rPr lang="en-US" sz="1800">
                <a:solidFill>
                  <a:schemeClr val="dk1"/>
                </a:solidFill>
                <a:latin typeface="Helvetica Neue"/>
                <a:ea typeface="Helvetica Neue"/>
                <a:cs typeface="Helvetica Neue"/>
                <a:sym typeface="Helvetica Neue"/>
              </a:rPr>
              <a:t> que llevaba muchas cosas</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Preguntas: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¿Cómo decides qué llevar en tu bolso para la universidad y qué dejar fuera?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¿Prefieres organizar tu material académico en formato digital (por ejemplo, iPad o computador) o físico (cuadernos, carpetas)? ¿Por qué?</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¿Crees que tu nivel de organización en los apuntes y materiales de estudio influye en tu rendimiento académico? ¿De qué forma?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Cuando tienes una jornada larga de clases, ¿sientes que eso afecta la cantidad de cosas que necesitas llevar contigo? ¿Cómo lo manejas?</a:t>
            </a:r>
            <a:endParaRPr sz="3000">
              <a:latin typeface="Helvetica Neue"/>
              <a:ea typeface="Helvetica Neue"/>
              <a:cs typeface="Helvetica Neue"/>
              <a:sym typeface="Helvetica Neue"/>
            </a:endParaRPr>
          </a:p>
        </p:txBody>
      </p:sp>
      <p:sp>
        <p:nvSpPr>
          <p:cNvPr id="391" name="Google Shape;391;g3673eb35b80_1_0"/>
          <p:cNvSpPr txBox="1"/>
          <p:nvPr/>
        </p:nvSpPr>
        <p:spPr>
          <a:xfrm>
            <a:off x="6207225" y="2332100"/>
            <a:ext cx="5085000" cy="58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Respuesta:</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1.  decido que llevar dependiendo del día, si tengo una jornada corta llevo solo lo necesario (cuadernos y estuche), si es larga llevo computador</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2.  prefiero organizar el material de forma digital, es más fácil encontrar lo que necesito y ocupa menos espacio físico</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3.  creo que si influye porque una persona ordenada con sus apuntes tendrá menos carga para estudiar en las evaluaciones</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4.  cuando tengo una jornada larga tengo que llevar más cosas, como el almuerzo y el computador, junto con los cargadores</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pic>
        <p:nvPicPr>
          <p:cNvPr descr="EA11.png" id="396" name="Google Shape;396;g36775634400_1_0"/>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397" name="Google Shape;397;g36775634400_1_0"/>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
        <p:nvSpPr>
          <p:cNvPr id="398" name="Google Shape;398;g36775634400_1_0"/>
          <p:cNvSpPr txBox="1"/>
          <p:nvPr/>
        </p:nvSpPr>
        <p:spPr>
          <a:xfrm>
            <a:off x="661925" y="2224925"/>
            <a:ext cx="5298300" cy="625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 Sofía Ortiz</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Entrevistador: Francisca Mena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Fecha: 17:06:2025</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Hora: 13:58</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Lugar: Patio de Ingenieria</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Justificación de entrevista: Se quejaba de dolor de espalda</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Preguntas: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¿Cómo decides qué llevar en tu bolso para la universidad y qué dejar fuera?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¿Prefieres organizar tu material académico en formato digital (por ejemplo, iPad o computador) o físico (cuadernos, carpetas)? ¿Por qué?</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¿Crees que tu nivel de organización en los apuntes y materiales de estudio influye en tu rendimiento académico? ¿De qué forma?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Cuando tienes una jornada larga de clases, ¿sientes que eso afecta la cantidad de cosas que necesitas llevar contigo? ¿Cómo lo manejas?</a:t>
            </a:r>
            <a:endParaRPr sz="3000">
              <a:latin typeface="Helvetica Neue"/>
              <a:ea typeface="Helvetica Neue"/>
              <a:cs typeface="Helvetica Neue"/>
              <a:sym typeface="Helvetica Neue"/>
            </a:endParaRPr>
          </a:p>
        </p:txBody>
      </p:sp>
      <p:sp>
        <p:nvSpPr>
          <p:cNvPr id="399" name="Google Shape;399;g36775634400_1_0"/>
          <p:cNvSpPr txBox="1"/>
          <p:nvPr/>
        </p:nvSpPr>
        <p:spPr>
          <a:xfrm>
            <a:off x="6207225" y="2332100"/>
            <a:ext cx="5085000" cy="58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Respuesta:</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1.  Lo decido segun las clases que me tocan en el día, además de lo esencial para mí como cepillo de dientes, snacks y mi billetera</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2.  Me gustan ambas, depende de la asignatura. No me gusta tener muchos papeles sueltos eso sí.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3.  Totalmente. Que yo entienda mis apuntes es esencial para estudiar y lo que anote es lo que seguramente más recuerde de la clase. Soy muy visual, así que si tengo unos apuntes completos y ordenados estudiaré mejor y estaré menos abrumada.</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4.  Sí afecta pero depende nuevamente de la asignatura. Hay algunas donde solo requiero del computador y nada más, por lo que en ese caso no afecta. Pero hay otros donde son más escritos, por lo que en ese caso hay que llevar varios cuadernos.</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descr="EA11.png" id="404" name="Google Shape;404;g36775634400_1_7"/>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405" name="Google Shape;405;g36775634400_1_7"/>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
        <p:nvSpPr>
          <p:cNvPr id="406" name="Google Shape;406;g36775634400_1_7"/>
          <p:cNvSpPr txBox="1"/>
          <p:nvPr/>
        </p:nvSpPr>
        <p:spPr>
          <a:xfrm>
            <a:off x="661925" y="2224925"/>
            <a:ext cx="5298300" cy="625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 María Ignacia</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Entrevistador: Francisca Mena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Fecha: 17:06:2025</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Hora: 17:01</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Lugar: Patio de Ingenieria</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Justificación de entrevista: Estaba estresada</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Preguntas: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¿Cómo decides qué llevar en tu bolso para la universidad y qué dejar fuera?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¿Prefieres organizar tu material académico en formato digital (por ejemplo, iPad o computador) o físico (cuadernos, carpetas)? ¿Por qué?</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¿Crees que tu nivel de organización en los apuntes y materiales de estudio influye en tu rendimiento académico? ¿De qué forma?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Cuando tienes una jornada larga de clases, ¿sientes que eso afecta la cantidad de cosas que necesitas llevar contigo? ¿Cómo lo manejas?</a:t>
            </a:r>
            <a:endParaRPr sz="3000">
              <a:latin typeface="Helvetica Neue"/>
              <a:ea typeface="Helvetica Neue"/>
              <a:cs typeface="Helvetica Neue"/>
              <a:sym typeface="Helvetica Neue"/>
            </a:endParaRPr>
          </a:p>
        </p:txBody>
      </p:sp>
      <p:sp>
        <p:nvSpPr>
          <p:cNvPr id="407" name="Google Shape;407;g36775634400_1_7"/>
          <p:cNvSpPr txBox="1"/>
          <p:nvPr/>
        </p:nvSpPr>
        <p:spPr>
          <a:xfrm>
            <a:off x="6207225" y="2332100"/>
            <a:ext cx="5085000" cy="58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Respuesta:</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1.</a:t>
            </a:r>
            <a:r>
              <a:rPr lang="en-US" sz="1800">
                <a:solidFill>
                  <a:schemeClr val="dk1"/>
                </a:solidFill>
                <a:latin typeface="Helvetica Neue"/>
                <a:ea typeface="Helvetica Neue"/>
                <a:cs typeface="Helvetica Neue"/>
                <a:sym typeface="Helvetica Neue"/>
              </a:rPr>
              <a:t>Principalmente por los ramos que tengo cada dia, veo si necesito tablet y/o computador, ademas de llevar lo esencial para el dia, agua, comida y un neceser simple.</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2. </a:t>
            </a:r>
            <a:r>
              <a:rPr lang="en-US" sz="1800">
                <a:solidFill>
                  <a:schemeClr val="dk1"/>
                </a:solidFill>
                <a:latin typeface="Helvetica Neue"/>
                <a:ea typeface="Helvetica Neue"/>
                <a:cs typeface="Helvetica Neue"/>
                <a:sym typeface="Helvetica Neue"/>
              </a:rPr>
              <a:t> ⁠Formato digital, es mas practico, puedo guardar muxha mas información que en un cuaderno, es mas liviano y ordenado</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3.</a:t>
            </a:r>
            <a:r>
              <a:rPr lang="en-US" sz="1800">
                <a:solidFill>
                  <a:schemeClr val="dk1"/>
                </a:solidFill>
                <a:latin typeface="Helvetica Neue"/>
                <a:ea typeface="Helvetica Neue"/>
                <a:cs typeface="Helvetica Neue"/>
                <a:sym typeface="Helvetica Neue"/>
              </a:rPr>
              <a:t>  Si, considero que influye bastante el tener una imagen clara y ordenada de mis apuntes, esto ayuda personalmente con las ganas de estudiar</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4.</a:t>
            </a:r>
            <a:r>
              <a:rPr lang="en-US" sz="1800">
                <a:solidFill>
                  <a:schemeClr val="dk1"/>
                </a:solidFill>
                <a:latin typeface="Helvetica Neue"/>
                <a:ea typeface="Helvetica Neue"/>
                <a:cs typeface="Helvetica Neue"/>
                <a:sym typeface="Helvetica Neue"/>
              </a:rPr>
              <a:t>  ⁠Si, sufro de dolores de espalda si llevo mucho peso por un largo tiempo, como me muevo en auto, suelo ir dejando las cosas que ya ocupe al inicio del dia y no las necesitaré para después en el auto</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descr="EA11.png" id="412" name="Google Shape;412;g3676bad4611_0_0"/>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413" name="Google Shape;413;g3676bad4611_0_0"/>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
        <p:nvSpPr>
          <p:cNvPr id="414" name="Google Shape;414;g3676bad4611_0_0"/>
          <p:cNvSpPr txBox="1"/>
          <p:nvPr/>
        </p:nvSpPr>
        <p:spPr>
          <a:xfrm>
            <a:off x="661925" y="2224925"/>
            <a:ext cx="5298300" cy="625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 Catalina Errazuriz</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Entrevistador: Ana Mar</a:t>
            </a:r>
            <a:r>
              <a:rPr lang="en-US" sz="1800">
                <a:solidFill>
                  <a:schemeClr val="dk1"/>
                </a:solidFill>
                <a:latin typeface="Helvetica Neue"/>
                <a:ea typeface="Helvetica Neue"/>
                <a:cs typeface="Helvetica Neue"/>
                <a:sym typeface="Helvetica Neue"/>
              </a:rPr>
              <a:t>ía Alcalde O</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Fecha: 17:06</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Hora: 18:02</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Lugar: Metro Manquehue</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Justificación de entrevista: Estudiante de educaci</a:t>
            </a:r>
            <a:r>
              <a:rPr lang="en-US" sz="1800">
                <a:solidFill>
                  <a:schemeClr val="dk1"/>
                </a:solidFill>
                <a:latin typeface="Helvetica Neue"/>
                <a:ea typeface="Helvetica Neue"/>
                <a:cs typeface="Helvetica Neue"/>
                <a:sym typeface="Helvetica Neue"/>
              </a:rPr>
              <a:t>ón de parvulos. </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Preguntas: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¿Cómo decides qué llevar en tu bolso para la universidad y qué dejar fuera?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¿Prefieres organizar tu material académico en formato digital (por ejemplo, iPad o computador) o físico (cuadernos, carpetas)? ¿Por qué?</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¿Crees que tu nivel de organización en los apuntes y materiales de estudio influye en tu rendimiento académico? ¿De qué forma?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Cuando tienes una jornada larga de clases, ¿sientes que eso afecta la cantidad de cosas que necesitas llevar contigo? ¿Cómo lo manejas?</a:t>
            </a:r>
            <a:endParaRPr sz="3000">
              <a:latin typeface="Helvetica Neue"/>
              <a:ea typeface="Helvetica Neue"/>
              <a:cs typeface="Helvetica Neue"/>
              <a:sym typeface="Helvetica Neue"/>
            </a:endParaRPr>
          </a:p>
        </p:txBody>
      </p:sp>
      <p:sp>
        <p:nvSpPr>
          <p:cNvPr id="415" name="Google Shape;415;g3676bad4611_0_0"/>
          <p:cNvSpPr txBox="1"/>
          <p:nvPr/>
        </p:nvSpPr>
        <p:spPr>
          <a:xfrm>
            <a:off x="6207225" y="2332100"/>
            <a:ext cx="5085000" cy="58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Respuesta:</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Seg</a:t>
            </a:r>
            <a:r>
              <a:rPr lang="en-US" sz="1800">
                <a:solidFill>
                  <a:schemeClr val="dk1"/>
                </a:solidFill>
                <a:latin typeface="Helvetica Neue"/>
                <a:ea typeface="Helvetica Neue"/>
                <a:cs typeface="Helvetica Neue"/>
                <a:sym typeface="Helvetica Neue"/>
              </a:rPr>
              <a:t>ún que cosas voy a usar en el dia, generalmente llevo computador y cosas para escribir.</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En formato digital, porque es mas rápido y menos complicado.</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La verdad que no, ya que muy pocas veces estudio de mis apuntes, entonces no influyen en mi rendimiento academico. </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Si, para ver si es que se le acaba la bateria del computador, llevar comida, etc.. Lo manejo organizando las cosas que tengo que hacer en el dia.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pic>
        <p:nvPicPr>
          <p:cNvPr descr="EA11.png" id="420" name="Google Shape;420;g3676bad4611_0_7"/>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421" name="Google Shape;421;g3676bad4611_0_7"/>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
        <p:nvSpPr>
          <p:cNvPr id="422" name="Google Shape;422;g3676bad4611_0_7"/>
          <p:cNvSpPr txBox="1"/>
          <p:nvPr/>
        </p:nvSpPr>
        <p:spPr>
          <a:xfrm>
            <a:off x="661925" y="2224925"/>
            <a:ext cx="5298300" cy="625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 Domingo D</a:t>
            </a:r>
            <a:r>
              <a:rPr lang="en-US" sz="1800">
                <a:solidFill>
                  <a:schemeClr val="dk1"/>
                </a:solidFill>
                <a:latin typeface="Helvetica Neue"/>
                <a:ea typeface="Helvetica Neue"/>
                <a:cs typeface="Helvetica Neue"/>
                <a:sym typeface="Helvetica Neue"/>
              </a:rPr>
              <a:t>íaz</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Entrevistador: Ana María Alcalde O</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Fecha: 18:06</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Hora: 17.21</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Lugar: Apumanque</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Justificación de entrevista: Estudiante de administraci</a:t>
            </a:r>
            <a:r>
              <a:rPr lang="en-US" sz="1800">
                <a:solidFill>
                  <a:schemeClr val="dk1"/>
                </a:solidFill>
                <a:latin typeface="Helvetica Neue"/>
                <a:ea typeface="Helvetica Neue"/>
                <a:cs typeface="Helvetica Neue"/>
                <a:sym typeface="Helvetica Neue"/>
              </a:rPr>
              <a:t>ón y artes culinarias. </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Preguntas: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¿Cómo decides qué llevar en tu bolso para la universidad y qué dejar fuera?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¿Prefieres organizar tu material académico en formato digital (por ejemplo, iPad o computador) o físico (cuadernos, carpetas)? ¿Por qué?</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¿Crees que tu nivel de organización en los apuntes y materiales de estudio influye en tu rendimiento académico? ¿De qué forma?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Cuando tienes una jornada larga de clases, ¿sientes que eso afecta la cantidad de cosas que necesitas llevar contigo? ¿Cómo lo manejas?</a:t>
            </a:r>
            <a:endParaRPr sz="3000">
              <a:latin typeface="Helvetica Neue"/>
              <a:ea typeface="Helvetica Neue"/>
              <a:cs typeface="Helvetica Neue"/>
              <a:sym typeface="Helvetica Neue"/>
            </a:endParaRPr>
          </a:p>
        </p:txBody>
      </p:sp>
      <p:sp>
        <p:nvSpPr>
          <p:cNvPr id="423" name="Google Shape;423;g3676bad4611_0_7"/>
          <p:cNvSpPr txBox="1"/>
          <p:nvPr/>
        </p:nvSpPr>
        <p:spPr>
          <a:xfrm>
            <a:off x="6207225" y="2332100"/>
            <a:ext cx="5085000" cy="58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Respuesta:</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Lo escencial que voy a usar en el d</a:t>
            </a:r>
            <a:r>
              <a:rPr lang="en-US" sz="1800">
                <a:solidFill>
                  <a:schemeClr val="dk1"/>
                </a:solidFill>
                <a:latin typeface="Helvetica Neue"/>
                <a:ea typeface="Helvetica Neue"/>
                <a:cs typeface="Helvetica Neue"/>
                <a:sym typeface="Helvetica Neue"/>
              </a:rPr>
              <a:t>ía.</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Fisico, porque no estudio bien con las cosas digitales. Tengo un cuaderno para mis 5 ramos. </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No, porque reviso los </a:t>
            </a:r>
            <a:r>
              <a:rPr lang="en-US" sz="1800">
                <a:solidFill>
                  <a:schemeClr val="dk1"/>
                </a:solidFill>
                <a:latin typeface="Helvetica Neue"/>
                <a:ea typeface="Helvetica Neue"/>
                <a:cs typeface="Helvetica Neue"/>
                <a:sym typeface="Helvetica Neue"/>
              </a:rPr>
              <a:t>powerpoints</a:t>
            </a:r>
            <a:r>
              <a:rPr lang="en-US" sz="1800">
                <a:solidFill>
                  <a:schemeClr val="dk1"/>
                </a:solidFill>
                <a:latin typeface="Helvetica Neue"/>
                <a:ea typeface="Helvetica Neue"/>
                <a:cs typeface="Helvetica Neue"/>
                <a:sym typeface="Helvetica Neue"/>
              </a:rPr>
              <a:t> nomás.</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 La verdad es que no, siempre termino llevando las mismas cosas.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descr="EA11.png" id="428" name="Google Shape;428;g3676bad4611_0_14"/>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429" name="Google Shape;429;g3676bad4611_0_14"/>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3CA8F8"/>
              </a:buClr>
              <a:buSzPts val="3900"/>
              <a:buFont typeface="Helvetica Neue"/>
              <a:buNone/>
            </a:pPr>
            <a:r>
              <a:rPr b="0" i="0" lang="en-US" sz="3900" u="none" cap="none" strike="noStrike">
                <a:solidFill>
                  <a:srgbClr val="3CA8F8"/>
                </a:solidFill>
                <a:latin typeface="Helvetica Neue"/>
                <a:ea typeface="Helvetica Neue"/>
                <a:cs typeface="Helvetica Neue"/>
                <a:sym typeface="Helvetica Neue"/>
              </a:rPr>
              <a:t>ENTREVISTA EN PROFUNDIDAD </a:t>
            </a:r>
            <a:endParaRPr b="0" i="0" sz="1400" u="none" cap="none" strike="noStrike">
              <a:solidFill>
                <a:srgbClr val="000000"/>
              </a:solidFill>
              <a:latin typeface="Helvetica Neue"/>
              <a:ea typeface="Helvetica Neue"/>
              <a:cs typeface="Helvetica Neue"/>
              <a:sym typeface="Helvetica Neue"/>
            </a:endParaRPr>
          </a:p>
        </p:txBody>
      </p:sp>
      <p:sp>
        <p:nvSpPr>
          <p:cNvPr id="430" name="Google Shape;430;g3676bad4611_0_14"/>
          <p:cNvSpPr txBox="1"/>
          <p:nvPr/>
        </p:nvSpPr>
        <p:spPr>
          <a:xfrm>
            <a:off x="661925" y="2224925"/>
            <a:ext cx="5298300" cy="625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 Maria Gracia Mujica</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Nombre Entrevistador: Ana María Alcalde O</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Fecha: 19:06</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Hora: 11:34</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Lugar: Apumanque</a:t>
            </a:r>
            <a:endParaRPr>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Justificación de entrevista: Estudiante de diseño gr</a:t>
            </a:r>
            <a:r>
              <a:rPr lang="en-US" sz="1800">
                <a:solidFill>
                  <a:schemeClr val="dk1"/>
                </a:solidFill>
                <a:latin typeface="Helvetica Neue"/>
                <a:ea typeface="Helvetica Neue"/>
                <a:cs typeface="Helvetica Neue"/>
                <a:sym typeface="Helvetica Neue"/>
              </a:rPr>
              <a:t>áfico en la finis terrae</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Preguntas: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¿Cómo decides qué llevar en tu bolso para la universidad y qué dejar fuera?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¿Prefieres organizar tu material académico en formato digital (por ejemplo, iPad o computador) o físico (cuadernos, carpetas)? ¿Por qué?</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¿Crees que tu nivel de organización en los apuntes y materiales de estudio influye en tu rendimiento académico? ¿De qué forma?</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t/>
            </a:r>
            <a:endParaRPr sz="1800">
              <a:solidFill>
                <a:schemeClr val="dk1"/>
              </a:solidFill>
              <a:latin typeface="Helvetica Neue"/>
              <a:ea typeface="Helvetica Neue"/>
              <a:cs typeface="Helvetica Neue"/>
              <a:sym typeface="Helvetica Neue"/>
            </a:endParaRPr>
          </a:p>
          <a:p>
            <a:pPr indent="0" lvl="0" marL="0" rtl="0" algn="just">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Cuando tienes una jornada larga de clases, ¿sientes que eso afecta la cantidad de cosas que necesitas llevar contigo? ¿Cómo lo manejas?</a:t>
            </a:r>
            <a:endParaRPr sz="3000">
              <a:latin typeface="Helvetica Neue"/>
              <a:ea typeface="Helvetica Neue"/>
              <a:cs typeface="Helvetica Neue"/>
              <a:sym typeface="Helvetica Neue"/>
            </a:endParaRPr>
          </a:p>
        </p:txBody>
      </p:sp>
      <p:sp>
        <p:nvSpPr>
          <p:cNvPr id="431" name="Google Shape;431;g3676bad4611_0_14"/>
          <p:cNvSpPr txBox="1"/>
          <p:nvPr/>
        </p:nvSpPr>
        <p:spPr>
          <a:xfrm>
            <a:off x="6207225" y="2332100"/>
            <a:ext cx="5085000" cy="58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Respuesta:</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Depende del dia y del ramo, ten</a:t>
            </a:r>
            <a:r>
              <a:rPr lang="en-US" sz="1800">
                <a:solidFill>
                  <a:schemeClr val="dk1"/>
                </a:solidFill>
                <a:latin typeface="Helvetica Neue"/>
                <a:ea typeface="Helvetica Neue"/>
                <a:cs typeface="Helvetica Neue"/>
                <a:sym typeface="Helvetica Neue"/>
              </a:rPr>
              <a:t>í</a:t>
            </a:r>
            <a:r>
              <a:rPr lang="en-US" sz="1800">
                <a:solidFill>
                  <a:schemeClr val="dk1"/>
                </a:solidFill>
                <a:latin typeface="Helvetica Neue"/>
                <a:ea typeface="Helvetica Neue"/>
                <a:cs typeface="Helvetica Neue"/>
                <a:sym typeface="Helvetica Neue"/>
              </a:rPr>
              <a:t>a materiales diferentes, y nunca llevaba nada aparte de lo que ten</a:t>
            </a:r>
            <a:r>
              <a:rPr lang="en-US" sz="1800">
                <a:solidFill>
                  <a:schemeClr val="dk1"/>
                </a:solidFill>
                <a:latin typeface="Helvetica Neue"/>
                <a:ea typeface="Helvetica Neue"/>
                <a:cs typeface="Helvetica Neue"/>
                <a:sym typeface="Helvetica Neue"/>
              </a:rPr>
              <a:t>í</a:t>
            </a:r>
            <a:r>
              <a:rPr lang="en-US" sz="1800">
                <a:solidFill>
                  <a:schemeClr val="dk1"/>
                </a:solidFill>
                <a:latin typeface="Helvetica Neue"/>
                <a:ea typeface="Helvetica Neue"/>
                <a:cs typeface="Helvetica Neue"/>
                <a:sym typeface="Helvetica Neue"/>
              </a:rPr>
              <a:t>a que llevar (justo y necesario). Siempre maskingtape, pocos </a:t>
            </a:r>
            <a:r>
              <a:rPr lang="en-US" sz="1800">
                <a:solidFill>
                  <a:schemeClr val="dk1"/>
                </a:solidFill>
                <a:latin typeface="Helvetica Neue"/>
                <a:ea typeface="Helvetica Neue"/>
                <a:cs typeface="Helvetica Neue"/>
                <a:sym typeface="Helvetica Neue"/>
              </a:rPr>
              <a:t>cuadernos</a:t>
            </a:r>
            <a:r>
              <a:rPr lang="en-US" sz="1800">
                <a:solidFill>
                  <a:schemeClr val="dk1"/>
                </a:solidFill>
                <a:latin typeface="Helvetica Neue"/>
                <a:ea typeface="Helvetica Neue"/>
                <a:cs typeface="Helvetica Neue"/>
                <a:sym typeface="Helvetica Neue"/>
              </a:rPr>
              <a:t>. Una mochila y una totebag. </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Fisico, porque si estoy estudiando me entra mas la materia al </a:t>
            </a:r>
            <a:r>
              <a:rPr lang="en-US" sz="1800">
                <a:solidFill>
                  <a:schemeClr val="dk1"/>
                </a:solidFill>
                <a:latin typeface="Helvetica Neue"/>
                <a:ea typeface="Helvetica Neue"/>
                <a:cs typeface="Helvetica Neue"/>
                <a:sym typeface="Helvetica Neue"/>
              </a:rPr>
              <a:t>escribirla</a:t>
            </a:r>
            <a:r>
              <a:rPr lang="en-US" sz="1800">
                <a:solidFill>
                  <a:schemeClr val="dk1"/>
                </a:solidFill>
                <a:latin typeface="Helvetica Neue"/>
                <a:ea typeface="Helvetica Neue"/>
                <a:cs typeface="Helvetica Neue"/>
                <a:sym typeface="Helvetica Neue"/>
              </a:rPr>
              <a:t>, y con computador no </a:t>
            </a:r>
            <a:r>
              <a:rPr lang="en-US" sz="1800">
                <a:solidFill>
                  <a:schemeClr val="dk1"/>
                </a:solidFill>
                <a:latin typeface="Helvetica Neue"/>
                <a:ea typeface="Helvetica Neue"/>
                <a:cs typeface="Helvetica Neue"/>
                <a:sym typeface="Helvetica Neue"/>
              </a:rPr>
              <a:t>podía</a:t>
            </a:r>
            <a:r>
              <a:rPr lang="en-US" sz="1800">
                <a:solidFill>
                  <a:schemeClr val="dk1"/>
                </a:solidFill>
                <a:latin typeface="Helvetica Neue"/>
                <a:ea typeface="Helvetica Neue"/>
                <a:cs typeface="Helvetica Neue"/>
                <a:sym typeface="Helvetica Neue"/>
              </a:rPr>
              <a:t> ver todo.</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Si, necesitaba escribir todo para que no se me </a:t>
            </a:r>
            <a:r>
              <a:rPr lang="en-US" sz="1800">
                <a:solidFill>
                  <a:schemeClr val="dk1"/>
                </a:solidFill>
                <a:latin typeface="Helvetica Neue"/>
                <a:ea typeface="Helvetica Neue"/>
                <a:cs typeface="Helvetica Neue"/>
                <a:sym typeface="Helvetica Neue"/>
              </a:rPr>
              <a:t>olvidará</a:t>
            </a:r>
            <a:r>
              <a:rPr lang="en-US" sz="1800">
                <a:solidFill>
                  <a:schemeClr val="dk1"/>
                </a:solidFill>
                <a:latin typeface="Helvetica Neue"/>
                <a:ea typeface="Helvetica Neue"/>
                <a:cs typeface="Helvetica Neue"/>
                <a:sym typeface="Helvetica Neue"/>
              </a:rPr>
              <a:t>. Soy muy visual por lo que escribir las cosas me sirven para aprender </a:t>
            </a:r>
            <a:r>
              <a:rPr lang="en-US" sz="1800">
                <a:solidFill>
                  <a:schemeClr val="dk1"/>
                </a:solidFill>
                <a:latin typeface="Helvetica Neue"/>
                <a:ea typeface="Helvetica Neue"/>
                <a:cs typeface="Helvetica Neue"/>
                <a:sym typeface="Helvetica Neue"/>
              </a:rPr>
              <a:t>más</a:t>
            </a:r>
            <a:r>
              <a:rPr lang="en-US" sz="1800">
                <a:solidFill>
                  <a:schemeClr val="dk1"/>
                </a:solidFill>
                <a:latin typeface="Helvetica Neue"/>
                <a:ea typeface="Helvetica Neue"/>
                <a:cs typeface="Helvetica Neue"/>
                <a:sym typeface="Helvetica Neue"/>
              </a:rPr>
              <a:t>. </a:t>
            </a:r>
            <a:endParaRPr sz="1800">
              <a:solidFill>
                <a:schemeClr val="dk1"/>
              </a:solidFill>
              <a:latin typeface="Helvetica Neue"/>
              <a:ea typeface="Helvetica Neue"/>
              <a:cs typeface="Helvetica Neue"/>
              <a:sym typeface="Helvetica Neue"/>
            </a:endParaRPr>
          </a:p>
          <a:p>
            <a:pPr indent="-342900" lvl="0" marL="457200" rtl="0" algn="l">
              <a:spcBef>
                <a:spcPts val="0"/>
              </a:spcBef>
              <a:spcAft>
                <a:spcPts val="0"/>
              </a:spcAft>
              <a:buClr>
                <a:schemeClr val="dk1"/>
              </a:buClr>
              <a:buSzPts val="1800"/>
              <a:buFont typeface="Helvetica Neue"/>
              <a:buAutoNum type="arabicPeriod"/>
            </a:pPr>
            <a:r>
              <a:rPr lang="en-US" sz="1800">
                <a:solidFill>
                  <a:schemeClr val="dk1"/>
                </a:solidFill>
                <a:latin typeface="Helvetica Neue"/>
                <a:ea typeface="Helvetica Neue"/>
                <a:cs typeface="Helvetica Neue"/>
                <a:sym typeface="Helvetica Neue"/>
              </a:rPr>
              <a:t>Me organizaba mucho menos y me </a:t>
            </a:r>
            <a:r>
              <a:rPr lang="en-US" sz="1800">
                <a:solidFill>
                  <a:schemeClr val="dk1"/>
                </a:solidFill>
                <a:latin typeface="Helvetica Neue"/>
                <a:ea typeface="Helvetica Neue"/>
                <a:cs typeface="Helvetica Neue"/>
                <a:sym typeface="Helvetica Neue"/>
              </a:rPr>
              <a:t>estresa</a:t>
            </a:r>
            <a:r>
              <a:rPr lang="en-US" sz="1800">
                <a:solidFill>
                  <a:schemeClr val="dk1"/>
                </a:solidFill>
                <a:latin typeface="Helvetica Neue"/>
                <a:ea typeface="Helvetica Neue"/>
                <a:cs typeface="Helvetica Neue"/>
                <a:sym typeface="Helvetica Neue"/>
              </a:rPr>
              <a:t> </a:t>
            </a:r>
            <a:r>
              <a:rPr lang="en-US" sz="1800">
                <a:solidFill>
                  <a:schemeClr val="dk1"/>
                </a:solidFill>
                <a:latin typeface="Helvetica Neue"/>
                <a:ea typeface="Helvetica Neue"/>
                <a:cs typeface="Helvetica Neue"/>
                <a:sym typeface="Helvetica Neue"/>
              </a:rPr>
              <a:t>más</a:t>
            </a:r>
            <a:r>
              <a:rPr lang="en-US" sz="1800">
                <a:solidFill>
                  <a:schemeClr val="dk1"/>
                </a:solidFill>
                <a:latin typeface="Helvetica Neue"/>
                <a:ea typeface="Helvetica Neue"/>
                <a:cs typeface="Helvetica Neue"/>
                <a:sym typeface="Helvetica Neue"/>
              </a:rPr>
              <a:t>, porque </a:t>
            </a:r>
            <a:r>
              <a:rPr lang="en-US" sz="1800">
                <a:solidFill>
                  <a:schemeClr val="dk1"/>
                </a:solidFill>
                <a:latin typeface="Helvetica Neue"/>
                <a:ea typeface="Helvetica Neue"/>
                <a:cs typeface="Helvetica Neue"/>
                <a:sym typeface="Helvetica Neue"/>
              </a:rPr>
              <a:t>tenía</a:t>
            </a:r>
            <a:r>
              <a:rPr lang="en-US" sz="1800">
                <a:solidFill>
                  <a:schemeClr val="dk1"/>
                </a:solidFill>
                <a:latin typeface="Helvetica Neue"/>
                <a:ea typeface="Helvetica Neue"/>
                <a:cs typeface="Helvetica Neue"/>
                <a:sym typeface="Helvetica Neue"/>
              </a:rPr>
              <a:t> que llevar </a:t>
            </a:r>
            <a:r>
              <a:rPr lang="en-US" sz="1800">
                <a:solidFill>
                  <a:schemeClr val="dk1"/>
                </a:solidFill>
                <a:latin typeface="Helvetica Neue"/>
                <a:ea typeface="Helvetica Neue"/>
                <a:cs typeface="Helvetica Neue"/>
                <a:sym typeface="Helvetica Neue"/>
              </a:rPr>
              <a:t>más</a:t>
            </a:r>
            <a:r>
              <a:rPr lang="en-US" sz="1800">
                <a:solidFill>
                  <a:schemeClr val="dk1"/>
                </a:solidFill>
                <a:latin typeface="Helvetica Neue"/>
                <a:ea typeface="Helvetica Neue"/>
                <a:cs typeface="Helvetica Neue"/>
                <a:sym typeface="Helvetica Neue"/>
              </a:rPr>
              <a:t> cosas y me </a:t>
            </a:r>
            <a:r>
              <a:rPr lang="en-US" sz="1800">
                <a:solidFill>
                  <a:schemeClr val="dk1"/>
                </a:solidFill>
                <a:latin typeface="Helvetica Neue"/>
                <a:ea typeface="Helvetica Neue"/>
                <a:cs typeface="Helvetica Neue"/>
                <a:sym typeface="Helvetica Neue"/>
              </a:rPr>
              <a:t>desorganiza</a:t>
            </a:r>
            <a:r>
              <a:rPr lang="en-US" sz="1800">
                <a:solidFill>
                  <a:schemeClr val="dk1"/>
                </a:solidFill>
                <a:latin typeface="Helvetica Neue"/>
                <a:ea typeface="Helvetica Neue"/>
                <a:cs typeface="Helvetica Neue"/>
                <a:sym typeface="Helvetica Neue"/>
              </a:rPr>
              <a:t>.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pic>
        <p:nvPicPr>
          <p:cNvPr id="436" name="Google Shape;436;g3672ed3eb96_0_0"/>
          <p:cNvPicPr preferRelativeResize="0"/>
          <p:nvPr/>
        </p:nvPicPr>
        <p:blipFill>
          <a:blip r:embed="rId3">
            <a:alphaModFix/>
          </a:blip>
          <a:stretch>
            <a:fillRect/>
          </a:stretch>
        </p:blipFill>
        <p:spPr>
          <a:xfrm rot="-5400000">
            <a:off x="1765771" y="-1208046"/>
            <a:ext cx="9075100" cy="121696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id="441" name="Google Shape;441;g3672ed3eb96_0_10"/>
          <p:cNvPicPr preferRelativeResize="0"/>
          <p:nvPr/>
        </p:nvPicPr>
        <p:blipFill>
          <a:blip r:embed="rId3">
            <a:alphaModFix/>
          </a:blip>
          <a:stretch>
            <a:fillRect/>
          </a:stretch>
        </p:blipFill>
        <p:spPr>
          <a:xfrm rot="-5400000">
            <a:off x="1839564" y="-1088264"/>
            <a:ext cx="9325675" cy="119301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g3673eb35b80_0_4"/>
          <p:cNvPicPr preferRelativeResize="0"/>
          <p:nvPr/>
        </p:nvPicPr>
        <p:blipFill rotWithShape="1">
          <a:blip r:embed="rId3">
            <a:alphaModFix/>
          </a:blip>
          <a:srcRect b="0" l="0" r="0" t="0"/>
          <a:stretch/>
        </p:blipFill>
        <p:spPr>
          <a:xfrm>
            <a:off x="974281" y="956137"/>
            <a:ext cx="11525872" cy="7534330"/>
          </a:xfrm>
          <a:prstGeom prst="rect">
            <a:avLst/>
          </a:prstGeom>
          <a:noFill/>
          <a:ln>
            <a:noFill/>
          </a:ln>
        </p:spPr>
      </p:pic>
      <p:pic>
        <p:nvPicPr>
          <p:cNvPr descr="EA11.png" id="447" name="Google Shape;447;g3673eb35b80_0_4"/>
          <p:cNvPicPr preferRelativeResize="0"/>
          <p:nvPr/>
        </p:nvPicPr>
        <p:blipFill rotWithShape="1">
          <a:blip r:embed="rId4">
            <a:alphaModFix/>
          </a:blip>
          <a:srcRect b="0" l="0" r="0" t="0"/>
          <a:stretch/>
        </p:blipFill>
        <p:spPr>
          <a:xfrm>
            <a:off x="241323" y="141073"/>
            <a:ext cx="3975324" cy="1083107"/>
          </a:xfrm>
          <a:prstGeom prst="rect">
            <a:avLst/>
          </a:prstGeom>
          <a:noFill/>
          <a:ln>
            <a:noFill/>
          </a:ln>
        </p:spPr>
      </p:pic>
      <p:sp>
        <p:nvSpPr>
          <p:cNvPr id="448" name="Google Shape;448;g3673eb35b80_0_4"/>
          <p:cNvSpPr txBox="1"/>
          <p:nvPr/>
        </p:nvSpPr>
        <p:spPr>
          <a:xfrm>
            <a:off x="4323449" y="417842"/>
            <a:ext cx="8176800" cy="684000"/>
          </a:xfrm>
          <a:prstGeom prst="rect">
            <a:avLst/>
          </a:prstGeom>
          <a:noFill/>
          <a:ln>
            <a:noFill/>
          </a:ln>
        </p:spPr>
        <p:txBody>
          <a:bodyPr anchorCtr="0" anchor="ctr" bIns="50800" lIns="50800" spcFirstLastPara="1" rIns="50800" wrap="square" tIns="50800">
            <a:noAutofit/>
          </a:bodyPr>
          <a:lstStyle/>
          <a:p>
            <a:pPr indent="0" lvl="0" marL="0" marR="0" rtl="0" algn="r">
              <a:lnSpc>
                <a:spcPct val="80000"/>
              </a:lnSpc>
              <a:spcBef>
                <a:spcPts val="0"/>
              </a:spcBef>
              <a:spcAft>
                <a:spcPts val="0"/>
              </a:spcAft>
              <a:buClr>
                <a:srgbClr val="3CA8F8"/>
              </a:buClr>
              <a:buSzPts val="3900"/>
              <a:buFont typeface="Helvetica Neue"/>
              <a:buNone/>
            </a:pPr>
            <a:r>
              <a:rPr b="0" i="0" lang="en-US" sz="3600" u="none" cap="none" strike="noStrike">
                <a:solidFill>
                  <a:srgbClr val="3CA8F8"/>
                </a:solidFill>
                <a:latin typeface="Helvetica Neue"/>
                <a:ea typeface="Helvetica Neue"/>
                <a:cs typeface="Helvetica Neue"/>
                <a:sym typeface="Helvetica Neue"/>
              </a:rPr>
              <a:t>OBSERVACIÓN SILENCIOSA</a:t>
            </a:r>
            <a:endParaRPr/>
          </a:p>
          <a:p>
            <a:pPr indent="0" lvl="0" marL="0" marR="0" rtl="0" algn="r">
              <a:lnSpc>
                <a:spcPct val="80000"/>
              </a:lnSpc>
              <a:spcBef>
                <a:spcPts val="0"/>
              </a:spcBef>
              <a:spcAft>
                <a:spcPts val="0"/>
              </a:spcAft>
              <a:buClr>
                <a:srgbClr val="3CA8F8"/>
              </a:buClr>
              <a:buSzPts val="3900"/>
              <a:buFont typeface="Helvetica Neue"/>
              <a:buNone/>
            </a:pPr>
            <a:r>
              <a:rPr b="0" i="1" lang="en-US" sz="3600" u="none" cap="none" strike="noStrike">
                <a:solidFill>
                  <a:srgbClr val="3CA8F8"/>
                </a:solidFill>
                <a:latin typeface="Helvetica Neue"/>
                <a:ea typeface="Helvetica Neue"/>
                <a:cs typeface="Helvetica Neue"/>
                <a:sym typeface="Helvetica Neue"/>
              </a:rPr>
              <a:t>(FLY ON THE WALL)</a:t>
            </a:r>
            <a:endParaRPr b="0" i="1" sz="3600" u="none" cap="none" strike="noStrike">
              <a:solidFill>
                <a:srgbClr val="000000"/>
              </a:solidFill>
              <a:latin typeface="Helvetica Neue"/>
              <a:ea typeface="Helvetica Neue"/>
              <a:cs typeface="Helvetica Neue"/>
              <a:sym typeface="Helvetica Neue"/>
            </a:endParaRPr>
          </a:p>
        </p:txBody>
      </p:sp>
      <p:grpSp>
        <p:nvGrpSpPr>
          <p:cNvPr id="449" name="Google Shape;449;g3673eb35b80_0_4"/>
          <p:cNvGrpSpPr/>
          <p:nvPr/>
        </p:nvGrpSpPr>
        <p:grpSpPr>
          <a:xfrm>
            <a:off x="1212905" y="8677287"/>
            <a:ext cx="10578927" cy="621000"/>
            <a:chOff x="0" y="0"/>
            <a:chExt cx="10578927" cy="621000"/>
          </a:xfrm>
        </p:grpSpPr>
        <p:cxnSp>
          <p:nvCxnSpPr>
            <p:cNvPr id="450" name="Google Shape;450;g3673eb35b80_0_4"/>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451" name="Google Shape;451;g3673eb35b80_0_4"/>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452" name="Google Shape;452;g3673eb35b80_0_4"/>
            <p:cNvSpPr/>
            <p:nvPr/>
          </p:nvSpPr>
          <p:spPr>
            <a:xfrm>
              <a:off x="2489481"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453" name="Google Shape;453;g3673eb35b80_0_4"/>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454" name="Google Shape;454;g3673eb35b80_0_4"/>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455" name="Google Shape;455;g3673eb35b80_0_4"/>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456" name="Google Shape;456;g3673eb35b80_0_4"/>
          <p:cNvSpPr txBox="1"/>
          <p:nvPr/>
        </p:nvSpPr>
        <p:spPr>
          <a:xfrm>
            <a:off x="2522875" y="4279875"/>
            <a:ext cx="1800600" cy="198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La mayorìa </a:t>
            </a:r>
            <a:r>
              <a:rPr lang="en-US" sz="1300">
                <a:latin typeface="Helvetica Neue"/>
                <a:ea typeface="Helvetica Neue"/>
                <a:cs typeface="Helvetica Neue"/>
                <a:sym typeface="Helvetica Neue"/>
              </a:rPr>
              <a:t>está</a:t>
            </a:r>
            <a:r>
              <a:rPr lang="en-US" sz="1300">
                <a:latin typeface="Helvetica Neue"/>
                <a:ea typeface="Helvetica Neue"/>
                <a:cs typeface="Helvetica Neue"/>
                <a:sym typeface="Helvetica Neue"/>
              </a:rPr>
              <a:t> concentrada estudiando, otros duermen y algunos conversan. Percibo mucho </a:t>
            </a:r>
            <a:r>
              <a:rPr lang="en-US" sz="1300">
                <a:latin typeface="Helvetica Neue"/>
                <a:ea typeface="Helvetica Neue"/>
                <a:cs typeface="Helvetica Neue"/>
                <a:sym typeface="Helvetica Neue"/>
              </a:rPr>
              <a:t>estrés</a:t>
            </a:r>
            <a:r>
              <a:rPr lang="en-US" sz="1300">
                <a:latin typeface="Helvetica Neue"/>
                <a:ea typeface="Helvetica Neue"/>
                <a:cs typeface="Helvetica Neue"/>
                <a:sym typeface="Helvetica Neue"/>
              </a:rPr>
              <a:t>, agobio y actitudes tanto pesimistas como optimistas</a:t>
            </a:r>
            <a:endParaRPr sz="1300">
              <a:latin typeface="Helvetica Neue"/>
              <a:ea typeface="Helvetica Neue"/>
              <a:cs typeface="Helvetica Neue"/>
              <a:sym typeface="Helvetica Neue"/>
            </a:endParaRPr>
          </a:p>
        </p:txBody>
      </p:sp>
      <p:sp>
        <p:nvSpPr>
          <p:cNvPr id="457" name="Google Shape;457;g3673eb35b80_0_4"/>
          <p:cNvSpPr txBox="1"/>
          <p:nvPr/>
        </p:nvSpPr>
        <p:spPr>
          <a:xfrm>
            <a:off x="4574050" y="4279875"/>
            <a:ext cx="1800600" cy="21858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De manera organizada, es decir todos </a:t>
            </a:r>
            <a:r>
              <a:rPr lang="en-US" sz="1300">
                <a:latin typeface="Helvetica Neue"/>
                <a:ea typeface="Helvetica Neue"/>
                <a:cs typeface="Helvetica Neue"/>
                <a:sym typeface="Helvetica Neue"/>
              </a:rPr>
              <a:t>están</a:t>
            </a:r>
            <a:r>
              <a:rPr lang="en-US" sz="1300">
                <a:latin typeface="Helvetica Neue"/>
                <a:ea typeface="Helvetica Neue"/>
                <a:cs typeface="Helvetica Neue"/>
                <a:sym typeface="Helvetica Neue"/>
              </a:rPr>
              <a:t> bien distribuidos y ubicados </a:t>
            </a:r>
            <a:r>
              <a:rPr lang="en-US" sz="1300">
                <a:latin typeface="Helvetica Neue"/>
                <a:ea typeface="Helvetica Neue"/>
                <a:cs typeface="Helvetica Neue"/>
                <a:sym typeface="Helvetica Neue"/>
              </a:rPr>
              <a:t>según</a:t>
            </a:r>
            <a:r>
              <a:rPr lang="en-US" sz="1300">
                <a:latin typeface="Helvetica Neue"/>
                <a:ea typeface="Helvetica Neue"/>
                <a:cs typeface="Helvetica Neue"/>
                <a:sym typeface="Helvetica Neue"/>
              </a:rPr>
              <a:t> sus requerimientos y comodidades. El entorno cumple el rol de facilitador de aprendizaje.</a:t>
            </a:r>
            <a:endParaRPr sz="1300">
              <a:latin typeface="Helvetica Neue"/>
              <a:ea typeface="Helvetica Neue"/>
              <a:cs typeface="Helvetica Neue"/>
              <a:sym typeface="Helvetica Neue"/>
            </a:endParaRPr>
          </a:p>
        </p:txBody>
      </p:sp>
      <p:sp>
        <p:nvSpPr>
          <p:cNvPr id="458" name="Google Shape;458;g3673eb35b80_0_4"/>
          <p:cNvSpPr txBox="1"/>
          <p:nvPr/>
        </p:nvSpPr>
        <p:spPr>
          <a:xfrm>
            <a:off x="6466400" y="4379925"/>
            <a:ext cx="1958100" cy="198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La mayoría estudia de su computador, tablet o cuaderno, algunos memorizan y otros resuelven ejercicios. Las interacciones son por lo general para compartir ideas, conocimiento y dudas.</a:t>
            </a:r>
            <a:endParaRPr sz="1300">
              <a:latin typeface="Helvetica Neue"/>
              <a:ea typeface="Helvetica Neue"/>
              <a:cs typeface="Helvetica Neue"/>
              <a:sym typeface="Helvetica Neue"/>
            </a:endParaRPr>
          </a:p>
        </p:txBody>
      </p:sp>
      <p:sp>
        <p:nvSpPr>
          <p:cNvPr id="459" name="Google Shape;459;g3673eb35b80_0_4"/>
          <p:cNvSpPr txBox="1"/>
          <p:nvPr/>
        </p:nvSpPr>
        <p:spPr>
          <a:xfrm>
            <a:off x="8311950" y="4400050"/>
            <a:ext cx="1958100" cy="198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Hay mochilas, lapices, computadores, tablets, cuadernos, botellas de agua y ropa. Algunos cumplen el rol de empaquetador, otros de </a:t>
            </a:r>
            <a:r>
              <a:rPr lang="en-US" sz="1300">
                <a:latin typeface="Helvetica Neue"/>
                <a:ea typeface="Helvetica Neue"/>
                <a:cs typeface="Helvetica Neue"/>
                <a:sym typeface="Helvetica Neue"/>
              </a:rPr>
              <a:t>resguardo</a:t>
            </a:r>
            <a:r>
              <a:rPr lang="en-US" sz="1300">
                <a:latin typeface="Helvetica Neue"/>
                <a:ea typeface="Helvetica Neue"/>
                <a:cs typeface="Helvetica Neue"/>
                <a:sym typeface="Helvetica Neue"/>
              </a:rPr>
              <a:t> y los demás de facilitadores para el estudio.</a:t>
            </a:r>
            <a:endParaRPr sz="1300">
              <a:latin typeface="Helvetica Neue"/>
              <a:ea typeface="Helvetica Neue"/>
              <a:cs typeface="Helvetica Neue"/>
              <a:sym typeface="Helvetica Neue"/>
            </a:endParaRPr>
          </a:p>
        </p:txBody>
      </p:sp>
      <p:sp>
        <p:nvSpPr>
          <p:cNvPr id="460" name="Google Shape;460;g3673eb35b80_0_4"/>
          <p:cNvSpPr txBox="1"/>
          <p:nvPr/>
        </p:nvSpPr>
        <p:spPr>
          <a:xfrm>
            <a:off x="10270050" y="4279875"/>
            <a:ext cx="22524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Estudiantes universitarios. Cumplen el rol de aprender. La mayoría tiene un perfil similar. El que más resalta es aquel que parece disfrutar de aprender y presenta una actitud optimista, creo que destaca porque resulta un </a:t>
            </a:r>
            <a:r>
              <a:rPr lang="en-US" sz="1300">
                <a:latin typeface="Helvetica Neue"/>
                <a:ea typeface="Helvetica Neue"/>
                <a:cs typeface="Helvetica Neue"/>
                <a:sym typeface="Helvetica Neue"/>
              </a:rPr>
              <a:t>símbolo</a:t>
            </a:r>
            <a:r>
              <a:rPr lang="en-US" sz="1300">
                <a:latin typeface="Helvetica Neue"/>
                <a:ea typeface="Helvetica Neue"/>
                <a:cs typeface="Helvetica Neue"/>
                <a:sym typeface="Helvetica Neue"/>
              </a:rPr>
              <a:t> de motivación. </a:t>
            </a:r>
            <a:endParaRPr sz="1300">
              <a:latin typeface="Helvetica Neue"/>
              <a:ea typeface="Helvetica Neue"/>
              <a:cs typeface="Helvetica Neue"/>
              <a:sym typeface="Helvetica Neue"/>
            </a:endParaRPr>
          </a:p>
        </p:txBody>
      </p:sp>
      <p:sp>
        <p:nvSpPr>
          <p:cNvPr id="461" name="Google Shape;461;g3673eb35b80_0_4"/>
          <p:cNvSpPr txBox="1"/>
          <p:nvPr/>
        </p:nvSpPr>
        <p:spPr>
          <a:xfrm>
            <a:off x="3589000" y="1757000"/>
            <a:ext cx="3371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Helvetica Neue"/>
                <a:ea typeface="Helvetica Neue"/>
                <a:cs typeface="Helvetica Neue"/>
                <a:sym typeface="Helvetica Neue"/>
              </a:rPr>
              <a:t>Biblioteca</a:t>
            </a:r>
            <a:endParaRPr sz="2000">
              <a:latin typeface="Helvetica Neue"/>
              <a:ea typeface="Helvetica Neue"/>
              <a:cs typeface="Helvetica Neue"/>
              <a:sym typeface="Helvetica Neue"/>
            </a:endParaRPr>
          </a:p>
        </p:txBody>
      </p:sp>
      <p:sp>
        <p:nvSpPr>
          <p:cNvPr id="462" name="Google Shape;462;g3673eb35b80_0_4"/>
          <p:cNvSpPr txBox="1"/>
          <p:nvPr/>
        </p:nvSpPr>
        <p:spPr>
          <a:xfrm>
            <a:off x="8860050" y="1795550"/>
            <a:ext cx="141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latin typeface="Helvetica Neue"/>
                <a:ea typeface="Helvetica Neue"/>
                <a:cs typeface="Helvetica Neue"/>
                <a:sym typeface="Helvetica Neue"/>
              </a:rPr>
              <a:t>17/06/25</a:t>
            </a:r>
            <a:endParaRPr sz="1500">
              <a:latin typeface="Helvetica Neue"/>
              <a:ea typeface="Helvetica Neue"/>
              <a:cs typeface="Helvetica Neue"/>
              <a:sym typeface="Helvetica Neue"/>
            </a:endParaRPr>
          </a:p>
        </p:txBody>
      </p:sp>
      <p:sp>
        <p:nvSpPr>
          <p:cNvPr id="463" name="Google Shape;463;g3673eb35b80_0_4"/>
          <p:cNvSpPr txBox="1"/>
          <p:nvPr/>
        </p:nvSpPr>
        <p:spPr>
          <a:xfrm>
            <a:off x="10722200" y="1787750"/>
            <a:ext cx="2027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latin typeface="Helvetica Neue"/>
                <a:ea typeface="Helvetica Neue"/>
                <a:cs typeface="Helvetica Neue"/>
                <a:sym typeface="Helvetica Neue"/>
              </a:rPr>
              <a:t>12:15</a:t>
            </a:r>
            <a:endParaRPr sz="1600">
              <a:latin typeface="Helvetica Neue"/>
              <a:ea typeface="Helvetica Neue"/>
              <a:cs typeface="Helvetica Neue"/>
              <a:sym typeface="Helvetica Neue"/>
            </a:endParaRPr>
          </a:p>
        </p:txBody>
      </p:sp>
      <p:sp>
        <p:nvSpPr>
          <p:cNvPr id="464" name="Google Shape;464;g3673eb35b80_0_4"/>
          <p:cNvSpPr txBox="1"/>
          <p:nvPr/>
        </p:nvSpPr>
        <p:spPr>
          <a:xfrm>
            <a:off x="10372400" y="6465675"/>
            <a:ext cx="16893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Helvetica Neue"/>
                <a:ea typeface="Helvetica Neue"/>
                <a:cs typeface="Helvetica Neue"/>
                <a:sym typeface="Helvetica Neue"/>
              </a:rPr>
              <a:t>Perfiles similares en relación a pertenencias y actividades que se están llevando a cabo. Estilos de ropa muy variados.</a:t>
            </a:r>
            <a:endParaRPr>
              <a:latin typeface="Helvetica Neue"/>
              <a:ea typeface="Helvetica Neue"/>
              <a:cs typeface="Helvetica Neue"/>
              <a:sym typeface="Helvetica Neue"/>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2"/>
          <p:cNvSpPr txBox="1"/>
          <p:nvPr/>
        </p:nvSpPr>
        <p:spPr>
          <a:xfrm>
            <a:off x="2659850" y="4456500"/>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latin typeface="Helvetica Neue"/>
                <a:ea typeface="Helvetica Neue"/>
                <a:cs typeface="Helvetica Neue"/>
                <a:sym typeface="Helvetica Neue"/>
              </a:rPr>
              <a:t>w</a:t>
            </a:r>
            <a:endParaRPr sz="3000">
              <a:latin typeface="Helvetica Neue"/>
              <a:ea typeface="Helvetica Neue"/>
              <a:cs typeface="Helvetica Neue"/>
              <a:sym typeface="Helvetica Neue"/>
            </a:endParaRPr>
          </a:p>
        </p:txBody>
      </p:sp>
      <p:pic>
        <p:nvPicPr>
          <p:cNvPr id="470" name="Google Shape;470;p12"/>
          <p:cNvPicPr preferRelativeResize="0"/>
          <p:nvPr/>
        </p:nvPicPr>
        <p:blipFill rotWithShape="1">
          <a:blip r:embed="rId3">
            <a:alphaModFix/>
          </a:blip>
          <a:srcRect b="0" l="0" r="0" t="0"/>
          <a:stretch/>
        </p:blipFill>
        <p:spPr>
          <a:xfrm>
            <a:off x="974281" y="956137"/>
            <a:ext cx="11525871" cy="7534329"/>
          </a:xfrm>
          <a:prstGeom prst="rect">
            <a:avLst/>
          </a:prstGeom>
          <a:noFill/>
          <a:ln>
            <a:noFill/>
          </a:ln>
        </p:spPr>
      </p:pic>
      <p:pic>
        <p:nvPicPr>
          <p:cNvPr descr="EA11.png" id="471" name="Google Shape;471;p12"/>
          <p:cNvPicPr preferRelativeResize="0"/>
          <p:nvPr/>
        </p:nvPicPr>
        <p:blipFill rotWithShape="1">
          <a:blip r:embed="rId4">
            <a:alphaModFix/>
          </a:blip>
          <a:srcRect b="0" l="0" r="0" t="0"/>
          <a:stretch/>
        </p:blipFill>
        <p:spPr>
          <a:xfrm>
            <a:off x="241323" y="141073"/>
            <a:ext cx="3975324" cy="1083107"/>
          </a:xfrm>
          <a:prstGeom prst="rect">
            <a:avLst/>
          </a:prstGeom>
          <a:noFill/>
          <a:ln>
            <a:noFill/>
          </a:ln>
        </p:spPr>
      </p:pic>
      <p:sp>
        <p:nvSpPr>
          <p:cNvPr id="472" name="Google Shape;472;p12"/>
          <p:cNvSpPr txBox="1"/>
          <p:nvPr/>
        </p:nvSpPr>
        <p:spPr>
          <a:xfrm>
            <a:off x="4323449" y="417842"/>
            <a:ext cx="8176704" cy="684134"/>
          </a:xfrm>
          <a:prstGeom prst="rect">
            <a:avLst/>
          </a:prstGeom>
          <a:noFill/>
          <a:ln>
            <a:noFill/>
          </a:ln>
        </p:spPr>
        <p:txBody>
          <a:bodyPr anchorCtr="0" anchor="ctr" bIns="50800" lIns="50800" spcFirstLastPara="1" rIns="50800" wrap="square" tIns="50800">
            <a:noAutofit/>
          </a:bodyPr>
          <a:lstStyle/>
          <a:p>
            <a:pPr indent="0" lvl="0" marL="0" marR="0" rtl="0" algn="r">
              <a:lnSpc>
                <a:spcPct val="80000"/>
              </a:lnSpc>
              <a:spcBef>
                <a:spcPts val="0"/>
              </a:spcBef>
              <a:spcAft>
                <a:spcPts val="0"/>
              </a:spcAft>
              <a:buClr>
                <a:srgbClr val="3CA8F8"/>
              </a:buClr>
              <a:buSzPts val="3900"/>
              <a:buFont typeface="Helvetica Neue"/>
              <a:buNone/>
            </a:pPr>
            <a:r>
              <a:rPr b="0" i="0" lang="en-US" sz="3600" u="none" cap="none" strike="noStrike">
                <a:solidFill>
                  <a:srgbClr val="3CA8F8"/>
                </a:solidFill>
                <a:latin typeface="Helvetica Neue"/>
                <a:ea typeface="Helvetica Neue"/>
                <a:cs typeface="Helvetica Neue"/>
                <a:sym typeface="Helvetica Neue"/>
              </a:rPr>
              <a:t>OBSERVACIÓN SILENCIOSA</a:t>
            </a:r>
            <a:endParaRPr/>
          </a:p>
          <a:p>
            <a:pPr indent="0" lvl="0" marL="0" marR="0" rtl="0" algn="r">
              <a:lnSpc>
                <a:spcPct val="80000"/>
              </a:lnSpc>
              <a:spcBef>
                <a:spcPts val="0"/>
              </a:spcBef>
              <a:spcAft>
                <a:spcPts val="0"/>
              </a:spcAft>
              <a:buClr>
                <a:srgbClr val="3CA8F8"/>
              </a:buClr>
              <a:buSzPts val="3900"/>
              <a:buFont typeface="Helvetica Neue"/>
              <a:buNone/>
            </a:pPr>
            <a:r>
              <a:rPr b="0" i="1" lang="en-US" sz="3600" u="none" cap="none" strike="noStrike">
                <a:solidFill>
                  <a:srgbClr val="3CA8F8"/>
                </a:solidFill>
                <a:latin typeface="Helvetica Neue"/>
                <a:ea typeface="Helvetica Neue"/>
                <a:cs typeface="Helvetica Neue"/>
                <a:sym typeface="Helvetica Neue"/>
              </a:rPr>
              <a:t>(FLY ON THE WALL)</a:t>
            </a:r>
            <a:endParaRPr b="0" i="1" sz="3600" u="none" cap="none" strike="noStrike">
              <a:solidFill>
                <a:srgbClr val="000000"/>
              </a:solidFill>
              <a:latin typeface="Helvetica Neue"/>
              <a:ea typeface="Helvetica Neue"/>
              <a:cs typeface="Helvetica Neue"/>
              <a:sym typeface="Helvetica Neue"/>
            </a:endParaRPr>
          </a:p>
        </p:txBody>
      </p:sp>
      <p:grpSp>
        <p:nvGrpSpPr>
          <p:cNvPr id="473" name="Google Shape;473;p12"/>
          <p:cNvGrpSpPr/>
          <p:nvPr/>
        </p:nvGrpSpPr>
        <p:grpSpPr>
          <a:xfrm>
            <a:off x="1212905" y="8677287"/>
            <a:ext cx="10578992" cy="621064"/>
            <a:chOff x="0" y="0"/>
            <a:chExt cx="10578990" cy="621062"/>
          </a:xfrm>
        </p:grpSpPr>
        <p:cxnSp>
          <p:nvCxnSpPr>
            <p:cNvPr id="474" name="Google Shape;474;p12"/>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475" name="Google Shape;475;p12"/>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476" name="Google Shape;476;p12"/>
            <p:cNvSpPr/>
            <p:nvPr/>
          </p:nvSpPr>
          <p:spPr>
            <a:xfrm>
              <a:off x="2489481"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477" name="Google Shape;477;p12"/>
            <p:cNvSpPr/>
            <p:nvPr/>
          </p:nvSpPr>
          <p:spPr>
            <a:xfrm>
              <a:off x="4978963"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478" name="Google Shape;478;p12"/>
            <p:cNvSpPr/>
            <p:nvPr/>
          </p:nvSpPr>
          <p:spPr>
            <a:xfrm>
              <a:off x="7468444"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479" name="Google Shape;479;p12"/>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480" name="Google Shape;480;p12"/>
          <p:cNvSpPr txBox="1"/>
          <p:nvPr/>
        </p:nvSpPr>
        <p:spPr>
          <a:xfrm>
            <a:off x="2537550" y="4456525"/>
            <a:ext cx="1785900" cy="38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latin typeface="Helvetica Neue"/>
                <a:ea typeface="Helvetica Neue"/>
                <a:cs typeface="Helvetica Neue"/>
                <a:sym typeface="Helvetica Neue"/>
              </a:rPr>
              <a:t>La mayoría está estudiando con cara de concentración extrema. Algunos llevan muchas horas sentados: se nota en los movimientos incómodos, como estirarse, frotarse el cuello, suspirar. Una persona duerme sobre su mochila.</a:t>
            </a:r>
            <a:endParaRPr sz="1600">
              <a:latin typeface="Helvetica Neue"/>
              <a:ea typeface="Helvetica Neue"/>
              <a:cs typeface="Helvetica Neue"/>
              <a:sym typeface="Helvetica Neue"/>
            </a:endParaRPr>
          </a:p>
        </p:txBody>
      </p:sp>
      <p:sp>
        <p:nvSpPr>
          <p:cNvPr id="481" name="Google Shape;481;p12"/>
          <p:cNvSpPr txBox="1"/>
          <p:nvPr/>
        </p:nvSpPr>
        <p:spPr>
          <a:xfrm>
            <a:off x="8474850" y="4456500"/>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700">
              <a:latin typeface="Helvetica Neue"/>
              <a:ea typeface="Helvetica Neue"/>
              <a:cs typeface="Helvetica Neue"/>
              <a:sym typeface="Helvetica Neue"/>
            </a:endParaRPr>
          </a:p>
        </p:txBody>
      </p:sp>
      <p:sp>
        <p:nvSpPr>
          <p:cNvPr id="482" name="Google Shape;482;p12"/>
          <p:cNvSpPr txBox="1"/>
          <p:nvPr/>
        </p:nvSpPr>
        <p:spPr>
          <a:xfrm>
            <a:off x="10416800" y="4456500"/>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latin typeface="Helvetica Neue"/>
                <a:ea typeface="Helvetica Neue"/>
                <a:cs typeface="Helvetica Neue"/>
                <a:sym typeface="Helvetica Neue"/>
              </a:rPr>
              <a:t>Mayoría estudiantes sub-25. Destaca una chica que saca todo de su mochila y lo ordena meticulosamente sobre la mesa… pero aun así no encuentra su estuche..</a:t>
            </a:r>
            <a:endParaRPr sz="1600">
              <a:latin typeface="Helvetica Neue"/>
              <a:ea typeface="Helvetica Neue"/>
              <a:cs typeface="Helvetica Neue"/>
              <a:sym typeface="Helvetica Neue"/>
            </a:endParaRPr>
          </a:p>
        </p:txBody>
      </p:sp>
      <p:sp>
        <p:nvSpPr>
          <p:cNvPr id="483" name="Google Shape;483;p12"/>
          <p:cNvSpPr txBox="1"/>
          <p:nvPr/>
        </p:nvSpPr>
        <p:spPr>
          <a:xfrm>
            <a:off x="2659850" y="6566888"/>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latin typeface="Helvetica Neue"/>
              <a:ea typeface="Helvetica Neue"/>
              <a:cs typeface="Helvetica Neue"/>
              <a:sym typeface="Helvetica Neue"/>
            </a:endParaRPr>
          </a:p>
        </p:txBody>
      </p:sp>
      <p:sp>
        <p:nvSpPr>
          <p:cNvPr id="484" name="Google Shape;484;p12"/>
          <p:cNvSpPr txBox="1"/>
          <p:nvPr/>
        </p:nvSpPr>
        <p:spPr>
          <a:xfrm>
            <a:off x="4747000" y="6566888"/>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latin typeface="Helvetica Neue"/>
              <a:ea typeface="Helvetica Neue"/>
              <a:cs typeface="Helvetica Neue"/>
              <a:sym typeface="Helvetica Neue"/>
            </a:endParaRPr>
          </a:p>
        </p:txBody>
      </p:sp>
      <p:sp>
        <p:nvSpPr>
          <p:cNvPr id="485" name="Google Shape;485;p12"/>
          <p:cNvSpPr txBox="1"/>
          <p:nvPr/>
        </p:nvSpPr>
        <p:spPr>
          <a:xfrm>
            <a:off x="6532900" y="6566888"/>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latin typeface="Helvetica Neue"/>
              <a:ea typeface="Helvetica Neue"/>
              <a:cs typeface="Helvetica Neue"/>
              <a:sym typeface="Helvetica Neue"/>
            </a:endParaRPr>
          </a:p>
        </p:txBody>
      </p:sp>
      <p:sp>
        <p:nvSpPr>
          <p:cNvPr id="486" name="Google Shape;486;p12"/>
          <p:cNvSpPr txBox="1"/>
          <p:nvPr/>
        </p:nvSpPr>
        <p:spPr>
          <a:xfrm>
            <a:off x="8474850" y="6566888"/>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latin typeface="Helvetica Neue"/>
              <a:ea typeface="Helvetica Neue"/>
              <a:cs typeface="Helvetica Neue"/>
              <a:sym typeface="Helvetica Neue"/>
            </a:endParaRPr>
          </a:p>
        </p:txBody>
      </p:sp>
      <p:sp>
        <p:nvSpPr>
          <p:cNvPr id="487" name="Google Shape;487;p12"/>
          <p:cNvSpPr txBox="1"/>
          <p:nvPr/>
        </p:nvSpPr>
        <p:spPr>
          <a:xfrm>
            <a:off x="10416800" y="6566888"/>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latin typeface="Helvetica Neue"/>
              <a:ea typeface="Helvetica Neue"/>
              <a:cs typeface="Helvetica Neue"/>
              <a:sym typeface="Helvetica Neue"/>
            </a:endParaRPr>
          </a:p>
        </p:txBody>
      </p:sp>
      <p:sp>
        <p:nvSpPr>
          <p:cNvPr id="488" name="Google Shape;488;p12"/>
          <p:cNvSpPr txBox="1"/>
          <p:nvPr/>
        </p:nvSpPr>
        <p:spPr>
          <a:xfrm>
            <a:off x="4596375" y="4456525"/>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latin typeface="Helvetica Neue"/>
                <a:ea typeface="Helvetica Neue"/>
                <a:cs typeface="Helvetica Neue"/>
                <a:sym typeface="Helvetica Neue"/>
              </a:rPr>
              <a:t>El espacio facilita la concentración, pero no tanto la comodidad física. Muchas sillas duras, pocos lugares para dejar mochilas sin que estorben. El entorno cumple el rol de “zona de aguante” más que de bienestar.</a:t>
            </a:r>
            <a:endParaRPr sz="1600">
              <a:latin typeface="Helvetica Neue"/>
              <a:ea typeface="Helvetica Neue"/>
              <a:cs typeface="Helvetica Neue"/>
              <a:sym typeface="Helvetica Neue"/>
            </a:endParaRPr>
          </a:p>
        </p:txBody>
      </p:sp>
      <p:sp>
        <p:nvSpPr>
          <p:cNvPr id="489" name="Google Shape;489;p12"/>
          <p:cNvSpPr txBox="1"/>
          <p:nvPr/>
        </p:nvSpPr>
        <p:spPr>
          <a:xfrm>
            <a:off x="6532900" y="4456500"/>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latin typeface="Helvetica Neue"/>
                <a:ea typeface="Helvetica Neue"/>
                <a:cs typeface="Helvetica Neue"/>
                <a:sym typeface="Helvetica Neue"/>
              </a:rPr>
              <a:t>Interacciones mínimas. Sólo susurros y movimientos de cabeza entre grupos. Todos están en “modo estudio”. Algunos se pasan materiales o comparten pantallas.</a:t>
            </a:r>
            <a:endParaRPr sz="1800">
              <a:latin typeface="Helvetica Neue"/>
              <a:ea typeface="Helvetica Neue"/>
              <a:cs typeface="Helvetica Neue"/>
              <a:sym typeface="Helvetica Neue"/>
            </a:endParaRPr>
          </a:p>
        </p:txBody>
      </p:sp>
      <p:sp>
        <p:nvSpPr>
          <p:cNvPr id="490" name="Google Shape;490;p12"/>
          <p:cNvSpPr txBox="1"/>
          <p:nvPr/>
        </p:nvSpPr>
        <p:spPr>
          <a:xfrm>
            <a:off x="3652300" y="1573375"/>
            <a:ext cx="3975300" cy="6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latin typeface="Helvetica Neue"/>
                <a:ea typeface="Helvetica Neue"/>
                <a:cs typeface="Helvetica Neue"/>
                <a:sym typeface="Helvetica Neue"/>
              </a:rPr>
              <a:t>Biblioteca Central UC - Javier Cañete</a:t>
            </a:r>
            <a:endParaRPr sz="2300">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g3675a51192a_0_98"/>
          <p:cNvSpPr txBox="1"/>
          <p:nvPr/>
        </p:nvSpPr>
        <p:spPr>
          <a:xfrm>
            <a:off x="4596375" y="4456525"/>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latin typeface="Helvetica Neue"/>
                <a:ea typeface="Helvetica Neue"/>
                <a:cs typeface="Helvetica Neue"/>
                <a:sym typeface="Helvetica Neue"/>
              </a:rPr>
              <a:t>Zona amplia, verde, con sombra. No hay mobiliario (ni bancas, ni mesas), entonces todo el mundo adapta su espacio como puede. El entorno obliga a la mochila a cumplir funciones que no están pensadas para ella.</a:t>
            </a:r>
            <a:endParaRPr sz="1600">
              <a:latin typeface="Helvetica Neue"/>
              <a:ea typeface="Helvetica Neue"/>
              <a:cs typeface="Helvetica Neue"/>
              <a:sym typeface="Helvetica Neue"/>
            </a:endParaRPr>
          </a:p>
        </p:txBody>
      </p:sp>
      <p:sp>
        <p:nvSpPr>
          <p:cNvPr id="496" name="Google Shape;496;g3675a51192a_0_98"/>
          <p:cNvSpPr txBox="1"/>
          <p:nvPr/>
        </p:nvSpPr>
        <p:spPr>
          <a:xfrm>
            <a:off x="2659850" y="4456500"/>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latin typeface="Helvetica Neue"/>
                <a:ea typeface="Helvetica Neue"/>
                <a:cs typeface="Helvetica Neue"/>
                <a:sym typeface="Helvetica Neue"/>
              </a:rPr>
              <a:t>w</a:t>
            </a:r>
            <a:endParaRPr sz="3000">
              <a:latin typeface="Helvetica Neue"/>
              <a:ea typeface="Helvetica Neue"/>
              <a:cs typeface="Helvetica Neue"/>
              <a:sym typeface="Helvetica Neue"/>
            </a:endParaRPr>
          </a:p>
        </p:txBody>
      </p:sp>
      <p:pic>
        <p:nvPicPr>
          <p:cNvPr id="497" name="Google Shape;497;g3675a51192a_0_98"/>
          <p:cNvPicPr preferRelativeResize="0"/>
          <p:nvPr/>
        </p:nvPicPr>
        <p:blipFill rotWithShape="1">
          <a:blip r:embed="rId3">
            <a:alphaModFix/>
          </a:blip>
          <a:srcRect b="0" l="0" r="0" t="0"/>
          <a:stretch/>
        </p:blipFill>
        <p:spPr>
          <a:xfrm>
            <a:off x="974281" y="956137"/>
            <a:ext cx="11525872" cy="7534330"/>
          </a:xfrm>
          <a:prstGeom prst="rect">
            <a:avLst/>
          </a:prstGeom>
          <a:noFill/>
          <a:ln>
            <a:noFill/>
          </a:ln>
        </p:spPr>
      </p:pic>
      <p:pic>
        <p:nvPicPr>
          <p:cNvPr descr="EA11.png" id="498" name="Google Shape;498;g3675a51192a_0_98"/>
          <p:cNvPicPr preferRelativeResize="0"/>
          <p:nvPr/>
        </p:nvPicPr>
        <p:blipFill rotWithShape="1">
          <a:blip r:embed="rId4">
            <a:alphaModFix/>
          </a:blip>
          <a:srcRect b="0" l="0" r="0" t="0"/>
          <a:stretch/>
        </p:blipFill>
        <p:spPr>
          <a:xfrm>
            <a:off x="241323" y="141073"/>
            <a:ext cx="3975324" cy="1083107"/>
          </a:xfrm>
          <a:prstGeom prst="rect">
            <a:avLst/>
          </a:prstGeom>
          <a:noFill/>
          <a:ln>
            <a:noFill/>
          </a:ln>
        </p:spPr>
      </p:pic>
      <p:sp>
        <p:nvSpPr>
          <p:cNvPr id="499" name="Google Shape;499;g3675a51192a_0_98"/>
          <p:cNvSpPr txBox="1"/>
          <p:nvPr/>
        </p:nvSpPr>
        <p:spPr>
          <a:xfrm>
            <a:off x="4323449" y="417842"/>
            <a:ext cx="8176800" cy="684000"/>
          </a:xfrm>
          <a:prstGeom prst="rect">
            <a:avLst/>
          </a:prstGeom>
          <a:noFill/>
          <a:ln>
            <a:noFill/>
          </a:ln>
        </p:spPr>
        <p:txBody>
          <a:bodyPr anchorCtr="0" anchor="ctr" bIns="50800" lIns="50800" spcFirstLastPara="1" rIns="50800" wrap="square" tIns="50800">
            <a:noAutofit/>
          </a:bodyPr>
          <a:lstStyle/>
          <a:p>
            <a:pPr indent="0" lvl="0" marL="0" marR="0" rtl="0" algn="r">
              <a:lnSpc>
                <a:spcPct val="80000"/>
              </a:lnSpc>
              <a:spcBef>
                <a:spcPts val="0"/>
              </a:spcBef>
              <a:spcAft>
                <a:spcPts val="0"/>
              </a:spcAft>
              <a:buClr>
                <a:srgbClr val="3CA8F8"/>
              </a:buClr>
              <a:buSzPts val="3900"/>
              <a:buFont typeface="Helvetica Neue"/>
              <a:buNone/>
            </a:pPr>
            <a:r>
              <a:rPr b="0" i="0" lang="en-US" sz="3600" u="none" cap="none" strike="noStrike">
                <a:solidFill>
                  <a:srgbClr val="3CA8F8"/>
                </a:solidFill>
                <a:latin typeface="Helvetica Neue"/>
                <a:ea typeface="Helvetica Neue"/>
                <a:cs typeface="Helvetica Neue"/>
                <a:sym typeface="Helvetica Neue"/>
              </a:rPr>
              <a:t>OBSERVACIÓN SILENCIOSA</a:t>
            </a:r>
            <a:endParaRPr/>
          </a:p>
          <a:p>
            <a:pPr indent="0" lvl="0" marL="0" marR="0" rtl="0" algn="r">
              <a:lnSpc>
                <a:spcPct val="80000"/>
              </a:lnSpc>
              <a:spcBef>
                <a:spcPts val="0"/>
              </a:spcBef>
              <a:spcAft>
                <a:spcPts val="0"/>
              </a:spcAft>
              <a:buClr>
                <a:srgbClr val="3CA8F8"/>
              </a:buClr>
              <a:buSzPts val="3900"/>
              <a:buFont typeface="Helvetica Neue"/>
              <a:buNone/>
            </a:pPr>
            <a:r>
              <a:rPr b="0" i="1" lang="en-US" sz="3600" u="none" cap="none" strike="noStrike">
                <a:solidFill>
                  <a:srgbClr val="3CA8F8"/>
                </a:solidFill>
                <a:latin typeface="Helvetica Neue"/>
                <a:ea typeface="Helvetica Neue"/>
                <a:cs typeface="Helvetica Neue"/>
                <a:sym typeface="Helvetica Neue"/>
              </a:rPr>
              <a:t>(FLY ON THE WALL)</a:t>
            </a:r>
            <a:endParaRPr b="0" i="1" sz="3600" u="none" cap="none" strike="noStrike">
              <a:solidFill>
                <a:srgbClr val="000000"/>
              </a:solidFill>
              <a:latin typeface="Helvetica Neue"/>
              <a:ea typeface="Helvetica Neue"/>
              <a:cs typeface="Helvetica Neue"/>
              <a:sym typeface="Helvetica Neue"/>
            </a:endParaRPr>
          </a:p>
        </p:txBody>
      </p:sp>
      <p:grpSp>
        <p:nvGrpSpPr>
          <p:cNvPr id="500" name="Google Shape;500;g3675a51192a_0_98"/>
          <p:cNvGrpSpPr/>
          <p:nvPr/>
        </p:nvGrpSpPr>
        <p:grpSpPr>
          <a:xfrm>
            <a:off x="1212905" y="8677287"/>
            <a:ext cx="10578927" cy="621000"/>
            <a:chOff x="0" y="0"/>
            <a:chExt cx="10578927" cy="621000"/>
          </a:xfrm>
        </p:grpSpPr>
        <p:cxnSp>
          <p:nvCxnSpPr>
            <p:cNvPr id="501" name="Google Shape;501;g3675a51192a_0_98"/>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502" name="Google Shape;502;g3675a51192a_0_98"/>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03" name="Google Shape;503;g3675a51192a_0_98"/>
            <p:cNvSpPr/>
            <p:nvPr/>
          </p:nvSpPr>
          <p:spPr>
            <a:xfrm>
              <a:off x="2489481"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04" name="Google Shape;504;g3675a51192a_0_98"/>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05" name="Google Shape;505;g3675a51192a_0_98"/>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06" name="Google Shape;506;g3675a51192a_0_98"/>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507" name="Google Shape;507;g3675a51192a_0_98"/>
          <p:cNvSpPr txBox="1"/>
          <p:nvPr/>
        </p:nvSpPr>
        <p:spPr>
          <a:xfrm>
            <a:off x="2537550" y="4456500"/>
            <a:ext cx="1785900" cy="38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Helvetica Neue"/>
                <a:ea typeface="Helvetica Neue"/>
                <a:cs typeface="Helvetica Neue"/>
                <a:sym typeface="Helvetica Neue"/>
              </a:rPr>
              <a:t>Gente almorzando sentada en el pasto, apoyada en sus mochilas como si fueran respaldos. Algunos se recuestan sobre ellas directamente. Un grupo hace una especie de picnic, donde la mochila funciona como mesa improvisada para los tuppers. Otro la usa como barrera para que no se le deslice el termo.</a:t>
            </a:r>
            <a:endParaRPr>
              <a:latin typeface="Helvetica Neue"/>
              <a:ea typeface="Helvetica Neue"/>
              <a:cs typeface="Helvetica Neue"/>
              <a:sym typeface="Helvetica Neue"/>
            </a:endParaRPr>
          </a:p>
        </p:txBody>
      </p:sp>
      <p:sp>
        <p:nvSpPr>
          <p:cNvPr id="508" name="Google Shape;508;g3675a51192a_0_98"/>
          <p:cNvSpPr txBox="1"/>
          <p:nvPr/>
        </p:nvSpPr>
        <p:spPr>
          <a:xfrm>
            <a:off x="8474850" y="4456500"/>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latin typeface="Helvetica Neue"/>
                <a:ea typeface="Helvetica Neue"/>
                <a:cs typeface="Helvetica Neue"/>
                <a:sym typeface="Helvetica Neue"/>
              </a:rPr>
              <a:t>Las mochilas están en el suelo, algunas acostadas, otras de lado. Varias tienen tazas colgando, llaves sueltas, bolsas plásticas amarradas. </a:t>
            </a:r>
            <a:endParaRPr sz="1700">
              <a:latin typeface="Helvetica Neue"/>
              <a:ea typeface="Helvetica Neue"/>
              <a:cs typeface="Helvetica Neue"/>
              <a:sym typeface="Helvetica Neue"/>
            </a:endParaRPr>
          </a:p>
        </p:txBody>
      </p:sp>
      <p:sp>
        <p:nvSpPr>
          <p:cNvPr id="509" name="Google Shape;509;g3675a51192a_0_98"/>
          <p:cNvSpPr txBox="1"/>
          <p:nvPr/>
        </p:nvSpPr>
        <p:spPr>
          <a:xfrm>
            <a:off x="10416800" y="4456500"/>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latin typeface="Helvetica Neue"/>
                <a:ea typeface="Helvetica Neue"/>
                <a:cs typeface="Helvetica Neue"/>
                <a:sym typeface="Helvetica Neue"/>
              </a:rPr>
              <a:t>Grupo mixto, mayoría hombres entre 20 y 25. Uno apoya los codos sobre la mochila como si fuera escritorio. Otro le pone su chaqueta encima “para que no se ensucie”. </a:t>
            </a:r>
            <a:endParaRPr sz="1600">
              <a:latin typeface="Helvetica Neue"/>
              <a:ea typeface="Helvetica Neue"/>
              <a:cs typeface="Helvetica Neue"/>
              <a:sym typeface="Helvetica Neue"/>
            </a:endParaRPr>
          </a:p>
        </p:txBody>
      </p:sp>
      <p:sp>
        <p:nvSpPr>
          <p:cNvPr id="510" name="Google Shape;510;g3675a51192a_0_98"/>
          <p:cNvSpPr txBox="1"/>
          <p:nvPr/>
        </p:nvSpPr>
        <p:spPr>
          <a:xfrm>
            <a:off x="2659850" y="6566888"/>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latin typeface="Helvetica Neue"/>
              <a:ea typeface="Helvetica Neue"/>
              <a:cs typeface="Helvetica Neue"/>
              <a:sym typeface="Helvetica Neue"/>
            </a:endParaRPr>
          </a:p>
        </p:txBody>
      </p:sp>
      <p:sp>
        <p:nvSpPr>
          <p:cNvPr id="511" name="Google Shape;511;g3675a51192a_0_98"/>
          <p:cNvSpPr txBox="1"/>
          <p:nvPr/>
        </p:nvSpPr>
        <p:spPr>
          <a:xfrm>
            <a:off x="4747000" y="6566888"/>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latin typeface="Helvetica Neue"/>
              <a:ea typeface="Helvetica Neue"/>
              <a:cs typeface="Helvetica Neue"/>
              <a:sym typeface="Helvetica Neue"/>
            </a:endParaRPr>
          </a:p>
        </p:txBody>
      </p:sp>
      <p:sp>
        <p:nvSpPr>
          <p:cNvPr id="512" name="Google Shape;512;g3675a51192a_0_98"/>
          <p:cNvSpPr txBox="1"/>
          <p:nvPr/>
        </p:nvSpPr>
        <p:spPr>
          <a:xfrm>
            <a:off x="6532900" y="6566888"/>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latin typeface="Helvetica Neue"/>
              <a:ea typeface="Helvetica Neue"/>
              <a:cs typeface="Helvetica Neue"/>
              <a:sym typeface="Helvetica Neue"/>
            </a:endParaRPr>
          </a:p>
        </p:txBody>
      </p:sp>
      <p:sp>
        <p:nvSpPr>
          <p:cNvPr id="513" name="Google Shape;513;g3675a51192a_0_98"/>
          <p:cNvSpPr txBox="1"/>
          <p:nvPr/>
        </p:nvSpPr>
        <p:spPr>
          <a:xfrm>
            <a:off x="8474850" y="6566888"/>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latin typeface="Helvetica Neue"/>
              <a:ea typeface="Helvetica Neue"/>
              <a:cs typeface="Helvetica Neue"/>
              <a:sym typeface="Helvetica Neue"/>
            </a:endParaRPr>
          </a:p>
        </p:txBody>
      </p:sp>
      <p:sp>
        <p:nvSpPr>
          <p:cNvPr id="514" name="Google Shape;514;g3675a51192a_0_98"/>
          <p:cNvSpPr txBox="1"/>
          <p:nvPr/>
        </p:nvSpPr>
        <p:spPr>
          <a:xfrm>
            <a:off x="10416800" y="6566888"/>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latin typeface="Helvetica Neue"/>
              <a:ea typeface="Helvetica Neue"/>
              <a:cs typeface="Helvetica Neue"/>
              <a:sym typeface="Helvetica Neue"/>
            </a:endParaRPr>
          </a:p>
        </p:txBody>
      </p:sp>
      <p:sp>
        <p:nvSpPr>
          <p:cNvPr id="515" name="Google Shape;515;g3675a51192a_0_98"/>
          <p:cNvSpPr txBox="1"/>
          <p:nvPr/>
        </p:nvSpPr>
        <p:spPr>
          <a:xfrm>
            <a:off x="6532900" y="4456500"/>
            <a:ext cx="1785900" cy="17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latin typeface="Helvetica Neue"/>
                <a:ea typeface="Helvetica Neue"/>
                <a:cs typeface="Helvetica Neue"/>
                <a:sym typeface="Helvetica Neue"/>
              </a:rPr>
              <a:t>Uno reclama que su mochila se mojó con el rocío del pasto, aunque no llovió.</a:t>
            </a:r>
            <a:endParaRPr sz="1800">
              <a:latin typeface="Helvetica Neue"/>
              <a:ea typeface="Helvetica Neue"/>
              <a:cs typeface="Helvetica Neue"/>
              <a:sym typeface="Helvetica Neue"/>
            </a:endParaRPr>
          </a:p>
        </p:txBody>
      </p:sp>
      <p:sp>
        <p:nvSpPr>
          <p:cNvPr id="516" name="Google Shape;516;g3675a51192a_0_98"/>
          <p:cNvSpPr txBox="1"/>
          <p:nvPr/>
        </p:nvSpPr>
        <p:spPr>
          <a:xfrm>
            <a:off x="3652300" y="1573375"/>
            <a:ext cx="3975300" cy="6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latin typeface="Helvetica Neue"/>
                <a:ea typeface="Helvetica Neue"/>
                <a:cs typeface="Helvetica Neue"/>
                <a:sym typeface="Helvetica Neue"/>
              </a:rPr>
              <a:t>Escalera de College</a:t>
            </a:r>
            <a:r>
              <a:rPr lang="en-US" sz="2300">
                <a:latin typeface="Helvetica Neue"/>
                <a:ea typeface="Helvetica Neue"/>
                <a:cs typeface="Helvetica Neue"/>
                <a:sym typeface="Helvetica Neue"/>
              </a:rPr>
              <a:t>- Javier Cañete</a:t>
            </a:r>
            <a:endParaRPr sz="2300">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pic>
        <p:nvPicPr>
          <p:cNvPr id="521" name="Google Shape;521;g3673eb35b80_0_26"/>
          <p:cNvPicPr preferRelativeResize="0"/>
          <p:nvPr/>
        </p:nvPicPr>
        <p:blipFill rotWithShape="1">
          <a:blip r:embed="rId3">
            <a:alphaModFix/>
          </a:blip>
          <a:srcRect b="0" l="0" r="0" t="0"/>
          <a:stretch/>
        </p:blipFill>
        <p:spPr>
          <a:xfrm>
            <a:off x="974281" y="956137"/>
            <a:ext cx="11525872" cy="7534330"/>
          </a:xfrm>
          <a:prstGeom prst="rect">
            <a:avLst/>
          </a:prstGeom>
          <a:noFill/>
          <a:ln>
            <a:noFill/>
          </a:ln>
        </p:spPr>
      </p:pic>
      <p:pic>
        <p:nvPicPr>
          <p:cNvPr descr="EA11.png" id="522" name="Google Shape;522;g3673eb35b80_0_26"/>
          <p:cNvPicPr preferRelativeResize="0"/>
          <p:nvPr/>
        </p:nvPicPr>
        <p:blipFill rotWithShape="1">
          <a:blip r:embed="rId4">
            <a:alphaModFix/>
          </a:blip>
          <a:srcRect b="0" l="0" r="0" t="0"/>
          <a:stretch/>
        </p:blipFill>
        <p:spPr>
          <a:xfrm>
            <a:off x="241323" y="141073"/>
            <a:ext cx="3975324" cy="1083107"/>
          </a:xfrm>
          <a:prstGeom prst="rect">
            <a:avLst/>
          </a:prstGeom>
          <a:noFill/>
          <a:ln>
            <a:noFill/>
          </a:ln>
        </p:spPr>
      </p:pic>
      <p:sp>
        <p:nvSpPr>
          <p:cNvPr id="523" name="Google Shape;523;g3673eb35b80_0_26"/>
          <p:cNvSpPr txBox="1"/>
          <p:nvPr/>
        </p:nvSpPr>
        <p:spPr>
          <a:xfrm>
            <a:off x="4323449" y="417842"/>
            <a:ext cx="8176800" cy="684000"/>
          </a:xfrm>
          <a:prstGeom prst="rect">
            <a:avLst/>
          </a:prstGeom>
          <a:noFill/>
          <a:ln>
            <a:noFill/>
          </a:ln>
        </p:spPr>
        <p:txBody>
          <a:bodyPr anchorCtr="0" anchor="ctr" bIns="50800" lIns="50800" spcFirstLastPara="1" rIns="50800" wrap="square" tIns="50800">
            <a:noAutofit/>
          </a:bodyPr>
          <a:lstStyle/>
          <a:p>
            <a:pPr indent="0" lvl="0" marL="0" marR="0" rtl="0" algn="r">
              <a:lnSpc>
                <a:spcPct val="80000"/>
              </a:lnSpc>
              <a:spcBef>
                <a:spcPts val="0"/>
              </a:spcBef>
              <a:spcAft>
                <a:spcPts val="0"/>
              </a:spcAft>
              <a:buClr>
                <a:srgbClr val="3CA8F8"/>
              </a:buClr>
              <a:buSzPts val="3900"/>
              <a:buFont typeface="Helvetica Neue"/>
              <a:buNone/>
            </a:pPr>
            <a:r>
              <a:rPr b="0" i="0" lang="en-US" sz="3600" u="none" cap="none" strike="noStrike">
                <a:solidFill>
                  <a:srgbClr val="3CA8F8"/>
                </a:solidFill>
                <a:latin typeface="Helvetica Neue"/>
                <a:ea typeface="Helvetica Neue"/>
                <a:cs typeface="Helvetica Neue"/>
                <a:sym typeface="Helvetica Neue"/>
              </a:rPr>
              <a:t>OBSERVACIÓN SILENCIOSA</a:t>
            </a:r>
            <a:endParaRPr/>
          </a:p>
          <a:p>
            <a:pPr indent="0" lvl="0" marL="0" marR="0" rtl="0" algn="r">
              <a:lnSpc>
                <a:spcPct val="80000"/>
              </a:lnSpc>
              <a:spcBef>
                <a:spcPts val="0"/>
              </a:spcBef>
              <a:spcAft>
                <a:spcPts val="0"/>
              </a:spcAft>
              <a:buClr>
                <a:srgbClr val="3CA8F8"/>
              </a:buClr>
              <a:buSzPts val="3900"/>
              <a:buFont typeface="Helvetica Neue"/>
              <a:buNone/>
            </a:pPr>
            <a:r>
              <a:rPr b="0" i="1" lang="en-US" sz="3600" u="none" cap="none" strike="noStrike">
                <a:solidFill>
                  <a:srgbClr val="3CA8F8"/>
                </a:solidFill>
                <a:latin typeface="Helvetica Neue"/>
                <a:ea typeface="Helvetica Neue"/>
                <a:cs typeface="Helvetica Neue"/>
                <a:sym typeface="Helvetica Neue"/>
              </a:rPr>
              <a:t>(FLY ON THE WALL)</a:t>
            </a:r>
            <a:endParaRPr b="0" i="1" sz="3600" u="none" cap="none" strike="noStrike">
              <a:solidFill>
                <a:srgbClr val="000000"/>
              </a:solidFill>
              <a:latin typeface="Helvetica Neue"/>
              <a:ea typeface="Helvetica Neue"/>
              <a:cs typeface="Helvetica Neue"/>
              <a:sym typeface="Helvetica Neue"/>
            </a:endParaRPr>
          </a:p>
        </p:txBody>
      </p:sp>
      <p:grpSp>
        <p:nvGrpSpPr>
          <p:cNvPr id="524" name="Google Shape;524;g3673eb35b80_0_26"/>
          <p:cNvGrpSpPr/>
          <p:nvPr/>
        </p:nvGrpSpPr>
        <p:grpSpPr>
          <a:xfrm>
            <a:off x="1212905" y="8677287"/>
            <a:ext cx="10578927" cy="621000"/>
            <a:chOff x="0" y="0"/>
            <a:chExt cx="10578927" cy="621000"/>
          </a:xfrm>
        </p:grpSpPr>
        <p:cxnSp>
          <p:nvCxnSpPr>
            <p:cNvPr id="525" name="Google Shape;525;g3673eb35b80_0_26"/>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526" name="Google Shape;526;g3673eb35b80_0_26"/>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27" name="Google Shape;527;g3673eb35b80_0_26"/>
            <p:cNvSpPr/>
            <p:nvPr/>
          </p:nvSpPr>
          <p:spPr>
            <a:xfrm>
              <a:off x="2489481"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28" name="Google Shape;528;g3673eb35b80_0_26"/>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29" name="Google Shape;529;g3673eb35b80_0_26"/>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30" name="Google Shape;530;g3673eb35b80_0_26"/>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531" name="Google Shape;531;g3673eb35b80_0_26"/>
          <p:cNvSpPr txBox="1"/>
          <p:nvPr/>
        </p:nvSpPr>
        <p:spPr>
          <a:xfrm>
            <a:off x="2522875" y="4279875"/>
            <a:ext cx="18006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La mayorìa está conversando, riendo y comiendo. Hay felicidad, desinteres, cansancio, frío y un poco de </a:t>
            </a:r>
            <a:r>
              <a:rPr lang="en-US" sz="1300">
                <a:latin typeface="Helvetica Neue"/>
                <a:ea typeface="Helvetica Neue"/>
                <a:cs typeface="Helvetica Neue"/>
                <a:sym typeface="Helvetica Neue"/>
              </a:rPr>
              <a:t>estrés</a:t>
            </a:r>
            <a:r>
              <a:rPr lang="en-US" sz="1300">
                <a:latin typeface="Helvetica Neue"/>
                <a:ea typeface="Helvetica Neue"/>
                <a:cs typeface="Helvetica Neue"/>
                <a:sym typeface="Helvetica Neue"/>
              </a:rPr>
              <a:t>. </a:t>
            </a:r>
            <a:endParaRPr sz="1300">
              <a:latin typeface="Helvetica Neue"/>
              <a:ea typeface="Helvetica Neue"/>
              <a:cs typeface="Helvetica Neue"/>
              <a:sym typeface="Helvetica Neue"/>
            </a:endParaRPr>
          </a:p>
        </p:txBody>
      </p:sp>
      <p:sp>
        <p:nvSpPr>
          <p:cNvPr id="532" name="Google Shape;532;g3673eb35b80_0_26"/>
          <p:cNvSpPr txBox="1"/>
          <p:nvPr/>
        </p:nvSpPr>
        <p:spPr>
          <a:xfrm>
            <a:off x="4574050" y="4279875"/>
            <a:ext cx="1800600" cy="19857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De manera organizada, las mesas de almuerzo están bien distribuidas. El entorno cumple el rol de lugar para consumir alimentos y conversar. </a:t>
            </a:r>
            <a:endParaRPr sz="1300">
              <a:latin typeface="Helvetica Neue"/>
              <a:ea typeface="Helvetica Neue"/>
              <a:cs typeface="Helvetica Neue"/>
              <a:sym typeface="Helvetica Neue"/>
            </a:endParaRPr>
          </a:p>
        </p:txBody>
      </p:sp>
      <p:sp>
        <p:nvSpPr>
          <p:cNvPr id="533" name="Google Shape;533;g3673eb35b80_0_26"/>
          <p:cNvSpPr txBox="1"/>
          <p:nvPr/>
        </p:nvSpPr>
        <p:spPr>
          <a:xfrm>
            <a:off x="6466400" y="4379925"/>
            <a:ext cx="19581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La mayoría está comiendo y riendo. Muchos se divierten y parecen estar más relajados. </a:t>
            </a:r>
            <a:endParaRPr sz="1300">
              <a:latin typeface="Helvetica Neue"/>
              <a:ea typeface="Helvetica Neue"/>
              <a:cs typeface="Helvetica Neue"/>
              <a:sym typeface="Helvetica Neue"/>
            </a:endParaRPr>
          </a:p>
        </p:txBody>
      </p:sp>
      <p:sp>
        <p:nvSpPr>
          <p:cNvPr id="534" name="Google Shape;534;g3673eb35b80_0_26"/>
          <p:cNvSpPr txBox="1"/>
          <p:nvPr/>
        </p:nvSpPr>
        <p:spPr>
          <a:xfrm>
            <a:off x="8311950" y="4400050"/>
            <a:ext cx="1958100" cy="158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Hay mochilas, potes, empaques de comida, botellas de agua y celulares. Los objetos son más que nada portadores de materiales y alimentos.</a:t>
            </a:r>
            <a:endParaRPr sz="1300">
              <a:latin typeface="Helvetica Neue"/>
              <a:ea typeface="Helvetica Neue"/>
              <a:cs typeface="Helvetica Neue"/>
              <a:sym typeface="Helvetica Neue"/>
            </a:endParaRPr>
          </a:p>
        </p:txBody>
      </p:sp>
      <p:sp>
        <p:nvSpPr>
          <p:cNvPr id="535" name="Google Shape;535;g3673eb35b80_0_26"/>
          <p:cNvSpPr txBox="1"/>
          <p:nvPr/>
        </p:nvSpPr>
        <p:spPr>
          <a:xfrm>
            <a:off x="10270050" y="4279875"/>
            <a:ext cx="2252400" cy="158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Estudiantes universitarios. Cumplen el rol de aprender. La mayoría tiene un perfil similar. El que más resalta es el que presenta más </a:t>
            </a:r>
            <a:r>
              <a:rPr lang="en-US" sz="1300">
                <a:latin typeface="Helvetica Neue"/>
                <a:ea typeface="Helvetica Neue"/>
                <a:cs typeface="Helvetica Neue"/>
                <a:sym typeface="Helvetica Neue"/>
              </a:rPr>
              <a:t>energía</a:t>
            </a:r>
            <a:r>
              <a:rPr lang="en-US" sz="1300">
                <a:latin typeface="Helvetica Neue"/>
                <a:ea typeface="Helvetica Neue"/>
                <a:cs typeface="Helvetica Neue"/>
                <a:sym typeface="Helvetica Neue"/>
              </a:rPr>
              <a:t> y hace el rol de animador. </a:t>
            </a:r>
            <a:endParaRPr sz="1300">
              <a:latin typeface="Helvetica Neue"/>
              <a:ea typeface="Helvetica Neue"/>
              <a:cs typeface="Helvetica Neue"/>
              <a:sym typeface="Helvetica Neue"/>
            </a:endParaRPr>
          </a:p>
        </p:txBody>
      </p:sp>
      <p:sp>
        <p:nvSpPr>
          <p:cNvPr id="536" name="Google Shape;536;g3673eb35b80_0_26"/>
          <p:cNvSpPr txBox="1"/>
          <p:nvPr/>
        </p:nvSpPr>
        <p:spPr>
          <a:xfrm>
            <a:off x="3589000" y="1757000"/>
            <a:ext cx="33714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Helvetica Neue"/>
                <a:ea typeface="Helvetica Neue"/>
                <a:cs typeface="Helvetica Neue"/>
                <a:sym typeface="Helvetica Neue"/>
              </a:rPr>
              <a:t>Facultad de física (sector de almuerzo) </a:t>
            </a:r>
            <a:endParaRPr sz="2000">
              <a:latin typeface="Helvetica Neue"/>
              <a:ea typeface="Helvetica Neue"/>
              <a:cs typeface="Helvetica Neue"/>
              <a:sym typeface="Helvetica Neue"/>
            </a:endParaRPr>
          </a:p>
        </p:txBody>
      </p:sp>
      <p:sp>
        <p:nvSpPr>
          <p:cNvPr id="537" name="Google Shape;537;g3673eb35b80_0_26"/>
          <p:cNvSpPr txBox="1"/>
          <p:nvPr/>
        </p:nvSpPr>
        <p:spPr>
          <a:xfrm>
            <a:off x="8860050" y="1795550"/>
            <a:ext cx="141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latin typeface="Helvetica Neue"/>
                <a:ea typeface="Helvetica Neue"/>
                <a:cs typeface="Helvetica Neue"/>
                <a:sym typeface="Helvetica Neue"/>
              </a:rPr>
              <a:t>17/06/25</a:t>
            </a:r>
            <a:endParaRPr sz="1500">
              <a:latin typeface="Helvetica Neue"/>
              <a:ea typeface="Helvetica Neue"/>
              <a:cs typeface="Helvetica Neue"/>
              <a:sym typeface="Helvetica Neue"/>
            </a:endParaRPr>
          </a:p>
        </p:txBody>
      </p:sp>
      <p:sp>
        <p:nvSpPr>
          <p:cNvPr id="538" name="Google Shape;538;g3673eb35b80_0_26"/>
          <p:cNvSpPr txBox="1"/>
          <p:nvPr/>
        </p:nvSpPr>
        <p:spPr>
          <a:xfrm>
            <a:off x="10722200" y="1787750"/>
            <a:ext cx="2027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latin typeface="Helvetica Neue"/>
                <a:ea typeface="Helvetica Neue"/>
                <a:cs typeface="Helvetica Neue"/>
                <a:sym typeface="Helvetica Neue"/>
              </a:rPr>
              <a:t>13:40</a:t>
            </a:r>
            <a:endParaRPr sz="1600">
              <a:latin typeface="Helvetica Neue"/>
              <a:ea typeface="Helvetica Neue"/>
              <a:cs typeface="Helvetica Neue"/>
              <a:sym typeface="Helvetica Neue"/>
            </a:endParaRPr>
          </a:p>
        </p:txBody>
      </p:sp>
      <p:sp>
        <p:nvSpPr>
          <p:cNvPr id="539" name="Google Shape;539;g3673eb35b80_0_26"/>
          <p:cNvSpPr txBox="1"/>
          <p:nvPr/>
        </p:nvSpPr>
        <p:spPr>
          <a:xfrm>
            <a:off x="10372400" y="6465675"/>
            <a:ext cx="16893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Helvetica Neue"/>
                <a:ea typeface="Helvetica Neue"/>
                <a:cs typeface="Helvetica Neue"/>
                <a:sym typeface="Helvetica Neue"/>
              </a:rPr>
              <a:t>Persona que es muy </a:t>
            </a:r>
            <a:r>
              <a:rPr lang="en-US">
                <a:latin typeface="Helvetica Neue"/>
                <a:ea typeface="Helvetica Neue"/>
                <a:cs typeface="Helvetica Neue"/>
                <a:sym typeface="Helvetica Neue"/>
              </a:rPr>
              <a:t>extrovertida</a:t>
            </a:r>
            <a:r>
              <a:rPr lang="en-US">
                <a:latin typeface="Helvetica Neue"/>
                <a:ea typeface="Helvetica Neue"/>
                <a:cs typeface="Helvetica Neue"/>
                <a:sym typeface="Helvetica Neue"/>
              </a:rPr>
              <a:t>, habla fuerte y hace </a:t>
            </a:r>
            <a:r>
              <a:rPr lang="en-US">
                <a:latin typeface="Helvetica Neue"/>
                <a:ea typeface="Helvetica Neue"/>
                <a:cs typeface="Helvetica Neue"/>
                <a:sym typeface="Helvetica Neue"/>
              </a:rPr>
              <a:t>reír</a:t>
            </a:r>
            <a:r>
              <a:rPr lang="en-US">
                <a:latin typeface="Helvetica Neue"/>
                <a:ea typeface="Helvetica Neue"/>
                <a:cs typeface="Helvetica Neue"/>
                <a:sym typeface="Helvetica Neue"/>
              </a:rPr>
              <a:t> al resto con sus ocurrencias.</a:t>
            </a:r>
            <a:endParaRPr>
              <a:latin typeface="Helvetica Neue"/>
              <a:ea typeface="Helvetica Neue"/>
              <a:cs typeface="Helvetica Neue"/>
              <a:sym typeface="Helvetica Neue"/>
            </a:endParaRPr>
          </a:p>
        </p:txBody>
      </p:sp>
      <p:sp>
        <p:nvSpPr>
          <p:cNvPr id="540" name="Google Shape;540;g3673eb35b80_0_26"/>
          <p:cNvSpPr txBox="1"/>
          <p:nvPr/>
        </p:nvSpPr>
        <p:spPr>
          <a:xfrm>
            <a:off x="4574200" y="6712650"/>
            <a:ext cx="1800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Helvetica Neue"/>
                <a:ea typeface="Helvetica Neue"/>
                <a:cs typeface="Helvetica Neue"/>
                <a:sym typeface="Helvetica Neue"/>
              </a:rPr>
              <a:t>Óptimo</a:t>
            </a:r>
            <a:r>
              <a:rPr lang="en-US">
                <a:latin typeface="Helvetica Neue"/>
                <a:ea typeface="Helvetica Neue"/>
                <a:cs typeface="Helvetica Neue"/>
                <a:sym typeface="Helvetica Neue"/>
              </a:rPr>
              <a:t> para interacciones extraescolares (relajarse)</a:t>
            </a:r>
            <a:endParaRPr>
              <a:latin typeface="Helvetica Neue"/>
              <a:ea typeface="Helvetica Neue"/>
              <a:cs typeface="Helvetica Neue"/>
              <a:sym typeface="Helvetica Neue"/>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pic>
        <p:nvPicPr>
          <p:cNvPr id="545" name="Google Shape;545;g3673eb35b80_1_15"/>
          <p:cNvPicPr preferRelativeResize="0"/>
          <p:nvPr/>
        </p:nvPicPr>
        <p:blipFill rotWithShape="1">
          <a:blip r:embed="rId3">
            <a:alphaModFix/>
          </a:blip>
          <a:srcRect b="0" l="0" r="0" t="0"/>
          <a:stretch/>
        </p:blipFill>
        <p:spPr>
          <a:xfrm>
            <a:off x="974281" y="956137"/>
            <a:ext cx="11525872" cy="7534330"/>
          </a:xfrm>
          <a:prstGeom prst="rect">
            <a:avLst/>
          </a:prstGeom>
          <a:noFill/>
          <a:ln>
            <a:noFill/>
          </a:ln>
        </p:spPr>
      </p:pic>
      <p:pic>
        <p:nvPicPr>
          <p:cNvPr descr="EA11.png" id="546" name="Google Shape;546;g3673eb35b80_1_15"/>
          <p:cNvPicPr preferRelativeResize="0"/>
          <p:nvPr/>
        </p:nvPicPr>
        <p:blipFill rotWithShape="1">
          <a:blip r:embed="rId4">
            <a:alphaModFix/>
          </a:blip>
          <a:srcRect b="0" l="0" r="0" t="0"/>
          <a:stretch/>
        </p:blipFill>
        <p:spPr>
          <a:xfrm>
            <a:off x="241323" y="141073"/>
            <a:ext cx="3975324" cy="1083107"/>
          </a:xfrm>
          <a:prstGeom prst="rect">
            <a:avLst/>
          </a:prstGeom>
          <a:noFill/>
          <a:ln>
            <a:noFill/>
          </a:ln>
        </p:spPr>
      </p:pic>
      <p:sp>
        <p:nvSpPr>
          <p:cNvPr id="547" name="Google Shape;547;g3673eb35b80_1_15"/>
          <p:cNvSpPr txBox="1"/>
          <p:nvPr/>
        </p:nvSpPr>
        <p:spPr>
          <a:xfrm>
            <a:off x="4323449" y="417842"/>
            <a:ext cx="8176800" cy="684000"/>
          </a:xfrm>
          <a:prstGeom prst="rect">
            <a:avLst/>
          </a:prstGeom>
          <a:noFill/>
          <a:ln>
            <a:noFill/>
          </a:ln>
        </p:spPr>
        <p:txBody>
          <a:bodyPr anchorCtr="0" anchor="ctr" bIns="50800" lIns="50800" spcFirstLastPara="1" rIns="50800" wrap="square" tIns="50800">
            <a:noAutofit/>
          </a:bodyPr>
          <a:lstStyle/>
          <a:p>
            <a:pPr indent="0" lvl="0" marL="0" marR="0" rtl="0" algn="r">
              <a:lnSpc>
                <a:spcPct val="80000"/>
              </a:lnSpc>
              <a:spcBef>
                <a:spcPts val="0"/>
              </a:spcBef>
              <a:spcAft>
                <a:spcPts val="0"/>
              </a:spcAft>
              <a:buClr>
                <a:srgbClr val="3CA8F8"/>
              </a:buClr>
              <a:buSzPts val="3900"/>
              <a:buFont typeface="Helvetica Neue"/>
              <a:buNone/>
            </a:pPr>
            <a:r>
              <a:rPr b="0" i="0" lang="en-US" sz="3600" u="none" cap="none" strike="noStrike">
                <a:solidFill>
                  <a:srgbClr val="3CA8F8"/>
                </a:solidFill>
                <a:latin typeface="Helvetica Neue"/>
                <a:ea typeface="Helvetica Neue"/>
                <a:cs typeface="Helvetica Neue"/>
                <a:sym typeface="Helvetica Neue"/>
              </a:rPr>
              <a:t>OBSERVACIÓN SILENCIOSA</a:t>
            </a:r>
            <a:endParaRPr/>
          </a:p>
          <a:p>
            <a:pPr indent="0" lvl="0" marL="0" marR="0" rtl="0" algn="r">
              <a:lnSpc>
                <a:spcPct val="80000"/>
              </a:lnSpc>
              <a:spcBef>
                <a:spcPts val="0"/>
              </a:spcBef>
              <a:spcAft>
                <a:spcPts val="0"/>
              </a:spcAft>
              <a:buClr>
                <a:srgbClr val="3CA8F8"/>
              </a:buClr>
              <a:buSzPts val="3900"/>
              <a:buFont typeface="Helvetica Neue"/>
              <a:buNone/>
            </a:pPr>
            <a:r>
              <a:rPr b="0" i="1" lang="en-US" sz="3600" u="none" cap="none" strike="noStrike">
                <a:solidFill>
                  <a:srgbClr val="3CA8F8"/>
                </a:solidFill>
                <a:latin typeface="Helvetica Neue"/>
                <a:ea typeface="Helvetica Neue"/>
                <a:cs typeface="Helvetica Neue"/>
                <a:sym typeface="Helvetica Neue"/>
              </a:rPr>
              <a:t>(FLY ON THE WALL)</a:t>
            </a:r>
            <a:endParaRPr b="0" i="1" sz="3600" u="none" cap="none" strike="noStrike">
              <a:solidFill>
                <a:srgbClr val="000000"/>
              </a:solidFill>
              <a:latin typeface="Helvetica Neue"/>
              <a:ea typeface="Helvetica Neue"/>
              <a:cs typeface="Helvetica Neue"/>
              <a:sym typeface="Helvetica Neue"/>
            </a:endParaRPr>
          </a:p>
        </p:txBody>
      </p:sp>
      <p:grpSp>
        <p:nvGrpSpPr>
          <p:cNvPr id="548" name="Google Shape;548;g3673eb35b80_1_15"/>
          <p:cNvGrpSpPr/>
          <p:nvPr/>
        </p:nvGrpSpPr>
        <p:grpSpPr>
          <a:xfrm>
            <a:off x="1212905" y="8677287"/>
            <a:ext cx="10578927" cy="621000"/>
            <a:chOff x="0" y="0"/>
            <a:chExt cx="10578927" cy="621000"/>
          </a:xfrm>
        </p:grpSpPr>
        <p:cxnSp>
          <p:nvCxnSpPr>
            <p:cNvPr id="549" name="Google Shape;549;g3673eb35b80_1_15"/>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550" name="Google Shape;550;g3673eb35b80_1_15"/>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51" name="Google Shape;551;g3673eb35b80_1_15"/>
            <p:cNvSpPr/>
            <p:nvPr/>
          </p:nvSpPr>
          <p:spPr>
            <a:xfrm>
              <a:off x="2489481"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52" name="Google Shape;552;g3673eb35b80_1_15"/>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53" name="Google Shape;553;g3673eb35b80_1_15"/>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54" name="Google Shape;554;g3673eb35b80_1_15"/>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555" name="Google Shape;555;g3673eb35b80_1_15"/>
          <p:cNvSpPr txBox="1"/>
          <p:nvPr/>
        </p:nvSpPr>
        <p:spPr>
          <a:xfrm>
            <a:off x="2522875" y="4279875"/>
            <a:ext cx="1800600" cy="158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La mayoría de las personas estaban haciendo trabajo o estudiando. Se notaba que </a:t>
            </a:r>
            <a:r>
              <a:rPr lang="en-US" sz="1300">
                <a:latin typeface="Helvetica Neue"/>
                <a:ea typeface="Helvetica Neue"/>
                <a:cs typeface="Helvetica Neue"/>
                <a:sym typeface="Helvetica Neue"/>
              </a:rPr>
              <a:t>estaban</a:t>
            </a:r>
            <a:r>
              <a:rPr lang="en-US" sz="1300">
                <a:latin typeface="Helvetica Neue"/>
                <a:ea typeface="Helvetica Neue"/>
                <a:cs typeface="Helvetica Neue"/>
                <a:sym typeface="Helvetica Neue"/>
              </a:rPr>
              <a:t> estresado y cansados</a:t>
            </a:r>
            <a:endParaRPr sz="1300">
              <a:latin typeface="Helvetica Neue"/>
              <a:ea typeface="Helvetica Neue"/>
              <a:cs typeface="Helvetica Neue"/>
              <a:sym typeface="Helvetica Neue"/>
            </a:endParaRPr>
          </a:p>
        </p:txBody>
      </p:sp>
      <p:sp>
        <p:nvSpPr>
          <p:cNvPr id="556" name="Google Shape;556;g3673eb35b80_1_15"/>
          <p:cNvSpPr txBox="1"/>
          <p:nvPr/>
        </p:nvSpPr>
        <p:spPr>
          <a:xfrm>
            <a:off x="4574050" y="4279875"/>
            <a:ext cx="1800600" cy="15855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Muchos de ellos llevaban muchas cosas (computador, ipad, almuerzo, etc). Lo que provocaba que estuvieran un entorno desordenado</a:t>
            </a:r>
            <a:endParaRPr sz="1300">
              <a:latin typeface="Helvetica Neue"/>
              <a:ea typeface="Helvetica Neue"/>
              <a:cs typeface="Helvetica Neue"/>
              <a:sym typeface="Helvetica Neue"/>
            </a:endParaRPr>
          </a:p>
        </p:txBody>
      </p:sp>
      <p:sp>
        <p:nvSpPr>
          <p:cNvPr id="557" name="Google Shape;557;g3673eb35b80_1_15"/>
          <p:cNvSpPr txBox="1"/>
          <p:nvPr/>
        </p:nvSpPr>
        <p:spPr>
          <a:xfrm>
            <a:off x="6466400" y="4279875"/>
            <a:ext cx="18006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La </a:t>
            </a:r>
            <a:r>
              <a:rPr lang="en-US" sz="1300">
                <a:latin typeface="Helvetica Neue"/>
                <a:ea typeface="Helvetica Neue"/>
                <a:cs typeface="Helvetica Neue"/>
                <a:sym typeface="Helvetica Neue"/>
              </a:rPr>
              <a:t>mayoría</a:t>
            </a:r>
            <a:r>
              <a:rPr lang="en-US" sz="1300">
                <a:latin typeface="Helvetica Neue"/>
                <a:ea typeface="Helvetica Neue"/>
                <a:cs typeface="Helvetica Neue"/>
                <a:sym typeface="Helvetica Neue"/>
              </a:rPr>
              <a:t> estaba haciendo ejercicios, mientras que otros estaban haciendo informes. Algunos estaban haciendo las cosas de manera </a:t>
            </a:r>
            <a:r>
              <a:rPr lang="en-US" sz="1300">
                <a:latin typeface="Helvetica Neue"/>
                <a:ea typeface="Helvetica Neue"/>
                <a:cs typeface="Helvetica Neue"/>
                <a:sym typeface="Helvetica Neue"/>
              </a:rPr>
              <a:t>individual</a:t>
            </a:r>
            <a:r>
              <a:rPr lang="en-US" sz="1300">
                <a:latin typeface="Helvetica Neue"/>
                <a:ea typeface="Helvetica Neue"/>
                <a:cs typeface="Helvetica Neue"/>
                <a:sym typeface="Helvetica Neue"/>
              </a:rPr>
              <a:t>, mientras que otros estaban en grupos de 3 o 4 personas</a:t>
            </a:r>
            <a:endParaRPr sz="1300">
              <a:latin typeface="Helvetica Neue"/>
              <a:ea typeface="Helvetica Neue"/>
              <a:cs typeface="Helvetica Neue"/>
              <a:sym typeface="Helvetica Neue"/>
            </a:endParaRPr>
          </a:p>
        </p:txBody>
      </p:sp>
      <p:sp>
        <p:nvSpPr>
          <p:cNvPr id="558" name="Google Shape;558;g3673eb35b80_1_15"/>
          <p:cNvSpPr txBox="1"/>
          <p:nvPr/>
        </p:nvSpPr>
        <p:spPr>
          <a:xfrm>
            <a:off x="8879400" y="1798025"/>
            <a:ext cx="1250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17/06/2025</a:t>
            </a:r>
            <a:endParaRPr sz="1300">
              <a:latin typeface="Helvetica Neue"/>
              <a:ea typeface="Helvetica Neue"/>
              <a:cs typeface="Helvetica Neue"/>
              <a:sym typeface="Helvetica Neue"/>
            </a:endParaRPr>
          </a:p>
        </p:txBody>
      </p:sp>
      <p:sp>
        <p:nvSpPr>
          <p:cNvPr id="559" name="Google Shape;559;g3673eb35b80_1_15"/>
          <p:cNvSpPr txBox="1"/>
          <p:nvPr/>
        </p:nvSpPr>
        <p:spPr>
          <a:xfrm>
            <a:off x="10756600" y="1798025"/>
            <a:ext cx="1250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16:30</a:t>
            </a:r>
            <a:endParaRPr sz="1300">
              <a:latin typeface="Helvetica Neue"/>
              <a:ea typeface="Helvetica Neue"/>
              <a:cs typeface="Helvetica Neue"/>
              <a:sym typeface="Helvetica Neue"/>
            </a:endParaRPr>
          </a:p>
        </p:txBody>
      </p:sp>
      <p:sp>
        <p:nvSpPr>
          <p:cNvPr id="560" name="Google Shape;560;g3673eb35b80_1_15"/>
          <p:cNvSpPr txBox="1"/>
          <p:nvPr/>
        </p:nvSpPr>
        <p:spPr>
          <a:xfrm>
            <a:off x="8410350" y="4375450"/>
            <a:ext cx="18006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Vi que muchos </a:t>
            </a:r>
            <a:r>
              <a:rPr lang="en-US" sz="1300">
                <a:latin typeface="Helvetica Neue"/>
                <a:ea typeface="Helvetica Neue"/>
                <a:cs typeface="Helvetica Neue"/>
                <a:sym typeface="Helvetica Neue"/>
              </a:rPr>
              <a:t>tenían</a:t>
            </a:r>
            <a:r>
              <a:rPr lang="en-US" sz="1300">
                <a:latin typeface="Helvetica Neue"/>
                <a:ea typeface="Helvetica Neue"/>
                <a:cs typeface="Helvetica Neue"/>
                <a:sym typeface="Helvetica Neue"/>
              </a:rPr>
              <a:t> guardados potes con el almuerzo, </a:t>
            </a:r>
            <a:r>
              <a:rPr lang="en-US" sz="1300">
                <a:latin typeface="Helvetica Neue"/>
                <a:ea typeface="Helvetica Neue"/>
                <a:cs typeface="Helvetica Neue"/>
                <a:sym typeface="Helvetica Neue"/>
              </a:rPr>
              <a:t>tenían</a:t>
            </a:r>
            <a:r>
              <a:rPr lang="en-US" sz="1300">
                <a:latin typeface="Helvetica Neue"/>
                <a:ea typeface="Helvetica Neue"/>
                <a:cs typeface="Helvetica Neue"/>
                <a:sym typeface="Helvetica Neue"/>
              </a:rPr>
              <a:t> ropa de más, </a:t>
            </a:r>
            <a:r>
              <a:rPr lang="en-US" sz="1300">
                <a:latin typeface="Helvetica Neue"/>
                <a:ea typeface="Helvetica Neue"/>
                <a:cs typeface="Helvetica Neue"/>
                <a:sym typeface="Helvetica Neue"/>
              </a:rPr>
              <a:t>cómo</a:t>
            </a:r>
            <a:r>
              <a:rPr lang="en-US" sz="1300">
                <a:latin typeface="Helvetica Neue"/>
                <a:ea typeface="Helvetica Neue"/>
                <a:cs typeface="Helvetica Neue"/>
                <a:sym typeface="Helvetica Neue"/>
              </a:rPr>
              <a:t> chaquetas, chalecos, etc. que los unico que hacian era ocupar espacio</a:t>
            </a:r>
            <a:endParaRPr sz="1300">
              <a:latin typeface="Helvetica Neue"/>
              <a:ea typeface="Helvetica Neue"/>
              <a:cs typeface="Helvetica Neue"/>
              <a:sym typeface="Helvetica Neue"/>
            </a:endParaRPr>
          </a:p>
        </p:txBody>
      </p:sp>
      <p:sp>
        <p:nvSpPr>
          <p:cNvPr id="561" name="Google Shape;561;g3673eb35b80_1_15"/>
          <p:cNvSpPr txBox="1"/>
          <p:nvPr/>
        </p:nvSpPr>
        <p:spPr>
          <a:xfrm>
            <a:off x="10409925" y="4461175"/>
            <a:ext cx="1800600" cy="358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Los usuarios observados eran estudiantes, en su mayoría mujeres. Muchas de ellas se notaba que </a:t>
            </a:r>
            <a:r>
              <a:rPr lang="en-US" sz="1300">
                <a:latin typeface="Helvetica Neue"/>
                <a:ea typeface="Helvetica Neue"/>
                <a:cs typeface="Helvetica Neue"/>
                <a:sym typeface="Helvetica Neue"/>
              </a:rPr>
              <a:t>tenían</a:t>
            </a:r>
            <a:r>
              <a:rPr lang="en-US" sz="1300">
                <a:latin typeface="Helvetica Neue"/>
                <a:ea typeface="Helvetica Neue"/>
                <a:cs typeface="Helvetica Neue"/>
                <a:sym typeface="Helvetica Neue"/>
              </a:rPr>
              <a:t> una clase a la que necesitan </a:t>
            </a:r>
            <a:r>
              <a:rPr lang="en-US" sz="1300">
                <a:latin typeface="Helvetica Neue"/>
                <a:ea typeface="Helvetica Neue"/>
                <a:cs typeface="Helvetica Neue"/>
                <a:sym typeface="Helvetica Neue"/>
              </a:rPr>
              <a:t>cambiarse</a:t>
            </a:r>
            <a:r>
              <a:rPr lang="en-US" sz="1300">
                <a:latin typeface="Helvetica Neue"/>
                <a:ea typeface="Helvetica Neue"/>
                <a:cs typeface="Helvetica Neue"/>
                <a:sym typeface="Helvetica Neue"/>
              </a:rPr>
              <a:t> de ropa, por lo que llevaban bolso de más y que necesitan quedarse en la universidad hasta tarde, por lo que llevaban computadores, ipad, almuerzo, etc. </a:t>
            </a:r>
            <a:endParaRPr sz="1300">
              <a:latin typeface="Helvetica Neue"/>
              <a:ea typeface="Helvetica Neue"/>
              <a:cs typeface="Helvetica Neue"/>
              <a:sym typeface="Helvetica Neue"/>
            </a:endParaRPr>
          </a:p>
        </p:txBody>
      </p:sp>
      <p:sp>
        <p:nvSpPr>
          <p:cNvPr id="562" name="Google Shape;562;g3673eb35b80_1_15"/>
          <p:cNvSpPr txBox="1"/>
          <p:nvPr/>
        </p:nvSpPr>
        <p:spPr>
          <a:xfrm>
            <a:off x="3683250" y="1698925"/>
            <a:ext cx="1800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Francisca Mena - Sala de Estudio</a:t>
            </a:r>
            <a:endParaRPr sz="1300">
              <a:latin typeface="Helvetica Neue"/>
              <a:ea typeface="Helvetica Neue"/>
              <a:cs typeface="Helvetica Neue"/>
              <a:sym typeface="Helvetica Neue"/>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pic>
        <p:nvPicPr>
          <p:cNvPr id="567" name="Google Shape;567;g36775634400_1_18"/>
          <p:cNvPicPr preferRelativeResize="0"/>
          <p:nvPr/>
        </p:nvPicPr>
        <p:blipFill rotWithShape="1">
          <a:blip r:embed="rId3">
            <a:alphaModFix/>
          </a:blip>
          <a:srcRect b="0" l="0" r="0" t="0"/>
          <a:stretch/>
        </p:blipFill>
        <p:spPr>
          <a:xfrm>
            <a:off x="974281" y="956137"/>
            <a:ext cx="11525872" cy="7534330"/>
          </a:xfrm>
          <a:prstGeom prst="rect">
            <a:avLst/>
          </a:prstGeom>
          <a:noFill/>
          <a:ln>
            <a:noFill/>
          </a:ln>
        </p:spPr>
      </p:pic>
      <p:pic>
        <p:nvPicPr>
          <p:cNvPr descr="EA11.png" id="568" name="Google Shape;568;g36775634400_1_18"/>
          <p:cNvPicPr preferRelativeResize="0"/>
          <p:nvPr/>
        </p:nvPicPr>
        <p:blipFill rotWithShape="1">
          <a:blip r:embed="rId4">
            <a:alphaModFix/>
          </a:blip>
          <a:srcRect b="0" l="0" r="0" t="0"/>
          <a:stretch/>
        </p:blipFill>
        <p:spPr>
          <a:xfrm>
            <a:off x="241323" y="141073"/>
            <a:ext cx="3975324" cy="1083107"/>
          </a:xfrm>
          <a:prstGeom prst="rect">
            <a:avLst/>
          </a:prstGeom>
          <a:noFill/>
          <a:ln>
            <a:noFill/>
          </a:ln>
        </p:spPr>
      </p:pic>
      <p:sp>
        <p:nvSpPr>
          <p:cNvPr id="569" name="Google Shape;569;g36775634400_1_18"/>
          <p:cNvSpPr txBox="1"/>
          <p:nvPr/>
        </p:nvSpPr>
        <p:spPr>
          <a:xfrm>
            <a:off x="4323449" y="417842"/>
            <a:ext cx="8176800" cy="684000"/>
          </a:xfrm>
          <a:prstGeom prst="rect">
            <a:avLst/>
          </a:prstGeom>
          <a:noFill/>
          <a:ln>
            <a:noFill/>
          </a:ln>
        </p:spPr>
        <p:txBody>
          <a:bodyPr anchorCtr="0" anchor="ctr" bIns="50800" lIns="50800" spcFirstLastPara="1" rIns="50800" wrap="square" tIns="50800">
            <a:noAutofit/>
          </a:bodyPr>
          <a:lstStyle/>
          <a:p>
            <a:pPr indent="0" lvl="0" marL="0" marR="0" rtl="0" algn="r">
              <a:lnSpc>
                <a:spcPct val="80000"/>
              </a:lnSpc>
              <a:spcBef>
                <a:spcPts val="0"/>
              </a:spcBef>
              <a:spcAft>
                <a:spcPts val="0"/>
              </a:spcAft>
              <a:buClr>
                <a:srgbClr val="3CA8F8"/>
              </a:buClr>
              <a:buSzPts val="3900"/>
              <a:buFont typeface="Helvetica Neue"/>
              <a:buNone/>
            </a:pPr>
            <a:r>
              <a:rPr b="0" i="0" lang="en-US" sz="3600" u="none" cap="none" strike="noStrike">
                <a:solidFill>
                  <a:srgbClr val="3CA8F8"/>
                </a:solidFill>
                <a:latin typeface="Helvetica Neue"/>
                <a:ea typeface="Helvetica Neue"/>
                <a:cs typeface="Helvetica Neue"/>
                <a:sym typeface="Helvetica Neue"/>
              </a:rPr>
              <a:t>OBSERVACIÓN SILENCIOSA</a:t>
            </a:r>
            <a:endParaRPr/>
          </a:p>
          <a:p>
            <a:pPr indent="0" lvl="0" marL="0" marR="0" rtl="0" algn="r">
              <a:lnSpc>
                <a:spcPct val="80000"/>
              </a:lnSpc>
              <a:spcBef>
                <a:spcPts val="0"/>
              </a:spcBef>
              <a:spcAft>
                <a:spcPts val="0"/>
              </a:spcAft>
              <a:buClr>
                <a:srgbClr val="3CA8F8"/>
              </a:buClr>
              <a:buSzPts val="3900"/>
              <a:buFont typeface="Helvetica Neue"/>
              <a:buNone/>
            </a:pPr>
            <a:r>
              <a:rPr b="0" i="1" lang="en-US" sz="3600" u="none" cap="none" strike="noStrike">
                <a:solidFill>
                  <a:srgbClr val="3CA8F8"/>
                </a:solidFill>
                <a:latin typeface="Helvetica Neue"/>
                <a:ea typeface="Helvetica Neue"/>
                <a:cs typeface="Helvetica Neue"/>
                <a:sym typeface="Helvetica Neue"/>
              </a:rPr>
              <a:t>(FLY ON THE WALL)</a:t>
            </a:r>
            <a:endParaRPr b="0" i="1" sz="3600" u="none" cap="none" strike="noStrike">
              <a:solidFill>
                <a:srgbClr val="000000"/>
              </a:solidFill>
              <a:latin typeface="Helvetica Neue"/>
              <a:ea typeface="Helvetica Neue"/>
              <a:cs typeface="Helvetica Neue"/>
              <a:sym typeface="Helvetica Neue"/>
            </a:endParaRPr>
          </a:p>
        </p:txBody>
      </p:sp>
      <p:grpSp>
        <p:nvGrpSpPr>
          <p:cNvPr id="570" name="Google Shape;570;g36775634400_1_18"/>
          <p:cNvGrpSpPr/>
          <p:nvPr/>
        </p:nvGrpSpPr>
        <p:grpSpPr>
          <a:xfrm>
            <a:off x="1212905" y="8677287"/>
            <a:ext cx="10578927" cy="621000"/>
            <a:chOff x="0" y="0"/>
            <a:chExt cx="10578927" cy="621000"/>
          </a:xfrm>
        </p:grpSpPr>
        <p:cxnSp>
          <p:nvCxnSpPr>
            <p:cNvPr id="571" name="Google Shape;571;g36775634400_1_18"/>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572" name="Google Shape;572;g36775634400_1_18"/>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73" name="Google Shape;573;g36775634400_1_18"/>
            <p:cNvSpPr/>
            <p:nvPr/>
          </p:nvSpPr>
          <p:spPr>
            <a:xfrm>
              <a:off x="2489481"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74" name="Google Shape;574;g36775634400_1_18"/>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75" name="Google Shape;575;g36775634400_1_18"/>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76" name="Google Shape;576;g36775634400_1_18"/>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577" name="Google Shape;577;g36775634400_1_18"/>
          <p:cNvSpPr txBox="1"/>
          <p:nvPr/>
        </p:nvSpPr>
        <p:spPr>
          <a:xfrm>
            <a:off x="2522875" y="4279875"/>
            <a:ext cx="18006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La mayoría estaba almorzando y conversando entre ellos, además algunos mientras almorzaban estaban haciendo trabajos. Esto demuestra que hay cierto nivel de estrés ya que ni siquiera podía tomarse un momento para almorzar con tranquilidad</a:t>
            </a:r>
            <a:endParaRPr sz="1300">
              <a:latin typeface="Helvetica Neue"/>
              <a:ea typeface="Helvetica Neue"/>
              <a:cs typeface="Helvetica Neue"/>
              <a:sym typeface="Helvetica Neue"/>
            </a:endParaRPr>
          </a:p>
        </p:txBody>
      </p:sp>
      <p:sp>
        <p:nvSpPr>
          <p:cNvPr id="578" name="Google Shape;578;g36775634400_1_18"/>
          <p:cNvSpPr txBox="1"/>
          <p:nvPr/>
        </p:nvSpPr>
        <p:spPr>
          <a:xfrm>
            <a:off x="4574050" y="4279875"/>
            <a:ext cx="1800600" cy="19857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Los que estaban </a:t>
            </a:r>
            <a:r>
              <a:rPr lang="en-US" sz="1300">
                <a:latin typeface="Helvetica Neue"/>
                <a:ea typeface="Helvetica Neue"/>
                <a:cs typeface="Helvetica Neue"/>
                <a:sym typeface="Helvetica Neue"/>
              </a:rPr>
              <a:t>haciendo</a:t>
            </a:r>
            <a:r>
              <a:rPr lang="en-US" sz="1300">
                <a:latin typeface="Helvetica Neue"/>
                <a:ea typeface="Helvetica Neue"/>
                <a:cs typeface="Helvetica Neue"/>
                <a:sym typeface="Helvetica Neue"/>
              </a:rPr>
              <a:t> trabajos mientras almorzaban </a:t>
            </a:r>
            <a:r>
              <a:rPr lang="en-US" sz="1300">
                <a:latin typeface="Helvetica Neue"/>
                <a:ea typeface="Helvetica Neue"/>
                <a:cs typeface="Helvetica Neue"/>
                <a:sym typeface="Helvetica Neue"/>
              </a:rPr>
              <a:t>tenían</a:t>
            </a:r>
            <a:r>
              <a:rPr lang="en-US" sz="1300">
                <a:latin typeface="Helvetica Neue"/>
                <a:ea typeface="Helvetica Neue"/>
                <a:cs typeface="Helvetica Neue"/>
                <a:sym typeface="Helvetica Neue"/>
              </a:rPr>
              <a:t> un ambientes bastante </a:t>
            </a:r>
            <a:r>
              <a:rPr lang="en-US" sz="1300">
                <a:latin typeface="Helvetica Neue"/>
                <a:ea typeface="Helvetica Neue"/>
                <a:cs typeface="Helvetica Neue"/>
                <a:sym typeface="Helvetica Neue"/>
              </a:rPr>
              <a:t>desorganizados</a:t>
            </a:r>
            <a:r>
              <a:rPr lang="en-US" sz="1300">
                <a:latin typeface="Helvetica Neue"/>
                <a:ea typeface="Helvetica Neue"/>
                <a:cs typeface="Helvetica Neue"/>
                <a:sym typeface="Helvetica Neue"/>
              </a:rPr>
              <a:t>, ya que estaban haciendo muchas cosas a la vez </a:t>
            </a:r>
            <a:endParaRPr sz="1300">
              <a:latin typeface="Helvetica Neue"/>
              <a:ea typeface="Helvetica Neue"/>
              <a:cs typeface="Helvetica Neue"/>
              <a:sym typeface="Helvetica Neue"/>
            </a:endParaRPr>
          </a:p>
        </p:txBody>
      </p:sp>
      <p:sp>
        <p:nvSpPr>
          <p:cNvPr id="579" name="Google Shape;579;g36775634400_1_18"/>
          <p:cNvSpPr txBox="1"/>
          <p:nvPr/>
        </p:nvSpPr>
        <p:spPr>
          <a:xfrm>
            <a:off x="6466400" y="4279875"/>
            <a:ext cx="1800600" cy="198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Se nota que la gran </a:t>
            </a:r>
            <a:r>
              <a:rPr lang="en-US" sz="1300">
                <a:latin typeface="Helvetica Neue"/>
                <a:ea typeface="Helvetica Neue"/>
                <a:cs typeface="Helvetica Neue"/>
                <a:sym typeface="Helvetica Neue"/>
              </a:rPr>
              <a:t>mayoría</a:t>
            </a:r>
            <a:r>
              <a:rPr lang="en-US" sz="1300">
                <a:latin typeface="Helvetica Neue"/>
                <a:ea typeface="Helvetica Neue"/>
                <a:cs typeface="Helvetica Neue"/>
                <a:sym typeface="Helvetica Neue"/>
              </a:rPr>
              <a:t> estaba acostumbrado a almorzar en el DIM y compartir entre ellos. Mientras que los otros se notaban que no estaban dentro de su rutina</a:t>
            </a:r>
            <a:endParaRPr sz="1300">
              <a:latin typeface="Helvetica Neue"/>
              <a:ea typeface="Helvetica Neue"/>
              <a:cs typeface="Helvetica Neue"/>
              <a:sym typeface="Helvetica Neue"/>
            </a:endParaRPr>
          </a:p>
        </p:txBody>
      </p:sp>
      <p:sp>
        <p:nvSpPr>
          <p:cNvPr id="580" name="Google Shape;580;g36775634400_1_18"/>
          <p:cNvSpPr txBox="1"/>
          <p:nvPr/>
        </p:nvSpPr>
        <p:spPr>
          <a:xfrm>
            <a:off x="8879400" y="1798025"/>
            <a:ext cx="1250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17/06/2025</a:t>
            </a:r>
            <a:endParaRPr sz="1300">
              <a:latin typeface="Helvetica Neue"/>
              <a:ea typeface="Helvetica Neue"/>
              <a:cs typeface="Helvetica Neue"/>
              <a:sym typeface="Helvetica Neue"/>
            </a:endParaRPr>
          </a:p>
        </p:txBody>
      </p:sp>
      <p:sp>
        <p:nvSpPr>
          <p:cNvPr id="581" name="Google Shape;581;g36775634400_1_18"/>
          <p:cNvSpPr txBox="1"/>
          <p:nvPr/>
        </p:nvSpPr>
        <p:spPr>
          <a:xfrm>
            <a:off x="10756600" y="1798025"/>
            <a:ext cx="1250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13:50</a:t>
            </a:r>
            <a:endParaRPr sz="1300">
              <a:latin typeface="Helvetica Neue"/>
              <a:ea typeface="Helvetica Neue"/>
              <a:cs typeface="Helvetica Neue"/>
              <a:sym typeface="Helvetica Neue"/>
            </a:endParaRPr>
          </a:p>
        </p:txBody>
      </p:sp>
      <p:sp>
        <p:nvSpPr>
          <p:cNvPr id="582" name="Google Shape;582;g36775634400_1_18"/>
          <p:cNvSpPr txBox="1"/>
          <p:nvPr/>
        </p:nvSpPr>
        <p:spPr>
          <a:xfrm>
            <a:off x="8410350" y="4375450"/>
            <a:ext cx="18006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Se notaba que muchos </a:t>
            </a:r>
            <a:r>
              <a:rPr lang="en-US" sz="1300">
                <a:latin typeface="Helvetica Neue"/>
                <a:ea typeface="Helvetica Neue"/>
                <a:cs typeface="Helvetica Neue"/>
                <a:sym typeface="Helvetica Neue"/>
              </a:rPr>
              <a:t>debían</a:t>
            </a:r>
            <a:r>
              <a:rPr lang="en-US" sz="1300">
                <a:latin typeface="Helvetica Neue"/>
                <a:ea typeface="Helvetica Neue"/>
                <a:cs typeface="Helvetica Neue"/>
                <a:sym typeface="Helvetica Neue"/>
              </a:rPr>
              <a:t> cumplir con jornada largas, por lo que se notaba que estaban sobrecargado, como ropa, comida, con implementos deportivos, EPP, que por el momento no estaban siendo ocupados.</a:t>
            </a:r>
            <a:endParaRPr sz="1300">
              <a:latin typeface="Helvetica Neue"/>
              <a:ea typeface="Helvetica Neue"/>
              <a:cs typeface="Helvetica Neue"/>
              <a:sym typeface="Helvetica Neue"/>
            </a:endParaRPr>
          </a:p>
        </p:txBody>
      </p:sp>
      <p:sp>
        <p:nvSpPr>
          <p:cNvPr id="583" name="Google Shape;583;g36775634400_1_18"/>
          <p:cNvSpPr txBox="1"/>
          <p:nvPr/>
        </p:nvSpPr>
        <p:spPr>
          <a:xfrm>
            <a:off x="10409925" y="4461175"/>
            <a:ext cx="18006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Los usuarios observados eran estudiantes </a:t>
            </a:r>
            <a:r>
              <a:rPr lang="en-US" sz="1300">
                <a:latin typeface="Helvetica Neue"/>
                <a:ea typeface="Helvetica Neue"/>
                <a:cs typeface="Helvetica Neue"/>
                <a:sym typeface="Helvetica Neue"/>
              </a:rPr>
              <a:t>ingeniería</a:t>
            </a:r>
            <a:r>
              <a:rPr lang="en-US" sz="1300">
                <a:latin typeface="Helvetica Neue"/>
                <a:ea typeface="Helvetica Neue"/>
                <a:cs typeface="Helvetica Neue"/>
                <a:sym typeface="Helvetica Neue"/>
              </a:rPr>
              <a:t> civil en minas, que dentro del DIM o la carrera, su rol es de ayudantes, estudiantes, etc. Lo que más destacan eran los </a:t>
            </a:r>
            <a:r>
              <a:rPr lang="en-US" sz="1300">
                <a:latin typeface="Helvetica Neue"/>
                <a:ea typeface="Helvetica Neue"/>
                <a:cs typeface="Helvetica Neue"/>
                <a:sym typeface="Helvetica Neue"/>
              </a:rPr>
              <a:t>ayudantes</a:t>
            </a:r>
            <a:r>
              <a:rPr lang="en-US" sz="1300">
                <a:latin typeface="Helvetica Neue"/>
                <a:ea typeface="Helvetica Neue"/>
                <a:cs typeface="Helvetica Neue"/>
                <a:sym typeface="Helvetica Neue"/>
              </a:rPr>
              <a:t> ya que son lo que má estresados estaban, ya que </a:t>
            </a:r>
            <a:r>
              <a:rPr lang="en-US" sz="1300">
                <a:latin typeface="Helvetica Neue"/>
                <a:ea typeface="Helvetica Neue"/>
                <a:cs typeface="Helvetica Neue"/>
                <a:sym typeface="Helvetica Neue"/>
              </a:rPr>
              <a:t>debían</a:t>
            </a:r>
            <a:r>
              <a:rPr lang="en-US" sz="1300">
                <a:latin typeface="Helvetica Neue"/>
                <a:ea typeface="Helvetica Neue"/>
                <a:cs typeface="Helvetica Neue"/>
                <a:sym typeface="Helvetica Neue"/>
              </a:rPr>
              <a:t> preparar las clases de </a:t>
            </a:r>
            <a:r>
              <a:rPr lang="en-US" sz="1300">
                <a:latin typeface="Helvetica Neue"/>
                <a:ea typeface="Helvetica Neue"/>
                <a:cs typeface="Helvetica Neue"/>
                <a:sym typeface="Helvetica Neue"/>
              </a:rPr>
              <a:t>ayudantía</a:t>
            </a:r>
            <a:r>
              <a:rPr lang="en-US" sz="1300">
                <a:latin typeface="Helvetica Neue"/>
                <a:ea typeface="Helvetica Neue"/>
                <a:cs typeface="Helvetica Neue"/>
                <a:sym typeface="Helvetica Neue"/>
              </a:rPr>
              <a:t>, </a:t>
            </a:r>
            <a:r>
              <a:rPr lang="en-US" sz="1300">
                <a:latin typeface="Helvetica Neue"/>
                <a:ea typeface="Helvetica Neue"/>
                <a:cs typeface="Helvetica Neue"/>
                <a:sym typeface="Helvetica Neue"/>
              </a:rPr>
              <a:t>mientras</a:t>
            </a:r>
            <a:r>
              <a:rPr lang="en-US" sz="1300">
                <a:latin typeface="Helvetica Neue"/>
                <a:ea typeface="Helvetica Neue"/>
                <a:cs typeface="Helvetica Neue"/>
                <a:sym typeface="Helvetica Neue"/>
              </a:rPr>
              <a:t> que debian cumplir con sus propios ramos</a:t>
            </a:r>
            <a:endParaRPr sz="1300">
              <a:latin typeface="Helvetica Neue"/>
              <a:ea typeface="Helvetica Neue"/>
              <a:cs typeface="Helvetica Neue"/>
              <a:sym typeface="Helvetica Neue"/>
            </a:endParaRPr>
          </a:p>
        </p:txBody>
      </p:sp>
      <p:sp>
        <p:nvSpPr>
          <p:cNvPr id="584" name="Google Shape;584;g36775634400_1_18"/>
          <p:cNvSpPr txBox="1"/>
          <p:nvPr/>
        </p:nvSpPr>
        <p:spPr>
          <a:xfrm>
            <a:off x="3683250" y="1698925"/>
            <a:ext cx="1800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Helvetica Neue"/>
                <a:ea typeface="Helvetica Neue"/>
                <a:cs typeface="Helvetica Neue"/>
                <a:sym typeface="Helvetica Neue"/>
              </a:rPr>
              <a:t>Francisca Mena - DIM</a:t>
            </a:r>
            <a:endParaRPr sz="1300">
              <a:latin typeface="Helvetica Neue"/>
              <a:ea typeface="Helvetica Neue"/>
              <a:cs typeface="Helvetica Neue"/>
              <a:sym typeface="Helvetica Neue"/>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BF2E"/>
        </a:solidFill>
      </p:bgPr>
    </p:bg>
    <p:spTree>
      <p:nvGrpSpPr>
        <p:cNvPr id="588" name="Shape 588"/>
        <p:cNvGrpSpPr/>
        <p:nvPr/>
      </p:nvGrpSpPr>
      <p:grpSpPr>
        <a:xfrm>
          <a:off x="0" y="0"/>
          <a:ext cx="0" cy="0"/>
          <a:chOff x="0" y="0"/>
          <a:chExt cx="0" cy="0"/>
        </a:xfrm>
      </p:grpSpPr>
      <p:grpSp>
        <p:nvGrpSpPr>
          <p:cNvPr id="589" name="Google Shape;589;p10"/>
          <p:cNvGrpSpPr/>
          <p:nvPr/>
        </p:nvGrpSpPr>
        <p:grpSpPr>
          <a:xfrm>
            <a:off x="241323" y="141073"/>
            <a:ext cx="11949513" cy="9273366"/>
            <a:chOff x="241323" y="141073"/>
            <a:chExt cx="11949513" cy="9273366"/>
          </a:xfrm>
        </p:grpSpPr>
        <p:pic>
          <p:nvPicPr>
            <p:cNvPr descr="Captura de Pantalla 2020-08-14 a la(s) 16.51.15.png" id="590" name="Google Shape;590;p10"/>
            <p:cNvPicPr preferRelativeResize="0"/>
            <p:nvPr/>
          </p:nvPicPr>
          <p:blipFill rotWithShape="1">
            <a:blip r:embed="rId3">
              <a:alphaModFix/>
            </a:blip>
            <a:srcRect b="0" l="0" r="0" t="0"/>
            <a:stretch/>
          </p:blipFill>
          <p:spPr>
            <a:xfrm>
              <a:off x="543915" y="744514"/>
              <a:ext cx="11118840" cy="8315372"/>
            </a:xfrm>
            <a:prstGeom prst="rect">
              <a:avLst/>
            </a:prstGeom>
            <a:noFill/>
            <a:ln>
              <a:noFill/>
            </a:ln>
          </p:spPr>
        </p:pic>
        <p:pic>
          <p:nvPicPr>
            <p:cNvPr descr="EA11.png" id="591" name="Google Shape;591;p10"/>
            <p:cNvPicPr preferRelativeResize="0"/>
            <p:nvPr/>
          </p:nvPicPr>
          <p:blipFill rotWithShape="1">
            <a:blip r:embed="rId4">
              <a:alphaModFix/>
            </a:blip>
            <a:srcRect b="0" l="0" r="0" t="0"/>
            <a:stretch/>
          </p:blipFill>
          <p:spPr>
            <a:xfrm>
              <a:off x="241323" y="141073"/>
              <a:ext cx="3975324" cy="1083107"/>
            </a:xfrm>
            <a:prstGeom prst="rect">
              <a:avLst/>
            </a:prstGeom>
            <a:noFill/>
            <a:ln>
              <a:noFill/>
            </a:ln>
          </p:spPr>
        </p:pic>
        <p:sp>
          <p:nvSpPr>
            <p:cNvPr id="592" name="Google Shape;592;p10"/>
            <p:cNvSpPr/>
            <p:nvPr/>
          </p:nvSpPr>
          <p:spPr>
            <a:xfrm>
              <a:off x="643027" y="8257059"/>
              <a:ext cx="11547809" cy="1157380"/>
            </a:xfrm>
            <a:prstGeom prst="rect">
              <a:avLst/>
            </a:prstGeom>
            <a:solidFill>
              <a:srgbClr val="0BBF2E"/>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nvGrpSpPr>
            <p:cNvPr id="593" name="Google Shape;593;p10"/>
            <p:cNvGrpSpPr/>
            <p:nvPr/>
          </p:nvGrpSpPr>
          <p:grpSpPr>
            <a:xfrm>
              <a:off x="1212905" y="8677287"/>
              <a:ext cx="10578992" cy="621064"/>
              <a:chOff x="0" y="0"/>
              <a:chExt cx="10578990" cy="621062"/>
            </a:xfrm>
          </p:grpSpPr>
          <p:cxnSp>
            <p:nvCxnSpPr>
              <p:cNvPr id="594" name="Google Shape;594;p10"/>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595" name="Google Shape;595;p10"/>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96" name="Google Shape;596;p10"/>
              <p:cNvSpPr/>
              <p:nvPr/>
            </p:nvSpPr>
            <p:spPr>
              <a:xfrm>
                <a:off x="2489481"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97" name="Google Shape;597;p10"/>
              <p:cNvSpPr/>
              <p:nvPr/>
            </p:nvSpPr>
            <p:spPr>
              <a:xfrm>
                <a:off x="4978963"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98" name="Google Shape;598;p10"/>
              <p:cNvSpPr/>
              <p:nvPr/>
            </p:nvSpPr>
            <p:spPr>
              <a:xfrm>
                <a:off x="7468444"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599" name="Google Shape;599;p10"/>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grpSp>
          <p:nvGrpSpPr>
            <p:cNvPr id="600" name="Google Shape;600;p10"/>
            <p:cNvGrpSpPr/>
            <p:nvPr/>
          </p:nvGrpSpPr>
          <p:grpSpPr>
            <a:xfrm>
              <a:off x="1212905" y="8677287"/>
              <a:ext cx="10578992" cy="621064"/>
              <a:chOff x="0" y="0"/>
              <a:chExt cx="10578990" cy="621062"/>
            </a:xfrm>
          </p:grpSpPr>
          <p:cxnSp>
            <p:nvCxnSpPr>
              <p:cNvPr id="601" name="Google Shape;601;p10"/>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602" name="Google Shape;602;p10"/>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03" name="Google Shape;603;p10"/>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04" name="Google Shape;604;p10"/>
              <p:cNvSpPr/>
              <p:nvPr/>
            </p:nvSpPr>
            <p:spPr>
              <a:xfrm>
                <a:off x="4978963"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05" name="Google Shape;605;p10"/>
              <p:cNvSpPr/>
              <p:nvPr/>
            </p:nvSpPr>
            <p:spPr>
              <a:xfrm>
                <a:off x="7468444"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06" name="Google Shape;606;p10"/>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11"/>
          <p:cNvSpPr txBox="1"/>
          <p:nvPr/>
        </p:nvSpPr>
        <p:spPr>
          <a:xfrm>
            <a:off x="7248350" y="1251425"/>
            <a:ext cx="5311500" cy="13968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72B842"/>
              </a:buClr>
              <a:buSzPts val="3900"/>
              <a:buFont typeface="Helvetica Neue"/>
              <a:buNone/>
            </a:pPr>
            <a:r>
              <a:rPr b="1" i="0" lang="en-US" sz="3900" u="none" cap="none" strike="noStrike">
                <a:solidFill>
                  <a:srgbClr val="72B842"/>
                </a:solidFill>
                <a:latin typeface="Helvetica Neue"/>
                <a:ea typeface="Helvetica Neue"/>
                <a:cs typeface="Helvetica Neue"/>
                <a:sym typeface="Helvetica Neue"/>
              </a:rPr>
              <a:t>DESCUBRIMIENTOS</a:t>
            </a:r>
            <a:endParaRPr b="0" i="0" sz="1400" u="none" cap="none" strike="noStrike">
              <a:solidFill>
                <a:srgbClr val="000000"/>
              </a:solidFill>
              <a:latin typeface="Arial"/>
              <a:ea typeface="Arial"/>
              <a:cs typeface="Arial"/>
              <a:sym typeface="Arial"/>
            </a:endParaRPr>
          </a:p>
        </p:txBody>
      </p:sp>
      <p:cxnSp>
        <p:nvCxnSpPr>
          <p:cNvPr id="612" name="Google Shape;612;p11"/>
          <p:cNvCxnSpPr/>
          <p:nvPr/>
        </p:nvCxnSpPr>
        <p:spPr>
          <a:xfrm flipH="1" rot="10800000">
            <a:off x="6502400" y="1672787"/>
            <a:ext cx="1" cy="6408025"/>
          </a:xfrm>
          <a:prstGeom prst="straightConnector1">
            <a:avLst/>
          </a:prstGeom>
          <a:noFill/>
          <a:ln cap="flat" cmpd="sng" w="25400">
            <a:solidFill>
              <a:srgbClr val="000000"/>
            </a:solidFill>
            <a:prstDash val="solid"/>
            <a:miter lim="400000"/>
            <a:headEnd len="sm" w="sm" type="none"/>
            <a:tailEnd len="sm" w="sm" type="none"/>
          </a:ln>
        </p:spPr>
      </p:cxnSp>
      <p:sp>
        <p:nvSpPr>
          <p:cNvPr id="613" name="Google Shape;613;p11"/>
          <p:cNvSpPr txBox="1"/>
          <p:nvPr/>
        </p:nvSpPr>
        <p:spPr>
          <a:xfrm>
            <a:off x="7261404" y="2225735"/>
            <a:ext cx="4740000" cy="422418"/>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72B842"/>
              </a:buClr>
              <a:buSzPts val="3900"/>
              <a:buFont typeface="Helvetica Neue"/>
              <a:buNone/>
            </a:pPr>
            <a:r>
              <a:rPr b="0" i="1" lang="en-US" sz="3900" u="none" cap="none" strike="noStrike">
                <a:solidFill>
                  <a:srgbClr val="72B842"/>
                </a:solidFill>
                <a:latin typeface="Helvetica Neue"/>
                <a:ea typeface="Helvetica Neue"/>
                <a:cs typeface="Helvetica Neue"/>
                <a:sym typeface="Helvetica Neue"/>
              </a:rPr>
              <a:t>(INSIGHTS)</a:t>
            </a:r>
            <a:endParaRPr b="0" i="1" sz="1400" u="none" cap="none" strike="noStrike">
              <a:solidFill>
                <a:srgbClr val="000000"/>
              </a:solidFill>
              <a:latin typeface="Helvetica Neue"/>
              <a:ea typeface="Helvetica Neue"/>
              <a:cs typeface="Helvetica Neue"/>
              <a:sym typeface="Helvetica Neue"/>
            </a:endParaRPr>
          </a:p>
        </p:txBody>
      </p:sp>
      <p:pic>
        <p:nvPicPr>
          <p:cNvPr descr="EA11.png" id="614" name="Google Shape;614;p11"/>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615" name="Google Shape;615;p11"/>
          <p:cNvSpPr txBox="1"/>
          <p:nvPr/>
        </p:nvSpPr>
        <p:spPr>
          <a:xfrm>
            <a:off x="726751" y="1251509"/>
            <a:ext cx="4740034" cy="1396644"/>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72B843"/>
              </a:buClr>
              <a:buSzPts val="3900"/>
              <a:buFont typeface="Helvetica Neue"/>
              <a:buNone/>
            </a:pPr>
            <a:r>
              <a:rPr b="0" i="0" lang="en-US" sz="3900" u="none" cap="none" strike="noStrike">
                <a:solidFill>
                  <a:srgbClr val="72B843"/>
                </a:solidFill>
                <a:latin typeface="Helvetica Neue"/>
                <a:ea typeface="Helvetica Neue"/>
                <a:cs typeface="Helvetica Neue"/>
                <a:sym typeface="Helvetica Neue"/>
              </a:rPr>
              <a:t>HIPÓTESIS</a:t>
            </a:r>
            <a:endParaRPr b="0" i="0" sz="1400" u="none" cap="none" strike="noStrike">
              <a:solidFill>
                <a:srgbClr val="000000"/>
              </a:solidFill>
              <a:latin typeface="Helvetica Neue"/>
              <a:ea typeface="Helvetica Neue"/>
              <a:cs typeface="Helvetica Neue"/>
              <a:sym typeface="Helvetica Neue"/>
            </a:endParaRPr>
          </a:p>
        </p:txBody>
      </p:sp>
      <p:sp>
        <p:nvSpPr>
          <p:cNvPr id="616" name="Google Shape;616;p11"/>
          <p:cNvSpPr txBox="1"/>
          <p:nvPr/>
        </p:nvSpPr>
        <p:spPr>
          <a:xfrm>
            <a:off x="1189578" y="2530301"/>
            <a:ext cx="4566868" cy="5582311"/>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17" name="Google Shape;617;p11"/>
          <p:cNvSpPr txBox="1"/>
          <p:nvPr/>
        </p:nvSpPr>
        <p:spPr>
          <a:xfrm>
            <a:off x="7347954" y="2815525"/>
            <a:ext cx="4566900" cy="51252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nvGrpSpPr>
          <p:cNvPr id="618" name="Google Shape;618;p11"/>
          <p:cNvGrpSpPr/>
          <p:nvPr/>
        </p:nvGrpSpPr>
        <p:grpSpPr>
          <a:xfrm>
            <a:off x="1212905" y="8677287"/>
            <a:ext cx="10578992" cy="621064"/>
            <a:chOff x="0" y="0"/>
            <a:chExt cx="10578990" cy="621062"/>
          </a:xfrm>
        </p:grpSpPr>
        <p:cxnSp>
          <p:nvCxnSpPr>
            <p:cNvPr id="619" name="Google Shape;619;p11"/>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620" name="Google Shape;620;p11"/>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21" name="Google Shape;621;p11"/>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22" name="Google Shape;622;p11"/>
            <p:cNvSpPr/>
            <p:nvPr/>
          </p:nvSpPr>
          <p:spPr>
            <a:xfrm>
              <a:off x="4978963"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23" name="Google Shape;623;p11"/>
            <p:cNvSpPr/>
            <p:nvPr/>
          </p:nvSpPr>
          <p:spPr>
            <a:xfrm>
              <a:off x="7468444"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24" name="Google Shape;624;p11"/>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625" name="Google Shape;625;p11"/>
          <p:cNvSpPr txBox="1"/>
          <p:nvPr/>
        </p:nvSpPr>
        <p:spPr>
          <a:xfrm>
            <a:off x="4971200" y="314625"/>
            <a:ext cx="7588500" cy="7695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Helvetica Neue"/>
                <a:ea typeface="Helvetica Neue"/>
                <a:cs typeface="Helvetica Neue"/>
                <a:sym typeface="Helvetica Neue"/>
              </a:rPr>
              <a:t>Pegar fotos de trabajo en clases</a:t>
            </a:r>
            <a:endParaRPr b="0" i="0" sz="3800" u="none" cap="none" strike="noStrike">
              <a:solidFill>
                <a:schemeClr val="lt1"/>
              </a:solidFill>
              <a:latin typeface="Helvetica Neue"/>
              <a:ea typeface="Helvetica Neue"/>
              <a:cs typeface="Helvetica Neue"/>
              <a:sym typeface="Helvetica Neue"/>
            </a:endParaRPr>
          </a:p>
        </p:txBody>
      </p:sp>
      <p:pic>
        <p:nvPicPr>
          <p:cNvPr id="626" name="Google Shape;626;p11"/>
          <p:cNvPicPr preferRelativeResize="0"/>
          <p:nvPr/>
        </p:nvPicPr>
        <p:blipFill rotWithShape="1">
          <a:blip r:embed="rId4">
            <a:alphaModFix/>
          </a:blip>
          <a:srcRect b="22821" l="0" r="0" t="0"/>
          <a:stretch/>
        </p:blipFill>
        <p:spPr>
          <a:xfrm>
            <a:off x="617175" y="2225725"/>
            <a:ext cx="11573748" cy="75278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13"/>
          <p:cNvSpPr/>
          <p:nvPr/>
        </p:nvSpPr>
        <p:spPr>
          <a:xfrm>
            <a:off x="3565800" y="739875"/>
            <a:ext cx="1404900" cy="1223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632" name="Google Shape;632;p13"/>
          <p:cNvSpPr txBox="1"/>
          <p:nvPr/>
        </p:nvSpPr>
        <p:spPr>
          <a:xfrm>
            <a:off x="4254300" y="939375"/>
            <a:ext cx="6565200" cy="1024200"/>
          </a:xfrm>
          <a:prstGeom prst="rect">
            <a:avLst/>
          </a:prstGeom>
          <a:noFill/>
          <a:ln>
            <a:noFill/>
          </a:ln>
        </p:spPr>
        <p:txBody>
          <a:bodyPr anchorCtr="0" anchor="ctr" bIns="54175" lIns="108350" spcFirstLastPara="1" rIns="108350" wrap="square" tIns="54175">
            <a:noAutofit/>
          </a:bodyPr>
          <a:lstStyle/>
          <a:p>
            <a:pPr indent="0" lvl="0" marL="0" marR="0" rtl="0" algn="l">
              <a:lnSpc>
                <a:spcPct val="100000"/>
              </a:lnSpc>
              <a:spcBef>
                <a:spcPts val="0"/>
              </a:spcBef>
              <a:spcAft>
                <a:spcPts val="0"/>
              </a:spcAft>
              <a:buClr>
                <a:srgbClr val="72B843"/>
              </a:buClr>
              <a:buSzPts val="3600"/>
              <a:buFont typeface="Calibri"/>
              <a:buNone/>
            </a:pPr>
            <a:r>
              <a:rPr b="0" i="0" lang="en-US" sz="3600" u="none" cap="none" strike="noStrike">
                <a:solidFill>
                  <a:srgbClr val="72B843"/>
                </a:solidFill>
                <a:latin typeface="Helvetica Neue"/>
                <a:ea typeface="Helvetica Neue"/>
                <a:cs typeface="Helvetica Neue"/>
                <a:sym typeface="Helvetica Neue"/>
              </a:rPr>
              <a:t>  PERFIL PERSONA</a:t>
            </a:r>
            <a:endParaRPr b="0" i="0" sz="1700" u="none" cap="none" strike="noStrike">
              <a:solidFill>
                <a:srgbClr val="000000"/>
              </a:solidFill>
              <a:latin typeface="Helvetica Neue"/>
              <a:ea typeface="Helvetica Neue"/>
              <a:cs typeface="Helvetica Neue"/>
              <a:sym typeface="Helvetica Neue"/>
            </a:endParaRPr>
          </a:p>
        </p:txBody>
      </p:sp>
      <p:pic>
        <p:nvPicPr>
          <p:cNvPr descr="EA11.png" id="633" name="Google Shape;633;p13"/>
          <p:cNvPicPr preferRelativeResize="0"/>
          <p:nvPr/>
        </p:nvPicPr>
        <p:blipFill rotWithShape="1">
          <a:blip r:embed="rId4">
            <a:alphaModFix/>
          </a:blip>
          <a:srcRect b="0" l="0" r="0" t="0"/>
          <a:stretch/>
        </p:blipFill>
        <p:spPr>
          <a:xfrm>
            <a:off x="584305" y="141055"/>
            <a:ext cx="2981494" cy="812331"/>
          </a:xfrm>
          <a:prstGeom prst="rect">
            <a:avLst/>
          </a:prstGeom>
          <a:noFill/>
          <a:ln>
            <a:noFill/>
          </a:ln>
        </p:spPr>
      </p:pic>
      <p:sp>
        <p:nvSpPr>
          <p:cNvPr id="634" name="Google Shape;634;p13"/>
          <p:cNvSpPr txBox="1"/>
          <p:nvPr/>
        </p:nvSpPr>
        <p:spPr>
          <a:xfrm>
            <a:off x="584300" y="1441325"/>
            <a:ext cx="11602800" cy="1747200"/>
          </a:xfrm>
          <a:prstGeom prst="rect">
            <a:avLst/>
          </a:prstGeom>
          <a:noFill/>
          <a:ln>
            <a:noFill/>
          </a:ln>
        </p:spPr>
        <p:txBody>
          <a:bodyPr anchorCtr="0" anchor="t" bIns="0" lIns="0" spcFirstLastPara="1" rIns="0" wrap="square" tIns="77475">
            <a:noAutofit/>
          </a:bodyPr>
          <a:lstStyle/>
          <a:p>
            <a:pPr indent="-120650" lvl="0" marL="101600" marR="0" rtl="0" algn="l">
              <a:lnSpc>
                <a:spcPct val="100000"/>
              </a:lnSpc>
              <a:spcBef>
                <a:spcPts val="0"/>
              </a:spcBef>
              <a:spcAft>
                <a:spcPts val="0"/>
              </a:spcAft>
              <a:buClr>
                <a:schemeClr val="dk1"/>
              </a:buClr>
              <a:buSzPts val="1900"/>
              <a:buFont typeface="Nunito"/>
              <a:buAutoNum type="arabicPeriod"/>
            </a:pPr>
            <a:r>
              <a:rPr lang="en-US" sz="1900">
                <a:solidFill>
                  <a:schemeClr val="dk1"/>
                </a:solidFill>
                <a:latin typeface="Helvetica Neue"/>
                <a:ea typeface="Helvetica Neue"/>
                <a:cs typeface="Helvetica Neue"/>
                <a:sym typeface="Helvetica Neue"/>
              </a:rPr>
              <a:t> </a:t>
            </a:r>
            <a:r>
              <a:rPr b="0" i="0" lang="en-US" sz="1900" u="none" cap="none" strike="noStrike">
                <a:solidFill>
                  <a:schemeClr val="dk1"/>
                </a:solidFill>
                <a:latin typeface="Helvetica Neue"/>
                <a:ea typeface="Helvetica Neue"/>
                <a:cs typeface="Helvetica Neue"/>
                <a:sym typeface="Helvetica Neue"/>
              </a:rPr>
              <a:t>Nombre: Mat</a:t>
            </a:r>
            <a:r>
              <a:rPr lang="en-US" sz="1900">
                <a:solidFill>
                  <a:schemeClr val="dk1"/>
                </a:solidFill>
                <a:latin typeface="Helvetica Neue"/>
                <a:ea typeface="Helvetica Neue"/>
                <a:cs typeface="Helvetica Neue"/>
                <a:sym typeface="Helvetica Neue"/>
              </a:rPr>
              <a:t>ías</a:t>
            </a:r>
            <a:endParaRPr b="0" i="0" sz="1900" u="none" cap="none" strike="noStrike">
              <a:solidFill>
                <a:schemeClr val="dk1"/>
              </a:solidFill>
              <a:latin typeface="Helvetica Neue"/>
              <a:ea typeface="Helvetica Neue"/>
              <a:cs typeface="Helvetica Neue"/>
              <a:sym typeface="Helvetica Neue"/>
            </a:endParaRPr>
          </a:p>
          <a:p>
            <a:pPr indent="-120650" lvl="0" marL="101600" marR="0" rtl="0" algn="l">
              <a:lnSpc>
                <a:spcPct val="100000"/>
              </a:lnSpc>
              <a:spcBef>
                <a:spcPts val="50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Descripción General: Estudiante universitario de Educación Física, joven, activo, con jornadas largas</a:t>
            </a:r>
            <a:r>
              <a:rPr lang="en-US" sz="1900">
                <a:solidFill>
                  <a:schemeClr val="dk1"/>
                </a:solidFill>
                <a:latin typeface="Helvetica Neue"/>
                <a:ea typeface="Helvetica Neue"/>
                <a:cs typeface="Helvetica Neue"/>
                <a:sym typeface="Helvetica Neue"/>
              </a:rPr>
              <a:t>.</a:t>
            </a:r>
            <a:endParaRPr b="0" i="0" sz="1900" u="none" cap="none" strike="noStrike">
              <a:solidFill>
                <a:schemeClr val="dk1"/>
              </a:solidFill>
              <a:latin typeface="Helvetica Neue"/>
              <a:ea typeface="Helvetica Neue"/>
              <a:cs typeface="Helvetica Neue"/>
              <a:sym typeface="Helvetica Neue"/>
            </a:endParaRPr>
          </a:p>
        </p:txBody>
      </p:sp>
      <p:sp>
        <p:nvSpPr>
          <p:cNvPr id="635" name="Google Shape;635;p13"/>
          <p:cNvSpPr txBox="1"/>
          <p:nvPr/>
        </p:nvSpPr>
        <p:spPr>
          <a:xfrm>
            <a:off x="6735300" y="2534125"/>
            <a:ext cx="1988100" cy="481800"/>
          </a:xfrm>
          <a:prstGeom prst="rect">
            <a:avLst/>
          </a:prstGeom>
          <a:noFill/>
          <a:ln>
            <a:noFill/>
          </a:ln>
        </p:spPr>
        <p:txBody>
          <a:bodyPr anchorCtr="0" anchor="t" bIns="54175" lIns="108350" spcFirstLastPara="1" rIns="108350" wrap="square" tIns="5417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3. Actitudes:</a:t>
            </a:r>
            <a:endParaRPr b="0" i="0" sz="1900" u="none" cap="none" strike="noStrike">
              <a:solidFill>
                <a:schemeClr val="dk1"/>
              </a:solidFill>
              <a:latin typeface="Helvetica Neue"/>
              <a:ea typeface="Helvetica Neue"/>
              <a:cs typeface="Helvetica Neue"/>
              <a:sym typeface="Helvetica Neue"/>
            </a:endParaRPr>
          </a:p>
        </p:txBody>
      </p:sp>
      <p:sp>
        <p:nvSpPr>
          <p:cNvPr id="636" name="Google Shape;636;p13"/>
          <p:cNvSpPr txBox="1"/>
          <p:nvPr/>
        </p:nvSpPr>
        <p:spPr>
          <a:xfrm>
            <a:off x="2075052" y="4957867"/>
            <a:ext cx="16032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4. Anhelos:</a:t>
            </a:r>
            <a:endParaRPr b="0" i="0" sz="1900" u="none" cap="none" strike="noStrike">
              <a:solidFill>
                <a:schemeClr val="dk1"/>
              </a:solidFill>
              <a:latin typeface="Helvetica Neue"/>
              <a:ea typeface="Helvetica Neue"/>
              <a:cs typeface="Helvetica Neue"/>
              <a:sym typeface="Helvetica Neue"/>
            </a:endParaRPr>
          </a:p>
        </p:txBody>
      </p:sp>
      <p:sp>
        <p:nvSpPr>
          <p:cNvPr id="637" name="Google Shape;637;p13"/>
          <p:cNvSpPr txBox="1"/>
          <p:nvPr/>
        </p:nvSpPr>
        <p:spPr>
          <a:xfrm>
            <a:off x="6735299" y="4943088"/>
            <a:ext cx="14049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5. Dolores:</a:t>
            </a:r>
            <a:endParaRPr b="0" i="0" sz="1900" u="none" cap="none" strike="noStrike">
              <a:solidFill>
                <a:schemeClr val="dk1"/>
              </a:solidFill>
              <a:latin typeface="Helvetica Neue"/>
              <a:ea typeface="Helvetica Neue"/>
              <a:cs typeface="Helvetica Neue"/>
              <a:sym typeface="Helvetica Neue"/>
            </a:endParaRPr>
          </a:p>
        </p:txBody>
      </p:sp>
      <p:sp>
        <p:nvSpPr>
          <p:cNvPr id="638" name="Google Shape;638;p13"/>
          <p:cNvSpPr txBox="1"/>
          <p:nvPr/>
        </p:nvSpPr>
        <p:spPr>
          <a:xfrm>
            <a:off x="2084799" y="7371724"/>
            <a:ext cx="4144753" cy="368019"/>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6. Una cita que lo caracterice:</a:t>
            </a:r>
            <a:endParaRPr b="0" i="0" sz="1900" u="none" cap="none" strike="noStrike">
              <a:solidFill>
                <a:schemeClr val="dk1"/>
              </a:solidFill>
              <a:latin typeface="Helvetica Neue"/>
              <a:ea typeface="Helvetica Neue"/>
              <a:cs typeface="Helvetica Neue"/>
              <a:sym typeface="Helvetica Neue"/>
            </a:endParaRPr>
          </a:p>
        </p:txBody>
      </p:sp>
      <p:sp>
        <p:nvSpPr>
          <p:cNvPr id="639" name="Google Shape;639;p13"/>
          <p:cNvSpPr/>
          <p:nvPr/>
        </p:nvSpPr>
        <p:spPr>
          <a:xfrm flipH="1" rot="10800000">
            <a:off x="2084802" y="8163683"/>
            <a:ext cx="8781494" cy="89700"/>
          </a:xfrm>
          <a:custGeom>
            <a:rect b="b" l="l" r="r" t="t"/>
            <a:pathLst>
              <a:path extrusionOk="0" h="120000" w="5540375">
                <a:moveTo>
                  <a:pt x="0" y="0"/>
                </a:moveTo>
                <a:lnTo>
                  <a:pt x="5539896" y="0"/>
                </a:lnTo>
              </a:path>
            </a:pathLst>
          </a:custGeom>
          <a:noFill/>
          <a:ln cap="flat" cmpd="sng" w="357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640" name="Google Shape;640;p13"/>
          <p:cNvSpPr/>
          <p:nvPr/>
        </p:nvSpPr>
        <p:spPr>
          <a:xfrm>
            <a:off x="2102037" y="304962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Desordenado, ocupadas en actividades, pasaban todo el día en la universidad, con mala </a:t>
            </a:r>
            <a:r>
              <a:rPr lang="en-US" sz="1500">
                <a:solidFill>
                  <a:schemeClr val="dk1"/>
                </a:solidFill>
                <a:latin typeface="Helvetica Neue"/>
                <a:ea typeface="Helvetica Neue"/>
                <a:cs typeface="Helvetica Neue"/>
                <a:sym typeface="Helvetica Neue"/>
              </a:rPr>
              <a:t>gestión</a:t>
            </a:r>
            <a:r>
              <a:rPr lang="en-US" sz="1500">
                <a:solidFill>
                  <a:schemeClr val="dk1"/>
                </a:solidFill>
                <a:latin typeface="Helvetica Neue"/>
                <a:ea typeface="Helvetica Neue"/>
                <a:cs typeface="Helvetica Neue"/>
                <a:sym typeface="Helvetica Neue"/>
              </a:rPr>
              <a:t> de tiempo, estudiantes universitarios, </a:t>
            </a:r>
            <a:endParaRPr sz="1500">
              <a:solidFill>
                <a:schemeClr val="dk1"/>
              </a:solidFill>
              <a:latin typeface="Helvetica Neue"/>
              <a:ea typeface="Helvetica Neue"/>
              <a:cs typeface="Helvetica Neue"/>
              <a:sym typeface="Helvetica Neue"/>
            </a:endParaRPr>
          </a:p>
        </p:txBody>
      </p:sp>
      <p:sp>
        <p:nvSpPr>
          <p:cNvPr id="641" name="Google Shape;641;p13"/>
          <p:cNvSpPr/>
          <p:nvPr/>
        </p:nvSpPr>
        <p:spPr>
          <a:xfrm>
            <a:off x="2027024"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Desea moverse con mayor comodidad por la universidad, sin sentirse agobiado por el peso. Quiere una solución que le permita organizarse mejor sin sacrificar funcionalidad.</a:t>
            </a:r>
            <a:endParaRPr b="0" i="0" sz="1500" u="none" cap="none" strike="noStrike">
              <a:solidFill>
                <a:schemeClr val="dk1"/>
              </a:solidFill>
              <a:latin typeface="Helvetica Neue"/>
              <a:ea typeface="Helvetica Neue"/>
              <a:cs typeface="Helvetica Neue"/>
              <a:sym typeface="Helvetica Neue"/>
            </a:endParaRPr>
          </a:p>
        </p:txBody>
      </p:sp>
      <p:sp>
        <p:nvSpPr>
          <p:cNvPr id="642" name="Google Shape;642;p13"/>
          <p:cNvSpPr/>
          <p:nvPr/>
        </p:nvSpPr>
        <p:spPr>
          <a:xfrm>
            <a:off x="6735299"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Dolor físico (cuello, espalda alta), fatiga por la carga excesiva. Frustración por cómo esto limita su movilidad, afecta sus decisiones diarias y su bienestar general.</a:t>
            </a:r>
            <a:endParaRPr b="0" i="0" sz="1500" u="none" cap="none" strike="noStrike">
              <a:solidFill>
                <a:schemeClr val="dk1"/>
              </a:solidFill>
              <a:latin typeface="Helvetica Neue"/>
              <a:ea typeface="Helvetica Neue"/>
              <a:cs typeface="Helvetica Neue"/>
              <a:sym typeface="Helvetica Neue"/>
            </a:endParaRPr>
          </a:p>
        </p:txBody>
      </p:sp>
      <p:sp>
        <p:nvSpPr>
          <p:cNvPr id="643" name="Google Shape;643;p13"/>
          <p:cNvSpPr/>
          <p:nvPr/>
        </p:nvSpPr>
        <p:spPr>
          <a:xfrm>
            <a:off x="6735299" y="303045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Práctico, busca funcionalidad. Reflexivo sobre su bienestar, intenta organizarse pero a veces prioriza el “por si acaso”. Disciplinado pero afectado por las exigencias del entorno. </a:t>
            </a:r>
            <a:endParaRPr b="0" i="0" sz="1500" u="none" cap="none" strike="noStrike">
              <a:solidFill>
                <a:schemeClr val="dk1"/>
              </a:solidFill>
              <a:latin typeface="Helvetica Neue"/>
              <a:ea typeface="Helvetica Neue"/>
              <a:cs typeface="Helvetica Neue"/>
              <a:sym typeface="Helvetica Neue"/>
            </a:endParaRPr>
          </a:p>
        </p:txBody>
      </p:sp>
      <p:grpSp>
        <p:nvGrpSpPr>
          <p:cNvPr id="644" name="Google Shape;644;p13"/>
          <p:cNvGrpSpPr/>
          <p:nvPr/>
        </p:nvGrpSpPr>
        <p:grpSpPr>
          <a:xfrm>
            <a:off x="1212905" y="8677287"/>
            <a:ext cx="10578927" cy="621000"/>
            <a:chOff x="0" y="0"/>
            <a:chExt cx="10578927" cy="621000"/>
          </a:xfrm>
        </p:grpSpPr>
        <p:cxnSp>
          <p:nvCxnSpPr>
            <p:cNvPr id="645" name="Google Shape;645;p13"/>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646" name="Google Shape;646;p13"/>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47" name="Google Shape;647;p13"/>
            <p:cNvSpPr/>
            <p:nvPr/>
          </p:nvSpPr>
          <p:spPr>
            <a:xfrm>
              <a:off x="2489481" y="0"/>
              <a:ext cx="621000" cy="621000"/>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48" name="Google Shape;648;p13"/>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49" name="Google Shape;649;p13"/>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50" name="Google Shape;650;p13"/>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651" name="Google Shape;651;p13"/>
          <p:cNvSpPr txBox="1"/>
          <p:nvPr/>
        </p:nvSpPr>
        <p:spPr>
          <a:xfrm>
            <a:off x="4971200" y="314625"/>
            <a:ext cx="7588500" cy="7695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Helvetica Neue"/>
                <a:ea typeface="Helvetica Neue"/>
                <a:cs typeface="Helvetica Neue"/>
                <a:sym typeface="Helvetica Neue"/>
              </a:rPr>
              <a:t>Pegar fotos de trabajo en clases</a:t>
            </a:r>
            <a:endParaRPr b="0" i="0" sz="3800" u="none" cap="none" strike="noStrike">
              <a:solidFill>
                <a:schemeClr val="lt1"/>
              </a:solidFill>
              <a:latin typeface="Helvetica Neue"/>
              <a:ea typeface="Helvetica Neue"/>
              <a:cs typeface="Helvetica Neue"/>
              <a:sym typeface="Helvetica Neue"/>
            </a:endParaRPr>
          </a:p>
        </p:txBody>
      </p:sp>
      <p:sp>
        <p:nvSpPr>
          <p:cNvPr id="652" name="Google Shape;652;p13"/>
          <p:cNvSpPr txBox="1"/>
          <p:nvPr/>
        </p:nvSpPr>
        <p:spPr>
          <a:xfrm>
            <a:off x="2102025" y="7590575"/>
            <a:ext cx="30000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t>
            </a:r>
            <a:r>
              <a:rPr lang="en-US"/>
              <a:t>pero hay días que cargo como 10 kilos entre las dos."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g366035f45a8_0_0"/>
          <p:cNvSpPr/>
          <p:nvPr/>
        </p:nvSpPr>
        <p:spPr>
          <a:xfrm>
            <a:off x="3565800" y="739875"/>
            <a:ext cx="1404900" cy="1223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658" name="Google Shape;658;g366035f45a8_0_0"/>
          <p:cNvSpPr txBox="1"/>
          <p:nvPr/>
        </p:nvSpPr>
        <p:spPr>
          <a:xfrm>
            <a:off x="4254300" y="939375"/>
            <a:ext cx="6565200" cy="1024200"/>
          </a:xfrm>
          <a:prstGeom prst="rect">
            <a:avLst/>
          </a:prstGeom>
          <a:noFill/>
          <a:ln>
            <a:noFill/>
          </a:ln>
        </p:spPr>
        <p:txBody>
          <a:bodyPr anchorCtr="0" anchor="ctr" bIns="54175" lIns="108350" spcFirstLastPara="1" rIns="108350" wrap="square" tIns="54175">
            <a:noAutofit/>
          </a:bodyPr>
          <a:lstStyle/>
          <a:p>
            <a:pPr indent="0" lvl="0" marL="0" marR="0" rtl="0" algn="l">
              <a:lnSpc>
                <a:spcPct val="100000"/>
              </a:lnSpc>
              <a:spcBef>
                <a:spcPts val="0"/>
              </a:spcBef>
              <a:spcAft>
                <a:spcPts val="0"/>
              </a:spcAft>
              <a:buClr>
                <a:srgbClr val="72B843"/>
              </a:buClr>
              <a:buSzPts val="3600"/>
              <a:buFont typeface="Calibri"/>
              <a:buNone/>
            </a:pPr>
            <a:r>
              <a:rPr b="0" i="0" lang="en-US" sz="3600" u="none" cap="none" strike="noStrike">
                <a:solidFill>
                  <a:srgbClr val="72B843"/>
                </a:solidFill>
                <a:latin typeface="Helvetica Neue"/>
                <a:ea typeface="Helvetica Neue"/>
                <a:cs typeface="Helvetica Neue"/>
                <a:sym typeface="Helvetica Neue"/>
              </a:rPr>
              <a:t>  PERFIL PERSONA</a:t>
            </a:r>
            <a:endParaRPr b="0" i="0" sz="1700" u="none" cap="none" strike="noStrike">
              <a:solidFill>
                <a:srgbClr val="000000"/>
              </a:solidFill>
              <a:latin typeface="Helvetica Neue"/>
              <a:ea typeface="Helvetica Neue"/>
              <a:cs typeface="Helvetica Neue"/>
              <a:sym typeface="Helvetica Neue"/>
            </a:endParaRPr>
          </a:p>
        </p:txBody>
      </p:sp>
      <p:pic>
        <p:nvPicPr>
          <p:cNvPr descr="EA11.png" id="659" name="Google Shape;659;g366035f45a8_0_0"/>
          <p:cNvPicPr preferRelativeResize="0"/>
          <p:nvPr/>
        </p:nvPicPr>
        <p:blipFill rotWithShape="1">
          <a:blip r:embed="rId4">
            <a:alphaModFix/>
          </a:blip>
          <a:srcRect b="0" l="0" r="0" t="0"/>
          <a:stretch/>
        </p:blipFill>
        <p:spPr>
          <a:xfrm>
            <a:off x="584305" y="141055"/>
            <a:ext cx="2981494" cy="812331"/>
          </a:xfrm>
          <a:prstGeom prst="rect">
            <a:avLst/>
          </a:prstGeom>
          <a:noFill/>
          <a:ln>
            <a:noFill/>
          </a:ln>
        </p:spPr>
      </p:pic>
      <p:sp>
        <p:nvSpPr>
          <p:cNvPr id="660" name="Google Shape;660;g366035f45a8_0_0"/>
          <p:cNvSpPr txBox="1"/>
          <p:nvPr/>
        </p:nvSpPr>
        <p:spPr>
          <a:xfrm>
            <a:off x="2102025" y="2063950"/>
            <a:ext cx="2981400" cy="885300"/>
          </a:xfrm>
          <a:prstGeom prst="rect">
            <a:avLst/>
          </a:prstGeom>
          <a:noFill/>
          <a:ln>
            <a:noFill/>
          </a:ln>
        </p:spPr>
        <p:txBody>
          <a:bodyPr anchorCtr="0" anchor="t" bIns="0" lIns="0" spcFirstLastPara="1" rIns="0" wrap="square" tIns="77475">
            <a:noAutofit/>
          </a:bodyPr>
          <a:lstStyle/>
          <a:p>
            <a:pPr indent="-120650" lvl="0" marL="101600" marR="0" rtl="0" algn="l">
              <a:lnSpc>
                <a:spcPct val="100000"/>
              </a:lnSpc>
              <a:spcBef>
                <a:spcPts val="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Nombre: </a:t>
            </a:r>
            <a:r>
              <a:rPr lang="en-US" sz="1900">
                <a:solidFill>
                  <a:schemeClr val="dk1"/>
                </a:solidFill>
                <a:latin typeface="Helvetica Neue"/>
                <a:ea typeface="Helvetica Neue"/>
                <a:cs typeface="Helvetica Neue"/>
                <a:sym typeface="Helvetica Neue"/>
              </a:rPr>
              <a:t>Laura Salgado</a:t>
            </a:r>
            <a:endParaRPr b="0" i="0" sz="1900" u="none" cap="none" strike="noStrike">
              <a:solidFill>
                <a:schemeClr val="dk1"/>
              </a:solidFill>
              <a:latin typeface="Helvetica Neue"/>
              <a:ea typeface="Helvetica Neue"/>
              <a:cs typeface="Helvetica Neue"/>
              <a:sym typeface="Helvetica Neue"/>
            </a:endParaRPr>
          </a:p>
          <a:p>
            <a:pPr indent="-120650" lvl="0" marL="101600" marR="0" rtl="0" algn="l">
              <a:lnSpc>
                <a:spcPct val="100000"/>
              </a:lnSpc>
              <a:spcBef>
                <a:spcPts val="50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Descripción General:</a:t>
            </a:r>
            <a:endParaRPr b="0" i="0" sz="1900" u="none" cap="none" strike="noStrike">
              <a:solidFill>
                <a:schemeClr val="dk1"/>
              </a:solidFill>
              <a:latin typeface="Helvetica Neue"/>
              <a:ea typeface="Helvetica Neue"/>
              <a:cs typeface="Helvetica Neue"/>
              <a:sym typeface="Helvetica Neue"/>
            </a:endParaRPr>
          </a:p>
        </p:txBody>
      </p:sp>
      <p:sp>
        <p:nvSpPr>
          <p:cNvPr id="661" name="Google Shape;661;g366035f45a8_0_0"/>
          <p:cNvSpPr txBox="1"/>
          <p:nvPr/>
        </p:nvSpPr>
        <p:spPr>
          <a:xfrm>
            <a:off x="6735300" y="2534125"/>
            <a:ext cx="1988100" cy="481800"/>
          </a:xfrm>
          <a:prstGeom prst="rect">
            <a:avLst/>
          </a:prstGeom>
          <a:noFill/>
          <a:ln>
            <a:noFill/>
          </a:ln>
        </p:spPr>
        <p:txBody>
          <a:bodyPr anchorCtr="0" anchor="t" bIns="54175" lIns="108350" spcFirstLastPara="1" rIns="108350" wrap="square" tIns="5417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3. Actitudes:</a:t>
            </a:r>
            <a:endParaRPr b="0" i="0" sz="1900" u="none" cap="none" strike="noStrike">
              <a:solidFill>
                <a:schemeClr val="dk1"/>
              </a:solidFill>
              <a:latin typeface="Helvetica Neue"/>
              <a:ea typeface="Helvetica Neue"/>
              <a:cs typeface="Helvetica Neue"/>
              <a:sym typeface="Helvetica Neue"/>
            </a:endParaRPr>
          </a:p>
        </p:txBody>
      </p:sp>
      <p:sp>
        <p:nvSpPr>
          <p:cNvPr id="662" name="Google Shape;662;g366035f45a8_0_0"/>
          <p:cNvSpPr txBox="1"/>
          <p:nvPr/>
        </p:nvSpPr>
        <p:spPr>
          <a:xfrm>
            <a:off x="2075052" y="4957867"/>
            <a:ext cx="16032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4. Anhelos:</a:t>
            </a:r>
            <a:endParaRPr b="0" i="0" sz="1900" u="none" cap="none" strike="noStrike">
              <a:solidFill>
                <a:schemeClr val="dk1"/>
              </a:solidFill>
              <a:latin typeface="Helvetica Neue"/>
              <a:ea typeface="Helvetica Neue"/>
              <a:cs typeface="Helvetica Neue"/>
              <a:sym typeface="Helvetica Neue"/>
            </a:endParaRPr>
          </a:p>
        </p:txBody>
      </p:sp>
      <p:sp>
        <p:nvSpPr>
          <p:cNvPr id="663" name="Google Shape;663;g366035f45a8_0_0"/>
          <p:cNvSpPr txBox="1"/>
          <p:nvPr/>
        </p:nvSpPr>
        <p:spPr>
          <a:xfrm>
            <a:off x="6735299" y="4943088"/>
            <a:ext cx="14049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5. Dolores:</a:t>
            </a:r>
            <a:endParaRPr b="0" i="0" sz="1900" u="none" cap="none" strike="noStrike">
              <a:solidFill>
                <a:schemeClr val="dk1"/>
              </a:solidFill>
              <a:latin typeface="Helvetica Neue"/>
              <a:ea typeface="Helvetica Neue"/>
              <a:cs typeface="Helvetica Neue"/>
              <a:sym typeface="Helvetica Neue"/>
            </a:endParaRPr>
          </a:p>
        </p:txBody>
      </p:sp>
      <p:sp>
        <p:nvSpPr>
          <p:cNvPr id="664" name="Google Shape;664;g366035f45a8_0_0"/>
          <p:cNvSpPr txBox="1"/>
          <p:nvPr/>
        </p:nvSpPr>
        <p:spPr>
          <a:xfrm>
            <a:off x="2084801" y="7371725"/>
            <a:ext cx="8781600" cy="3681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6. Una cita que lo caracterice: </a:t>
            </a:r>
            <a:r>
              <a:rPr lang="en-US" sz="1900">
                <a:solidFill>
                  <a:schemeClr val="dk1"/>
                </a:solidFill>
                <a:latin typeface="Helvetica Neue"/>
                <a:ea typeface="Helvetica Neue"/>
                <a:cs typeface="Helvetica Neue"/>
                <a:sym typeface="Helvetica Neue"/>
              </a:rPr>
              <a:t>“</a:t>
            </a:r>
            <a:r>
              <a:rPr b="0" i="0" lang="en-US" sz="1900" u="none" cap="none" strike="noStrike">
                <a:solidFill>
                  <a:schemeClr val="dk1"/>
                </a:solidFill>
                <a:latin typeface="Helvetica Neue"/>
                <a:ea typeface="Helvetica Neue"/>
                <a:cs typeface="Helvetica Neue"/>
                <a:sym typeface="Helvetica Neue"/>
              </a:rPr>
              <a:t>Considero que mi mochila posee esas </a:t>
            </a:r>
            <a:r>
              <a:rPr lang="en-US" sz="1900">
                <a:solidFill>
                  <a:schemeClr val="dk1"/>
                </a:solidFill>
                <a:latin typeface="Helvetica Neue"/>
                <a:ea typeface="Helvetica Neue"/>
                <a:cs typeface="Helvetica Neue"/>
                <a:sym typeface="Helvetica Neue"/>
              </a:rPr>
              <a:t>características</a:t>
            </a:r>
            <a:r>
              <a:rPr b="0" i="0" lang="en-US" sz="1900" u="none" cap="none" strike="noStrike">
                <a:solidFill>
                  <a:schemeClr val="dk1"/>
                </a:solidFill>
                <a:latin typeface="Helvetica Neue"/>
                <a:ea typeface="Helvetica Neue"/>
                <a:cs typeface="Helvetica Neue"/>
                <a:sym typeface="Helvetica Neue"/>
              </a:rPr>
              <a:t>, pero podrí</a:t>
            </a:r>
            <a:r>
              <a:rPr lang="en-US" sz="1900">
                <a:solidFill>
                  <a:schemeClr val="dk1"/>
                </a:solidFill>
                <a:latin typeface="Helvetica Neue"/>
                <a:ea typeface="Helvetica Neue"/>
                <a:cs typeface="Helvetica Neue"/>
                <a:sym typeface="Helvetica Neue"/>
              </a:rPr>
              <a:t>a mejorar”</a:t>
            </a:r>
            <a:r>
              <a:rPr b="0" i="0" lang="en-US" sz="1900" u="none" cap="none" strike="noStrike">
                <a:solidFill>
                  <a:schemeClr val="dk1"/>
                </a:solidFill>
                <a:latin typeface="Helvetica Neue"/>
                <a:ea typeface="Helvetica Neue"/>
                <a:cs typeface="Helvetica Neue"/>
                <a:sym typeface="Helvetica Neue"/>
              </a:rPr>
              <a:t> </a:t>
            </a:r>
            <a:endParaRPr b="0" i="0" sz="1900" u="none" cap="none" strike="noStrike">
              <a:solidFill>
                <a:schemeClr val="dk1"/>
              </a:solidFill>
              <a:latin typeface="Helvetica Neue"/>
              <a:ea typeface="Helvetica Neue"/>
              <a:cs typeface="Helvetica Neue"/>
              <a:sym typeface="Helvetica Neue"/>
            </a:endParaRPr>
          </a:p>
        </p:txBody>
      </p:sp>
      <p:sp>
        <p:nvSpPr>
          <p:cNvPr id="665" name="Google Shape;665;g366035f45a8_0_0"/>
          <p:cNvSpPr/>
          <p:nvPr/>
        </p:nvSpPr>
        <p:spPr>
          <a:xfrm flipH="1" rot="10800000">
            <a:off x="2084802" y="8163683"/>
            <a:ext cx="8781494" cy="89700"/>
          </a:xfrm>
          <a:custGeom>
            <a:rect b="b" l="l" r="r" t="t"/>
            <a:pathLst>
              <a:path extrusionOk="0" h="120000" w="5540375">
                <a:moveTo>
                  <a:pt x="0" y="0"/>
                </a:moveTo>
                <a:lnTo>
                  <a:pt x="5539896" y="0"/>
                </a:lnTo>
              </a:path>
            </a:pathLst>
          </a:custGeom>
          <a:noFill/>
          <a:ln cap="flat" cmpd="sng" w="357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666" name="Google Shape;666;g366035f45a8_0_0"/>
          <p:cNvSpPr/>
          <p:nvPr/>
        </p:nvSpPr>
        <p:spPr>
          <a:xfrm>
            <a:off x="2027024"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Anhela una mochila más óptima y bonita, que facilite la organización y distribución del peso, además de un entendimiento mejor de que priorizar.  </a:t>
            </a:r>
            <a:endParaRPr b="0" i="0" sz="1500" u="none" cap="none" strike="noStrike">
              <a:solidFill>
                <a:schemeClr val="dk1"/>
              </a:solidFill>
              <a:latin typeface="Helvetica Neue"/>
              <a:ea typeface="Helvetica Neue"/>
              <a:cs typeface="Helvetica Neue"/>
              <a:sym typeface="Helvetica Neue"/>
            </a:endParaRPr>
          </a:p>
        </p:txBody>
      </p:sp>
      <p:sp>
        <p:nvSpPr>
          <p:cNvPr id="667" name="Google Shape;667;g366035f45a8_0_0"/>
          <p:cNvSpPr/>
          <p:nvPr/>
        </p:nvSpPr>
        <p:spPr>
          <a:xfrm>
            <a:off x="2102037" y="304962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700">
                <a:solidFill>
                  <a:schemeClr val="dk1"/>
                </a:solidFill>
                <a:latin typeface="Helvetica Neue"/>
                <a:ea typeface="Helvetica Neue"/>
                <a:cs typeface="Helvetica Neue"/>
                <a:sym typeface="Helvetica Neue"/>
              </a:rPr>
              <a:t>Estudiante universitaria con una mochila impráctica y desorganizada. Jornada académica extensa, peso mal distribuido y propensa a dolores de espalda.</a:t>
            </a:r>
            <a:endParaRPr sz="1700">
              <a:solidFill>
                <a:schemeClr val="dk1"/>
              </a:solidFill>
              <a:latin typeface="Helvetica Neue"/>
              <a:ea typeface="Helvetica Neue"/>
              <a:cs typeface="Helvetica Neue"/>
              <a:sym typeface="Helvetica Neue"/>
            </a:endParaRPr>
          </a:p>
        </p:txBody>
      </p:sp>
      <p:sp>
        <p:nvSpPr>
          <p:cNvPr id="668" name="Google Shape;668;g366035f45a8_0_0"/>
          <p:cNvSpPr/>
          <p:nvPr/>
        </p:nvSpPr>
        <p:spPr>
          <a:xfrm>
            <a:off x="6735299"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 Dolor </a:t>
            </a:r>
            <a:r>
              <a:rPr lang="en-US" sz="1500">
                <a:solidFill>
                  <a:schemeClr val="dk1"/>
                </a:solidFill>
                <a:latin typeface="Helvetica Neue"/>
                <a:ea typeface="Helvetica Neue"/>
                <a:cs typeface="Helvetica Neue"/>
                <a:sym typeface="Helvetica Neue"/>
              </a:rPr>
              <a:t>físico (espalda)</a:t>
            </a:r>
            <a:r>
              <a:rPr lang="en-US" sz="1500">
                <a:solidFill>
                  <a:schemeClr val="dk1"/>
                </a:solidFill>
                <a:latin typeface="Helvetica Neue"/>
                <a:ea typeface="Helvetica Neue"/>
                <a:cs typeface="Helvetica Neue"/>
                <a:sym typeface="Helvetica Neue"/>
              </a:rPr>
              <a:t>, cansada de lo poco </a:t>
            </a:r>
            <a:r>
              <a:rPr lang="en-US" sz="1500">
                <a:solidFill>
                  <a:schemeClr val="dk1"/>
                </a:solidFill>
                <a:latin typeface="Helvetica Neue"/>
                <a:ea typeface="Helvetica Neue"/>
                <a:cs typeface="Helvetica Neue"/>
                <a:sym typeface="Helvetica Neue"/>
              </a:rPr>
              <a:t>práctica</a:t>
            </a:r>
            <a:r>
              <a:rPr lang="en-US" sz="1500">
                <a:solidFill>
                  <a:schemeClr val="dk1"/>
                </a:solidFill>
                <a:latin typeface="Helvetica Neue"/>
                <a:ea typeface="Helvetica Neue"/>
                <a:cs typeface="Helvetica Neue"/>
                <a:sym typeface="Helvetica Neue"/>
              </a:rPr>
              <a:t> que es su mochila y la falta de bolsillos. Miedo constante a que su botella de agua se derrame.</a:t>
            </a:r>
            <a:endParaRPr b="0" i="0" sz="1500" u="none" cap="none" strike="noStrike">
              <a:solidFill>
                <a:schemeClr val="dk1"/>
              </a:solidFill>
              <a:latin typeface="Helvetica Neue"/>
              <a:ea typeface="Helvetica Neue"/>
              <a:cs typeface="Helvetica Neue"/>
              <a:sym typeface="Helvetica Neue"/>
            </a:endParaRPr>
          </a:p>
        </p:txBody>
      </p:sp>
      <p:sp>
        <p:nvSpPr>
          <p:cNvPr id="669" name="Google Shape;669;g366035f45a8_0_0"/>
          <p:cNvSpPr/>
          <p:nvPr/>
        </p:nvSpPr>
        <p:spPr>
          <a:xfrm>
            <a:off x="6735299" y="303045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Busca tanto </a:t>
            </a:r>
            <a:r>
              <a:rPr lang="en-US" sz="1500">
                <a:solidFill>
                  <a:schemeClr val="dk1"/>
                </a:solidFill>
                <a:latin typeface="Helvetica Neue"/>
                <a:ea typeface="Helvetica Neue"/>
                <a:cs typeface="Helvetica Neue"/>
                <a:sym typeface="Helvetica Neue"/>
              </a:rPr>
              <a:t>estética</a:t>
            </a:r>
            <a:r>
              <a:rPr lang="en-US" sz="1500">
                <a:solidFill>
                  <a:schemeClr val="dk1"/>
                </a:solidFill>
                <a:latin typeface="Helvetica Neue"/>
                <a:ea typeface="Helvetica Neue"/>
                <a:cs typeface="Helvetica Neue"/>
                <a:sym typeface="Helvetica Neue"/>
              </a:rPr>
              <a:t> como funcionalidad, es </a:t>
            </a:r>
            <a:r>
              <a:rPr lang="en-US" sz="1500">
                <a:solidFill>
                  <a:schemeClr val="dk1"/>
                </a:solidFill>
                <a:latin typeface="Helvetica Neue"/>
                <a:ea typeface="Helvetica Neue"/>
                <a:cs typeface="Helvetica Neue"/>
                <a:sym typeface="Helvetica Neue"/>
              </a:rPr>
              <a:t>práctica</a:t>
            </a:r>
            <a:r>
              <a:rPr lang="en-US" sz="1500">
                <a:solidFill>
                  <a:schemeClr val="dk1"/>
                </a:solidFill>
                <a:latin typeface="Helvetica Neue"/>
                <a:ea typeface="Helvetica Neue"/>
                <a:cs typeface="Helvetica Neue"/>
                <a:sym typeface="Helvetica Neue"/>
              </a:rPr>
              <a:t> y </a:t>
            </a:r>
            <a:r>
              <a:rPr lang="en-US" sz="1500">
                <a:solidFill>
                  <a:schemeClr val="dk1"/>
                </a:solidFill>
                <a:latin typeface="Helvetica Neue"/>
                <a:ea typeface="Helvetica Neue"/>
                <a:cs typeface="Helvetica Neue"/>
                <a:sym typeface="Helvetica Neue"/>
              </a:rPr>
              <a:t>está</a:t>
            </a:r>
            <a:r>
              <a:rPr lang="en-US" sz="1500">
                <a:solidFill>
                  <a:schemeClr val="dk1"/>
                </a:solidFill>
                <a:latin typeface="Helvetica Neue"/>
                <a:ea typeface="Helvetica Neue"/>
                <a:cs typeface="Helvetica Neue"/>
                <a:sym typeface="Helvetica Neue"/>
              </a:rPr>
              <a:t> dispuesta a encontrar una mejoría de organización tanto física </a:t>
            </a:r>
            <a:r>
              <a:rPr lang="en-US" sz="1500">
                <a:solidFill>
                  <a:schemeClr val="dk1"/>
                </a:solidFill>
                <a:latin typeface="Helvetica Neue"/>
                <a:ea typeface="Helvetica Neue"/>
                <a:cs typeface="Helvetica Neue"/>
                <a:sym typeface="Helvetica Neue"/>
              </a:rPr>
              <a:t>como personal. </a:t>
            </a:r>
            <a:r>
              <a:rPr lang="en-US" sz="1500">
                <a:solidFill>
                  <a:schemeClr val="dk1"/>
                </a:solidFill>
                <a:latin typeface="Helvetica Neue"/>
                <a:ea typeface="Helvetica Neue"/>
                <a:cs typeface="Helvetica Neue"/>
                <a:sym typeface="Helvetica Neue"/>
              </a:rPr>
              <a:t> </a:t>
            </a:r>
            <a:endParaRPr b="0" i="0" sz="1500" u="none" cap="none" strike="noStrike">
              <a:solidFill>
                <a:schemeClr val="dk1"/>
              </a:solidFill>
              <a:latin typeface="Helvetica Neue"/>
              <a:ea typeface="Helvetica Neue"/>
              <a:cs typeface="Helvetica Neue"/>
              <a:sym typeface="Helvetica Neue"/>
            </a:endParaRPr>
          </a:p>
        </p:txBody>
      </p:sp>
      <p:grpSp>
        <p:nvGrpSpPr>
          <p:cNvPr id="670" name="Google Shape;670;g366035f45a8_0_0"/>
          <p:cNvGrpSpPr/>
          <p:nvPr/>
        </p:nvGrpSpPr>
        <p:grpSpPr>
          <a:xfrm>
            <a:off x="1212905" y="8677287"/>
            <a:ext cx="10578927" cy="621000"/>
            <a:chOff x="0" y="0"/>
            <a:chExt cx="10578927" cy="621000"/>
          </a:xfrm>
        </p:grpSpPr>
        <p:cxnSp>
          <p:nvCxnSpPr>
            <p:cNvPr id="671" name="Google Shape;671;g366035f45a8_0_0"/>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672" name="Google Shape;672;g366035f45a8_0_0"/>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73" name="Google Shape;673;g366035f45a8_0_0"/>
            <p:cNvSpPr/>
            <p:nvPr/>
          </p:nvSpPr>
          <p:spPr>
            <a:xfrm>
              <a:off x="2489481" y="0"/>
              <a:ext cx="621000" cy="621000"/>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74" name="Google Shape;674;g366035f45a8_0_0"/>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75" name="Google Shape;675;g366035f45a8_0_0"/>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76" name="Google Shape;676;g366035f45a8_0_0"/>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677" name="Google Shape;677;g366035f45a8_0_0"/>
          <p:cNvSpPr txBox="1"/>
          <p:nvPr/>
        </p:nvSpPr>
        <p:spPr>
          <a:xfrm>
            <a:off x="4971200" y="314625"/>
            <a:ext cx="7588500" cy="7695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Helvetica Neue"/>
                <a:ea typeface="Helvetica Neue"/>
                <a:cs typeface="Helvetica Neue"/>
                <a:sym typeface="Helvetica Neue"/>
              </a:rPr>
              <a:t>Pegar fotos de trabajo en clases</a:t>
            </a:r>
            <a:endParaRPr b="0" i="0" sz="3800" u="none" cap="none" strike="noStrike">
              <a:solidFill>
                <a:schemeClr val="lt1"/>
              </a:solidFill>
              <a:latin typeface="Helvetica Neue"/>
              <a:ea typeface="Helvetica Neue"/>
              <a:cs typeface="Helvetica Neue"/>
              <a:sym typeface="Helvetica Neue"/>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g36710b16073_1_0"/>
          <p:cNvSpPr/>
          <p:nvPr/>
        </p:nvSpPr>
        <p:spPr>
          <a:xfrm>
            <a:off x="3565800" y="739875"/>
            <a:ext cx="1404900" cy="1223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683" name="Google Shape;683;g36710b16073_1_0"/>
          <p:cNvSpPr txBox="1"/>
          <p:nvPr/>
        </p:nvSpPr>
        <p:spPr>
          <a:xfrm>
            <a:off x="4254300" y="939375"/>
            <a:ext cx="6565200" cy="1024200"/>
          </a:xfrm>
          <a:prstGeom prst="rect">
            <a:avLst/>
          </a:prstGeom>
          <a:noFill/>
          <a:ln>
            <a:noFill/>
          </a:ln>
        </p:spPr>
        <p:txBody>
          <a:bodyPr anchorCtr="0" anchor="ctr" bIns="54175" lIns="108350" spcFirstLastPara="1" rIns="108350" wrap="square" tIns="54175">
            <a:noAutofit/>
          </a:bodyPr>
          <a:lstStyle/>
          <a:p>
            <a:pPr indent="0" lvl="0" marL="0" marR="0" rtl="0" algn="l">
              <a:lnSpc>
                <a:spcPct val="100000"/>
              </a:lnSpc>
              <a:spcBef>
                <a:spcPts val="0"/>
              </a:spcBef>
              <a:spcAft>
                <a:spcPts val="0"/>
              </a:spcAft>
              <a:buClr>
                <a:srgbClr val="72B843"/>
              </a:buClr>
              <a:buSzPts val="3600"/>
              <a:buFont typeface="Calibri"/>
              <a:buNone/>
            </a:pPr>
            <a:r>
              <a:rPr b="0" i="0" lang="en-US" sz="3600" u="none" cap="none" strike="noStrike">
                <a:solidFill>
                  <a:srgbClr val="72B843"/>
                </a:solidFill>
                <a:latin typeface="Helvetica Neue"/>
                <a:ea typeface="Helvetica Neue"/>
                <a:cs typeface="Helvetica Neue"/>
                <a:sym typeface="Helvetica Neue"/>
              </a:rPr>
              <a:t>  PERFIL PERSONA</a:t>
            </a:r>
            <a:endParaRPr b="0" i="0" sz="1700" u="none" cap="none" strike="noStrike">
              <a:solidFill>
                <a:srgbClr val="000000"/>
              </a:solidFill>
              <a:latin typeface="Helvetica Neue"/>
              <a:ea typeface="Helvetica Neue"/>
              <a:cs typeface="Helvetica Neue"/>
              <a:sym typeface="Helvetica Neue"/>
            </a:endParaRPr>
          </a:p>
        </p:txBody>
      </p:sp>
      <p:pic>
        <p:nvPicPr>
          <p:cNvPr descr="EA11.png" id="684" name="Google Shape;684;g36710b16073_1_0"/>
          <p:cNvPicPr preferRelativeResize="0"/>
          <p:nvPr/>
        </p:nvPicPr>
        <p:blipFill rotWithShape="1">
          <a:blip r:embed="rId4">
            <a:alphaModFix/>
          </a:blip>
          <a:srcRect b="0" l="0" r="0" t="0"/>
          <a:stretch/>
        </p:blipFill>
        <p:spPr>
          <a:xfrm>
            <a:off x="584305" y="141055"/>
            <a:ext cx="2981494" cy="812331"/>
          </a:xfrm>
          <a:prstGeom prst="rect">
            <a:avLst/>
          </a:prstGeom>
          <a:noFill/>
          <a:ln>
            <a:noFill/>
          </a:ln>
        </p:spPr>
      </p:pic>
      <p:sp>
        <p:nvSpPr>
          <p:cNvPr id="685" name="Google Shape;685;g36710b16073_1_0"/>
          <p:cNvSpPr txBox="1"/>
          <p:nvPr/>
        </p:nvSpPr>
        <p:spPr>
          <a:xfrm>
            <a:off x="2027025" y="2164325"/>
            <a:ext cx="2981400" cy="885300"/>
          </a:xfrm>
          <a:prstGeom prst="rect">
            <a:avLst/>
          </a:prstGeom>
          <a:noFill/>
          <a:ln>
            <a:noFill/>
          </a:ln>
        </p:spPr>
        <p:txBody>
          <a:bodyPr anchorCtr="0" anchor="t" bIns="0" lIns="0" spcFirstLastPara="1" rIns="0" wrap="square" tIns="77475">
            <a:noAutofit/>
          </a:bodyPr>
          <a:lstStyle/>
          <a:p>
            <a:pPr indent="-120650" lvl="0" marL="101600" marR="0" rtl="0" algn="l">
              <a:lnSpc>
                <a:spcPct val="100000"/>
              </a:lnSpc>
              <a:spcBef>
                <a:spcPts val="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Nombre: </a:t>
            </a:r>
            <a:r>
              <a:rPr lang="en-US" sz="1900">
                <a:solidFill>
                  <a:schemeClr val="dk1"/>
                </a:solidFill>
                <a:latin typeface="Helvetica Neue"/>
                <a:ea typeface="Helvetica Neue"/>
                <a:cs typeface="Helvetica Neue"/>
                <a:sym typeface="Helvetica Neue"/>
              </a:rPr>
              <a:t>Catalina Stanley</a:t>
            </a:r>
            <a:endParaRPr b="0" i="0" sz="1900" u="none" cap="none" strike="noStrike">
              <a:solidFill>
                <a:schemeClr val="dk1"/>
              </a:solidFill>
              <a:latin typeface="Helvetica Neue"/>
              <a:ea typeface="Helvetica Neue"/>
              <a:cs typeface="Helvetica Neue"/>
              <a:sym typeface="Helvetica Neue"/>
            </a:endParaRPr>
          </a:p>
          <a:p>
            <a:pPr indent="-120650" lvl="0" marL="101600" marR="0" rtl="0" algn="l">
              <a:lnSpc>
                <a:spcPct val="100000"/>
              </a:lnSpc>
              <a:spcBef>
                <a:spcPts val="50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Descripción General:</a:t>
            </a:r>
            <a:r>
              <a:rPr lang="en-US" sz="1900">
                <a:solidFill>
                  <a:schemeClr val="dk1"/>
                </a:solidFill>
                <a:latin typeface="Helvetica Neue"/>
                <a:ea typeface="Helvetica Neue"/>
                <a:cs typeface="Helvetica Neue"/>
                <a:sym typeface="Helvetica Neue"/>
              </a:rPr>
              <a:t> </a:t>
            </a:r>
            <a:endParaRPr b="0" i="0" sz="1900" u="none" cap="none" strike="noStrike">
              <a:solidFill>
                <a:schemeClr val="dk1"/>
              </a:solidFill>
              <a:latin typeface="Helvetica Neue"/>
              <a:ea typeface="Helvetica Neue"/>
              <a:cs typeface="Helvetica Neue"/>
              <a:sym typeface="Helvetica Neue"/>
            </a:endParaRPr>
          </a:p>
        </p:txBody>
      </p:sp>
      <p:sp>
        <p:nvSpPr>
          <p:cNvPr id="686" name="Google Shape;686;g36710b16073_1_0"/>
          <p:cNvSpPr txBox="1"/>
          <p:nvPr/>
        </p:nvSpPr>
        <p:spPr>
          <a:xfrm>
            <a:off x="6735300" y="2534125"/>
            <a:ext cx="1988100" cy="481800"/>
          </a:xfrm>
          <a:prstGeom prst="rect">
            <a:avLst/>
          </a:prstGeom>
          <a:noFill/>
          <a:ln>
            <a:noFill/>
          </a:ln>
        </p:spPr>
        <p:txBody>
          <a:bodyPr anchorCtr="0" anchor="t" bIns="54175" lIns="108350" spcFirstLastPara="1" rIns="108350" wrap="square" tIns="5417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3. Actitudes:</a:t>
            </a:r>
            <a:endParaRPr b="0" i="0" sz="1900" u="none" cap="none" strike="noStrike">
              <a:solidFill>
                <a:schemeClr val="dk1"/>
              </a:solidFill>
              <a:latin typeface="Helvetica Neue"/>
              <a:ea typeface="Helvetica Neue"/>
              <a:cs typeface="Helvetica Neue"/>
              <a:sym typeface="Helvetica Neue"/>
            </a:endParaRPr>
          </a:p>
        </p:txBody>
      </p:sp>
      <p:sp>
        <p:nvSpPr>
          <p:cNvPr id="687" name="Google Shape;687;g36710b16073_1_0"/>
          <p:cNvSpPr txBox="1"/>
          <p:nvPr/>
        </p:nvSpPr>
        <p:spPr>
          <a:xfrm>
            <a:off x="2075052" y="4957867"/>
            <a:ext cx="16032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4. Anhelos:</a:t>
            </a:r>
            <a:endParaRPr b="0" i="0" sz="1900" u="none" cap="none" strike="noStrike">
              <a:solidFill>
                <a:schemeClr val="dk1"/>
              </a:solidFill>
              <a:latin typeface="Helvetica Neue"/>
              <a:ea typeface="Helvetica Neue"/>
              <a:cs typeface="Helvetica Neue"/>
              <a:sym typeface="Helvetica Neue"/>
            </a:endParaRPr>
          </a:p>
        </p:txBody>
      </p:sp>
      <p:sp>
        <p:nvSpPr>
          <p:cNvPr id="688" name="Google Shape;688;g36710b16073_1_0"/>
          <p:cNvSpPr txBox="1"/>
          <p:nvPr/>
        </p:nvSpPr>
        <p:spPr>
          <a:xfrm>
            <a:off x="6735299" y="4943088"/>
            <a:ext cx="14049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5. Dolores:</a:t>
            </a:r>
            <a:endParaRPr b="0" i="0" sz="1900" u="none" cap="none" strike="noStrike">
              <a:solidFill>
                <a:schemeClr val="dk1"/>
              </a:solidFill>
              <a:latin typeface="Helvetica Neue"/>
              <a:ea typeface="Helvetica Neue"/>
              <a:cs typeface="Helvetica Neue"/>
              <a:sym typeface="Helvetica Neue"/>
            </a:endParaRPr>
          </a:p>
        </p:txBody>
      </p:sp>
      <p:sp>
        <p:nvSpPr>
          <p:cNvPr id="689" name="Google Shape;689;g36710b16073_1_0"/>
          <p:cNvSpPr txBox="1"/>
          <p:nvPr/>
        </p:nvSpPr>
        <p:spPr>
          <a:xfrm>
            <a:off x="2084751" y="7608800"/>
            <a:ext cx="8781600" cy="3681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6. Una cita que lo caracterice: Tengo que llevar demasiadas cosa</a:t>
            </a:r>
            <a:r>
              <a:rPr lang="en-US" sz="1900">
                <a:solidFill>
                  <a:schemeClr val="dk1"/>
                </a:solidFill>
                <a:latin typeface="Helvetica Neue"/>
                <a:ea typeface="Helvetica Neue"/>
                <a:cs typeface="Helvetica Neue"/>
                <a:sym typeface="Helvetica Neue"/>
              </a:rPr>
              <a:t>s a la u, y devolverlas a la casa porque sino no alcanzo a terminar mis trabajos. </a:t>
            </a:r>
            <a:endParaRPr b="0" i="0" sz="1900" u="none" cap="none" strike="noStrike">
              <a:solidFill>
                <a:schemeClr val="dk1"/>
              </a:solidFill>
              <a:latin typeface="Helvetica Neue"/>
              <a:ea typeface="Helvetica Neue"/>
              <a:cs typeface="Helvetica Neue"/>
              <a:sym typeface="Helvetica Neue"/>
            </a:endParaRPr>
          </a:p>
        </p:txBody>
      </p:sp>
      <p:sp>
        <p:nvSpPr>
          <p:cNvPr id="690" name="Google Shape;690;g36710b16073_1_0"/>
          <p:cNvSpPr/>
          <p:nvPr/>
        </p:nvSpPr>
        <p:spPr>
          <a:xfrm flipH="1" rot="10800000">
            <a:off x="2084802" y="8163683"/>
            <a:ext cx="8781494" cy="89700"/>
          </a:xfrm>
          <a:custGeom>
            <a:rect b="b" l="l" r="r" t="t"/>
            <a:pathLst>
              <a:path extrusionOk="0" h="120000" w="5540375">
                <a:moveTo>
                  <a:pt x="0" y="0"/>
                </a:moveTo>
                <a:lnTo>
                  <a:pt x="5539896" y="0"/>
                </a:lnTo>
              </a:path>
            </a:pathLst>
          </a:custGeom>
          <a:noFill/>
          <a:ln cap="flat" cmpd="sng" w="357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691" name="Google Shape;691;g36710b16073_1_0"/>
          <p:cNvSpPr/>
          <p:nvPr/>
        </p:nvSpPr>
        <p:spPr>
          <a:xfrm>
            <a:off x="2027024"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Estar más cómoda con la universidad, tener 	que llevar menos cosas a la universidad. </a:t>
            </a:r>
            <a:endParaRPr b="0" i="0" sz="1500" u="none" cap="none" strike="noStrike">
              <a:solidFill>
                <a:schemeClr val="dk1"/>
              </a:solidFill>
              <a:latin typeface="Helvetica Neue"/>
              <a:ea typeface="Helvetica Neue"/>
              <a:cs typeface="Helvetica Neue"/>
              <a:sym typeface="Helvetica Neue"/>
            </a:endParaRPr>
          </a:p>
        </p:txBody>
      </p:sp>
      <p:sp>
        <p:nvSpPr>
          <p:cNvPr id="692" name="Google Shape;692;g36710b16073_1_0"/>
          <p:cNvSpPr/>
          <p:nvPr/>
        </p:nvSpPr>
        <p:spPr>
          <a:xfrm>
            <a:off x="2102037" y="304962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Estudiante</a:t>
            </a:r>
            <a:r>
              <a:rPr lang="en-US" sz="1500">
                <a:solidFill>
                  <a:schemeClr val="dk1"/>
                </a:solidFill>
                <a:latin typeface="Helvetica Neue"/>
                <a:ea typeface="Helvetica Neue"/>
                <a:cs typeface="Helvetica Neue"/>
                <a:sym typeface="Helvetica Neue"/>
              </a:rPr>
              <a:t> de arquitectura en la UDD. Tiende a ser </a:t>
            </a:r>
            <a:r>
              <a:rPr lang="en-US" sz="1500">
                <a:solidFill>
                  <a:schemeClr val="dk1"/>
                </a:solidFill>
                <a:latin typeface="Helvetica Neue"/>
                <a:ea typeface="Helvetica Neue"/>
                <a:cs typeface="Helvetica Neue"/>
                <a:sym typeface="Helvetica Neue"/>
              </a:rPr>
              <a:t>desordenada</a:t>
            </a:r>
            <a:r>
              <a:rPr lang="en-US" sz="1500">
                <a:solidFill>
                  <a:schemeClr val="dk1"/>
                </a:solidFill>
                <a:latin typeface="Helvetica Neue"/>
                <a:ea typeface="Helvetica Neue"/>
                <a:cs typeface="Helvetica Neue"/>
                <a:sym typeface="Helvetica Neue"/>
              </a:rPr>
              <a:t> y como estudia </a:t>
            </a:r>
            <a:r>
              <a:rPr lang="en-US" sz="1500">
                <a:solidFill>
                  <a:schemeClr val="dk1"/>
                </a:solidFill>
                <a:latin typeface="Helvetica Neue"/>
                <a:ea typeface="Helvetica Neue"/>
                <a:cs typeface="Helvetica Neue"/>
                <a:sym typeface="Helvetica Neue"/>
              </a:rPr>
              <a:t>arquitectura</a:t>
            </a:r>
            <a:r>
              <a:rPr lang="en-US" sz="1500">
                <a:solidFill>
                  <a:schemeClr val="dk1"/>
                </a:solidFill>
                <a:latin typeface="Helvetica Neue"/>
                <a:ea typeface="Helvetica Neue"/>
                <a:cs typeface="Helvetica Neue"/>
                <a:sym typeface="Helvetica Neue"/>
              </a:rPr>
              <a:t> tiene que llevar demasiadas cosas y </a:t>
            </a:r>
            <a:r>
              <a:rPr lang="en-US" sz="1500">
                <a:solidFill>
                  <a:schemeClr val="dk1"/>
                </a:solidFill>
                <a:latin typeface="Helvetica Neue"/>
                <a:ea typeface="Helvetica Neue"/>
                <a:cs typeface="Helvetica Neue"/>
                <a:sym typeface="Helvetica Neue"/>
              </a:rPr>
              <a:t>materiales</a:t>
            </a:r>
            <a:r>
              <a:rPr lang="en-US" sz="1500">
                <a:solidFill>
                  <a:schemeClr val="dk1"/>
                </a:solidFill>
                <a:latin typeface="Helvetica Neue"/>
                <a:ea typeface="Helvetica Neue"/>
                <a:cs typeface="Helvetica Neue"/>
                <a:sym typeface="Helvetica Neue"/>
              </a:rPr>
              <a:t> todos los </a:t>
            </a:r>
            <a:r>
              <a:rPr lang="en-US" sz="1500">
                <a:solidFill>
                  <a:schemeClr val="dk1"/>
                </a:solidFill>
                <a:latin typeface="Helvetica Neue"/>
                <a:ea typeface="Helvetica Neue"/>
                <a:cs typeface="Helvetica Neue"/>
                <a:sym typeface="Helvetica Neue"/>
              </a:rPr>
              <a:t>días</a:t>
            </a:r>
            <a:r>
              <a:rPr lang="en-US" sz="1500">
                <a:solidFill>
                  <a:schemeClr val="dk1"/>
                </a:solidFill>
                <a:latin typeface="Helvetica Neue"/>
                <a:ea typeface="Helvetica Neue"/>
                <a:cs typeface="Helvetica Neue"/>
                <a:sym typeface="Helvetica Neue"/>
              </a:rPr>
              <a:t> de la u a su casa y de vuelta. Mala gesti</a:t>
            </a:r>
            <a:r>
              <a:rPr lang="en-US" sz="1500">
                <a:solidFill>
                  <a:schemeClr val="dk1"/>
                </a:solidFill>
                <a:latin typeface="Helvetica Neue"/>
                <a:ea typeface="Helvetica Neue"/>
                <a:cs typeface="Helvetica Neue"/>
                <a:sym typeface="Helvetica Neue"/>
              </a:rPr>
              <a:t>ón con el tiempo. </a:t>
            </a:r>
            <a:endParaRPr sz="1500">
              <a:solidFill>
                <a:schemeClr val="dk1"/>
              </a:solidFill>
              <a:latin typeface="Helvetica Neue"/>
              <a:ea typeface="Helvetica Neue"/>
              <a:cs typeface="Helvetica Neue"/>
              <a:sym typeface="Helvetica Neue"/>
            </a:endParaRPr>
          </a:p>
        </p:txBody>
      </p:sp>
      <p:sp>
        <p:nvSpPr>
          <p:cNvPr id="693" name="Google Shape;693;g36710b16073_1_0"/>
          <p:cNvSpPr/>
          <p:nvPr/>
        </p:nvSpPr>
        <p:spPr>
          <a:xfrm>
            <a:off x="6735299"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Dolor de espalda y hombro al estar todo el d</a:t>
            </a:r>
            <a:r>
              <a:rPr lang="en-US" sz="1500">
                <a:solidFill>
                  <a:schemeClr val="dk1"/>
                </a:solidFill>
                <a:latin typeface="Helvetica Neue"/>
                <a:ea typeface="Helvetica Neue"/>
                <a:cs typeface="Helvetica Neue"/>
                <a:sym typeface="Helvetica Neue"/>
              </a:rPr>
              <a:t>ía acarreando cosas y usando el bolso que le pesa más en 1 hombro que el otro. </a:t>
            </a:r>
            <a:endParaRPr b="0" i="0" sz="1500" u="none" cap="none" strike="noStrike">
              <a:solidFill>
                <a:schemeClr val="dk1"/>
              </a:solidFill>
              <a:latin typeface="Helvetica Neue"/>
              <a:ea typeface="Helvetica Neue"/>
              <a:cs typeface="Helvetica Neue"/>
              <a:sym typeface="Helvetica Neue"/>
            </a:endParaRPr>
          </a:p>
        </p:txBody>
      </p:sp>
      <p:sp>
        <p:nvSpPr>
          <p:cNvPr id="694" name="Google Shape;694;g36710b16073_1_0"/>
          <p:cNvSpPr/>
          <p:nvPr/>
        </p:nvSpPr>
        <p:spPr>
          <a:xfrm>
            <a:off x="6735299" y="303045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Es muy de esperar a último minuto para hacer las cosas. Le molestan estas cosas pero no al nivel de tener la inquietud de solucionarlo por </a:t>
            </a:r>
            <a:r>
              <a:rPr lang="en-US" sz="1500">
                <a:solidFill>
                  <a:schemeClr val="dk1"/>
                </a:solidFill>
                <a:latin typeface="Helvetica Neue"/>
                <a:ea typeface="Helvetica Neue"/>
                <a:cs typeface="Helvetica Neue"/>
                <a:sym typeface="Helvetica Neue"/>
              </a:rPr>
              <a:t>sí</a:t>
            </a:r>
            <a:r>
              <a:rPr lang="en-US" sz="1500">
                <a:solidFill>
                  <a:schemeClr val="dk1"/>
                </a:solidFill>
                <a:latin typeface="Helvetica Neue"/>
                <a:ea typeface="Helvetica Neue"/>
                <a:cs typeface="Helvetica Neue"/>
                <a:sym typeface="Helvetica Neue"/>
              </a:rPr>
              <a:t> misma. </a:t>
            </a:r>
            <a:endParaRPr b="0" i="0" sz="1500" u="none" cap="none" strike="noStrike">
              <a:solidFill>
                <a:schemeClr val="dk1"/>
              </a:solidFill>
              <a:latin typeface="Helvetica Neue"/>
              <a:ea typeface="Helvetica Neue"/>
              <a:cs typeface="Helvetica Neue"/>
              <a:sym typeface="Helvetica Neue"/>
            </a:endParaRPr>
          </a:p>
        </p:txBody>
      </p:sp>
      <p:grpSp>
        <p:nvGrpSpPr>
          <p:cNvPr id="695" name="Google Shape;695;g36710b16073_1_0"/>
          <p:cNvGrpSpPr/>
          <p:nvPr/>
        </p:nvGrpSpPr>
        <p:grpSpPr>
          <a:xfrm>
            <a:off x="1212905" y="8677287"/>
            <a:ext cx="10578927" cy="621000"/>
            <a:chOff x="0" y="0"/>
            <a:chExt cx="10578927" cy="621000"/>
          </a:xfrm>
        </p:grpSpPr>
        <p:cxnSp>
          <p:nvCxnSpPr>
            <p:cNvPr id="696" name="Google Shape;696;g36710b16073_1_0"/>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697" name="Google Shape;697;g36710b16073_1_0"/>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98" name="Google Shape;698;g36710b16073_1_0"/>
            <p:cNvSpPr/>
            <p:nvPr/>
          </p:nvSpPr>
          <p:spPr>
            <a:xfrm>
              <a:off x="2489481" y="0"/>
              <a:ext cx="621000" cy="621000"/>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699" name="Google Shape;699;g36710b16073_1_0"/>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00" name="Google Shape;700;g36710b16073_1_0"/>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01" name="Google Shape;701;g36710b16073_1_0"/>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702" name="Google Shape;702;g36710b16073_1_0"/>
          <p:cNvSpPr txBox="1"/>
          <p:nvPr/>
        </p:nvSpPr>
        <p:spPr>
          <a:xfrm>
            <a:off x="4971200" y="314625"/>
            <a:ext cx="7588500" cy="7695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Helvetica Neue"/>
                <a:ea typeface="Helvetica Neue"/>
                <a:cs typeface="Helvetica Neue"/>
                <a:sym typeface="Helvetica Neue"/>
              </a:rPr>
              <a:t>Pegar fotos de trabajo en clases</a:t>
            </a:r>
            <a:endParaRPr b="0" i="0" sz="3800" u="none" cap="none" strike="noStrike">
              <a:solidFill>
                <a:schemeClr val="lt1"/>
              </a:solidFill>
              <a:latin typeface="Helvetica Neue"/>
              <a:ea typeface="Helvetica Neue"/>
              <a:cs typeface="Helvetica Neue"/>
              <a:sym typeface="Helvetica Neue"/>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g36710b16073_0_0"/>
          <p:cNvSpPr/>
          <p:nvPr/>
        </p:nvSpPr>
        <p:spPr>
          <a:xfrm>
            <a:off x="3565800" y="739875"/>
            <a:ext cx="1404900" cy="1223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708" name="Google Shape;708;g36710b16073_0_0"/>
          <p:cNvSpPr txBox="1"/>
          <p:nvPr/>
        </p:nvSpPr>
        <p:spPr>
          <a:xfrm>
            <a:off x="4254300" y="939375"/>
            <a:ext cx="6565200" cy="1024200"/>
          </a:xfrm>
          <a:prstGeom prst="rect">
            <a:avLst/>
          </a:prstGeom>
          <a:noFill/>
          <a:ln>
            <a:noFill/>
          </a:ln>
        </p:spPr>
        <p:txBody>
          <a:bodyPr anchorCtr="0" anchor="ctr" bIns="54175" lIns="108350" spcFirstLastPara="1" rIns="108350" wrap="square" tIns="54175">
            <a:noAutofit/>
          </a:bodyPr>
          <a:lstStyle/>
          <a:p>
            <a:pPr indent="0" lvl="0" marL="0" marR="0" rtl="0" algn="l">
              <a:lnSpc>
                <a:spcPct val="100000"/>
              </a:lnSpc>
              <a:spcBef>
                <a:spcPts val="0"/>
              </a:spcBef>
              <a:spcAft>
                <a:spcPts val="0"/>
              </a:spcAft>
              <a:buClr>
                <a:srgbClr val="72B843"/>
              </a:buClr>
              <a:buSzPts val="3600"/>
              <a:buFont typeface="Calibri"/>
              <a:buNone/>
            </a:pPr>
            <a:r>
              <a:rPr b="0" i="0" lang="en-US" sz="3600" u="none" cap="none" strike="noStrike">
                <a:solidFill>
                  <a:srgbClr val="72B843"/>
                </a:solidFill>
                <a:latin typeface="Helvetica Neue"/>
                <a:ea typeface="Helvetica Neue"/>
                <a:cs typeface="Helvetica Neue"/>
                <a:sym typeface="Helvetica Neue"/>
              </a:rPr>
              <a:t>  PERFIL PERSONA</a:t>
            </a:r>
            <a:endParaRPr b="0" i="0" sz="1700" u="none" cap="none" strike="noStrike">
              <a:solidFill>
                <a:srgbClr val="000000"/>
              </a:solidFill>
              <a:latin typeface="Helvetica Neue"/>
              <a:ea typeface="Helvetica Neue"/>
              <a:cs typeface="Helvetica Neue"/>
              <a:sym typeface="Helvetica Neue"/>
            </a:endParaRPr>
          </a:p>
        </p:txBody>
      </p:sp>
      <p:pic>
        <p:nvPicPr>
          <p:cNvPr descr="EA11.png" id="709" name="Google Shape;709;g36710b16073_0_0"/>
          <p:cNvPicPr preferRelativeResize="0"/>
          <p:nvPr/>
        </p:nvPicPr>
        <p:blipFill rotWithShape="1">
          <a:blip r:embed="rId4">
            <a:alphaModFix/>
          </a:blip>
          <a:srcRect b="0" l="0" r="0" t="0"/>
          <a:stretch/>
        </p:blipFill>
        <p:spPr>
          <a:xfrm>
            <a:off x="584305" y="141055"/>
            <a:ext cx="2981494" cy="812331"/>
          </a:xfrm>
          <a:prstGeom prst="rect">
            <a:avLst/>
          </a:prstGeom>
          <a:noFill/>
          <a:ln>
            <a:noFill/>
          </a:ln>
        </p:spPr>
      </p:pic>
      <p:sp>
        <p:nvSpPr>
          <p:cNvPr id="710" name="Google Shape;710;g36710b16073_0_0"/>
          <p:cNvSpPr txBox="1"/>
          <p:nvPr/>
        </p:nvSpPr>
        <p:spPr>
          <a:xfrm>
            <a:off x="2027025" y="2164325"/>
            <a:ext cx="4144800" cy="885300"/>
          </a:xfrm>
          <a:prstGeom prst="rect">
            <a:avLst/>
          </a:prstGeom>
          <a:noFill/>
          <a:ln>
            <a:noFill/>
          </a:ln>
        </p:spPr>
        <p:txBody>
          <a:bodyPr anchorCtr="0" anchor="t" bIns="0" lIns="0" spcFirstLastPara="1" rIns="0" wrap="square" tIns="77475">
            <a:noAutofit/>
          </a:bodyPr>
          <a:lstStyle/>
          <a:p>
            <a:pPr indent="-120650" lvl="0" marL="101600" marR="0" rtl="0" algn="l">
              <a:lnSpc>
                <a:spcPct val="100000"/>
              </a:lnSpc>
              <a:spcBef>
                <a:spcPts val="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Nombre: Magdalena y Vicente</a:t>
            </a:r>
            <a:endParaRPr b="0" i="0" sz="1900" u="none" cap="none" strike="noStrike">
              <a:solidFill>
                <a:schemeClr val="dk1"/>
              </a:solidFill>
              <a:latin typeface="Helvetica Neue"/>
              <a:ea typeface="Helvetica Neue"/>
              <a:cs typeface="Helvetica Neue"/>
              <a:sym typeface="Helvetica Neue"/>
            </a:endParaRPr>
          </a:p>
          <a:p>
            <a:pPr indent="-120650" lvl="0" marL="101600" marR="0" rtl="0" algn="l">
              <a:lnSpc>
                <a:spcPct val="100000"/>
              </a:lnSpc>
              <a:spcBef>
                <a:spcPts val="50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Descripción General:</a:t>
            </a:r>
            <a:endParaRPr b="0" i="0" sz="1900" u="none" cap="none" strike="noStrike">
              <a:solidFill>
                <a:schemeClr val="dk1"/>
              </a:solidFill>
              <a:latin typeface="Helvetica Neue"/>
              <a:ea typeface="Helvetica Neue"/>
              <a:cs typeface="Helvetica Neue"/>
              <a:sym typeface="Helvetica Neue"/>
            </a:endParaRPr>
          </a:p>
        </p:txBody>
      </p:sp>
      <p:sp>
        <p:nvSpPr>
          <p:cNvPr id="711" name="Google Shape;711;g36710b16073_0_0"/>
          <p:cNvSpPr txBox="1"/>
          <p:nvPr/>
        </p:nvSpPr>
        <p:spPr>
          <a:xfrm>
            <a:off x="6735300" y="2534125"/>
            <a:ext cx="1988100" cy="481800"/>
          </a:xfrm>
          <a:prstGeom prst="rect">
            <a:avLst/>
          </a:prstGeom>
          <a:noFill/>
          <a:ln>
            <a:noFill/>
          </a:ln>
        </p:spPr>
        <p:txBody>
          <a:bodyPr anchorCtr="0" anchor="t" bIns="54175" lIns="108350" spcFirstLastPara="1" rIns="108350" wrap="square" tIns="5417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3. Actitudes:</a:t>
            </a:r>
            <a:endParaRPr b="0" i="0" sz="1900" u="none" cap="none" strike="noStrike">
              <a:solidFill>
                <a:schemeClr val="dk1"/>
              </a:solidFill>
              <a:latin typeface="Helvetica Neue"/>
              <a:ea typeface="Helvetica Neue"/>
              <a:cs typeface="Helvetica Neue"/>
              <a:sym typeface="Helvetica Neue"/>
            </a:endParaRPr>
          </a:p>
        </p:txBody>
      </p:sp>
      <p:sp>
        <p:nvSpPr>
          <p:cNvPr id="712" name="Google Shape;712;g36710b16073_0_0"/>
          <p:cNvSpPr txBox="1"/>
          <p:nvPr/>
        </p:nvSpPr>
        <p:spPr>
          <a:xfrm>
            <a:off x="2075052" y="4957867"/>
            <a:ext cx="16032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4. Anhelos:</a:t>
            </a:r>
            <a:endParaRPr b="0" i="0" sz="1900" u="none" cap="none" strike="noStrike">
              <a:solidFill>
                <a:schemeClr val="dk1"/>
              </a:solidFill>
              <a:latin typeface="Helvetica Neue"/>
              <a:ea typeface="Helvetica Neue"/>
              <a:cs typeface="Helvetica Neue"/>
              <a:sym typeface="Helvetica Neue"/>
            </a:endParaRPr>
          </a:p>
        </p:txBody>
      </p:sp>
      <p:sp>
        <p:nvSpPr>
          <p:cNvPr id="713" name="Google Shape;713;g36710b16073_0_0"/>
          <p:cNvSpPr txBox="1"/>
          <p:nvPr/>
        </p:nvSpPr>
        <p:spPr>
          <a:xfrm>
            <a:off x="6735299" y="4943088"/>
            <a:ext cx="14049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5. Dolores:</a:t>
            </a:r>
            <a:endParaRPr b="0" i="0" sz="1900" u="none" cap="none" strike="noStrike">
              <a:solidFill>
                <a:schemeClr val="dk1"/>
              </a:solidFill>
              <a:latin typeface="Helvetica Neue"/>
              <a:ea typeface="Helvetica Neue"/>
              <a:cs typeface="Helvetica Neue"/>
              <a:sym typeface="Helvetica Neue"/>
            </a:endParaRPr>
          </a:p>
        </p:txBody>
      </p:sp>
      <p:sp>
        <p:nvSpPr>
          <p:cNvPr id="714" name="Google Shape;714;g36710b16073_0_0"/>
          <p:cNvSpPr txBox="1"/>
          <p:nvPr/>
        </p:nvSpPr>
        <p:spPr>
          <a:xfrm>
            <a:off x="2084801" y="7371725"/>
            <a:ext cx="8781600" cy="3681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6. Una cita que lo </a:t>
            </a:r>
            <a:r>
              <a:rPr lang="en-US" sz="1900">
                <a:solidFill>
                  <a:schemeClr val="dk1"/>
                </a:solidFill>
                <a:latin typeface="Helvetica Neue"/>
                <a:ea typeface="Helvetica Neue"/>
                <a:cs typeface="Helvetica Neue"/>
                <a:sym typeface="Helvetica Neue"/>
              </a:rPr>
              <a:t>caracteriza</a:t>
            </a:r>
            <a:r>
              <a:rPr b="0" i="0" lang="en-US" sz="1900" u="none" cap="none" strike="noStrike">
                <a:solidFill>
                  <a:schemeClr val="dk1"/>
                </a:solidFill>
                <a:latin typeface="Helvetica Neue"/>
                <a:ea typeface="Helvetica Neue"/>
                <a:cs typeface="Helvetica Neue"/>
                <a:sym typeface="Helvetica Neue"/>
              </a:rPr>
              <a:t>:</a:t>
            </a:r>
            <a:endParaRPr b="0" i="0" sz="1900" u="none" cap="none" strike="noStrike">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Siempre traigo todas las cosas que necesito para estudiar a la universidad, además de un bolso de vez en cuando</a:t>
            </a:r>
            <a:endParaRPr sz="18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900"/>
              <a:buFont typeface="Arial"/>
              <a:buNone/>
            </a:pPr>
            <a:r>
              <a:t/>
            </a:r>
            <a:endParaRPr sz="1900">
              <a:solidFill>
                <a:schemeClr val="dk1"/>
              </a:solidFill>
              <a:latin typeface="Helvetica Neue"/>
              <a:ea typeface="Helvetica Neue"/>
              <a:cs typeface="Helvetica Neue"/>
              <a:sym typeface="Helvetica Neue"/>
            </a:endParaRPr>
          </a:p>
        </p:txBody>
      </p:sp>
      <p:sp>
        <p:nvSpPr>
          <p:cNvPr id="715" name="Google Shape;715;g36710b16073_0_0"/>
          <p:cNvSpPr/>
          <p:nvPr/>
        </p:nvSpPr>
        <p:spPr>
          <a:xfrm flipH="1" rot="10800000">
            <a:off x="2084802" y="8163683"/>
            <a:ext cx="8781494" cy="89700"/>
          </a:xfrm>
          <a:custGeom>
            <a:rect b="b" l="l" r="r" t="t"/>
            <a:pathLst>
              <a:path extrusionOk="0" h="120000" w="5540375">
                <a:moveTo>
                  <a:pt x="0" y="0"/>
                </a:moveTo>
                <a:lnTo>
                  <a:pt x="5539896" y="0"/>
                </a:lnTo>
              </a:path>
            </a:pathLst>
          </a:custGeom>
          <a:noFill/>
          <a:ln cap="flat" cmpd="sng" w="357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716" name="Google Shape;716;g36710b16073_0_0"/>
          <p:cNvSpPr/>
          <p:nvPr/>
        </p:nvSpPr>
        <p:spPr>
          <a:xfrm>
            <a:off x="2027024"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su anhelo era estar más cómodo en la universidad, para revolver su anhelo muchos </a:t>
            </a:r>
            <a:r>
              <a:rPr lang="en-US" sz="1500">
                <a:solidFill>
                  <a:schemeClr val="dk1"/>
                </a:solidFill>
                <a:latin typeface="Helvetica Neue"/>
                <a:ea typeface="Helvetica Neue"/>
                <a:cs typeface="Helvetica Neue"/>
                <a:sym typeface="Helvetica Neue"/>
              </a:rPr>
              <a:t>contratan</a:t>
            </a:r>
            <a:r>
              <a:rPr lang="en-US" sz="1500">
                <a:solidFill>
                  <a:schemeClr val="dk1"/>
                </a:solidFill>
                <a:latin typeface="Helvetica Neue"/>
                <a:ea typeface="Helvetica Neue"/>
                <a:cs typeface="Helvetica Neue"/>
                <a:sym typeface="Helvetica Neue"/>
              </a:rPr>
              <a:t> casilleros. </a:t>
            </a:r>
            <a:endParaRPr b="0" i="0" sz="1500" u="none" cap="none" strike="noStrike">
              <a:solidFill>
                <a:schemeClr val="dk1"/>
              </a:solidFill>
              <a:latin typeface="Helvetica Neue"/>
              <a:ea typeface="Helvetica Neue"/>
              <a:cs typeface="Helvetica Neue"/>
              <a:sym typeface="Helvetica Neue"/>
            </a:endParaRPr>
          </a:p>
        </p:txBody>
      </p:sp>
      <p:sp>
        <p:nvSpPr>
          <p:cNvPr id="717" name="Google Shape;717;g36710b16073_0_0"/>
          <p:cNvSpPr/>
          <p:nvPr/>
        </p:nvSpPr>
        <p:spPr>
          <a:xfrm>
            <a:off x="2102037" y="304962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Desordenado, ocupadas en actividades, pasaban todo el día en la universidad, con mala gestión de tiempo, estudiantes universitarios, reconcian su dolores.</a:t>
            </a:r>
            <a:endParaRPr sz="1500">
              <a:solidFill>
                <a:schemeClr val="dk1"/>
              </a:solidFill>
              <a:latin typeface="Helvetica Neue"/>
              <a:ea typeface="Helvetica Neue"/>
              <a:cs typeface="Helvetica Neue"/>
              <a:sym typeface="Helvetica Neue"/>
            </a:endParaRPr>
          </a:p>
        </p:txBody>
      </p:sp>
      <p:sp>
        <p:nvSpPr>
          <p:cNvPr id="718" name="Google Shape;718;g36710b16073_0_0"/>
          <p:cNvSpPr/>
          <p:nvPr/>
        </p:nvSpPr>
        <p:spPr>
          <a:xfrm>
            <a:off x="6735299"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 algunos presentaban dolor de espalda, mala postura corporal, cansados por la cantidad de carga que presentaban, </a:t>
            </a:r>
            <a:endParaRPr b="0" i="0" sz="1500" u="none" cap="none" strike="noStrike">
              <a:solidFill>
                <a:schemeClr val="dk1"/>
              </a:solidFill>
              <a:latin typeface="Helvetica Neue"/>
              <a:ea typeface="Helvetica Neue"/>
              <a:cs typeface="Helvetica Neue"/>
              <a:sym typeface="Helvetica Neue"/>
            </a:endParaRPr>
          </a:p>
        </p:txBody>
      </p:sp>
      <p:sp>
        <p:nvSpPr>
          <p:cNvPr id="719" name="Google Shape;719;g36710b16073_0_0"/>
          <p:cNvSpPr/>
          <p:nvPr/>
        </p:nvSpPr>
        <p:spPr>
          <a:xfrm>
            <a:off x="6735299" y="303045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la actitud  de los entrevistados era proactiva, </a:t>
            </a:r>
            <a:endParaRPr b="0" i="0" sz="1500" u="none" cap="none" strike="noStrike">
              <a:solidFill>
                <a:schemeClr val="dk1"/>
              </a:solidFill>
              <a:latin typeface="Helvetica Neue"/>
              <a:ea typeface="Helvetica Neue"/>
              <a:cs typeface="Helvetica Neue"/>
              <a:sym typeface="Helvetica Neue"/>
            </a:endParaRPr>
          </a:p>
        </p:txBody>
      </p:sp>
      <p:grpSp>
        <p:nvGrpSpPr>
          <p:cNvPr id="720" name="Google Shape;720;g36710b16073_0_0"/>
          <p:cNvGrpSpPr/>
          <p:nvPr/>
        </p:nvGrpSpPr>
        <p:grpSpPr>
          <a:xfrm>
            <a:off x="1212905" y="8677287"/>
            <a:ext cx="10578927" cy="621000"/>
            <a:chOff x="0" y="0"/>
            <a:chExt cx="10578927" cy="621000"/>
          </a:xfrm>
        </p:grpSpPr>
        <p:cxnSp>
          <p:nvCxnSpPr>
            <p:cNvPr id="721" name="Google Shape;721;g36710b16073_0_0"/>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722" name="Google Shape;722;g36710b16073_0_0"/>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23" name="Google Shape;723;g36710b16073_0_0"/>
            <p:cNvSpPr/>
            <p:nvPr/>
          </p:nvSpPr>
          <p:spPr>
            <a:xfrm>
              <a:off x="2489481" y="0"/>
              <a:ext cx="621000" cy="621000"/>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24" name="Google Shape;724;g36710b16073_0_0"/>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25" name="Google Shape;725;g36710b16073_0_0"/>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26" name="Google Shape;726;g36710b16073_0_0"/>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727" name="Google Shape;727;g36710b16073_0_0"/>
          <p:cNvSpPr txBox="1"/>
          <p:nvPr/>
        </p:nvSpPr>
        <p:spPr>
          <a:xfrm>
            <a:off x="4971200" y="314625"/>
            <a:ext cx="7588500" cy="7695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Helvetica Neue"/>
                <a:ea typeface="Helvetica Neue"/>
                <a:cs typeface="Helvetica Neue"/>
                <a:sym typeface="Helvetica Neue"/>
              </a:rPr>
              <a:t>Pegar fotos de trabajo en clases</a:t>
            </a:r>
            <a:endParaRPr b="0" i="0" sz="3800" u="none" cap="none" strike="noStrike">
              <a:solidFill>
                <a:schemeClr val="lt1"/>
              </a:solidFill>
              <a:latin typeface="Helvetica Neue"/>
              <a:ea typeface="Helvetica Neue"/>
              <a:cs typeface="Helvetica Neue"/>
              <a:sym typeface="Helvetica Neue"/>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g36710b16073_0_24"/>
          <p:cNvSpPr/>
          <p:nvPr/>
        </p:nvSpPr>
        <p:spPr>
          <a:xfrm>
            <a:off x="3565800" y="739875"/>
            <a:ext cx="1404900" cy="1223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733" name="Google Shape;733;g36710b16073_0_24"/>
          <p:cNvSpPr txBox="1"/>
          <p:nvPr/>
        </p:nvSpPr>
        <p:spPr>
          <a:xfrm>
            <a:off x="4254300" y="939375"/>
            <a:ext cx="6565200" cy="1024200"/>
          </a:xfrm>
          <a:prstGeom prst="rect">
            <a:avLst/>
          </a:prstGeom>
          <a:noFill/>
          <a:ln>
            <a:noFill/>
          </a:ln>
        </p:spPr>
        <p:txBody>
          <a:bodyPr anchorCtr="0" anchor="ctr" bIns="54175" lIns="108350" spcFirstLastPara="1" rIns="108350" wrap="square" tIns="54175">
            <a:noAutofit/>
          </a:bodyPr>
          <a:lstStyle/>
          <a:p>
            <a:pPr indent="0" lvl="0" marL="0" marR="0" rtl="0" algn="l">
              <a:lnSpc>
                <a:spcPct val="100000"/>
              </a:lnSpc>
              <a:spcBef>
                <a:spcPts val="0"/>
              </a:spcBef>
              <a:spcAft>
                <a:spcPts val="0"/>
              </a:spcAft>
              <a:buClr>
                <a:srgbClr val="72B843"/>
              </a:buClr>
              <a:buSzPts val="3600"/>
              <a:buFont typeface="Calibri"/>
              <a:buNone/>
            </a:pPr>
            <a:r>
              <a:rPr b="0" i="0" lang="en-US" sz="3600" u="none" cap="none" strike="noStrike">
                <a:solidFill>
                  <a:srgbClr val="72B843"/>
                </a:solidFill>
                <a:latin typeface="Helvetica Neue"/>
                <a:ea typeface="Helvetica Neue"/>
                <a:cs typeface="Helvetica Neue"/>
                <a:sym typeface="Helvetica Neue"/>
              </a:rPr>
              <a:t>  PERFIL PERSONA</a:t>
            </a:r>
            <a:endParaRPr b="0" i="0" sz="1700" u="none" cap="none" strike="noStrike">
              <a:solidFill>
                <a:srgbClr val="000000"/>
              </a:solidFill>
              <a:latin typeface="Helvetica Neue"/>
              <a:ea typeface="Helvetica Neue"/>
              <a:cs typeface="Helvetica Neue"/>
              <a:sym typeface="Helvetica Neue"/>
            </a:endParaRPr>
          </a:p>
        </p:txBody>
      </p:sp>
      <p:pic>
        <p:nvPicPr>
          <p:cNvPr descr="EA11.png" id="734" name="Google Shape;734;g36710b16073_0_24"/>
          <p:cNvPicPr preferRelativeResize="0"/>
          <p:nvPr/>
        </p:nvPicPr>
        <p:blipFill rotWithShape="1">
          <a:blip r:embed="rId4">
            <a:alphaModFix/>
          </a:blip>
          <a:srcRect b="0" l="0" r="0" t="0"/>
          <a:stretch/>
        </p:blipFill>
        <p:spPr>
          <a:xfrm>
            <a:off x="584305" y="141055"/>
            <a:ext cx="2981494" cy="812331"/>
          </a:xfrm>
          <a:prstGeom prst="rect">
            <a:avLst/>
          </a:prstGeom>
          <a:noFill/>
          <a:ln>
            <a:noFill/>
          </a:ln>
        </p:spPr>
      </p:pic>
      <p:sp>
        <p:nvSpPr>
          <p:cNvPr id="735" name="Google Shape;735;g36710b16073_0_24"/>
          <p:cNvSpPr txBox="1"/>
          <p:nvPr/>
        </p:nvSpPr>
        <p:spPr>
          <a:xfrm>
            <a:off x="2027025" y="2164325"/>
            <a:ext cx="4144800" cy="885300"/>
          </a:xfrm>
          <a:prstGeom prst="rect">
            <a:avLst/>
          </a:prstGeom>
          <a:noFill/>
          <a:ln>
            <a:noFill/>
          </a:ln>
        </p:spPr>
        <p:txBody>
          <a:bodyPr anchorCtr="0" anchor="t" bIns="0" lIns="0" spcFirstLastPara="1" rIns="0" wrap="square" tIns="77475">
            <a:noAutofit/>
          </a:bodyPr>
          <a:lstStyle/>
          <a:p>
            <a:pPr indent="-120650" lvl="0" marL="101600" marR="0" rtl="0" algn="l">
              <a:lnSpc>
                <a:spcPct val="100000"/>
              </a:lnSpc>
              <a:spcBef>
                <a:spcPts val="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Nombre: </a:t>
            </a:r>
            <a:r>
              <a:rPr lang="en-US" sz="1900">
                <a:solidFill>
                  <a:schemeClr val="dk1"/>
                </a:solidFill>
                <a:latin typeface="Helvetica Neue"/>
                <a:ea typeface="Helvetica Neue"/>
                <a:cs typeface="Helvetica Neue"/>
                <a:sym typeface="Helvetica Neue"/>
              </a:rPr>
              <a:t>Manuel</a:t>
            </a:r>
            <a:endParaRPr b="0" i="0" sz="1900" u="none" cap="none" strike="noStrike">
              <a:solidFill>
                <a:schemeClr val="dk1"/>
              </a:solidFill>
              <a:latin typeface="Helvetica Neue"/>
              <a:ea typeface="Helvetica Neue"/>
              <a:cs typeface="Helvetica Neue"/>
              <a:sym typeface="Helvetica Neue"/>
            </a:endParaRPr>
          </a:p>
          <a:p>
            <a:pPr indent="-120650" lvl="0" marL="101600" marR="0" rtl="0" algn="l">
              <a:lnSpc>
                <a:spcPct val="100000"/>
              </a:lnSpc>
              <a:spcBef>
                <a:spcPts val="50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Descripción General:</a:t>
            </a:r>
            <a:endParaRPr b="0" i="0" sz="1900" u="none" cap="none" strike="noStrike">
              <a:solidFill>
                <a:schemeClr val="dk1"/>
              </a:solidFill>
              <a:latin typeface="Helvetica Neue"/>
              <a:ea typeface="Helvetica Neue"/>
              <a:cs typeface="Helvetica Neue"/>
              <a:sym typeface="Helvetica Neue"/>
            </a:endParaRPr>
          </a:p>
        </p:txBody>
      </p:sp>
      <p:sp>
        <p:nvSpPr>
          <p:cNvPr id="736" name="Google Shape;736;g36710b16073_0_24"/>
          <p:cNvSpPr txBox="1"/>
          <p:nvPr/>
        </p:nvSpPr>
        <p:spPr>
          <a:xfrm>
            <a:off x="6735300" y="2534125"/>
            <a:ext cx="1988100" cy="481800"/>
          </a:xfrm>
          <a:prstGeom prst="rect">
            <a:avLst/>
          </a:prstGeom>
          <a:noFill/>
          <a:ln>
            <a:noFill/>
          </a:ln>
        </p:spPr>
        <p:txBody>
          <a:bodyPr anchorCtr="0" anchor="t" bIns="54175" lIns="108350" spcFirstLastPara="1" rIns="108350" wrap="square" tIns="5417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3. Actitudes:</a:t>
            </a:r>
            <a:endParaRPr b="0" i="0" sz="1900" u="none" cap="none" strike="noStrike">
              <a:solidFill>
                <a:schemeClr val="dk1"/>
              </a:solidFill>
              <a:latin typeface="Helvetica Neue"/>
              <a:ea typeface="Helvetica Neue"/>
              <a:cs typeface="Helvetica Neue"/>
              <a:sym typeface="Helvetica Neue"/>
            </a:endParaRPr>
          </a:p>
        </p:txBody>
      </p:sp>
      <p:sp>
        <p:nvSpPr>
          <p:cNvPr id="737" name="Google Shape;737;g36710b16073_0_24"/>
          <p:cNvSpPr txBox="1"/>
          <p:nvPr/>
        </p:nvSpPr>
        <p:spPr>
          <a:xfrm>
            <a:off x="2075052" y="4957867"/>
            <a:ext cx="16032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4. Anhelos:</a:t>
            </a:r>
            <a:endParaRPr b="0" i="0" sz="1900" u="none" cap="none" strike="noStrike">
              <a:solidFill>
                <a:schemeClr val="dk1"/>
              </a:solidFill>
              <a:latin typeface="Helvetica Neue"/>
              <a:ea typeface="Helvetica Neue"/>
              <a:cs typeface="Helvetica Neue"/>
              <a:sym typeface="Helvetica Neue"/>
            </a:endParaRPr>
          </a:p>
        </p:txBody>
      </p:sp>
      <p:sp>
        <p:nvSpPr>
          <p:cNvPr id="738" name="Google Shape;738;g36710b16073_0_24"/>
          <p:cNvSpPr txBox="1"/>
          <p:nvPr/>
        </p:nvSpPr>
        <p:spPr>
          <a:xfrm>
            <a:off x="6735299" y="4943088"/>
            <a:ext cx="14049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5. Dolores:</a:t>
            </a:r>
            <a:endParaRPr b="0" i="0" sz="1900" u="none" cap="none" strike="noStrike">
              <a:solidFill>
                <a:schemeClr val="dk1"/>
              </a:solidFill>
              <a:latin typeface="Helvetica Neue"/>
              <a:ea typeface="Helvetica Neue"/>
              <a:cs typeface="Helvetica Neue"/>
              <a:sym typeface="Helvetica Neue"/>
            </a:endParaRPr>
          </a:p>
        </p:txBody>
      </p:sp>
      <p:sp>
        <p:nvSpPr>
          <p:cNvPr id="739" name="Google Shape;739;g36710b16073_0_24"/>
          <p:cNvSpPr txBox="1"/>
          <p:nvPr/>
        </p:nvSpPr>
        <p:spPr>
          <a:xfrm>
            <a:off x="2084801" y="7371725"/>
            <a:ext cx="8781600" cy="3681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6. Una cita que lo </a:t>
            </a:r>
            <a:r>
              <a:rPr lang="en-US" sz="1900">
                <a:solidFill>
                  <a:schemeClr val="dk1"/>
                </a:solidFill>
                <a:latin typeface="Helvetica Neue"/>
                <a:ea typeface="Helvetica Neue"/>
                <a:cs typeface="Helvetica Neue"/>
                <a:sym typeface="Helvetica Neue"/>
              </a:rPr>
              <a:t>caracteriza</a:t>
            </a:r>
            <a:r>
              <a:rPr b="0" i="0" lang="en-US" sz="1900" u="none" cap="none" strike="noStrike">
                <a:solidFill>
                  <a:schemeClr val="dk1"/>
                </a:solidFill>
                <a:latin typeface="Helvetica Neue"/>
                <a:ea typeface="Helvetica Neue"/>
                <a:cs typeface="Helvetica Neue"/>
                <a:sym typeface="Helvetica Neue"/>
              </a:rPr>
              <a:t>:</a:t>
            </a:r>
            <a:endParaRPr b="0" i="0" sz="1900" u="none" cap="none" strike="noStrike">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Siempre estoy cansado por la cantidad de cosas que tengo que traer, y preocupado de cuidar mis cosas</a:t>
            </a:r>
            <a:endParaRPr sz="18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900"/>
              <a:buFont typeface="Arial"/>
              <a:buNone/>
            </a:pPr>
            <a:r>
              <a:t/>
            </a:r>
            <a:endParaRPr sz="1900">
              <a:solidFill>
                <a:schemeClr val="dk1"/>
              </a:solidFill>
              <a:latin typeface="Helvetica Neue"/>
              <a:ea typeface="Helvetica Neue"/>
              <a:cs typeface="Helvetica Neue"/>
              <a:sym typeface="Helvetica Neue"/>
            </a:endParaRPr>
          </a:p>
        </p:txBody>
      </p:sp>
      <p:sp>
        <p:nvSpPr>
          <p:cNvPr id="740" name="Google Shape;740;g36710b16073_0_24"/>
          <p:cNvSpPr/>
          <p:nvPr/>
        </p:nvSpPr>
        <p:spPr>
          <a:xfrm flipH="1" rot="10800000">
            <a:off x="2084802" y="8163683"/>
            <a:ext cx="8781494" cy="89700"/>
          </a:xfrm>
          <a:custGeom>
            <a:rect b="b" l="l" r="r" t="t"/>
            <a:pathLst>
              <a:path extrusionOk="0" h="120000" w="5540375">
                <a:moveTo>
                  <a:pt x="0" y="0"/>
                </a:moveTo>
                <a:lnTo>
                  <a:pt x="5539896" y="0"/>
                </a:lnTo>
              </a:path>
            </a:pathLst>
          </a:custGeom>
          <a:noFill/>
          <a:ln cap="flat" cmpd="sng" w="357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741" name="Google Shape;741;g36710b16073_0_24"/>
          <p:cNvSpPr/>
          <p:nvPr/>
        </p:nvSpPr>
        <p:spPr>
          <a:xfrm>
            <a:off x="2027024"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Le gustaría poder traer menos cosas a la universidad, también tener una mayor organización</a:t>
            </a:r>
            <a:endParaRPr b="0" i="0" sz="1500" u="none" cap="none" strike="noStrike">
              <a:solidFill>
                <a:schemeClr val="dk1"/>
              </a:solidFill>
              <a:latin typeface="Helvetica Neue"/>
              <a:ea typeface="Helvetica Neue"/>
              <a:cs typeface="Helvetica Neue"/>
              <a:sym typeface="Helvetica Neue"/>
            </a:endParaRPr>
          </a:p>
        </p:txBody>
      </p:sp>
      <p:sp>
        <p:nvSpPr>
          <p:cNvPr id="742" name="Google Shape;742;g36710b16073_0_24"/>
          <p:cNvSpPr/>
          <p:nvPr/>
        </p:nvSpPr>
        <p:spPr>
          <a:xfrm>
            <a:off x="2102037" y="304962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La gran mayoría de los días tiene jornadas largas, por lo que debe traer computador, ipad, almuerzo, etc. Por lo que siempre esta cansado y con dolor de espalda</a:t>
            </a:r>
            <a:endParaRPr sz="1500">
              <a:solidFill>
                <a:schemeClr val="dk1"/>
              </a:solidFill>
              <a:latin typeface="Helvetica Neue"/>
              <a:ea typeface="Helvetica Neue"/>
              <a:cs typeface="Helvetica Neue"/>
              <a:sym typeface="Helvetica Neue"/>
            </a:endParaRPr>
          </a:p>
        </p:txBody>
      </p:sp>
      <p:sp>
        <p:nvSpPr>
          <p:cNvPr id="743" name="Google Shape;743;g36710b16073_0_24"/>
          <p:cNvSpPr/>
          <p:nvPr/>
        </p:nvSpPr>
        <p:spPr>
          <a:xfrm>
            <a:off x="6735299"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Por la gran cantidad de cosas que debe traer a la universidad siempre </a:t>
            </a:r>
            <a:r>
              <a:rPr lang="en-US" sz="1500">
                <a:solidFill>
                  <a:schemeClr val="dk1"/>
                </a:solidFill>
                <a:latin typeface="Helvetica Neue"/>
                <a:ea typeface="Helvetica Neue"/>
                <a:cs typeface="Helvetica Neue"/>
                <a:sym typeface="Helvetica Neue"/>
              </a:rPr>
              <a:t>está</a:t>
            </a:r>
            <a:r>
              <a:rPr lang="en-US" sz="1500">
                <a:solidFill>
                  <a:schemeClr val="dk1"/>
                </a:solidFill>
                <a:latin typeface="Helvetica Neue"/>
                <a:ea typeface="Helvetica Neue"/>
                <a:cs typeface="Helvetica Neue"/>
                <a:sym typeface="Helvetica Neue"/>
              </a:rPr>
              <a:t> con dolor de espalda, lo que provoca un mayor cansancio. También está  siempre preocupado de cuidar sus cosas y no le vayan a robar.</a:t>
            </a:r>
            <a:endParaRPr b="0" i="0" sz="1500" u="none" cap="none" strike="noStrike">
              <a:solidFill>
                <a:schemeClr val="dk1"/>
              </a:solidFill>
              <a:latin typeface="Helvetica Neue"/>
              <a:ea typeface="Helvetica Neue"/>
              <a:cs typeface="Helvetica Neue"/>
              <a:sym typeface="Helvetica Neue"/>
            </a:endParaRPr>
          </a:p>
        </p:txBody>
      </p:sp>
      <p:sp>
        <p:nvSpPr>
          <p:cNvPr id="744" name="Google Shape;744;g36710b16073_0_24"/>
          <p:cNvSpPr/>
          <p:nvPr/>
        </p:nvSpPr>
        <p:spPr>
          <a:xfrm>
            <a:off x="6735299" y="303045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Al momento de la </a:t>
            </a:r>
            <a:r>
              <a:rPr lang="en-US" sz="1500">
                <a:solidFill>
                  <a:schemeClr val="dk1"/>
                </a:solidFill>
                <a:latin typeface="Helvetica Neue"/>
                <a:ea typeface="Helvetica Neue"/>
                <a:cs typeface="Helvetica Neue"/>
                <a:sym typeface="Helvetica Neue"/>
              </a:rPr>
              <a:t>entrevista</a:t>
            </a:r>
            <a:r>
              <a:rPr lang="en-US" sz="1500">
                <a:solidFill>
                  <a:schemeClr val="dk1"/>
                </a:solidFill>
                <a:latin typeface="Helvetica Neue"/>
                <a:ea typeface="Helvetica Neue"/>
                <a:cs typeface="Helvetica Neue"/>
                <a:sym typeface="Helvetica Neue"/>
              </a:rPr>
              <a:t> estaba  muy cansado, pero feliz de contribuir para poder encontrar un solución a sus problemas </a:t>
            </a:r>
            <a:endParaRPr b="0" i="0" sz="1500" u="none" cap="none" strike="noStrike">
              <a:solidFill>
                <a:schemeClr val="dk1"/>
              </a:solidFill>
              <a:latin typeface="Helvetica Neue"/>
              <a:ea typeface="Helvetica Neue"/>
              <a:cs typeface="Helvetica Neue"/>
              <a:sym typeface="Helvetica Neue"/>
            </a:endParaRPr>
          </a:p>
        </p:txBody>
      </p:sp>
      <p:grpSp>
        <p:nvGrpSpPr>
          <p:cNvPr id="745" name="Google Shape;745;g36710b16073_0_24"/>
          <p:cNvGrpSpPr/>
          <p:nvPr/>
        </p:nvGrpSpPr>
        <p:grpSpPr>
          <a:xfrm>
            <a:off x="1212905" y="8677287"/>
            <a:ext cx="10578927" cy="621000"/>
            <a:chOff x="0" y="0"/>
            <a:chExt cx="10578927" cy="621000"/>
          </a:xfrm>
        </p:grpSpPr>
        <p:cxnSp>
          <p:nvCxnSpPr>
            <p:cNvPr id="746" name="Google Shape;746;g36710b16073_0_24"/>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747" name="Google Shape;747;g36710b16073_0_24"/>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48" name="Google Shape;748;g36710b16073_0_24"/>
            <p:cNvSpPr/>
            <p:nvPr/>
          </p:nvSpPr>
          <p:spPr>
            <a:xfrm>
              <a:off x="2489481" y="0"/>
              <a:ext cx="621000" cy="621000"/>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49" name="Google Shape;749;g36710b16073_0_24"/>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50" name="Google Shape;750;g36710b16073_0_24"/>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51" name="Google Shape;751;g36710b16073_0_24"/>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752" name="Google Shape;752;g36710b16073_0_24"/>
          <p:cNvSpPr txBox="1"/>
          <p:nvPr/>
        </p:nvSpPr>
        <p:spPr>
          <a:xfrm>
            <a:off x="4971200" y="314625"/>
            <a:ext cx="7588500" cy="7695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Helvetica Neue"/>
                <a:ea typeface="Helvetica Neue"/>
                <a:cs typeface="Helvetica Neue"/>
                <a:sym typeface="Helvetica Neue"/>
              </a:rPr>
              <a:t>Pegar fotos de trabajo en clases</a:t>
            </a:r>
            <a:endParaRPr b="0" i="0" sz="3800" u="none" cap="none" strike="noStrike">
              <a:solidFill>
                <a:schemeClr val="lt1"/>
              </a:solidFill>
              <a:latin typeface="Helvetica Neue"/>
              <a:ea typeface="Helvetica Neue"/>
              <a:cs typeface="Helvetica Neue"/>
              <a:sym typeface="Helvetica Neue"/>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g36710b16073_0_48"/>
          <p:cNvSpPr/>
          <p:nvPr/>
        </p:nvSpPr>
        <p:spPr>
          <a:xfrm>
            <a:off x="3565800" y="739875"/>
            <a:ext cx="1404900" cy="1223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758" name="Google Shape;758;g36710b16073_0_48"/>
          <p:cNvSpPr txBox="1"/>
          <p:nvPr/>
        </p:nvSpPr>
        <p:spPr>
          <a:xfrm>
            <a:off x="4254300" y="939375"/>
            <a:ext cx="6565200" cy="1024200"/>
          </a:xfrm>
          <a:prstGeom prst="rect">
            <a:avLst/>
          </a:prstGeom>
          <a:noFill/>
          <a:ln>
            <a:noFill/>
          </a:ln>
        </p:spPr>
        <p:txBody>
          <a:bodyPr anchorCtr="0" anchor="ctr" bIns="54175" lIns="108350" spcFirstLastPara="1" rIns="108350" wrap="square" tIns="54175">
            <a:noAutofit/>
          </a:bodyPr>
          <a:lstStyle/>
          <a:p>
            <a:pPr indent="0" lvl="0" marL="0" marR="0" rtl="0" algn="l">
              <a:lnSpc>
                <a:spcPct val="100000"/>
              </a:lnSpc>
              <a:spcBef>
                <a:spcPts val="0"/>
              </a:spcBef>
              <a:spcAft>
                <a:spcPts val="0"/>
              </a:spcAft>
              <a:buClr>
                <a:srgbClr val="72B843"/>
              </a:buClr>
              <a:buSzPts val="3600"/>
              <a:buFont typeface="Calibri"/>
              <a:buNone/>
            </a:pPr>
            <a:r>
              <a:rPr b="0" i="0" lang="en-US" sz="3600" u="none" cap="none" strike="noStrike">
                <a:solidFill>
                  <a:srgbClr val="72B843"/>
                </a:solidFill>
                <a:latin typeface="Helvetica Neue"/>
                <a:ea typeface="Helvetica Neue"/>
                <a:cs typeface="Helvetica Neue"/>
                <a:sym typeface="Helvetica Neue"/>
              </a:rPr>
              <a:t>  PERFIL PERSONA</a:t>
            </a:r>
            <a:endParaRPr b="0" i="0" sz="1700" u="none" cap="none" strike="noStrike">
              <a:solidFill>
                <a:srgbClr val="000000"/>
              </a:solidFill>
              <a:latin typeface="Helvetica Neue"/>
              <a:ea typeface="Helvetica Neue"/>
              <a:cs typeface="Helvetica Neue"/>
              <a:sym typeface="Helvetica Neue"/>
            </a:endParaRPr>
          </a:p>
        </p:txBody>
      </p:sp>
      <p:pic>
        <p:nvPicPr>
          <p:cNvPr descr="EA11.png" id="759" name="Google Shape;759;g36710b16073_0_48"/>
          <p:cNvPicPr preferRelativeResize="0"/>
          <p:nvPr/>
        </p:nvPicPr>
        <p:blipFill rotWithShape="1">
          <a:blip r:embed="rId4">
            <a:alphaModFix/>
          </a:blip>
          <a:srcRect b="0" l="0" r="0" t="0"/>
          <a:stretch/>
        </p:blipFill>
        <p:spPr>
          <a:xfrm>
            <a:off x="584305" y="141055"/>
            <a:ext cx="2981494" cy="812331"/>
          </a:xfrm>
          <a:prstGeom prst="rect">
            <a:avLst/>
          </a:prstGeom>
          <a:noFill/>
          <a:ln>
            <a:noFill/>
          </a:ln>
        </p:spPr>
      </p:pic>
      <p:sp>
        <p:nvSpPr>
          <p:cNvPr id="760" name="Google Shape;760;g36710b16073_0_48"/>
          <p:cNvSpPr txBox="1"/>
          <p:nvPr/>
        </p:nvSpPr>
        <p:spPr>
          <a:xfrm>
            <a:off x="2027025" y="2164325"/>
            <a:ext cx="4144800" cy="885300"/>
          </a:xfrm>
          <a:prstGeom prst="rect">
            <a:avLst/>
          </a:prstGeom>
          <a:noFill/>
          <a:ln>
            <a:noFill/>
          </a:ln>
        </p:spPr>
        <p:txBody>
          <a:bodyPr anchorCtr="0" anchor="t" bIns="0" lIns="0" spcFirstLastPara="1" rIns="0" wrap="square" tIns="77475">
            <a:noAutofit/>
          </a:bodyPr>
          <a:lstStyle/>
          <a:p>
            <a:pPr indent="-120650" lvl="0" marL="101600" marR="0" rtl="0" algn="l">
              <a:lnSpc>
                <a:spcPct val="100000"/>
              </a:lnSpc>
              <a:spcBef>
                <a:spcPts val="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Nombre: </a:t>
            </a:r>
            <a:r>
              <a:rPr lang="en-US" sz="1900">
                <a:solidFill>
                  <a:schemeClr val="dk1"/>
                </a:solidFill>
                <a:latin typeface="Helvetica Neue"/>
                <a:ea typeface="Helvetica Neue"/>
                <a:cs typeface="Helvetica Neue"/>
                <a:sym typeface="Helvetica Neue"/>
              </a:rPr>
              <a:t>Sofía</a:t>
            </a:r>
            <a:endParaRPr b="0" i="0" sz="1900" u="none" cap="none" strike="noStrike">
              <a:solidFill>
                <a:schemeClr val="dk1"/>
              </a:solidFill>
              <a:latin typeface="Helvetica Neue"/>
              <a:ea typeface="Helvetica Neue"/>
              <a:cs typeface="Helvetica Neue"/>
              <a:sym typeface="Helvetica Neue"/>
            </a:endParaRPr>
          </a:p>
          <a:p>
            <a:pPr indent="-120650" lvl="0" marL="101600" marR="0" rtl="0" algn="l">
              <a:lnSpc>
                <a:spcPct val="100000"/>
              </a:lnSpc>
              <a:spcBef>
                <a:spcPts val="50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Descripción General:</a:t>
            </a:r>
            <a:endParaRPr b="0" i="0" sz="1900" u="none" cap="none" strike="noStrike">
              <a:solidFill>
                <a:schemeClr val="dk1"/>
              </a:solidFill>
              <a:latin typeface="Helvetica Neue"/>
              <a:ea typeface="Helvetica Neue"/>
              <a:cs typeface="Helvetica Neue"/>
              <a:sym typeface="Helvetica Neue"/>
            </a:endParaRPr>
          </a:p>
        </p:txBody>
      </p:sp>
      <p:sp>
        <p:nvSpPr>
          <p:cNvPr id="761" name="Google Shape;761;g36710b16073_0_48"/>
          <p:cNvSpPr txBox="1"/>
          <p:nvPr/>
        </p:nvSpPr>
        <p:spPr>
          <a:xfrm>
            <a:off x="6735300" y="2534125"/>
            <a:ext cx="1988100" cy="481800"/>
          </a:xfrm>
          <a:prstGeom prst="rect">
            <a:avLst/>
          </a:prstGeom>
          <a:noFill/>
          <a:ln>
            <a:noFill/>
          </a:ln>
        </p:spPr>
        <p:txBody>
          <a:bodyPr anchorCtr="0" anchor="t" bIns="54175" lIns="108350" spcFirstLastPara="1" rIns="108350" wrap="square" tIns="5417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3. Actitudes:</a:t>
            </a:r>
            <a:endParaRPr b="0" i="0" sz="1900" u="none" cap="none" strike="noStrike">
              <a:solidFill>
                <a:schemeClr val="dk1"/>
              </a:solidFill>
              <a:latin typeface="Helvetica Neue"/>
              <a:ea typeface="Helvetica Neue"/>
              <a:cs typeface="Helvetica Neue"/>
              <a:sym typeface="Helvetica Neue"/>
            </a:endParaRPr>
          </a:p>
        </p:txBody>
      </p:sp>
      <p:sp>
        <p:nvSpPr>
          <p:cNvPr id="762" name="Google Shape;762;g36710b16073_0_48"/>
          <p:cNvSpPr txBox="1"/>
          <p:nvPr/>
        </p:nvSpPr>
        <p:spPr>
          <a:xfrm>
            <a:off x="2075052" y="4957867"/>
            <a:ext cx="16032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4. Anhelos:</a:t>
            </a:r>
            <a:endParaRPr b="0" i="0" sz="1900" u="none" cap="none" strike="noStrike">
              <a:solidFill>
                <a:schemeClr val="dk1"/>
              </a:solidFill>
              <a:latin typeface="Helvetica Neue"/>
              <a:ea typeface="Helvetica Neue"/>
              <a:cs typeface="Helvetica Neue"/>
              <a:sym typeface="Helvetica Neue"/>
            </a:endParaRPr>
          </a:p>
        </p:txBody>
      </p:sp>
      <p:sp>
        <p:nvSpPr>
          <p:cNvPr id="763" name="Google Shape;763;g36710b16073_0_48"/>
          <p:cNvSpPr txBox="1"/>
          <p:nvPr/>
        </p:nvSpPr>
        <p:spPr>
          <a:xfrm>
            <a:off x="6735299" y="4943088"/>
            <a:ext cx="14049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5. Dolores:</a:t>
            </a:r>
            <a:endParaRPr b="0" i="0" sz="1900" u="none" cap="none" strike="noStrike">
              <a:solidFill>
                <a:schemeClr val="dk1"/>
              </a:solidFill>
              <a:latin typeface="Helvetica Neue"/>
              <a:ea typeface="Helvetica Neue"/>
              <a:cs typeface="Helvetica Neue"/>
              <a:sym typeface="Helvetica Neue"/>
            </a:endParaRPr>
          </a:p>
        </p:txBody>
      </p:sp>
      <p:sp>
        <p:nvSpPr>
          <p:cNvPr id="764" name="Google Shape;764;g36710b16073_0_48"/>
          <p:cNvSpPr txBox="1"/>
          <p:nvPr/>
        </p:nvSpPr>
        <p:spPr>
          <a:xfrm>
            <a:off x="2084801" y="7371725"/>
            <a:ext cx="8781600" cy="3681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6. Una cita que lo </a:t>
            </a:r>
            <a:r>
              <a:rPr lang="en-US" sz="1900">
                <a:solidFill>
                  <a:schemeClr val="dk1"/>
                </a:solidFill>
                <a:latin typeface="Helvetica Neue"/>
                <a:ea typeface="Helvetica Neue"/>
                <a:cs typeface="Helvetica Neue"/>
                <a:sym typeface="Helvetica Neue"/>
              </a:rPr>
              <a:t>caracteriza</a:t>
            </a:r>
            <a:r>
              <a:rPr b="0" i="0" lang="en-US" sz="1900" u="none" cap="none" strike="noStrike">
                <a:solidFill>
                  <a:schemeClr val="dk1"/>
                </a:solidFill>
                <a:latin typeface="Helvetica Neue"/>
                <a:ea typeface="Helvetica Neue"/>
                <a:cs typeface="Helvetica Neue"/>
                <a:sym typeface="Helvetica Neue"/>
              </a:rPr>
              <a:t>:</a:t>
            </a:r>
            <a:endParaRPr b="0" i="0" sz="19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900"/>
              <a:buFont typeface="Arial"/>
              <a:buNone/>
            </a:pPr>
            <a:r>
              <a:rPr lang="en-US" sz="1900">
                <a:solidFill>
                  <a:schemeClr val="dk1"/>
                </a:solidFill>
                <a:latin typeface="Helvetica Neue"/>
                <a:ea typeface="Helvetica Neue"/>
                <a:cs typeface="Helvetica Neue"/>
                <a:sym typeface="Helvetica Neue"/>
              </a:rPr>
              <a:t>Siempre debo traer bolsos, ya que siempre debo traer más cosas a parte de la mochila. </a:t>
            </a:r>
            <a:endParaRPr sz="1900">
              <a:solidFill>
                <a:schemeClr val="dk1"/>
              </a:solidFill>
              <a:latin typeface="Helvetica Neue"/>
              <a:ea typeface="Helvetica Neue"/>
              <a:cs typeface="Helvetica Neue"/>
              <a:sym typeface="Helvetica Neue"/>
            </a:endParaRPr>
          </a:p>
        </p:txBody>
      </p:sp>
      <p:sp>
        <p:nvSpPr>
          <p:cNvPr id="765" name="Google Shape;765;g36710b16073_0_48"/>
          <p:cNvSpPr/>
          <p:nvPr/>
        </p:nvSpPr>
        <p:spPr>
          <a:xfrm flipH="1" rot="10800000">
            <a:off x="2084802" y="8163683"/>
            <a:ext cx="8781494" cy="89700"/>
          </a:xfrm>
          <a:custGeom>
            <a:rect b="b" l="l" r="r" t="t"/>
            <a:pathLst>
              <a:path extrusionOk="0" h="120000" w="5540375">
                <a:moveTo>
                  <a:pt x="0" y="0"/>
                </a:moveTo>
                <a:lnTo>
                  <a:pt x="5539896" y="0"/>
                </a:lnTo>
              </a:path>
            </a:pathLst>
          </a:custGeom>
          <a:noFill/>
          <a:ln cap="flat" cmpd="sng" w="357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766" name="Google Shape;766;g36710b16073_0_48"/>
          <p:cNvSpPr/>
          <p:nvPr/>
        </p:nvSpPr>
        <p:spPr>
          <a:xfrm>
            <a:off x="2027024"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Poder traer menos cosas a la universidad. Le gustaría poder cambiar su computador por su ipad para tener menor peso en la mochila</a:t>
            </a:r>
            <a:endParaRPr b="0" i="0" sz="1500" u="none" cap="none" strike="noStrike">
              <a:solidFill>
                <a:schemeClr val="dk1"/>
              </a:solidFill>
              <a:latin typeface="Helvetica Neue"/>
              <a:ea typeface="Helvetica Neue"/>
              <a:cs typeface="Helvetica Neue"/>
              <a:sym typeface="Helvetica Neue"/>
            </a:endParaRPr>
          </a:p>
        </p:txBody>
      </p:sp>
      <p:sp>
        <p:nvSpPr>
          <p:cNvPr id="767" name="Google Shape;767;g36710b16073_0_48"/>
          <p:cNvSpPr/>
          <p:nvPr/>
        </p:nvSpPr>
        <p:spPr>
          <a:xfrm>
            <a:off x="2102037" y="304962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Siempre debe traer muchas cosas, ya que utiliza su computador para tomar </a:t>
            </a:r>
            <a:r>
              <a:rPr lang="en-US" sz="1500">
                <a:solidFill>
                  <a:schemeClr val="dk1"/>
                </a:solidFill>
                <a:latin typeface="Helvetica Neue"/>
                <a:ea typeface="Helvetica Neue"/>
                <a:cs typeface="Helvetica Neue"/>
                <a:sym typeface="Helvetica Neue"/>
              </a:rPr>
              <a:t>apuntes</a:t>
            </a:r>
            <a:r>
              <a:rPr lang="en-US" sz="1500">
                <a:solidFill>
                  <a:schemeClr val="dk1"/>
                </a:solidFill>
                <a:latin typeface="Helvetica Neue"/>
                <a:ea typeface="Helvetica Neue"/>
                <a:cs typeface="Helvetica Neue"/>
                <a:sym typeface="Helvetica Neue"/>
              </a:rPr>
              <a:t>. Además, ella juega voleibol la mayoría de los días por lo que debe traer ropa de cambio. </a:t>
            </a:r>
            <a:endParaRPr sz="1500">
              <a:solidFill>
                <a:schemeClr val="dk1"/>
              </a:solidFill>
              <a:latin typeface="Helvetica Neue"/>
              <a:ea typeface="Helvetica Neue"/>
              <a:cs typeface="Helvetica Neue"/>
              <a:sym typeface="Helvetica Neue"/>
            </a:endParaRPr>
          </a:p>
        </p:txBody>
      </p:sp>
      <p:sp>
        <p:nvSpPr>
          <p:cNvPr id="768" name="Google Shape;768;g36710b16073_0_48"/>
          <p:cNvSpPr/>
          <p:nvPr/>
        </p:nvSpPr>
        <p:spPr>
          <a:xfrm>
            <a:off x="6735299"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Generalmente presenta dolores de espalda. Esta siempre </a:t>
            </a:r>
            <a:r>
              <a:rPr lang="en-US" sz="1500">
                <a:solidFill>
                  <a:schemeClr val="dk1"/>
                </a:solidFill>
                <a:latin typeface="Helvetica Neue"/>
                <a:ea typeface="Helvetica Neue"/>
                <a:cs typeface="Helvetica Neue"/>
                <a:sym typeface="Helvetica Neue"/>
              </a:rPr>
              <a:t>preocupada</a:t>
            </a:r>
            <a:r>
              <a:rPr lang="en-US" sz="1500">
                <a:solidFill>
                  <a:schemeClr val="dk1"/>
                </a:solidFill>
                <a:latin typeface="Helvetica Neue"/>
                <a:ea typeface="Helvetica Neue"/>
                <a:cs typeface="Helvetica Neue"/>
                <a:sym typeface="Helvetica Neue"/>
              </a:rPr>
              <a:t> de su computador, ya que es su </a:t>
            </a:r>
            <a:r>
              <a:rPr lang="en-US" sz="1500">
                <a:solidFill>
                  <a:schemeClr val="dk1"/>
                </a:solidFill>
                <a:latin typeface="Helvetica Neue"/>
                <a:ea typeface="Helvetica Neue"/>
                <a:cs typeface="Helvetica Neue"/>
                <a:sym typeface="Helvetica Neue"/>
              </a:rPr>
              <a:t>única</a:t>
            </a:r>
            <a:r>
              <a:rPr lang="en-US" sz="1500">
                <a:solidFill>
                  <a:schemeClr val="dk1"/>
                </a:solidFill>
                <a:latin typeface="Helvetica Neue"/>
                <a:ea typeface="Helvetica Neue"/>
                <a:cs typeface="Helvetica Neue"/>
                <a:sym typeface="Helvetica Neue"/>
              </a:rPr>
              <a:t> herramienta de </a:t>
            </a:r>
            <a:r>
              <a:rPr lang="en-US" sz="1500">
                <a:solidFill>
                  <a:schemeClr val="dk1"/>
                </a:solidFill>
                <a:latin typeface="Helvetica Neue"/>
                <a:ea typeface="Helvetica Neue"/>
                <a:cs typeface="Helvetica Neue"/>
                <a:sym typeface="Helvetica Neue"/>
              </a:rPr>
              <a:t>trabajo</a:t>
            </a:r>
            <a:r>
              <a:rPr lang="en-US" sz="1500">
                <a:solidFill>
                  <a:schemeClr val="dk1"/>
                </a:solidFill>
                <a:latin typeface="Helvetica Neue"/>
                <a:ea typeface="Helvetica Neue"/>
                <a:cs typeface="Helvetica Neue"/>
                <a:sym typeface="Helvetica Neue"/>
              </a:rPr>
              <a:t> </a:t>
            </a:r>
            <a:endParaRPr b="0" i="0" sz="1500" u="none" cap="none" strike="noStrike">
              <a:solidFill>
                <a:schemeClr val="dk1"/>
              </a:solidFill>
              <a:latin typeface="Helvetica Neue"/>
              <a:ea typeface="Helvetica Neue"/>
              <a:cs typeface="Helvetica Neue"/>
              <a:sym typeface="Helvetica Neue"/>
            </a:endParaRPr>
          </a:p>
        </p:txBody>
      </p:sp>
      <p:sp>
        <p:nvSpPr>
          <p:cNvPr id="769" name="Google Shape;769;g36710b16073_0_48"/>
          <p:cNvSpPr/>
          <p:nvPr/>
        </p:nvSpPr>
        <p:spPr>
          <a:xfrm>
            <a:off x="6735299" y="303045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El día de la entrevista </a:t>
            </a:r>
            <a:r>
              <a:rPr lang="en-US" sz="1500">
                <a:solidFill>
                  <a:schemeClr val="dk1"/>
                </a:solidFill>
                <a:latin typeface="Helvetica Neue"/>
                <a:ea typeface="Helvetica Neue"/>
                <a:cs typeface="Helvetica Neue"/>
                <a:sym typeface="Helvetica Neue"/>
              </a:rPr>
              <a:t>debía</a:t>
            </a:r>
            <a:r>
              <a:rPr lang="en-US" sz="1500">
                <a:solidFill>
                  <a:schemeClr val="dk1"/>
                </a:solidFill>
                <a:latin typeface="Helvetica Neue"/>
                <a:ea typeface="Helvetica Neue"/>
                <a:cs typeface="Helvetica Neue"/>
                <a:sym typeface="Helvetica Neue"/>
              </a:rPr>
              <a:t> realizar una presentación, por lo que debía traer su proyecto. Además, ese día también tenía voleibol por lo que ese día estaba con muchos bolso y preocupada de todas su cosas </a:t>
            </a:r>
            <a:endParaRPr b="0" i="0" sz="1500" u="none" cap="none" strike="noStrike">
              <a:solidFill>
                <a:schemeClr val="dk1"/>
              </a:solidFill>
              <a:latin typeface="Helvetica Neue"/>
              <a:ea typeface="Helvetica Neue"/>
              <a:cs typeface="Helvetica Neue"/>
              <a:sym typeface="Helvetica Neue"/>
            </a:endParaRPr>
          </a:p>
        </p:txBody>
      </p:sp>
      <p:grpSp>
        <p:nvGrpSpPr>
          <p:cNvPr id="770" name="Google Shape;770;g36710b16073_0_48"/>
          <p:cNvGrpSpPr/>
          <p:nvPr/>
        </p:nvGrpSpPr>
        <p:grpSpPr>
          <a:xfrm>
            <a:off x="1212905" y="8677287"/>
            <a:ext cx="10578927" cy="621000"/>
            <a:chOff x="0" y="0"/>
            <a:chExt cx="10578927" cy="621000"/>
          </a:xfrm>
        </p:grpSpPr>
        <p:cxnSp>
          <p:nvCxnSpPr>
            <p:cNvPr id="771" name="Google Shape;771;g36710b16073_0_48"/>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772" name="Google Shape;772;g36710b16073_0_48"/>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73" name="Google Shape;773;g36710b16073_0_48"/>
            <p:cNvSpPr/>
            <p:nvPr/>
          </p:nvSpPr>
          <p:spPr>
            <a:xfrm>
              <a:off x="2489481" y="0"/>
              <a:ext cx="621000" cy="621000"/>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74" name="Google Shape;774;g36710b16073_0_48"/>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75" name="Google Shape;775;g36710b16073_0_48"/>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76" name="Google Shape;776;g36710b16073_0_48"/>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777" name="Google Shape;777;g36710b16073_0_48"/>
          <p:cNvSpPr txBox="1"/>
          <p:nvPr/>
        </p:nvSpPr>
        <p:spPr>
          <a:xfrm>
            <a:off x="4971200" y="314625"/>
            <a:ext cx="7588500" cy="7695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Helvetica Neue"/>
                <a:ea typeface="Helvetica Neue"/>
                <a:cs typeface="Helvetica Neue"/>
                <a:sym typeface="Helvetica Neue"/>
              </a:rPr>
              <a:t>Pegar fotos de trabajo en clases</a:t>
            </a:r>
            <a:endParaRPr b="0" i="0" sz="3800" u="none" cap="none" strike="noStrike">
              <a:solidFill>
                <a:schemeClr val="lt1"/>
              </a:solidFill>
              <a:latin typeface="Helvetica Neue"/>
              <a:ea typeface="Helvetica Neue"/>
              <a:cs typeface="Helvetica Neue"/>
              <a:sym typeface="Helvetica Neue"/>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g366035f45a8_0_24"/>
          <p:cNvSpPr/>
          <p:nvPr/>
        </p:nvSpPr>
        <p:spPr>
          <a:xfrm>
            <a:off x="3565800" y="739875"/>
            <a:ext cx="1404900" cy="1223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783" name="Google Shape;783;g366035f45a8_0_24"/>
          <p:cNvSpPr txBox="1"/>
          <p:nvPr/>
        </p:nvSpPr>
        <p:spPr>
          <a:xfrm>
            <a:off x="4254300" y="939375"/>
            <a:ext cx="6565200" cy="1024200"/>
          </a:xfrm>
          <a:prstGeom prst="rect">
            <a:avLst/>
          </a:prstGeom>
          <a:noFill/>
          <a:ln>
            <a:noFill/>
          </a:ln>
        </p:spPr>
        <p:txBody>
          <a:bodyPr anchorCtr="0" anchor="ctr" bIns="54175" lIns="108350" spcFirstLastPara="1" rIns="108350" wrap="square" tIns="54175">
            <a:noAutofit/>
          </a:bodyPr>
          <a:lstStyle/>
          <a:p>
            <a:pPr indent="0" lvl="0" marL="0" marR="0" rtl="0" algn="l">
              <a:lnSpc>
                <a:spcPct val="100000"/>
              </a:lnSpc>
              <a:spcBef>
                <a:spcPts val="0"/>
              </a:spcBef>
              <a:spcAft>
                <a:spcPts val="0"/>
              </a:spcAft>
              <a:buClr>
                <a:srgbClr val="72B843"/>
              </a:buClr>
              <a:buSzPts val="3600"/>
              <a:buFont typeface="Calibri"/>
              <a:buNone/>
            </a:pPr>
            <a:r>
              <a:rPr b="0" i="0" lang="en-US" sz="3600" u="none" cap="none" strike="noStrike">
                <a:solidFill>
                  <a:srgbClr val="72B843"/>
                </a:solidFill>
                <a:latin typeface="Helvetica Neue"/>
                <a:ea typeface="Helvetica Neue"/>
                <a:cs typeface="Helvetica Neue"/>
                <a:sym typeface="Helvetica Neue"/>
              </a:rPr>
              <a:t>  PERFIL PERSONA</a:t>
            </a:r>
            <a:endParaRPr b="0" i="0" sz="1700" u="none" cap="none" strike="noStrike">
              <a:solidFill>
                <a:srgbClr val="000000"/>
              </a:solidFill>
              <a:latin typeface="Helvetica Neue"/>
              <a:ea typeface="Helvetica Neue"/>
              <a:cs typeface="Helvetica Neue"/>
              <a:sym typeface="Helvetica Neue"/>
            </a:endParaRPr>
          </a:p>
        </p:txBody>
      </p:sp>
      <p:pic>
        <p:nvPicPr>
          <p:cNvPr descr="EA11.png" id="784" name="Google Shape;784;g366035f45a8_0_24"/>
          <p:cNvPicPr preferRelativeResize="0"/>
          <p:nvPr/>
        </p:nvPicPr>
        <p:blipFill rotWithShape="1">
          <a:blip r:embed="rId4">
            <a:alphaModFix/>
          </a:blip>
          <a:srcRect b="0" l="0" r="0" t="0"/>
          <a:stretch/>
        </p:blipFill>
        <p:spPr>
          <a:xfrm>
            <a:off x="584305" y="141055"/>
            <a:ext cx="2981494" cy="812331"/>
          </a:xfrm>
          <a:prstGeom prst="rect">
            <a:avLst/>
          </a:prstGeom>
          <a:noFill/>
          <a:ln>
            <a:noFill/>
          </a:ln>
        </p:spPr>
      </p:pic>
      <p:sp>
        <p:nvSpPr>
          <p:cNvPr id="785" name="Google Shape;785;g366035f45a8_0_24"/>
          <p:cNvSpPr txBox="1"/>
          <p:nvPr/>
        </p:nvSpPr>
        <p:spPr>
          <a:xfrm>
            <a:off x="2027025" y="2164325"/>
            <a:ext cx="4144800" cy="885300"/>
          </a:xfrm>
          <a:prstGeom prst="rect">
            <a:avLst/>
          </a:prstGeom>
          <a:noFill/>
          <a:ln>
            <a:noFill/>
          </a:ln>
        </p:spPr>
        <p:txBody>
          <a:bodyPr anchorCtr="0" anchor="t" bIns="0" lIns="0" spcFirstLastPara="1" rIns="0" wrap="square" tIns="77475">
            <a:noAutofit/>
          </a:bodyPr>
          <a:lstStyle/>
          <a:p>
            <a:pPr indent="-120650" lvl="0" marL="101600" marR="0" rtl="0" algn="l">
              <a:lnSpc>
                <a:spcPct val="100000"/>
              </a:lnSpc>
              <a:spcBef>
                <a:spcPts val="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Nombre: </a:t>
            </a:r>
            <a:r>
              <a:rPr lang="en-US" sz="1900">
                <a:solidFill>
                  <a:schemeClr val="dk1"/>
                </a:solidFill>
                <a:latin typeface="Helvetica Neue"/>
                <a:ea typeface="Helvetica Neue"/>
                <a:cs typeface="Helvetica Neue"/>
                <a:sym typeface="Helvetica Neue"/>
              </a:rPr>
              <a:t>Josefa Barra</a:t>
            </a:r>
            <a:endParaRPr b="0" i="0" sz="1900" u="none" cap="none" strike="noStrike">
              <a:solidFill>
                <a:schemeClr val="dk1"/>
              </a:solidFill>
              <a:latin typeface="Helvetica Neue"/>
              <a:ea typeface="Helvetica Neue"/>
              <a:cs typeface="Helvetica Neue"/>
              <a:sym typeface="Helvetica Neue"/>
            </a:endParaRPr>
          </a:p>
          <a:p>
            <a:pPr indent="-120650" lvl="0" marL="101600" marR="0" rtl="0" algn="l">
              <a:lnSpc>
                <a:spcPct val="100000"/>
              </a:lnSpc>
              <a:spcBef>
                <a:spcPts val="50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Descripción General:</a:t>
            </a:r>
            <a:endParaRPr b="0" i="0" sz="1900" u="none" cap="none" strike="noStrike">
              <a:solidFill>
                <a:schemeClr val="dk1"/>
              </a:solidFill>
              <a:latin typeface="Helvetica Neue"/>
              <a:ea typeface="Helvetica Neue"/>
              <a:cs typeface="Helvetica Neue"/>
              <a:sym typeface="Helvetica Neue"/>
            </a:endParaRPr>
          </a:p>
        </p:txBody>
      </p:sp>
      <p:sp>
        <p:nvSpPr>
          <p:cNvPr id="786" name="Google Shape;786;g366035f45a8_0_24"/>
          <p:cNvSpPr txBox="1"/>
          <p:nvPr/>
        </p:nvSpPr>
        <p:spPr>
          <a:xfrm>
            <a:off x="6735300" y="2534125"/>
            <a:ext cx="1988100" cy="481800"/>
          </a:xfrm>
          <a:prstGeom prst="rect">
            <a:avLst/>
          </a:prstGeom>
          <a:noFill/>
          <a:ln>
            <a:noFill/>
          </a:ln>
        </p:spPr>
        <p:txBody>
          <a:bodyPr anchorCtr="0" anchor="t" bIns="54175" lIns="108350" spcFirstLastPara="1" rIns="108350" wrap="square" tIns="5417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3. Actitudes:</a:t>
            </a:r>
            <a:endParaRPr b="0" i="0" sz="1900" u="none" cap="none" strike="noStrike">
              <a:solidFill>
                <a:schemeClr val="dk1"/>
              </a:solidFill>
              <a:latin typeface="Helvetica Neue"/>
              <a:ea typeface="Helvetica Neue"/>
              <a:cs typeface="Helvetica Neue"/>
              <a:sym typeface="Helvetica Neue"/>
            </a:endParaRPr>
          </a:p>
        </p:txBody>
      </p:sp>
      <p:sp>
        <p:nvSpPr>
          <p:cNvPr id="787" name="Google Shape;787;g366035f45a8_0_24"/>
          <p:cNvSpPr txBox="1"/>
          <p:nvPr/>
        </p:nvSpPr>
        <p:spPr>
          <a:xfrm>
            <a:off x="2075052" y="4957867"/>
            <a:ext cx="16032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4. Anhelos:</a:t>
            </a:r>
            <a:endParaRPr b="0" i="0" sz="1900" u="none" cap="none" strike="noStrike">
              <a:solidFill>
                <a:schemeClr val="dk1"/>
              </a:solidFill>
              <a:latin typeface="Helvetica Neue"/>
              <a:ea typeface="Helvetica Neue"/>
              <a:cs typeface="Helvetica Neue"/>
              <a:sym typeface="Helvetica Neue"/>
            </a:endParaRPr>
          </a:p>
        </p:txBody>
      </p:sp>
      <p:sp>
        <p:nvSpPr>
          <p:cNvPr id="788" name="Google Shape;788;g366035f45a8_0_24"/>
          <p:cNvSpPr txBox="1"/>
          <p:nvPr/>
        </p:nvSpPr>
        <p:spPr>
          <a:xfrm>
            <a:off x="6735299" y="4943088"/>
            <a:ext cx="14049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5. Dolores:</a:t>
            </a:r>
            <a:endParaRPr b="0" i="0" sz="1900" u="none" cap="none" strike="noStrike">
              <a:solidFill>
                <a:schemeClr val="dk1"/>
              </a:solidFill>
              <a:latin typeface="Helvetica Neue"/>
              <a:ea typeface="Helvetica Neue"/>
              <a:cs typeface="Helvetica Neue"/>
              <a:sym typeface="Helvetica Neue"/>
            </a:endParaRPr>
          </a:p>
        </p:txBody>
      </p:sp>
      <p:sp>
        <p:nvSpPr>
          <p:cNvPr id="789" name="Google Shape;789;g366035f45a8_0_24"/>
          <p:cNvSpPr txBox="1"/>
          <p:nvPr/>
        </p:nvSpPr>
        <p:spPr>
          <a:xfrm>
            <a:off x="2084801" y="7371725"/>
            <a:ext cx="8781600" cy="3681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6. Una cita que lo </a:t>
            </a:r>
            <a:r>
              <a:rPr lang="en-US" sz="1900">
                <a:solidFill>
                  <a:schemeClr val="dk1"/>
                </a:solidFill>
                <a:latin typeface="Helvetica Neue"/>
                <a:ea typeface="Helvetica Neue"/>
                <a:cs typeface="Helvetica Neue"/>
                <a:sym typeface="Helvetica Neue"/>
              </a:rPr>
              <a:t>caracteriza</a:t>
            </a:r>
            <a:r>
              <a:rPr b="0" i="0" lang="en-US" sz="1900" u="none" cap="none" strike="noStrike">
                <a:solidFill>
                  <a:schemeClr val="dk1"/>
                </a:solidFill>
                <a:latin typeface="Helvetica Neue"/>
                <a:ea typeface="Helvetica Neue"/>
                <a:cs typeface="Helvetica Neue"/>
                <a:sym typeface="Helvetica Neue"/>
              </a:rPr>
              <a:t>:</a:t>
            </a:r>
            <a:endParaRPr b="0" i="0" sz="1900" u="none" cap="none" strike="noStrike">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"Es mi centro de operaciones… pero siento que la mochila me parte en dos."</a:t>
            </a:r>
            <a:endParaRPr sz="18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900"/>
              <a:buFont typeface="Arial"/>
              <a:buNone/>
            </a:pPr>
            <a:r>
              <a:t/>
            </a:r>
            <a:endParaRPr sz="1900">
              <a:solidFill>
                <a:schemeClr val="dk1"/>
              </a:solidFill>
              <a:latin typeface="Helvetica Neue"/>
              <a:ea typeface="Helvetica Neue"/>
              <a:cs typeface="Helvetica Neue"/>
              <a:sym typeface="Helvetica Neue"/>
            </a:endParaRPr>
          </a:p>
        </p:txBody>
      </p:sp>
      <p:sp>
        <p:nvSpPr>
          <p:cNvPr id="790" name="Google Shape;790;g366035f45a8_0_24"/>
          <p:cNvSpPr/>
          <p:nvPr/>
        </p:nvSpPr>
        <p:spPr>
          <a:xfrm flipH="1" rot="10800000">
            <a:off x="2084802" y="8163683"/>
            <a:ext cx="8781494" cy="89700"/>
          </a:xfrm>
          <a:custGeom>
            <a:rect b="b" l="l" r="r" t="t"/>
            <a:pathLst>
              <a:path extrusionOk="0" h="120000" w="5540375">
                <a:moveTo>
                  <a:pt x="0" y="0"/>
                </a:moveTo>
                <a:lnTo>
                  <a:pt x="5539896" y="0"/>
                </a:lnTo>
              </a:path>
            </a:pathLst>
          </a:custGeom>
          <a:noFill/>
          <a:ln cap="flat" cmpd="sng" w="357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791" name="Google Shape;791;g366035f45a8_0_24"/>
          <p:cNvSpPr/>
          <p:nvPr/>
        </p:nvSpPr>
        <p:spPr>
          <a:xfrm>
            <a:off x="2102037" y="304962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Estudiante de Arquitectura con jornadas intensas y prolongadas. Lleva una carga diversa y pesada: tecnología, materiales frágiles, herramientas y artículos personales.</a:t>
            </a:r>
            <a:endParaRPr sz="1500">
              <a:solidFill>
                <a:schemeClr val="dk1"/>
              </a:solidFill>
              <a:latin typeface="Helvetica Neue"/>
              <a:ea typeface="Helvetica Neue"/>
              <a:cs typeface="Helvetica Neue"/>
              <a:sym typeface="Helvetica Neue"/>
            </a:endParaRPr>
          </a:p>
        </p:txBody>
      </p:sp>
      <p:grpSp>
        <p:nvGrpSpPr>
          <p:cNvPr id="792" name="Google Shape;792;g366035f45a8_0_24"/>
          <p:cNvGrpSpPr/>
          <p:nvPr/>
        </p:nvGrpSpPr>
        <p:grpSpPr>
          <a:xfrm>
            <a:off x="1212905" y="8677287"/>
            <a:ext cx="10578927" cy="621000"/>
            <a:chOff x="0" y="0"/>
            <a:chExt cx="10578927" cy="621000"/>
          </a:xfrm>
        </p:grpSpPr>
        <p:cxnSp>
          <p:nvCxnSpPr>
            <p:cNvPr id="793" name="Google Shape;793;g366035f45a8_0_24"/>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794" name="Google Shape;794;g366035f45a8_0_24"/>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95" name="Google Shape;795;g366035f45a8_0_24"/>
            <p:cNvSpPr/>
            <p:nvPr/>
          </p:nvSpPr>
          <p:spPr>
            <a:xfrm>
              <a:off x="2489481" y="0"/>
              <a:ext cx="621000" cy="621000"/>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96" name="Google Shape;796;g366035f45a8_0_24"/>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97" name="Google Shape;797;g366035f45a8_0_24"/>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798" name="Google Shape;798;g366035f45a8_0_24"/>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799" name="Google Shape;799;g366035f45a8_0_24"/>
          <p:cNvSpPr txBox="1"/>
          <p:nvPr/>
        </p:nvSpPr>
        <p:spPr>
          <a:xfrm>
            <a:off x="4971200" y="314625"/>
            <a:ext cx="7588500" cy="7695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Helvetica Neue"/>
                <a:ea typeface="Helvetica Neue"/>
                <a:cs typeface="Helvetica Neue"/>
                <a:sym typeface="Helvetica Neue"/>
              </a:rPr>
              <a:t>Pegar fotos de trabajo en clases</a:t>
            </a:r>
            <a:endParaRPr b="0" i="0" sz="3800" u="none" cap="none" strike="noStrike">
              <a:solidFill>
                <a:schemeClr val="lt1"/>
              </a:solidFill>
              <a:latin typeface="Helvetica Neue"/>
              <a:ea typeface="Helvetica Neue"/>
              <a:cs typeface="Helvetica Neue"/>
              <a:sym typeface="Helvetica Neue"/>
            </a:endParaRPr>
          </a:p>
        </p:txBody>
      </p:sp>
      <p:sp>
        <p:nvSpPr>
          <p:cNvPr id="800" name="Google Shape;800;g366035f45a8_0_24"/>
          <p:cNvSpPr/>
          <p:nvPr/>
        </p:nvSpPr>
        <p:spPr>
          <a:xfrm>
            <a:off x="6735299" y="303045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Precavida y organizada. Planifica su día con antelación para llevar lo esencial, pero también se ve obligada a cargar con extras. Busca eficiencia, sin descuidar la protección de sus materiales delicados.</a:t>
            </a:r>
            <a:endParaRPr b="0" i="0" sz="1500" u="none" cap="none" strike="noStrike">
              <a:solidFill>
                <a:schemeClr val="dk1"/>
              </a:solidFill>
              <a:latin typeface="Helvetica Neue"/>
              <a:ea typeface="Helvetica Neue"/>
              <a:cs typeface="Helvetica Neue"/>
              <a:sym typeface="Helvetica Neue"/>
            </a:endParaRPr>
          </a:p>
        </p:txBody>
      </p:sp>
      <p:sp>
        <p:nvSpPr>
          <p:cNvPr id="801" name="Google Shape;801;g366035f45a8_0_24"/>
          <p:cNvSpPr/>
          <p:nvPr/>
        </p:nvSpPr>
        <p:spPr>
          <a:xfrm>
            <a:off x="2027024"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Le gustaría moverse más libremente y no depender tanto de la carga física. Aspira a una solución que alivie el peso sin comprometer sus herramientas de trabajo ni su capacidad de respuesta ante imprevistos.</a:t>
            </a:r>
            <a:endParaRPr b="0" i="0" sz="1500" u="none" cap="none" strike="noStrike">
              <a:solidFill>
                <a:schemeClr val="dk1"/>
              </a:solidFill>
              <a:latin typeface="Helvetica Neue"/>
              <a:ea typeface="Helvetica Neue"/>
              <a:cs typeface="Helvetica Neue"/>
              <a:sym typeface="Helvetica Neue"/>
            </a:endParaRPr>
          </a:p>
        </p:txBody>
      </p:sp>
      <p:sp>
        <p:nvSpPr>
          <p:cNvPr id="802" name="Google Shape;802;g366035f45a8_0_24"/>
          <p:cNvSpPr/>
          <p:nvPr/>
        </p:nvSpPr>
        <p:spPr>
          <a:xfrm>
            <a:off x="6735299"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Dolor físico (espalda baja, hombros, cuello) por la sobrecarga. Frustración por las limitaciones sociales y logísticas que le impone su mochila. Siente que afecta su movilidad, comodidad y decisiones cotidianas.</a:t>
            </a:r>
            <a:endParaRPr b="0" i="0" sz="15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g3673eb35b80_0_75"/>
          <p:cNvSpPr/>
          <p:nvPr/>
        </p:nvSpPr>
        <p:spPr>
          <a:xfrm>
            <a:off x="3565800" y="739875"/>
            <a:ext cx="1404900" cy="1223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808" name="Google Shape;808;g3673eb35b80_0_75"/>
          <p:cNvSpPr txBox="1"/>
          <p:nvPr/>
        </p:nvSpPr>
        <p:spPr>
          <a:xfrm>
            <a:off x="4254300" y="939375"/>
            <a:ext cx="6565200" cy="1024200"/>
          </a:xfrm>
          <a:prstGeom prst="rect">
            <a:avLst/>
          </a:prstGeom>
          <a:noFill/>
          <a:ln>
            <a:noFill/>
          </a:ln>
        </p:spPr>
        <p:txBody>
          <a:bodyPr anchorCtr="0" anchor="ctr" bIns="54175" lIns="108350" spcFirstLastPara="1" rIns="108350" wrap="square" tIns="54175">
            <a:noAutofit/>
          </a:bodyPr>
          <a:lstStyle/>
          <a:p>
            <a:pPr indent="0" lvl="0" marL="0" marR="0" rtl="0" algn="l">
              <a:lnSpc>
                <a:spcPct val="100000"/>
              </a:lnSpc>
              <a:spcBef>
                <a:spcPts val="0"/>
              </a:spcBef>
              <a:spcAft>
                <a:spcPts val="0"/>
              </a:spcAft>
              <a:buClr>
                <a:srgbClr val="72B843"/>
              </a:buClr>
              <a:buSzPts val="3600"/>
              <a:buFont typeface="Calibri"/>
              <a:buNone/>
            </a:pPr>
            <a:r>
              <a:rPr b="0" i="0" lang="en-US" sz="3600" u="none" cap="none" strike="noStrike">
                <a:solidFill>
                  <a:srgbClr val="72B843"/>
                </a:solidFill>
                <a:latin typeface="Helvetica Neue"/>
                <a:ea typeface="Helvetica Neue"/>
                <a:cs typeface="Helvetica Neue"/>
                <a:sym typeface="Helvetica Neue"/>
              </a:rPr>
              <a:t>  PERFIL PERSONA</a:t>
            </a:r>
            <a:endParaRPr b="0" i="0" sz="1700" u="none" cap="none" strike="noStrike">
              <a:solidFill>
                <a:srgbClr val="000000"/>
              </a:solidFill>
              <a:latin typeface="Helvetica Neue"/>
              <a:ea typeface="Helvetica Neue"/>
              <a:cs typeface="Helvetica Neue"/>
              <a:sym typeface="Helvetica Neue"/>
            </a:endParaRPr>
          </a:p>
        </p:txBody>
      </p:sp>
      <p:pic>
        <p:nvPicPr>
          <p:cNvPr descr="EA11.png" id="809" name="Google Shape;809;g3673eb35b80_0_75"/>
          <p:cNvPicPr preferRelativeResize="0"/>
          <p:nvPr/>
        </p:nvPicPr>
        <p:blipFill rotWithShape="1">
          <a:blip r:embed="rId4">
            <a:alphaModFix/>
          </a:blip>
          <a:srcRect b="0" l="0" r="0" t="0"/>
          <a:stretch/>
        </p:blipFill>
        <p:spPr>
          <a:xfrm>
            <a:off x="584305" y="141055"/>
            <a:ext cx="2981494" cy="812331"/>
          </a:xfrm>
          <a:prstGeom prst="rect">
            <a:avLst/>
          </a:prstGeom>
          <a:noFill/>
          <a:ln>
            <a:noFill/>
          </a:ln>
        </p:spPr>
      </p:pic>
      <p:sp>
        <p:nvSpPr>
          <p:cNvPr id="810" name="Google Shape;810;g3673eb35b80_0_75"/>
          <p:cNvSpPr txBox="1"/>
          <p:nvPr/>
        </p:nvSpPr>
        <p:spPr>
          <a:xfrm>
            <a:off x="2027025" y="2164325"/>
            <a:ext cx="4144800" cy="885300"/>
          </a:xfrm>
          <a:prstGeom prst="rect">
            <a:avLst/>
          </a:prstGeom>
          <a:noFill/>
          <a:ln>
            <a:noFill/>
          </a:ln>
        </p:spPr>
        <p:txBody>
          <a:bodyPr anchorCtr="0" anchor="t" bIns="0" lIns="0" spcFirstLastPara="1" rIns="0" wrap="square" tIns="77475">
            <a:noAutofit/>
          </a:bodyPr>
          <a:lstStyle/>
          <a:p>
            <a:pPr indent="-120650" lvl="0" marL="101600" marR="0" rtl="0" algn="l">
              <a:lnSpc>
                <a:spcPct val="100000"/>
              </a:lnSpc>
              <a:spcBef>
                <a:spcPts val="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Nombre: </a:t>
            </a:r>
            <a:r>
              <a:rPr lang="en-US" sz="1900">
                <a:solidFill>
                  <a:schemeClr val="dk1"/>
                </a:solidFill>
                <a:latin typeface="Helvetica Neue"/>
                <a:ea typeface="Helvetica Neue"/>
                <a:cs typeface="Helvetica Neue"/>
                <a:sym typeface="Helvetica Neue"/>
              </a:rPr>
              <a:t>Sandra</a:t>
            </a:r>
            <a:endParaRPr b="0" i="0" sz="1900" u="none" cap="none" strike="noStrike">
              <a:solidFill>
                <a:schemeClr val="dk1"/>
              </a:solidFill>
              <a:latin typeface="Helvetica Neue"/>
              <a:ea typeface="Helvetica Neue"/>
              <a:cs typeface="Helvetica Neue"/>
              <a:sym typeface="Helvetica Neue"/>
            </a:endParaRPr>
          </a:p>
          <a:p>
            <a:pPr indent="-120650" lvl="0" marL="101600" marR="0" rtl="0" algn="l">
              <a:lnSpc>
                <a:spcPct val="100000"/>
              </a:lnSpc>
              <a:spcBef>
                <a:spcPts val="500"/>
              </a:spcBef>
              <a:spcAft>
                <a:spcPts val="0"/>
              </a:spcAft>
              <a:buClr>
                <a:schemeClr val="dk1"/>
              </a:buClr>
              <a:buSzPts val="1900"/>
              <a:buFont typeface="Nunito"/>
              <a:buAutoNum type="arabicPeriod"/>
            </a:pPr>
            <a:r>
              <a:rPr b="0" i="0" lang="en-US" sz="1900" u="none" cap="none" strike="noStrike">
                <a:solidFill>
                  <a:schemeClr val="dk1"/>
                </a:solidFill>
                <a:latin typeface="Helvetica Neue"/>
                <a:ea typeface="Helvetica Neue"/>
                <a:cs typeface="Helvetica Neue"/>
                <a:sym typeface="Helvetica Neue"/>
              </a:rPr>
              <a:t>Descripción General:</a:t>
            </a:r>
            <a:endParaRPr b="0" i="0" sz="1900" u="none" cap="none" strike="noStrike">
              <a:solidFill>
                <a:schemeClr val="dk1"/>
              </a:solidFill>
              <a:latin typeface="Helvetica Neue"/>
              <a:ea typeface="Helvetica Neue"/>
              <a:cs typeface="Helvetica Neue"/>
              <a:sym typeface="Helvetica Neue"/>
            </a:endParaRPr>
          </a:p>
        </p:txBody>
      </p:sp>
      <p:sp>
        <p:nvSpPr>
          <p:cNvPr id="811" name="Google Shape;811;g3673eb35b80_0_75"/>
          <p:cNvSpPr txBox="1"/>
          <p:nvPr/>
        </p:nvSpPr>
        <p:spPr>
          <a:xfrm>
            <a:off x="6735300" y="2534125"/>
            <a:ext cx="1988100" cy="481800"/>
          </a:xfrm>
          <a:prstGeom prst="rect">
            <a:avLst/>
          </a:prstGeom>
          <a:noFill/>
          <a:ln>
            <a:noFill/>
          </a:ln>
        </p:spPr>
        <p:txBody>
          <a:bodyPr anchorCtr="0" anchor="t" bIns="54175" lIns="108350" spcFirstLastPara="1" rIns="108350" wrap="square" tIns="5417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3. Actitudes:</a:t>
            </a:r>
            <a:endParaRPr b="0" i="0" sz="1900" u="none" cap="none" strike="noStrike">
              <a:solidFill>
                <a:schemeClr val="dk1"/>
              </a:solidFill>
              <a:latin typeface="Helvetica Neue"/>
              <a:ea typeface="Helvetica Neue"/>
              <a:cs typeface="Helvetica Neue"/>
              <a:sym typeface="Helvetica Neue"/>
            </a:endParaRPr>
          </a:p>
        </p:txBody>
      </p:sp>
      <p:sp>
        <p:nvSpPr>
          <p:cNvPr id="812" name="Google Shape;812;g3673eb35b80_0_75"/>
          <p:cNvSpPr txBox="1"/>
          <p:nvPr/>
        </p:nvSpPr>
        <p:spPr>
          <a:xfrm>
            <a:off x="2075052" y="4957867"/>
            <a:ext cx="16032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4. Anhelos:</a:t>
            </a:r>
            <a:endParaRPr b="0" i="0" sz="1900" u="none" cap="none" strike="noStrike">
              <a:solidFill>
                <a:schemeClr val="dk1"/>
              </a:solidFill>
              <a:latin typeface="Helvetica Neue"/>
              <a:ea typeface="Helvetica Neue"/>
              <a:cs typeface="Helvetica Neue"/>
              <a:sym typeface="Helvetica Neue"/>
            </a:endParaRPr>
          </a:p>
        </p:txBody>
      </p:sp>
      <p:sp>
        <p:nvSpPr>
          <p:cNvPr id="813" name="Google Shape;813;g3673eb35b80_0_75"/>
          <p:cNvSpPr txBox="1"/>
          <p:nvPr/>
        </p:nvSpPr>
        <p:spPr>
          <a:xfrm>
            <a:off x="6735299" y="4943088"/>
            <a:ext cx="1404900" cy="3666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5. Dolores:</a:t>
            </a:r>
            <a:endParaRPr b="0" i="0" sz="1900" u="none" cap="none" strike="noStrike">
              <a:solidFill>
                <a:schemeClr val="dk1"/>
              </a:solidFill>
              <a:latin typeface="Helvetica Neue"/>
              <a:ea typeface="Helvetica Neue"/>
              <a:cs typeface="Helvetica Neue"/>
              <a:sym typeface="Helvetica Neue"/>
            </a:endParaRPr>
          </a:p>
        </p:txBody>
      </p:sp>
      <p:sp>
        <p:nvSpPr>
          <p:cNvPr id="814" name="Google Shape;814;g3673eb35b80_0_75"/>
          <p:cNvSpPr txBox="1"/>
          <p:nvPr/>
        </p:nvSpPr>
        <p:spPr>
          <a:xfrm>
            <a:off x="2084801" y="7371725"/>
            <a:ext cx="8781600" cy="368100"/>
          </a:xfrm>
          <a:prstGeom prst="rect">
            <a:avLst/>
          </a:prstGeom>
          <a:noFill/>
          <a:ln>
            <a:noFill/>
          </a:ln>
        </p:spPr>
        <p:txBody>
          <a:bodyPr anchorCtr="0" anchor="t" bIns="0" lIns="0" spcFirstLastPara="1" rIns="0" wrap="square" tIns="13325">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Helvetica Neue"/>
                <a:ea typeface="Helvetica Neue"/>
                <a:cs typeface="Helvetica Neue"/>
                <a:sym typeface="Helvetica Neue"/>
              </a:rPr>
              <a:t>6. Una cita que lo </a:t>
            </a:r>
            <a:r>
              <a:rPr lang="en-US" sz="1900">
                <a:solidFill>
                  <a:schemeClr val="dk1"/>
                </a:solidFill>
                <a:latin typeface="Helvetica Neue"/>
                <a:ea typeface="Helvetica Neue"/>
                <a:cs typeface="Helvetica Neue"/>
                <a:sym typeface="Helvetica Neue"/>
              </a:rPr>
              <a:t>caracteriza</a:t>
            </a:r>
            <a:r>
              <a:rPr b="0" i="0" lang="en-US" sz="1900" u="none" cap="none" strike="noStrike">
                <a:solidFill>
                  <a:schemeClr val="dk1"/>
                </a:solidFill>
                <a:latin typeface="Helvetica Neue"/>
                <a:ea typeface="Helvetica Neue"/>
                <a:cs typeface="Helvetica Neue"/>
                <a:sym typeface="Helvetica Neue"/>
              </a:rPr>
              <a:t>:</a:t>
            </a:r>
            <a:endParaRPr b="0" i="0" sz="1900" u="none" cap="none" strike="noStrike">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"Ambos…, porque tengo un respaldo por si pierdo el computador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800"/>
              <a:buFont typeface="Helvetica Neue"/>
              <a:buNone/>
            </a:pPr>
            <a:r>
              <a:rPr lang="en-US" sz="1800">
                <a:solidFill>
                  <a:schemeClr val="dk1"/>
                </a:solidFill>
                <a:latin typeface="Helvetica Neue"/>
                <a:ea typeface="Helvetica Neue"/>
                <a:cs typeface="Helvetica Neue"/>
                <a:sym typeface="Helvetica Neue"/>
              </a:rPr>
              <a:t>“Organizar los apuntes siemple influye, porque al hacerlo estoy estudiando”</a:t>
            </a:r>
            <a:endParaRPr sz="18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900"/>
              <a:buFont typeface="Arial"/>
              <a:buNone/>
            </a:pPr>
            <a:r>
              <a:t/>
            </a:r>
            <a:endParaRPr sz="1900">
              <a:solidFill>
                <a:schemeClr val="dk1"/>
              </a:solidFill>
              <a:latin typeface="Helvetica Neue"/>
              <a:ea typeface="Helvetica Neue"/>
              <a:cs typeface="Helvetica Neue"/>
              <a:sym typeface="Helvetica Neue"/>
            </a:endParaRPr>
          </a:p>
        </p:txBody>
      </p:sp>
      <p:sp>
        <p:nvSpPr>
          <p:cNvPr id="815" name="Google Shape;815;g3673eb35b80_0_75"/>
          <p:cNvSpPr/>
          <p:nvPr/>
        </p:nvSpPr>
        <p:spPr>
          <a:xfrm flipH="1" rot="10800000">
            <a:off x="2084802" y="8163683"/>
            <a:ext cx="8781494" cy="89700"/>
          </a:xfrm>
          <a:custGeom>
            <a:rect b="b" l="l" r="r" t="t"/>
            <a:pathLst>
              <a:path extrusionOk="0" h="120000" w="5540375">
                <a:moveTo>
                  <a:pt x="0" y="0"/>
                </a:moveTo>
                <a:lnTo>
                  <a:pt x="5539896" y="0"/>
                </a:lnTo>
              </a:path>
            </a:pathLst>
          </a:custGeom>
          <a:noFill/>
          <a:ln cap="flat" cmpd="sng" w="357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816" name="Google Shape;816;g3673eb35b80_0_75"/>
          <p:cNvSpPr/>
          <p:nvPr/>
        </p:nvSpPr>
        <p:spPr>
          <a:xfrm>
            <a:off x="2102037" y="304962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 Persona con notoria experiencia en el </a:t>
            </a:r>
            <a:r>
              <a:rPr lang="en-US" sz="1500">
                <a:solidFill>
                  <a:schemeClr val="dk1"/>
                </a:solidFill>
                <a:latin typeface="Helvetica Neue"/>
                <a:ea typeface="Helvetica Neue"/>
                <a:cs typeface="Helvetica Neue"/>
                <a:sym typeface="Helvetica Neue"/>
              </a:rPr>
              <a:t>ámbito</a:t>
            </a:r>
            <a:r>
              <a:rPr lang="en-US" sz="1500">
                <a:solidFill>
                  <a:schemeClr val="dk1"/>
                </a:solidFill>
                <a:latin typeface="Helvetica Neue"/>
                <a:ea typeface="Helvetica Neue"/>
                <a:cs typeface="Helvetica Neue"/>
                <a:sym typeface="Helvetica Neue"/>
              </a:rPr>
              <a:t>   de la organización. Bolso a simple vista liviano. </a:t>
            </a:r>
            <a:endParaRPr sz="1500">
              <a:solidFill>
                <a:schemeClr val="dk1"/>
              </a:solidFill>
              <a:latin typeface="Helvetica Neue"/>
              <a:ea typeface="Helvetica Neue"/>
              <a:cs typeface="Helvetica Neue"/>
              <a:sym typeface="Helvetica Neue"/>
            </a:endParaRPr>
          </a:p>
        </p:txBody>
      </p:sp>
      <p:grpSp>
        <p:nvGrpSpPr>
          <p:cNvPr id="817" name="Google Shape;817;g3673eb35b80_0_75"/>
          <p:cNvGrpSpPr/>
          <p:nvPr/>
        </p:nvGrpSpPr>
        <p:grpSpPr>
          <a:xfrm>
            <a:off x="1212905" y="8677287"/>
            <a:ext cx="10578927" cy="621000"/>
            <a:chOff x="0" y="0"/>
            <a:chExt cx="10578927" cy="621000"/>
          </a:xfrm>
        </p:grpSpPr>
        <p:cxnSp>
          <p:nvCxnSpPr>
            <p:cNvPr id="818" name="Google Shape;818;g3673eb35b80_0_75"/>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819" name="Google Shape;819;g3673eb35b80_0_75"/>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20" name="Google Shape;820;g3673eb35b80_0_75"/>
            <p:cNvSpPr/>
            <p:nvPr/>
          </p:nvSpPr>
          <p:spPr>
            <a:xfrm>
              <a:off x="2489481" y="0"/>
              <a:ext cx="621000" cy="621000"/>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21" name="Google Shape;821;g3673eb35b80_0_75"/>
            <p:cNvSpPr/>
            <p:nvPr/>
          </p:nvSpPr>
          <p:spPr>
            <a:xfrm>
              <a:off x="4978963"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22" name="Google Shape;822;g3673eb35b80_0_75"/>
            <p:cNvSpPr/>
            <p:nvPr/>
          </p:nvSpPr>
          <p:spPr>
            <a:xfrm>
              <a:off x="7468444"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23" name="Google Shape;823;g3673eb35b80_0_75"/>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60"/>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824" name="Google Shape;824;g3673eb35b80_0_75"/>
          <p:cNvSpPr txBox="1"/>
          <p:nvPr/>
        </p:nvSpPr>
        <p:spPr>
          <a:xfrm>
            <a:off x="4971200" y="314625"/>
            <a:ext cx="7588500" cy="7695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Helvetica Neue"/>
                <a:ea typeface="Helvetica Neue"/>
                <a:cs typeface="Helvetica Neue"/>
                <a:sym typeface="Helvetica Neue"/>
              </a:rPr>
              <a:t>Pegar fotos de trabajo en clases</a:t>
            </a:r>
            <a:endParaRPr b="0" i="0" sz="3800" u="none" cap="none" strike="noStrike">
              <a:solidFill>
                <a:schemeClr val="lt1"/>
              </a:solidFill>
              <a:latin typeface="Helvetica Neue"/>
              <a:ea typeface="Helvetica Neue"/>
              <a:cs typeface="Helvetica Neue"/>
              <a:sym typeface="Helvetica Neue"/>
            </a:endParaRPr>
          </a:p>
        </p:txBody>
      </p:sp>
      <p:sp>
        <p:nvSpPr>
          <p:cNvPr id="825" name="Google Shape;825;g3673eb35b80_0_75"/>
          <p:cNvSpPr/>
          <p:nvPr/>
        </p:nvSpPr>
        <p:spPr>
          <a:xfrm>
            <a:off x="6735299" y="3030458"/>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Organizada y precavida. Busca eficiencia y optimización. Lleva </a:t>
            </a:r>
            <a:r>
              <a:rPr lang="en-US" sz="1500">
                <a:solidFill>
                  <a:schemeClr val="dk1"/>
                </a:solidFill>
                <a:latin typeface="Helvetica Neue"/>
                <a:ea typeface="Helvetica Neue"/>
                <a:cs typeface="Helvetica Neue"/>
                <a:sym typeface="Helvetica Neue"/>
              </a:rPr>
              <a:t>únicamente</a:t>
            </a:r>
            <a:r>
              <a:rPr lang="en-US" sz="1500">
                <a:solidFill>
                  <a:schemeClr val="dk1"/>
                </a:solidFill>
                <a:latin typeface="Helvetica Neue"/>
                <a:ea typeface="Helvetica Neue"/>
                <a:cs typeface="Helvetica Neue"/>
                <a:sym typeface="Helvetica Neue"/>
              </a:rPr>
              <a:t> lo que va a usar. </a:t>
            </a:r>
            <a:endParaRPr b="0" i="0" sz="1500" u="none" cap="none" strike="noStrike">
              <a:solidFill>
                <a:schemeClr val="dk1"/>
              </a:solidFill>
              <a:latin typeface="Helvetica Neue"/>
              <a:ea typeface="Helvetica Neue"/>
              <a:cs typeface="Helvetica Neue"/>
              <a:sym typeface="Helvetica Neue"/>
            </a:endParaRPr>
          </a:p>
        </p:txBody>
      </p:sp>
      <p:sp>
        <p:nvSpPr>
          <p:cNvPr id="826" name="Google Shape;826;g3673eb35b80_0_75"/>
          <p:cNvSpPr/>
          <p:nvPr/>
        </p:nvSpPr>
        <p:spPr>
          <a:xfrm>
            <a:off x="2027024" y="5364777"/>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Anhela una forma más </a:t>
            </a:r>
            <a:r>
              <a:rPr lang="en-US" sz="1500">
                <a:solidFill>
                  <a:schemeClr val="dk1"/>
                </a:solidFill>
                <a:latin typeface="Helvetica Neue"/>
                <a:ea typeface="Helvetica Neue"/>
                <a:cs typeface="Helvetica Neue"/>
                <a:sym typeface="Helvetica Neue"/>
              </a:rPr>
              <a:t>rápida</a:t>
            </a:r>
            <a:r>
              <a:rPr lang="en-US" sz="1500">
                <a:solidFill>
                  <a:schemeClr val="dk1"/>
                </a:solidFill>
                <a:latin typeface="Helvetica Neue"/>
                <a:ea typeface="Helvetica Neue"/>
                <a:cs typeface="Helvetica Neue"/>
                <a:sym typeface="Helvetica Neue"/>
              </a:rPr>
              <a:t> de organizar sus apuntes, </a:t>
            </a:r>
            <a:r>
              <a:rPr lang="en-US" sz="1500">
                <a:solidFill>
                  <a:schemeClr val="dk1"/>
                </a:solidFill>
                <a:latin typeface="Helvetica Neue"/>
                <a:ea typeface="Helvetica Neue"/>
                <a:cs typeface="Helvetica Neue"/>
                <a:sym typeface="Helvetica Neue"/>
              </a:rPr>
              <a:t>invierte</a:t>
            </a:r>
            <a:r>
              <a:rPr lang="en-US" sz="1500">
                <a:solidFill>
                  <a:schemeClr val="dk1"/>
                </a:solidFill>
                <a:latin typeface="Helvetica Neue"/>
                <a:ea typeface="Helvetica Neue"/>
                <a:cs typeface="Helvetica Neue"/>
                <a:sym typeface="Helvetica Neue"/>
              </a:rPr>
              <a:t> mucho tiempo en traspasar de lo digital a lo </a:t>
            </a:r>
            <a:r>
              <a:rPr lang="en-US" sz="1500">
                <a:solidFill>
                  <a:schemeClr val="dk1"/>
                </a:solidFill>
                <a:latin typeface="Helvetica Neue"/>
                <a:ea typeface="Helvetica Neue"/>
                <a:cs typeface="Helvetica Neue"/>
                <a:sym typeface="Helvetica Neue"/>
              </a:rPr>
              <a:t>físico</a:t>
            </a:r>
            <a:r>
              <a:rPr lang="en-US" sz="1500">
                <a:solidFill>
                  <a:schemeClr val="dk1"/>
                </a:solidFill>
                <a:latin typeface="Helvetica Neue"/>
                <a:ea typeface="Helvetica Neue"/>
                <a:cs typeface="Helvetica Neue"/>
                <a:sym typeface="Helvetica Neue"/>
              </a:rPr>
              <a:t>, ya que prefiere tener un respaldo tangible de todo, por si llegara a perder su computador.</a:t>
            </a:r>
            <a:endParaRPr b="0" i="0" sz="1500" u="none" cap="none" strike="noStrike">
              <a:solidFill>
                <a:schemeClr val="dk1"/>
              </a:solidFill>
              <a:latin typeface="Helvetica Neue"/>
              <a:ea typeface="Helvetica Neue"/>
              <a:cs typeface="Helvetica Neue"/>
              <a:sym typeface="Helvetica Neue"/>
            </a:endParaRPr>
          </a:p>
        </p:txBody>
      </p:sp>
      <p:sp>
        <p:nvSpPr>
          <p:cNvPr id="827" name="Google Shape;827;g3673eb35b80_0_75"/>
          <p:cNvSpPr/>
          <p:nvPr/>
        </p:nvSpPr>
        <p:spPr>
          <a:xfrm>
            <a:off x="6735299" y="5467115"/>
            <a:ext cx="4127516" cy="1747196"/>
          </a:xfrm>
          <a:custGeom>
            <a:rect b="b" l="l" r="r" t="t"/>
            <a:pathLst>
              <a:path extrusionOk="0" h="1085215" w="2620645">
                <a:moveTo>
                  <a:pt x="248748" y="0"/>
                </a:moveTo>
                <a:lnTo>
                  <a:pt x="2371414" y="0"/>
                </a:lnTo>
                <a:lnTo>
                  <a:pt x="2420913" y="190"/>
                </a:lnTo>
                <a:lnTo>
                  <a:pt x="2460832" y="1523"/>
                </a:lnTo>
                <a:lnTo>
                  <a:pt x="2517407" y="12188"/>
                </a:lnTo>
                <a:lnTo>
                  <a:pt x="2572731" y="47434"/>
                </a:lnTo>
                <a:lnTo>
                  <a:pt x="2607974" y="102761"/>
                </a:lnTo>
                <a:lnTo>
                  <a:pt x="2618639" y="159330"/>
                </a:lnTo>
                <a:lnTo>
                  <a:pt x="2619972" y="199249"/>
                </a:lnTo>
                <a:lnTo>
                  <a:pt x="2620162" y="248748"/>
                </a:lnTo>
                <a:lnTo>
                  <a:pt x="2620162" y="836072"/>
                </a:lnTo>
                <a:lnTo>
                  <a:pt x="2619972" y="885574"/>
                </a:lnTo>
                <a:lnTo>
                  <a:pt x="2618639" y="925493"/>
                </a:lnTo>
                <a:lnTo>
                  <a:pt x="2607974" y="982066"/>
                </a:lnTo>
                <a:lnTo>
                  <a:pt x="2572731" y="1037389"/>
                </a:lnTo>
                <a:lnTo>
                  <a:pt x="2517407" y="1072632"/>
                </a:lnTo>
                <a:lnTo>
                  <a:pt x="2460832" y="1083297"/>
                </a:lnTo>
                <a:lnTo>
                  <a:pt x="2420913" y="1084630"/>
                </a:lnTo>
                <a:lnTo>
                  <a:pt x="2371414" y="1084821"/>
                </a:lnTo>
                <a:lnTo>
                  <a:pt x="248748" y="1084821"/>
                </a:lnTo>
                <a:lnTo>
                  <a:pt x="199249" y="1084630"/>
                </a:lnTo>
                <a:lnTo>
                  <a:pt x="159329" y="1083297"/>
                </a:lnTo>
                <a:lnTo>
                  <a:pt x="102755" y="1072632"/>
                </a:lnTo>
                <a:lnTo>
                  <a:pt x="47433" y="1037389"/>
                </a:lnTo>
                <a:lnTo>
                  <a:pt x="12188" y="982066"/>
                </a:lnTo>
                <a:lnTo>
                  <a:pt x="1523" y="925493"/>
                </a:lnTo>
                <a:lnTo>
                  <a:pt x="190" y="885574"/>
                </a:lnTo>
                <a:lnTo>
                  <a:pt x="0" y="836072"/>
                </a:lnTo>
                <a:lnTo>
                  <a:pt x="0" y="248748"/>
                </a:lnTo>
                <a:lnTo>
                  <a:pt x="190" y="199249"/>
                </a:lnTo>
                <a:lnTo>
                  <a:pt x="1523" y="159330"/>
                </a:lnTo>
                <a:lnTo>
                  <a:pt x="12188" y="102761"/>
                </a:lnTo>
                <a:lnTo>
                  <a:pt x="47433" y="47434"/>
                </a:lnTo>
                <a:lnTo>
                  <a:pt x="102755" y="12188"/>
                </a:lnTo>
                <a:lnTo>
                  <a:pt x="159329" y="1523"/>
                </a:lnTo>
                <a:lnTo>
                  <a:pt x="199249" y="190"/>
                </a:lnTo>
                <a:lnTo>
                  <a:pt x="2487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t/>
            </a:r>
            <a:endParaRPr sz="1500">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00"/>
              <a:buFont typeface="Arial"/>
              <a:buNone/>
            </a:pPr>
            <a:r>
              <a:rPr lang="en-US" sz="1500">
                <a:solidFill>
                  <a:schemeClr val="dk1"/>
                </a:solidFill>
                <a:latin typeface="Helvetica Neue"/>
                <a:ea typeface="Helvetica Neue"/>
                <a:cs typeface="Helvetica Neue"/>
                <a:sym typeface="Helvetica Neue"/>
              </a:rPr>
              <a:t>  Dolor fisico, artritis. Escribe mucho.</a:t>
            </a:r>
            <a:endParaRPr b="0" i="0" sz="15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5"/>
          <p:cNvSpPr/>
          <p:nvPr/>
        </p:nvSpPr>
        <p:spPr>
          <a:xfrm>
            <a:off x="478083" y="2659274"/>
            <a:ext cx="12048600" cy="5383200"/>
          </a:xfrm>
          <a:prstGeom prst="roundRect">
            <a:avLst>
              <a:gd fmla="val 8068" name="adj"/>
            </a:avLst>
          </a:prstGeom>
          <a:noFill/>
          <a:ln cap="flat" cmpd="sng" w="12700">
            <a:solidFill>
              <a:srgbClr val="000000"/>
            </a:solidFill>
            <a:prstDash val="solid"/>
            <a:miter lim="400000"/>
            <a:headEnd len="sm" w="sm" type="none"/>
            <a:tailEnd len="sm" w="sm" type="none"/>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rPr lang="en-US" sz="1600">
                <a:solidFill>
                  <a:srgbClr val="5E5E5E"/>
                </a:solidFill>
                <a:latin typeface="Helvetica Neue"/>
                <a:ea typeface="Helvetica Neue"/>
                <a:cs typeface="Helvetica Neue"/>
                <a:sym typeface="Helvetica Neue"/>
              </a:rPr>
              <a:t>º</a:t>
            </a:r>
            <a:endParaRPr b="0" i="0" sz="1600" u="none" cap="none" strike="noStrike">
              <a:solidFill>
                <a:srgbClr val="5E5E5E"/>
              </a:solidFill>
              <a:latin typeface="Helvetica Neue"/>
              <a:ea typeface="Helvetica Neue"/>
              <a:cs typeface="Helvetica Neue"/>
              <a:sym typeface="Helvetica Neue"/>
            </a:endParaRPr>
          </a:p>
        </p:txBody>
      </p:sp>
      <p:sp>
        <p:nvSpPr>
          <p:cNvPr id="833" name="Google Shape;833;p15"/>
          <p:cNvSpPr txBox="1"/>
          <p:nvPr/>
        </p:nvSpPr>
        <p:spPr>
          <a:xfrm>
            <a:off x="678854" y="4202473"/>
            <a:ext cx="11847900" cy="2051400"/>
          </a:xfrm>
          <a:prstGeom prst="rect">
            <a:avLst/>
          </a:prstGeom>
          <a:noFill/>
          <a:ln>
            <a:noFill/>
          </a:ln>
        </p:spPr>
        <p:txBody>
          <a:bodyPr anchorCtr="0" anchor="ctr" bIns="50800" lIns="50800" spcFirstLastPara="1" rIns="50800" wrap="square" tIns="50800">
            <a:noAutofit/>
          </a:bodyPr>
          <a:lstStyle/>
          <a:p>
            <a:pPr indent="0" lvl="0" marL="0" marR="0" rtl="0" algn="l">
              <a:lnSpc>
                <a:spcPct val="200000"/>
              </a:lnSpc>
              <a:spcBef>
                <a:spcPts val="0"/>
              </a:spcBef>
              <a:spcAft>
                <a:spcPts val="0"/>
              </a:spcAft>
              <a:buClr>
                <a:srgbClr val="5E5E5E"/>
              </a:buClr>
              <a:buSzPts val="3100"/>
              <a:buFont typeface="Helvetica Neue"/>
              <a:buNone/>
            </a:pPr>
            <a:r>
              <a:rPr b="0" i="0" lang="en-US" sz="3100" u="none" cap="none" strike="noStrike">
                <a:solidFill>
                  <a:srgbClr val="5E5E5E"/>
                </a:solidFill>
                <a:latin typeface="Helvetica Neue"/>
                <a:ea typeface="Helvetica Neue"/>
                <a:cs typeface="Helvetica Neue"/>
                <a:sym typeface="Helvetica Neue"/>
              </a:rPr>
              <a:t>“¿Cómo podríamos                                                                </a:t>
            </a:r>
            <a:endParaRPr b="0" i="0" sz="3100" u="none" cap="none" strike="noStrike">
              <a:solidFill>
                <a:srgbClr val="5E5E5E"/>
              </a:solidFill>
              <a:latin typeface="Helvetica Neue"/>
              <a:ea typeface="Helvetica Neue"/>
              <a:cs typeface="Helvetica Neue"/>
              <a:sym typeface="Helvetica Neue"/>
            </a:endParaRPr>
          </a:p>
          <a:p>
            <a:pPr indent="0" lvl="0" marL="0" marR="0" rtl="0" algn="l">
              <a:lnSpc>
                <a:spcPct val="200000"/>
              </a:lnSpc>
              <a:spcBef>
                <a:spcPts val="0"/>
              </a:spcBef>
              <a:spcAft>
                <a:spcPts val="0"/>
              </a:spcAft>
              <a:buClr>
                <a:srgbClr val="5E5E5E"/>
              </a:buClr>
              <a:buSzPts val="3100"/>
              <a:buFont typeface="Helvetica Neue"/>
              <a:buNone/>
            </a:pPr>
            <a:r>
              <a:rPr b="0" i="0" lang="en-US" sz="3100" u="none" cap="none" strike="noStrike">
                <a:solidFill>
                  <a:srgbClr val="5E5E5E"/>
                </a:solidFill>
                <a:latin typeface="Helvetica Neue"/>
                <a:ea typeface="Helvetica Neue"/>
                <a:cs typeface="Helvetica Neue"/>
                <a:sym typeface="Helvetica Neue"/>
              </a:rPr>
              <a:t>de/ para/ a      </a:t>
            </a:r>
            <a:r>
              <a:rPr b="0" i="0" lang="en-US" sz="3600" u="none" cap="none" strike="noStrike">
                <a:solidFill>
                  <a:srgbClr val="5E5E5E"/>
                </a:solidFill>
                <a:latin typeface="Helvetica Neue"/>
                <a:ea typeface="Helvetica Neue"/>
                <a:cs typeface="Helvetica Neue"/>
                <a:sym typeface="Helvetica Neue"/>
              </a:rPr>
              <a:t>                   </a:t>
            </a:r>
            <a:endParaRPr b="0" i="0" sz="1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2600"/>
              </a:spcBef>
              <a:spcAft>
                <a:spcPts val="0"/>
              </a:spcAft>
              <a:buClr>
                <a:srgbClr val="5E5E5E"/>
              </a:buClr>
              <a:buSzPts val="1600"/>
              <a:buFont typeface="Calibri"/>
              <a:buNone/>
            </a:pPr>
            <a:r>
              <a:t/>
            </a:r>
            <a:endParaRPr b="0" i="0" sz="1600" u="none" cap="none" strike="noStrike">
              <a:solidFill>
                <a:srgbClr val="5E5E5E"/>
              </a:solidFill>
              <a:latin typeface="Helvetica Neue"/>
              <a:ea typeface="Helvetica Neue"/>
              <a:cs typeface="Helvetica Neue"/>
              <a:sym typeface="Helvetica Neue"/>
            </a:endParaRPr>
          </a:p>
        </p:txBody>
      </p:sp>
      <p:sp>
        <p:nvSpPr>
          <p:cNvPr id="834" name="Google Shape;834;p15"/>
          <p:cNvSpPr txBox="1"/>
          <p:nvPr/>
        </p:nvSpPr>
        <p:spPr>
          <a:xfrm>
            <a:off x="2745503" y="4592479"/>
            <a:ext cx="9923700" cy="5733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5E5E5E"/>
              </a:buClr>
              <a:buSzPts val="3100"/>
              <a:buFont typeface="Helvetica Neue"/>
              <a:buNone/>
            </a:pPr>
            <a:r>
              <a:rPr b="0" i="0" lang="en-US" sz="2000" u="none" cap="none" strike="noStrike">
                <a:solidFill>
                  <a:srgbClr val="5E5E5E"/>
                </a:solidFill>
                <a:latin typeface="Helvetica Neue"/>
                <a:ea typeface="Helvetica Neue"/>
                <a:cs typeface="Helvetica Neue"/>
                <a:sym typeface="Helvetica Neue"/>
              </a:rPr>
              <a:t>(situación que contemple un verbo QUE ABORDA EL DOLOR O EL ANHELO)</a:t>
            </a:r>
            <a:endParaRPr b="0" i="0" sz="2000" u="none" cap="none" strike="noStrike">
              <a:solidFill>
                <a:srgbClr val="000000"/>
              </a:solidFill>
              <a:latin typeface="Helvetica Neue"/>
              <a:ea typeface="Helvetica Neue"/>
              <a:cs typeface="Helvetica Neue"/>
              <a:sym typeface="Helvetica Neue"/>
            </a:endParaRPr>
          </a:p>
        </p:txBody>
      </p:sp>
      <p:cxnSp>
        <p:nvCxnSpPr>
          <p:cNvPr id="835" name="Google Shape;835;p15"/>
          <p:cNvCxnSpPr/>
          <p:nvPr/>
        </p:nvCxnSpPr>
        <p:spPr>
          <a:xfrm flipH="1" rot="10800000">
            <a:off x="4216647" y="4617508"/>
            <a:ext cx="8109300" cy="8100"/>
          </a:xfrm>
          <a:prstGeom prst="straightConnector1">
            <a:avLst/>
          </a:prstGeom>
          <a:noFill/>
          <a:ln cap="flat" cmpd="sng" w="25400">
            <a:solidFill>
              <a:srgbClr val="5E5E5E"/>
            </a:solidFill>
            <a:prstDash val="solid"/>
            <a:miter lim="400000"/>
            <a:headEnd len="sm" w="sm" type="none"/>
            <a:tailEnd len="sm" w="sm" type="none"/>
          </a:ln>
        </p:spPr>
      </p:cxnSp>
      <p:cxnSp>
        <p:nvCxnSpPr>
          <p:cNvPr id="836" name="Google Shape;836;p15"/>
          <p:cNvCxnSpPr/>
          <p:nvPr/>
        </p:nvCxnSpPr>
        <p:spPr>
          <a:xfrm flipH="1" rot="10800000">
            <a:off x="2745503" y="5705949"/>
            <a:ext cx="8790900" cy="8700"/>
          </a:xfrm>
          <a:prstGeom prst="straightConnector1">
            <a:avLst/>
          </a:prstGeom>
          <a:noFill/>
          <a:ln cap="flat" cmpd="sng" w="25400">
            <a:solidFill>
              <a:srgbClr val="5E5E5E"/>
            </a:solidFill>
            <a:prstDash val="solid"/>
            <a:miter lim="400000"/>
            <a:headEnd len="sm" w="sm" type="none"/>
            <a:tailEnd len="sm" w="sm" type="none"/>
          </a:ln>
        </p:spPr>
      </p:cxnSp>
      <p:sp>
        <p:nvSpPr>
          <p:cNvPr id="837" name="Google Shape;837;p15"/>
          <p:cNvSpPr txBox="1"/>
          <p:nvPr/>
        </p:nvSpPr>
        <p:spPr>
          <a:xfrm>
            <a:off x="4461117" y="5685113"/>
            <a:ext cx="4442700" cy="5910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5E5E5E"/>
              </a:buClr>
              <a:buSzPts val="3100"/>
              <a:buFont typeface="Helvetica Neue"/>
              <a:buNone/>
            </a:pPr>
            <a:r>
              <a:rPr b="0" i="0" lang="en-US" sz="2100" u="none" cap="none" strike="noStrike">
                <a:solidFill>
                  <a:srgbClr val="5E5E5E"/>
                </a:solidFill>
                <a:latin typeface="Helvetica Neue"/>
                <a:ea typeface="Helvetica Neue"/>
                <a:cs typeface="Helvetica Neue"/>
                <a:sym typeface="Helvetica Neue"/>
              </a:rPr>
              <a:t>(el perfil persona - arquetipo) </a:t>
            </a:r>
            <a:endParaRPr b="0" i="0" sz="2100" u="none" cap="none" strike="noStrike">
              <a:solidFill>
                <a:srgbClr val="000000"/>
              </a:solidFill>
              <a:latin typeface="Helvetica Neue"/>
              <a:ea typeface="Helvetica Neue"/>
              <a:cs typeface="Helvetica Neue"/>
              <a:sym typeface="Helvetica Neue"/>
            </a:endParaRPr>
          </a:p>
        </p:txBody>
      </p:sp>
      <p:sp>
        <p:nvSpPr>
          <p:cNvPr id="838" name="Google Shape;838;p15"/>
          <p:cNvSpPr txBox="1"/>
          <p:nvPr/>
        </p:nvSpPr>
        <p:spPr>
          <a:xfrm>
            <a:off x="5038369" y="6754028"/>
            <a:ext cx="2307000" cy="5910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5E5E5E"/>
              </a:buClr>
              <a:buSzPts val="3200"/>
              <a:buFont typeface="Calibri"/>
              <a:buNone/>
            </a:pPr>
            <a:r>
              <a:rPr b="0" i="0" lang="en-US" sz="2100" u="none" cap="none" strike="noStrike">
                <a:solidFill>
                  <a:srgbClr val="5E5E5E"/>
                </a:solidFill>
                <a:latin typeface="Helvetica Neue"/>
                <a:ea typeface="Helvetica Neue"/>
                <a:cs typeface="Helvetica Neue"/>
                <a:sym typeface="Helvetica Neue"/>
              </a:rPr>
              <a:t> (contexto)</a:t>
            </a:r>
            <a:endParaRPr b="0" i="0" sz="2100" u="none" cap="none" strike="noStrike">
              <a:solidFill>
                <a:srgbClr val="000000"/>
              </a:solidFill>
              <a:latin typeface="Helvetica Neue"/>
              <a:ea typeface="Helvetica Neue"/>
              <a:cs typeface="Helvetica Neue"/>
              <a:sym typeface="Helvetica Neue"/>
            </a:endParaRPr>
          </a:p>
        </p:txBody>
      </p:sp>
      <p:sp>
        <p:nvSpPr>
          <p:cNvPr id="839" name="Google Shape;839;p15"/>
          <p:cNvSpPr txBox="1"/>
          <p:nvPr/>
        </p:nvSpPr>
        <p:spPr>
          <a:xfrm>
            <a:off x="767275" y="6508108"/>
            <a:ext cx="9335400" cy="230888"/>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5E5E5E"/>
              </a:buClr>
              <a:buSzPts val="3100"/>
              <a:buFont typeface="Helvetica Neue"/>
              <a:buNone/>
            </a:pPr>
            <a:r>
              <a:rPr b="0" i="0" lang="en-US" sz="3100" u="none" cap="none" strike="noStrike">
                <a:solidFill>
                  <a:srgbClr val="5E5E5E"/>
                </a:solidFill>
                <a:latin typeface="Helvetica Neue"/>
                <a:ea typeface="Helvetica Neue"/>
                <a:cs typeface="Helvetica Neue"/>
                <a:sym typeface="Helvetica Neue"/>
              </a:rPr>
              <a:t>en/ cuando                                               		     ?</a:t>
            </a:r>
            <a:endParaRPr b="0" i="0" sz="3100" u="none" cap="none" strike="noStrike">
              <a:solidFill>
                <a:srgbClr val="5E5E5E"/>
              </a:solidFill>
              <a:latin typeface="Helvetica Neue"/>
              <a:ea typeface="Helvetica Neue"/>
              <a:cs typeface="Helvetica Neue"/>
              <a:sym typeface="Helvetica Neue"/>
            </a:endParaRPr>
          </a:p>
        </p:txBody>
      </p:sp>
      <p:cxnSp>
        <p:nvCxnSpPr>
          <p:cNvPr id="840" name="Google Shape;840;p15"/>
          <p:cNvCxnSpPr/>
          <p:nvPr/>
        </p:nvCxnSpPr>
        <p:spPr>
          <a:xfrm>
            <a:off x="2961208" y="6819181"/>
            <a:ext cx="6649200" cy="20400"/>
          </a:xfrm>
          <a:prstGeom prst="straightConnector1">
            <a:avLst/>
          </a:prstGeom>
          <a:noFill/>
          <a:ln cap="flat" cmpd="sng" w="25400">
            <a:solidFill>
              <a:srgbClr val="5E5E5E"/>
            </a:solidFill>
            <a:prstDash val="solid"/>
            <a:miter lim="400000"/>
            <a:headEnd len="sm" w="sm" type="none"/>
            <a:tailEnd len="sm" w="sm" type="none"/>
          </a:ln>
        </p:spPr>
      </p:cxnSp>
      <p:sp>
        <p:nvSpPr>
          <p:cNvPr id="841" name="Google Shape;841;p15"/>
          <p:cNvSpPr txBox="1"/>
          <p:nvPr>
            <p:ph type="title"/>
          </p:nvPr>
        </p:nvSpPr>
        <p:spPr>
          <a:xfrm>
            <a:off x="952499" y="1114365"/>
            <a:ext cx="11099800" cy="2159001"/>
          </a:xfrm>
          <a:prstGeom prst="rect">
            <a:avLst/>
          </a:prstGeom>
          <a:noFill/>
          <a:ln>
            <a:noFill/>
          </a:ln>
        </p:spPr>
        <p:txBody>
          <a:bodyPr anchorCtr="0" anchor="ctr" bIns="50800" lIns="50800" spcFirstLastPara="1" rIns="50800" wrap="square" tIns="50800">
            <a:noAutofit/>
          </a:bodyPr>
          <a:lstStyle/>
          <a:p>
            <a:pPr indent="0" lvl="0" marL="0" rtl="0" algn="ctr">
              <a:lnSpc>
                <a:spcPct val="100000"/>
              </a:lnSpc>
              <a:spcBef>
                <a:spcPts val="0"/>
              </a:spcBef>
              <a:spcAft>
                <a:spcPts val="0"/>
              </a:spcAft>
              <a:buClr>
                <a:srgbClr val="72B843"/>
              </a:buClr>
              <a:buSzPts val="3900"/>
              <a:buFont typeface="Helvetica Neue"/>
              <a:buNone/>
            </a:pPr>
            <a:r>
              <a:rPr lang="en-US" sz="3900" u="none" cap="none" strike="noStrike">
                <a:solidFill>
                  <a:srgbClr val="72B843"/>
                </a:solidFill>
                <a:latin typeface="Helvetica Neue"/>
                <a:ea typeface="Helvetica Neue"/>
                <a:cs typeface="Helvetica Neue"/>
                <a:sym typeface="Helvetica Neue"/>
              </a:rPr>
              <a:t>Nuestro desafío de innovación es:</a:t>
            </a:r>
            <a:endParaRPr>
              <a:latin typeface="Helvetica Neue"/>
              <a:ea typeface="Helvetica Neue"/>
              <a:cs typeface="Helvetica Neue"/>
              <a:sym typeface="Helvetica Neue"/>
            </a:endParaRPr>
          </a:p>
        </p:txBody>
      </p:sp>
      <p:pic>
        <p:nvPicPr>
          <p:cNvPr descr="EA11.png" id="842" name="Google Shape;842;p15"/>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grpSp>
        <p:nvGrpSpPr>
          <p:cNvPr id="843" name="Google Shape;843;p15"/>
          <p:cNvGrpSpPr/>
          <p:nvPr/>
        </p:nvGrpSpPr>
        <p:grpSpPr>
          <a:xfrm>
            <a:off x="1212905" y="8677287"/>
            <a:ext cx="10578992" cy="621064"/>
            <a:chOff x="0" y="0"/>
            <a:chExt cx="10578990" cy="621062"/>
          </a:xfrm>
        </p:grpSpPr>
        <p:cxnSp>
          <p:nvCxnSpPr>
            <p:cNvPr id="844" name="Google Shape;844;p15"/>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845" name="Google Shape;845;p15"/>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46" name="Google Shape;846;p15"/>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47" name="Google Shape;847;p15"/>
            <p:cNvSpPr/>
            <p:nvPr/>
          </p:nvSpPr>
          <p:spPr>
            <a:xfrm>
              <a:off x="4978963"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48" name="Google Shape;848;p15"/>
            <p:cNvSpPr/>
            <p:nvPr/>
          </p:nvSpPr>
          <p:spPr>
            <a:xfrm>
              <a:off x="7468444"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49" name="Google Shape;849;p15"/>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850" name="Google Shape;850;p15"/>
          <p:cNvSpPr txBox="1"/>
          <p:nvPr/>
        </p:nvSpPr>
        <p:spPr>
          <a:xfrm>
            <a:off x="4971200" y="314625"/>
            <a:ext cx="7588500" cy="7695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Helvetica Neue"/>
                <a:ea typeface="Helvetica Neue"/>
                <a:cs typeface="Helvetica Neue"/>
                <a:sym typeface="Helvetica Neue"/>
              </a:rPr>
              <a:t>Pegar fotos de trabajo en clases</a:t>
            </a:r>
            <a:endParaRPr b="0" i="0" sz="3800" u="none" cap="none" strike="noStrike">
              <a:solidFill>
                <a:schemeClr val="lt1"/>
              </a:solidFill>
              <a:latin typeface="Helvetica Neue"/>
              <a:ea typeface="Helvetica Neue"/>
              <a:cs typeface="Helvetica Neue"/>
              <a:sym typeface="Helvetica Neue"/>
            </a:endParaRPr>
          </a:p>
        </p:txBody>
      </p:sp>
      <p:sp>
        <p:nvSpPr>
          <p:cNvPr id="851" name="Google Shape;851;p15"/>
          <p:cNvSpPr txBox="1"/>
          <p:nvPr/>
        </p:nvSpPr>
        <p:spPr>
          <a:xfrm>
            <a:off x="4407900" y="4037150"/>
            <a:ext cx="77268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800">
                <a:latin typeface="Helvetica Neue"/>
                <a:ea typeface="Helvetica Neue"/>
                <a:cs typeface="Helvetica Neue"/>
                <a:sym typeface="Helvetica Neue"/>
              </a:rPr>
              <a:t>disminuir el dolor de espalda</a:t>
            </a:r>
            <a:endParaRPr sz="2800">
              <a:latin typeface="Helvetica Neue"/>
              <a:ea typeface="Helvetica Neue"/>
              <a:cs typeface="Helvetica Neue"/>
              <a:sym typeface="Helvetica Neue"/>
            </a:endParaRPr>
          </a:p>
        </p:txBody>
      </p:sp>
      <p:sp>
        <p:nvSpPr>
          <p:cNvPr id="852" name="Google Shape;852;p15"/>
          <p:cNvSpPr txBox="1"/>
          <p:nvPr/>
        </p:nvSpPr>
        <p:spPr>
          <a:xfrm>
            <a:off x="2888225" y="5247900"/>
            <a:ext cx="7588500" cy="3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800">
                <a:latin typeface="Helvetica Neue"/>
                <a:ea typeface="Helvetica Neue"/>
                <a:cs typeface="Helvetica Neue"/>
                <a:sym typeface="Helvetica Neue"/>
              </a:rPr>
              <a:t>estudiantes sobrecargados</a:t>
            </a:r>
            <a:endParaRPr sz="2800">
              <a:latin typeface="Helvetica Neue"/>
              <a:ea typeface="Helvetica Neue"/>
              <a:cs typeface="Helvetica Neue"/>
              <a:sym typeface="Helvetica Neue"/>
            </a:endParaRPr>
          </a:p>
        </p:txBody>
      </p:sp>
      <p:sp>
        <p:nvSpPr>
          <p:cNvPr id="853" name="Google Shape;853;p15"/>
          <p:cNvSpPr txBox="1"/>
          <p:nvPr/>
        </p:nvSpPr>
        <p:spPr>
          <a:xfrm>
            <a:off x="3466075" y="6463475"/>
            <a:ext cx="6072600" cy="37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700">
                <a:latin typeface="Helvetica Neue"/>
                <a:ea typeface="Helvetica Neue"/>
                <a:cs typeface="Helvetica Neue"/>
                <a:sym typeface="Helvetica Neue"/>
              </a:rPr>
              <a:t>jornada completa de estudios en la u</a:t>
            </a:r>
            <a:endParaRPr sz="2700">
              <a:latin typeface="Helvetica Neue"/>
              <a:ea typeface="Helvetica Neue"/>
              <a:cs typeface="Helvetica Neue"/>
              <a:sym typeface="Helvetica Neue"/>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E1B"/>
        </a:solidFill>
      </p:bgPr>
    </p:bg>
    <p:spTree>
      <p:nvGrpSpPr>
        <p:cNvPr id="857" name="Shape 857"/>
        <p:cNvGrpSpPr/>
        <p:nvPr/>
      </p:nvGrpSpPr>
      <p:grpSpPr>
        <a:xfrm>
          <a:off x="0" y="0"/>
          <a:ext cx="0" cy="0"/>
          <a:chOff x="0" y="0"/>
          <a:chExt cx="0" cy="0"/>
        </a:xfrm>
      </p:grpSpPr>
      <p:grpSp>
        <p:nvGrpSpPr>
          <p:cNvPr id="858" name="Google Shape;858;p16"/>
          <p:cNvGrpSpPr/>
          <p:nvPr/>
        </p:nvGrpSpPr>
        <p:grpSpPr>
          <a:xfrm>
            <a:off x="241323" y="141073"/>
            <a:ext cx="11609162" cy="9157278"/>
            <a:chOff x="241323" y="141073"/>
            <a:chExt cx="11609162" cy="9157278"/>
          </a:xfrm>
        </p:grpSpPr>
        <p:pic>
          <p:nvPicPr>
            <p:cNvPr descr="Captura de Pantalla 2020-08-14 a la(s) 18.15.53.png" id="859" name="Google Shape;859;p16"/>
            <p:cNvPicPr preferRelativeResize="0"/>
            <p:nvPr/>
          </p:nvPicPr>
          <p:blipFill rotWithShape="1">
            <a:blip r:embed="rId3">
              <a:alphaModFix/>
            </a:blip>
            <a:srcRect b="0" l="0" r="0" t="0"/>
            <a:stretch/>
          </p:blipFill>
          <p:spPr>
            <a:xfrm>
              <a:off x="1154315" y="887082"/>
              <a:ext cx="10696170" cy="7979436"/>
            </a:xfrm>
            <a:prstGeom prst="rect">
              <a:avLst/>
            </a:prstGeom>
            <a:noFill/>
            <a:ln>
              <a:noFill/>
            </a:ln>
          </p:spPr>
        </p:pic>
        <p:pic>
          <p:nvPicPr>
            <p:cNvPr descr="EA11.png" id="860" name="Google Shape;860;p16"/>
            <p:cNvPicPr preferRelativeResize="0"/>
            <p:nvPr/>
          </p:nvPicPr>
          <p:blipFill rotWithShape="1">
            <a:blip r:embed="rId4">
              <a:alphaModFix/>
            </a:blip>
            <a:srcRect b="0" l="0" r="0" t="0"/>
            <a:stretch/>
          </p:blipFill>
          <p:spPr>
            <a:xfrm>
              <a:off x="241323" y="141073"/>
              <a:ext cx="3975324" cy="1083107"/>
            </a:xfrm>
            <a:prstGeom prst="rect">
              <a:avLst/>
            </a:prstGeom>
            <a:noFill/>
            <a:ln>
              <a:noFill/>
            </a:ln>
          </p:spPr>
        </p:pic>
        <p:grpSp>
          <p:nvGrpSpPr>
            <p:cNvPr id="861" name="Google Shape;861;p16"/>
            <p:cNvGrpSpPr/>
            <p:nvPr/>
          </p:nvGrpSpPr>
          <p:grpSpPr>
            <a:xfrm>
              <a:off x="1212905" y="8677287"/>
              <a:ext cx="10578992" cy="621064"/>
              <a:chOff x="0" y="0"/>
              <a:chExt cx="10578990" cy="621062"/>
            </a:xfrm>
          </p:grpSpPr>
          <p:cxnSp>
            <p:nvCxnSpPr>
              <p:cNvPr id="862" name="Google Shape;862;p16"/>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863" name="Google Shape;863;p16"/>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64" name="Google Shape;864;p16"/>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65" name="Google Shape;865;p16"/>
              <p:cNvSpPr/>
              <p:nvPr/>
            </p:nvSpPr>
            <p:spPr>
              <a:xfrm>
                <a:off x="4978963" y="0"/>
                <a:ext cx="621063" cy="621062"/>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66" name="Google Shape;866;p16"/>
              <p:cNvSpPr/>
              <p:nvPr/>
            </p:nvSpPr>
            <p:spPr>
              <a:xfrm>
                <a:off x="7468444"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67" name="Google Shape;867;p16"/>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grpSp>
    </p:spTree>
  </p:cSld>
  <p:clrMapOvr>
    <a:masterClrMapping/>
  </p:clrMapOvr>
  <mc:AlternateContent>
    <mc:Choice Requires="p14">
      <p:transition spd="slow" p14:dur="15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pic>
        <p:nvPicPr>
          <p:cNvPr descr="EA11.png" id="872" name="Google Shape;872;p17"/>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grpSp>
        <p:nvGrpSpPr>
          <p:cNvPr id="873" name="Google Shape;873;p17"/>
          <p:cNvGrpSpPr/>
          <p:nvPr/>
        </p:nvGrpSpPr>
        <p:grpSpPr>
          <a:xfrm>
            <a:off x="1212905" y="8677287"/>
            <a:ext cx="10578992" cy="621064"/>
            <a:chOff x="0" y="0"/>
            <a:chExt cx="10578990" cy="621062"/>
          </a:xfrm>
        </p:grpSpPr>
        <p:cxnSp>
          <p:nvCxnSpPr>
            <p:cNvPr id="874" name="Google Shape;874;p17"/>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875" name="Google Shape;875;p17"/>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76" name="Google Shape;876;p17"/>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77" name="Google Shape;877;p17"/>
            <p:cNvSpPr/>
            <p:nvPr/>
          </p:nvSpPr>
          <p:spPr>
            <a:xfrm>
              <a:off x="4978963" y="0"/>
              <a:ext cx="621063" cy="621062"/>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78" name="Google Shape;878;p17"/>
            <p:cNvSpPr/>
            <p:nvPr/>
          </p:nvSpPr>
          <p:spPr>
            <a:xfrm>
              <a:off x="7468444"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79" name="Google Shape;879;p17"/>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880" name="Google Shape;880;p17"/>
          <p:cNvSpPr txBox="1"/>
          <p:nvPr/>
        </p:nvSpPr>
        <p:spPr>
          <a:xfrm>
            <a:off x="793435" y="1379272"/>
            <a:ext cx="11417930" cy="684133"/>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F3E84C"/>
              </a:buClr>
              <a:buSzPts val="3900"/>
              <a:buFont typeface="Helvetica Neue"/>
              <a:buNone/>
            </a:pPr>
            <a:r>
              <a:rPr b="0" i="0" lang="en-US" sz="3900" u="none" cap="none" strike="noStrike">
                <a:solidFill>
                  <a:srgbClr val="F3E84C"/>
                </a:solidFill>
                <a:latin typeface="Helvetica Neue"/>
                <a:ea typeface="Helvetica Neue"/>
                <a:cs typeface="Helvetica Neue"/>
                <a:sym typeface="Helvetica Neue"/>
              </a:rPr>
              <a:t>REGLAS BRAINSTORMING</a:t>
            </a:r>
            <a:endParaRPr b="0" i="0" sz="1400" u="none" cap="none" strike="noStrike">
              <a:solidFill>
                <a:srgbClr val="000000"/>
              </a:solidFill>
              <a:latin typeface="Helvetica Neue"/>
              <a:ea typeface="Helvetica Neue"/>
              <a:cs typeface="Helvetica Neue"/>
              <a:sym typeface="Helvetica Neue"/>
            </a:endParaRPr>
          </a:p>
        </p:txBody>
      </p:sp>
      <p:sp>
        <p:nvSpPr>
          <p:cNvPr id="881" name="Google Shape;881;p17"/>
          <p:cNvSpPr txBox="1"/>
          <p:nvPr/>
        </p:nvSpPr>
        <p:spPr>
          <a:xfrm>
            <a:off x="1289433" y="2602618"/>
            <a:ext cx="10425933" cy="5965736"/>
          </a:xfrm>
          <a:prstGeom prst="rect">
            <a:avLst/>
          </a:prstGeom>
          <a:noFill/>
          <a:ln>
            <a:noFill/>
          </a:ln>
        </p:spPr>
        <p:txBody>
          <a:bodyPr anchorCtr="0" anchor="ctr" bIns="50800" lIns="50800" spcFirstLastPara="1" rIns="50800" wrap="square" tIns="50800">
            <a:noAutofit/>
          </a:bodyPr>
          <a:lstStyle/>
          <a:p>
            <a:pPr indent="-457200" lvl="0" marL="457200" marR="0" rtl="0" algn="l">
              <a:lnSpc>
                <a:spcPct val="100000"/>
              </a:lnSpc>
              <a:spcBef>
                <a:spcPts val="0"/>
              </a:spcBef>
              <a:spcAft>
                <a:spcPts val="0"/>
              </a:spcAft>
              <a:buClr>
                <a:srgbClr val="5E5E5E"/>
              </a:buClr>
              <a:buSzPts val="2500"/>
              <a:buFont typeface="Nunito"/>
              <a:buAutoNum type="arabicPeriod"/>
            </a:pPr>
            <a:r>
              <a:rPr b="0" i="0" lang="en-US" sz="2500" u="none" cap="none" strike="noStrike">
                <a:solidFill>
                  <a:srgbClr val="5E5E5E"/>
                </a:solidFill>
                <a:latin typeface="Helvetica Neue"/>
                <a:ea typeface="Helvetica Neue"/>
                <a:cs typeface="Helvetica Neue"/>
                <a:sym typeface="Helvetica Neue"/>
              </a:rPr>
              <a:t>Diferir el juicio </a:t>
            </a:r>
            <a:endParaRPr b="0" i="0" sz="1400" u="none" cap="none" strike="noStrike">
              <a:solidFill>
                <a:srgbClr val="000000"/>
              </a:solidFill>
              <a:latin typeface="Helvetica Neue"/>
              <a:ea typeface="Helvetica Neue"/>
              <a:cs typeface="Helvetica Neue"/>
              <a:sym typeface="Helvetica Neue"/>
            </a:endParaRPr>
          </a:p>
          <a:p>
            <a:pPr indent="-457200" lvl="0" marL="457200" marR="0" rtl="0" algn="l">
              <a:lnSpc>
                <a:spcPct val="100000"/>
              </a:lnSpc>
              <a:spcBef>
                <a:spcPts val="0"/>
              </a:spcBef>
              <a:spcAft>
                <a:spcPts val="0"/>
              </a:spcAft>
              <a:buClr>
                <a:srgbClr val="5E5E5E"/>
              </a:buClr>
              <a:buSzPts val="2500"/>
              <a:buFont typeface="Nunito"/>
              <a:buAutoNum type="arabicPeriod"/>
            </a:pPr>
            <a:r>
              <a:rPr b="0" i="0" lang="en-US" sz="2500" u="none" cap="none" strike="noStrike">
                <a:solidFill>
                  <a:srgbClr val="5E5E5E"/>
                </a:solidFill>
                <a:latin typeface="Helvetica Neue"/>
                <a:ea typeface="Helvetica Neue"/>
                <a:cs typeface="Helvetica Neue"/>
                <a:sym typeface="Helvetica Neue"/>
              </a:rPr>
              <a:t>Buscar cantidad </a:t>
            </a:r>
            <a:endParaRPr b="0" i="0" sz="1400" u="none" cap="none" strike="noStrike">
              <a:solidFill>
                <a:srgbClr val="000000"/>
              </a:solidFill>
              <a:latin typeface="Helvetica Neue"/>
              <a:ea typeface="Helvetica Neue"/>
              <a:cs typeface="Helvetica Neue"/>
              <a:sym typeface="Helvetica Neue"/>
            </a:endParaRPr>
          </a:p>
          <a:p>
            <a:pPr indent="-457200" lvl="0" marL="457200" marR="0" rtl="0" algn="l">
              <a:lnSpc>
                <a:spcPct val="100000"/>
              </a:lnSpc>
              <a:spcBef>
                <a:spcPts val="0"/>
              </a:spcBef>
              <a:spcAft>
                <a:spcPts val="0"/>
              </a:spcAft>
              <a:buClr>
                <a:srgbClr val="5E5E5E"/>
              </a:buClr>
              <a:buSzPts val="2500"/>
              <a:buFont typeface="Nunito"/>
              <a:buAutoNum type="arabicPeriod"/>
            </a:pPr>
            <a:r>
              <a:rPr b="0" i="0" lang="en-US" sz="2500" u="none" cap="none" strike="noStrike">
                <a:solidFill>
                  <a:srgbClr val="5E5E5E"/>
                </a:solidFill>
                <a:latin typeface="Helvetica Neue"/>
                <a:ea typeface="Helvetica Neue"/>
                <a:cs typeface="Helvetica Neue"/>
                <a:sym typeface="Helvetica Neue"/>
              </a:rPr>
              <a:t>Una idea por post-it</a:t>
            </a:r>
            <a:endParaRPr b="0" i="0" sz="1600" u="none" cap="none" strike="noStrike">
              <a:solidFill>
                <a:srgbClr val="5E5E5E"/>
              </a:solidFill>
              <a:latin typeface="Helvetica Neue"/>
              <a:ea typeface="Helvetica Neue"/>
              <a:cs typeface="Helvetica Neue"/>
              <a:sym typeface="Helvetica Neue"/>
            </a:endParaRPr>
          </a:p>
          <a:p>
            <a:pPr indent="-457200" lvl="0" marL="457200" marR="0" rtl="0" algn="l">
              <a:lnSpc>
                <a:spcPct val="100000"/>
              </a:lnSpc>
              <a:spcBef>
                <a:spcPts val="0"/>
              </a:spcBef>
              <a:spcAft>
                <a:spcPts val="0"/>
              </a:spcAft>
              <a:buClr>
                <a:srgbClr val="5E5E5E"/>
              </a:buClr>
              <a:buSzPts val="2500"/>
              <a:buFont typeface="Nunito"/>
              <a:buAutoNum type="arabicPeriod"/>
            </a:pPr>
            <a:r>
              <a:rPr b="0" i="0" lang="en-US" sz="2500" u="none" cap="none" strike="noStrike">
                <a:solidFill>
                  <a:srgbClr val="5E5E5E"/>
                </a:solidFill>
                <a:latin typeface="Helvetica Neue"/>
                <a:ea typeface="Helvetica Neue"/>
                <a:cs typeface="Helvetica Neue"/>
                <a:sym typeface="Helvetica Neue"/>
              </a:rPr>
              <a:t>Incentivar las ideas locas </a:t>
            </a:r>
            <a:endParaRPr b="0" i="0" sz="1400" u="none" cap="none" strike="noStrike">
              <a:solidFill>
                <a:srgbClr val="000000"/>
              </a:solidFill>
              <a:latin typeface="Helvetica Neue"/>
              <a:ea typeface="Helvetica Neue"/>
              <a:cs typeface="Helvetica Neue"/>
              <a:sym typeface="Helvetica Neue"/>
            </a:endParaRPr>
          </a:p>
          <a:p>
            <a:pPr indent="-457200" lvl="0" marL="457200" marR="0" rtl="0" algn="l">
              <a:lnSpc>
                <a:spcPct val="100000"/>
              </a:lnSpc>
              <a:spcBef>
                <a:spcPts val="0"/>
              </a:spcBef>
              <a:spcAft>
                <a:spcPts val="0"/>
              </a:spcAft>
              <a:buClr>
                <a:srgbClr val="5E5E5E"/>
              </a:buClr>
              <a:buSzPts val="2500"/>
              <a:buFont typeface="Nunito"/>
              <a:buAutoNum type="arabicPeriod"/>
            </a:pPr>
            <a:r>
              <a:rPr b="0" i="0" lang="en-US" sz="2500" u="none" cap="none" strike="noStrike">
                <a:solidFill>
                  <a:srgbClr val="5E5E5E"/>
                </a:solidFill>
                <a:latin typeface="Helvetica Neue"/>
                <a:ea typeface="Helvetica Neue"/>
                <a:cs typeface="Helvetica Neue"/>
                <a:sym typeface="Helvetica Neue"/>
              </a:rPr>
              <a:t>Construir sobre las ideas de otros</a:t>
            </a:r>
            <a:endParaRPr b="0" i="0" sz="1400" u="none" cap="none" strike="noStrike">
              <a:solidFill>
                <a:srgbClr val="000000"/>
              </a:solidFill>
              <a:latin typeface="Helvetica Neue"/>
              <a:ea typeface="Helvetica Neue"/>
              <a:cs typeface="Helvetica Neue"/>
              <a:sym typeface="Helvetica Neue"/>
            </a:endParaRPr>
          </a:p>
          <a:p>
            <a:pPr indent="-457200" lvl="0" marL="457200" marR="0" rtl="0" algn="l">
              <a:lnSpc>
                <a:spcPct val="100000"/>
              </a:lnSpc>
              <a:spcBef>
                <a:spcPts val="0"/>
              </a:spcBef>
              <a:spcAft>
                <a:spcPts val="0"/>
              </a:spcAft>
              <a:buClr>
                <a:srgbClr val="5E5E5E"/>
              </a:buClr>
              <a:buSzPts val="2500"/>
              <a:buFont typeface="Nunito"/>
              <a:buAutoNum type="arabicPeriod"/>
            </a:pPr>
            <a:r>
              <a:rPr b="0" i="0" lang="en-US" sz="2500" u="none" cap="none" strike="noStrike">
                <a:solidFill>
                  <a:srgbClr val="5E5E5E"/>
                </a:solidFill>
                <a:latin typeface="Helvetica Neue"/>
                <a:ea typeface="Helvetica Neue"/>
                <a:cs typeface="Helvetica Neue"/>
                <a:sym typeface="Helvetica Neue"/>
              </a:rPr>
              <a:t>Mantener el foco en el tema que se está tratando</a:t>
            </a:r>
            <a:endParaRPr b="0" i="0" sz="1400" u="none" cap="none" strike="noStrike">
              <a:solidFill>
                <a:srgbClr val="000000"/>
              </a:solidFill>
              <a:latin typeface="Helvetica Neue"/>
              <a:ea typeface="Helvetica Neue"/>
              <a:cs typeface="Helvetica Neue"/>
              <a:sym typeface="Helvetica Neue"/>
            </a:endParaRPr>
          </a:p>
          <a:p>
            <a:pPr indent="-457200" lvl="0" marL="457200" marR="0" rtl="0" algn="l">
              <a:lnSpc>
                <a:spcPct val="100000"/>
              </a:lnSpc>
              <a:spcBef>
                <a:spcPts val="0"/>
              </a:spcBef>
              <a:spcAft>
                <a:spcPts val="0"/>
              </a:spcAft>
              <a:buClr>
                <a:srgbClr val="5E5E5E"/>
              </a:buClr>
              <a:buSzPts val="2500"/>
              <a:buFont typeface="Nunito"/>
              <a:buAutoNum type="arabicPeriod"/>
            </a:pPr>
            <a:r>
              <a:rPr b="0" i="0" lang="en-US" sz="2500" u="none" cap="none" strike="noStrike">
                <a:solidFill>
                  <a:srgbClr val="5E5E5E"/>
                </a:solidFill>
                <a:latin typeface="Helvetica Neue"/>
                <a:ea typeface="Helvetica Neue"/>
                <a:cs typeface="Helvetica Neue"/>
                <a:sym typeface="Helvetica Neue"/>
              </a:rPr>
              <a:t>Hablar de a uno </a:t>
            </a:r>
            <a:endParaRPr b="0" i="0" sz="1400" u="none" cap="none" strike="noStrike">
              <a:solidFill>
                <a:srgbClr val="000000"/>
              </a:solidFill>
              <a:latin typeface="Helvetica Neue"/>
              <a:ea typeface="Helvetica Neue"/>
              <a:cs typeface="Helvetica Neue"/>
              <a:sym typeface="Helvetica Neue"/>
            </a:endParaRPr>
          </a:p>
          <a:p>
            <a:pPr indent="-147319" lvl="0" marL="248919"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147319" lvl="0" marL="248919"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147319" lvl="0" marL="248919"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1600"/>
              <a:buFont typeface="Helvetica Neue"/>
              <a:buNone/>
            </a:pPr>
            <a:r>
              <a:rPr b="0" i="0" lang="en-US" sz="1600" u="none" cap="none" strike="noStrike">
                <a:solidFill>
                  <a:srgbClr val="5E5E5E"/>
                </a:solidFill>
                <a:latin typeface="Helvetica Neue"/>
                <a:ea typeface="Helvetica Neue"/>
                <a:cs typeface="Helvetica Neue"/>
                <a:sym typeface="Helvetica Neue"/>
              </a:rPr>
              <a:t>Fuente: Creativity Today; Ramon Vullings; EE.UU., BIS Publishers, 2009. </a:t>
            </a:r>
            <a:endParaRPr b="0" i="0" sz="14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8"/>
          <p:cNvSpPr txBox="1"/>
          <p:nvPr/>
        </p:nvSpPr>
        <p:spPr>
          <a:xfrm>
            <a:off x="1328885" y="2719602"/>
            <a:ext cx="10347030" cy="5301489"/>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5E5E5E"/>
              </a:buClr>
              <a:buSzPts val="2000"/>
              <a:buFont typeface="Helvetica Neue"/>
              <a:buNone/>
            </a:pPr>
            <a:r>
              <a:rPr b="0" i="0" lang="en-US" sz="2000" u="none" cap="none" strike="noStrike">
                <a:solidFill>
                  <a:srgbClr val="5E5E5E"/>
                </a:solidFill>
                <a:latin typeface="Helvetica Neue"/>
                <a:ea typeface="Helvetica Neue"/>
                <a:cs typeface="Helvetica Neue"/>
                <a:sym typeface="Helvetica Neue"/>
              </a:rPr>
              <a:t>AMPLIAR LA MIRADA </a:t>
            </a:r>
            <a:endParaRPr b="0" i="0" sz="1400" u="none" cap="none" strike="noStrike">
              <a:solidFill>
                <a:srgbClr val="000000"/>
              </a:solidFill>
              <a:latin typeface="Helvetica Neue"/>
              <a:ea typeface="Helvetica Neue"/>
              <a:cs typeface="Helvetica Neue"/>
              <a:sym typeface="Helvetica Neue"/>
            </a:endParaRPr>
          </a:p>
          <a:p>
            <a:pPr indent="-254000" lvl="0" marL="749300" marR="0" rtl="0" algn="l">
              <a:lnSpc>
                <a:spcPct val="100000"/>
              </a:lnSpc>
              <a:spcBef>
                <a:spcPts val="0"/>
              </a:spcBef>
              <a:spcAft>
                <a:spcPts val="0"/>
              </a:spcAft>
              <a:buClr>
                <a:srgbClr val="5E5E5E"/>
              </a:buClr>
              <a:buSzPts val="2460"/>
              <a:buFont typeface="Nunito"/>
              <a:buChar char="•"/>
            </a:pPr>
            <a:r>
              <a:rPr b="0" i="0" lang="en-US" sz="2000" u="none" cap="none" strike="noStrike">
                <a:solidFill>
                  <a:srgbClr val="5E5E5E"/>
                </a:solidFill>
                <a:latin typeface="Helvetica Neue"/>
                <a:ea typeface="Helvetica Neue"/>
                <a:cs typeface="Helvetica Neue"/>
                <a:sym typeface="Helvetica Neue"/>
              </a:rPr>
              <a:t>Puedo combinar ideas?/o fusionarlas? </a:t>
            </a:r>
            <a:endParaRPr b="0" i="0" sz="1400" u="none" cap="none" strike="noStrike">
              <a:solidFill>
                <a:srgbClr val="000000"/>
              </a:solidFill>
              <a:latin typeface="Helvetica Neue"/>
              <a:ea typeface="Helvetica Neue"/>
              <a:cs typeface="Helvetica Neue"/>
              <a:sym typeface="Helvetica Neue"/>
            </a:endParaRPr>
          </a:p>
          <a:p>
            <a:pPr indent="-254000" lvl="0" marL="749300" marR="0" rtl="0" algn="l">
              <a:lnSpc>
                <a:spcPct val="100000"/>
              </a:lnSpc>
              <a:spcBef>
                <a:spcPts val="0"/>
              </a:spcBef>
              <a:spcAft>
                <a:spcPts val="0"/>
              </a:spcAft>
              <a:buClr>
                <a:srgbClr val="5E5E5E"/>
              </a:buClr>
              <a:buSzPts val="2460"/>
              <a:buFont typeface="Nunito"/>
              <a:buChar char="•"/>
            </a:pPr>
            <a:r>
              <a:rPr b="0" i="0" lang="en-US" sz="2000" u="none" cap="none" strike="noStrike">
                <a:solidFill>
                  <a:srgbClr val="5E5E5E"/>
                </a:solidFill>
                <a:latin typeface="Helvetica Neue"/>
                <a:ea typeface="Helvetica Neue"/>
                <a:cs typeface="Helvetica Neue"/>
                <a:sym typeface="Helvetica Neue"/>
              </a:rPr>
              <a:t>Puedo hacer variaciones de una misma idea? </a:t>
            </a:r>
            <a:endParaRPr b="0" i="0" sz="1400" u="none" cap="none" strike="noStrike">
              <a:solidFill>
                <a:srgbClr val="000000"/>
              </a:solidFill>
              <a:latin typeface="Helvetica Neue"/>
              <a:ea typeface="Helvetica Neue"/>
              <a:cs typeface="Helvetica Neue"/>
              <a:sym typeface="Helvetica Neue"/>
            </a:endParaRPr>
          </a:p>
          <a:p>
            <a:pPr indent="-254000" lvl="0" marL="749300" marR="0" rtl="0" algn="l">
              <a:lnSpc>
                <a:spcPct val="100000"/>
              </a:lnSpc>
              <a:spcBef>
                <a:spcPts val="0"/>
              </a:spcBef>
              <a:spcAft>
                <a:spcPts val="0"/>
              </a:spcAft>
              <a:buClr>
                <a:srgbClr val="5E5E5E"/>
              </a:buClr>
              <a:buSzPts val="2460"/>
              <a:buFont typeface="Nunito"/>
              <a:buChar char="•"/>
            </a:pPr>
            <a:r>
              <a:rPr b="0" i="0" lang="en-US" sz="2000" u="none" cap="none" strike="noStrike">
                <a:solidFill>
                  <a:srgbClr val="5E5E5E"/>
                </a:solidFill>
                <a:latin typeface="Helvetica Neue"/>
                <a:ea typeface="Helvetica Neue"/>
                <a:cs typeface="Helvetica Neue"/>
                <a:sym typeface="Helvetica Neue"/>
              </a:rPr>
              <a:t>La misma idea en grande? o la misma idea en muy pequeño? </a:t>
            </a:r>
            <a:endParaRPr b="0" i="0" sz="1400" u="none" cap="none" strike="noStrike">
              <a:solidFill>
                <a:srgbClr val="000000"/>
              </a:solidFill>
              <a:latin typeface="Helvetica Neue"/>
              <a:ea typeface="Helvetica Neue"/>
              <a:cs typeface="Helvetica Neue"/>
              <a:sym typeface="Helvetica Neue"/>
            </a:endParaRPr>
          </a:p>
          <a:p>
            <a:pPr indent="-254000" lvl="0" marL="749300" marR="0" rtl="0" algn="l">
              <a:lnSpc>
                <a:spcPct val="100000"/>
              </a:lnSpc>
              <a:spcBef>
                <a:spcPts val="0"/>
              </a:spcBef>
              <a:spcAft>
                <a:spcPts val="0"/>
              </a:spcAft>
              <a:buClr>
                <a:srgbClr val="5E5E5E"/>
              </a:buClr>
              <a:buSzPts val="2460"/>
              <a:buFont typeface="Nunito"/>
              <a:buChar char="•"/>
            </a:pPr>
            <a:r>
              <a:rPr b="0" i="0" lang="en-US" sz="2000" u="none" cap="none" strike="noStrike">
                <a:solidFill>
                  <a:srgbClr val="5E5E5E"/>
                </a:solidFill>
                <a:latin typeface="Helvetica Neue"/>
                <a:ea typeface="Helvetica Neue"/>
                <a:cs typeface="Helvetica Neue"/>
                <a:sym typeface="Helvetica Neue"/>
              </a:rPr>
              <a:t>Puedo sumar ideas? </a:t>
            </a:r>
            <a:endParaRPr b="0" i="0" sz="1400" u="none" cap="none" strike="noStrike">
              <a:solidFill>
                <a:srgbClr val="000000"/>
              </a:solidFill>
              <a:latin typeface="Helvetica Neue"/>
              <a:ea typeface="Helvetica Neue"/>
              <a:cs typeface="Helvetica Neue"/>
              <a:sym typeface="Helvetica Neue"/>
            </a:endParaRPr>
          </a:p>
          <a:p>
            <a:pPr indent="-254000" lvl="0" marL="749300" marR="0" rtl="0" algn="l">
              <a:lnSpc>
                <a:spcPct val="100000"/>
              </a:lnSpc>
              <a:spcBef>
                <a:spcPts val="0"/>
              </a:spcBef>
              <a:spcAft>
                <a:spcPts val="0"/>
              </a:spcAft>
              <a:buClr>
                <a:srgbClr val="5E5E5E"/>
              </a:buClr>
              <a:buSzPts val="2460"/>
              <a:buFont typeface="Nunito"/>
              <a:buChar char="•"/>
            </a:pPr>
            <a:r>
              <a:rPr b="0" i="0" lang="en-US" sz="2000" u="none" cap="none" strike="noStrike">
                <a:solidFill>
                  <a:srgbClr val="5E5E5E"/>
                </a:solidFill>
                <a:latin typeface="Helvetica Neue"/>
                <a:ea typeface="Helvetica Neue"/>
                <a:cs typeface="Helvetica Neue"/>
                <a:sym typeface="Helvetica Neue"/>
              </a:rPr>
              <a:t>Puedo quitarle algo? </a:t>
            </a:r>
            <a:endParaRPr b="0" i="0" sz="1400" u="none" cap="none" strike="noStrike">
              <a:solidFill>
                <a:srgbClr val="000000"/>
              </a:solidFill>
              <a:latin typeface="Helvetica Neue"/>
              <a:ea typeface="Helvetica Neue"/>
              <a:cs typeface="Helvetica Neue"/>
              <a:sym typeface="Helvetica Neue"/>
            </a:endParaRPr>
          </a:p>
          <a:p>
            <a:pPr indent="-254000" lvl="0" marL="749300" marR="0" rtl="0" algn="l">
              <a:lnSpc>
                <a:spcPct val="100000"/>
              </a:lnSpc>
              <a:spcBef>
                <a:spcPts val="0"/>
              </a:spcBef>
              <a:spcAft>
                <a:spcPts val="0"/>
              </a:spcAft>
              <a:buClr>
                <a:srgbClr val="5E5E5E"/>
              </a:buClr>
              <a:buSzPts val="2460"/>
              <a:buFont typeface="Nunito"/>
              <a:buChar char="•"/>
            </a:pPr>
            <a:r>
              <a:rPr b="0" i="0" lang="en-US" sz="2000" u="none" cap="none" strike="noStrike">
                <a:solidFill>
                  <a:srgbClr val="5E5E5E"/>
                </a:solidFill>
                <a:latin typeface="Helvetica Neue"/>
                <a:ea typeface="Helvetica Neue"/>
                <a:cs typeface="Helvetica Neue"/>
                <a:sym typeface="Helvetica Neue"/>
              </a:rPr>
              <a:t>Puedo agregarle algo a mi idea? </a:t>
            </a:r>
            <a:endParaRPr b="0" i="0" sz="1400" u="none" cap="none" strike="noStrike">
              <a:solidFill>
                <a:srgbClr val="000000"/>
              </a:solidFill>
              <a:latin typeface="Helvetica Neue"/>
              <a:ea typeface="Helvetica Neue"/>
              <a:cs typeface="Helvetica Neue"/>
              <a:sym typeface="Helvetica Neue"/>
            </a:endParaRPr>
          </a:p>
          <a:p>
            <a:pPr indent="-254000" lvl="0" marL="749300" marR="0" rtl="0" algn="l">
              <a:lnSpc>
                <a:spcPct val="100000"/>
              </a:lnSpc>
              <a:spcBef>
                <a:spcPts val="0"/>
              </a:spcBef>
              <a:spcAft>
                <a:spcPts val="0"/>
              </a:spcAft>
              <a:buClr>
                <a:srgbClr val="5E5E5E"/>
              </a:buClr>
              <a:buSzPts val="2460"/>
              <a:buFont typeface="Nunito"/>
              <a:buChar char="•"/>
            </a:pPr>
            <a:r>
              <a:rPr b="0" i="0" lang="en-US" sz="2000" u="none" cap="none" strike="noStrike">
                <a:solidFill>
                  <a:srgbClr val="5E5E5E"/>
                </a:solidFill>
                <a:latin typeface="Helvetica Neue"/>
                <a:ea typeface="Helvetica Neue"/>
                <a:cs typeface="Helvetica Neue"/>
                <a:sym typeface="Helvetica Neue"/>
              </a:rPr>
              <a:t>Puedo sustituir algún elemento, forma o cambiar algún material, actor, contexto? </a:t>
            </a:r>
            <a:endParaRPr b="0" i="0" sz="1400" u="none" cap="none" strike="noStrike">
              <a:solidFill>
                <a:srgbClr val="000000"/>
              </a:solidFill>
              <a:latin typeface="Helvetica Neue"/>
              <a:ea typeface="Helvetica Neue"/>
              <a:cs typeface="Helvetica Neue"/>
              <a:sym typeface="Helvetica Neue"/>
            </a:endParaRPr>
          </a:p>
          <a:p>
            <a:pPr indent="-254000" lvl="0" marL="749300" marR="0" rtl="0" algn="l">
              <a:lnSpc>
                <a:spcPct val="100000"/>
              </a:lnSpc>
              <a:spcBef>
                <a:spcPts val="0"/>
              </a:spcBef>
              <a:spcAft>
                <a:spcPts val="0"/>
              </a:spcAft>
              <a:buClr>
                <a:srgbClr val="5E5E5E"/>
              </a:buClr>
              <a:buSzPts val="2460"/>
              <a:buFont typeface="Nunito"/>
              <a:buChar char="•"/>
            </a:pPr>
            <a:r>
              <a:rPr b="0" i="0" lang="en-US" sz="2000" u="none" cap="none" strike="noStrike">
                <a:solidFill>
                  <a:srgbClr val="5E5E5E"/>
                </a:solidFill>
                <a:latin typeface="Helvetica Neue"/>
                <a:ea typeface="Helvetica Neue"/>
                <a:cs typeface="Helvetica Neue"/>
                <a:sym typeface="Helvetica Neue"/>
              </a:rPr>
              <a:t>Hay ideas demasiado locas… inclúyelas! </a:t>
            </a:r>
            <a:endParaRPr b="0" i="0" sz="1400" u="none" cap="none" strike="noStrike">
              <a:solidFill>
                <a:srgbClr val="000000"/>
              </a:solidFill>
              <a:latin typeface="Helvetica Neue"/>
              <a:ea typeface="Helvetica Neue"/>
              <a:cs typeface="Helvetica Neue"/>
              <a:sym typeface="Helvetica Neue"/>
            </a:endParaRPr>
          </a:p>
          <a:p>
            <a:pPr indent="-129032" lvl="0" marL="749300" marR="0" rtl="0" algn="l">
              <a:lnSpc>
                <a:spcPct val="100000"/>
              </a:lnSpc>
              <a:spcBef>
                <a:spcPts val="0"/>
              </a:spcBef>
              <a:spcAft>
                <a:spcPts val="0"/>
              </a:spcAft>
              <a:buClr>
                <a:srgbClr val="5E5E5E"/>
              </a:buClr>
              <a:buSzPts val="1968"/>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5E5E5E"/>
              </a:buClr>
              <a:buSzPts val="2000"/>
              <a:buFont typeface="Helvetica Neue"/>
              <a:buNone/>
            </a:pPr>
            <a:r>
              <a:rPr b="0" i="0" lang="en-US" sz="2000" u="none" cap="none" strike="noStrike">
                <a:solidFill>
                  <a:srgbClr val="5E5E5E"/>
                </a:solidFill>
                <a:latin typeface="Helvetica Neue"/>
                <a:ea typeface="Helvetica Neue"/>
                <a:cs typeface="Helvetica Neue"/>
                <a:sym typeface="Helvetica Neue"/>
              </a:rPr>
              <a:t>CAMBIO DE MIRADA / DE ROL </a:t>
            </a:r>
            <a:endParaRPr b="0" i="0" sz="1400" u="none" cap="none" strike="noStrike">
              <a:solidFill>
                <a:srgbClr val="000000"/>
              </a:solidFill>
              <a:latin typeface="Helvetica Neue"/>
              <a:ea typeface="Helvetica Neue"/>
              <a:cs typeface="Helvetica Neue"/>
              <a:sym typeface="Helvetica Neue"/>
            </a:endParaRPr>
          </a:p>
          <a:p>
            <a:pPr indent="-254000" lvl="0" marL="749300" marR="0" rtl="0" algn="l">
              <a:lnSpc>
                <a:spcPct val="100000"/>
              </a:lnSpc>
              <a:spcBef>
                <a:spcPts val="0"/>
              </a:spcBef>
              <a:spcAft>
                <a:spcPts val="0"/>
              </a:spcAft>
              <a:buClr>
                <a:srgbClr val="5E5E5E"/>
              </a:buClr>
              <a:buSzPts val="2460"/>
              <a:buFont typeface="Nunito"/>
              <a:buChar char="•"/>
            </a:pPr>
            <a:r>
              <a:rPr b="0" i="0" lang="en-US" sz="2000" u="none" cap="none" strike="noStrike">
                <a:solidFill>
                  <a:srgbClr val="5E5E5E"/>
                </a:solidFill>
                <a:latin typeface="Helvetica Neue"/>
                <a:ea typeface="Helvetica Neue"/>
                <a:cs typeface="Helvetica Neue"/>
                <a:sym typeface="Helvetica Neue"/>
              </a:rPr>
              <a:t>¿Y cómo resolvería esto si tuviera 10 años? o 90 años? </a:t>
            </a:r>
            <a:endParaRPr b="0" i="0" sz="1400" u="none" cap="none" strike="noStrike">
              <a:solidFill>
                <a:srgbClr val="000000"/>
              </a:solidFill>
              <a:latin typeface="Helvetica Neue"/>
              <a:ea typeface="Helvetica Neue"/>
              <a:cs typeface="Helvetica Neue"/>
              <a:sym typeface="Helvetica Neue"/>
            </a:endParaRPr>
          </a:p>
          <a:p>
            <a:pPr indent="-254000" lvl="0" marL="749300" marR="0" rtl="0" algn="l">
              <a:lnSpc>
                <a:spcPct val="100000"/>
              </a:lnSpc>
              <a:spcBef>
                <a:spcPts val="0"/>
              </a:spcBef>
              <a:spcAft>
                <a:spcPts val="0"/>
              </a:spcAft>
              <a:buClr>
                <a:srgbClr val="5E5E5E"/>
              </a:buClr>
              <a:buSzPts val="2460"/>
              <a:buFont typeface="Nunito"/>
              <a:buChar char="•"/>
            </a:pPr>
            <a:r>
              <a:rPr b="0" i="0" lang="en-US" sz="2000" u="none" cap="none" strike="noStrike">
                <a:solidFill>
                  <a:srgbClr val="5E5E5E"/>
                </a:solidFill>
                <a:latin typeface="Helvetica Neue"/>
                <a:ea typeface="Helvetica Neue"/>
                <a:cs typeface="Helvetica Neue"/>
                <a:sym typeface="Helvetica Neue"/>
              </a:rPr>
              <a:t>¿Y si viviera en otro país/ … en otro planeta? </a:t>
            </a:r>
            <a:endParaRPr b="0" i="0" sz="1400" u="none" cap="none" strike="noStrike">
              <a:solidFill>
                <a:srgbClr val="000000"/>
              </a:solidFill>
              <a:latin typeface="Helvetica Neue"/>
              <a:ea typeface="Helvetica Neue"/>
              <a:cs typeface="Helvetica Neue"/>
              <a:sym typeface="Helvetica Neue"/>
            </a:endParaRPr>
          </a:p>
          <a:p>
            <a:pPr indent="-254000" lvl="0" marL="749300" marR="0" rtl="0" algn="l">
              <a:lnSpc>
                <a:spcPct val="100000"/>
              </a:lnSpc>
              <a:spcBef>
                <a:spcPts val="0"/>
              </a:spcBef>
              <a:spcAft>
                <a:spcPts val="0"/>
              </a:spcAft>
              <a:buClr>
                <a:srgbClr val="5E5E5E"/>
              </a:buClr>
              <a:buSzPts val="2460"/>
              <a:buFont typeface="Nunito"/>
              <a:buChar char="•"/>
            </a:pPr>
            <a:r>
              <a:rPr b="0" i="0" lang="en-US" sz="2000" u="none" cap="none" strike="noStrike">
                <a:solidFill>
                  <a:srgbClr val="5E5E5E"/>
                </a:solidFill>
                <a:latin typeface="Helvetica Neue"/>
                <a:ea typeface="Helvetica Neue"/>
                <a:cs typeface="Helvetica Neue"/>
                <a:sym typeface="Helvetica Neue"/>
              </a:rPr>
              <a:t>¿Cómo lo resolvería en 100 años más?/¿cómo lo habría resuelto hace 100 años? </a:t>
            </a:r>
            <a:endParaRPr b="0" i="0" sz="1600" u="none" cap="none" strike="noStrike">
              <a:solidFill>
                <a:srgbClr val="5E5E5E"/>
              </a:solidFill>
              <a:latin typeface="Helvetica Neue"/>
              <a:ea typeface="Helvetica Neue"/>
              <a:cs typeface="Helvetica Neue"/>
              <a:sym typeface="Helvetica Neue"/>
            </a:endParaRPr>
          </a:p>
          <a:p>
            <a:pPr indent="0" lvl="0" marL="495300" marR="0" rtl="0" algn="l">
              <a:lnSpc>
                <a:spcPct val="100000"/>
              </a:lnSpc>
              <a:spcBef>
                <a:spcPts val="0"/>
              </a:spcBef>
              <a:spcAft>
                <a:spcPts val="0"/>
              </a:spcAft>
              <a:buNone/>
            </a:pPr>
            <a:r>
              <a:t/>
            </a:r>
            <a:endParaRPr b="0" i="0" sz="1600" u="none" cap="none" strike="noStrike">
              <a:solidFill>
                <a:srgbClr val="5E5E5E"/>
              </a:solidFill>
              <a:latin typeface="Helvetica Neue"/>
              <a:ea typeface="Helvetica Neue"/>
              <a:cs typeface="Helvetica Neue"/>
              <a:sym typeface="Helvetica Neue"/>
            </a:endParaRPr>
          </a:p>
          <a:p>
            <a:pPr indent="0" lvl="0" marL="495300" marR="0" rtl="0" algn="l">
              <a:lnSpc>
                <a:spcPct val="100000"/>
              </a:lnSpc>
              <a:spcBef>
                <a:spcPts val="0"/>
              </a:spcBef>
              <a:spcAft>
                <a:spcPts val="0"/>
              </a:spcAft>
              <a:buNone/>
            </a:pPr>
            <a:r>
              <a:t/>
            </a:r>
            <a:endParaRPr b="0" i="0" sz="1600" u="none" cap="none" strike="noStrike">
              <a:solidFill>
                <a:srgbClr val="5E5E5E"/>
              </a:solidFill>
              <a:latin typeface="Helvetica Neue"/>
              <a:ea typeface="Helvetica Neue"/>
              <a:cs typeface="Helvetica Neue"/>
              <a:sym typeface="Helvetica Neue"/>
            </a:endParaRPr>
          </a:p>
          <a:p>
            <a:pPr indent="0" lvl="0" marL="14288" marR="0" rtl="0" algn="l">
              <a:lnSpc>
                <a:spcPct val="100000"/>
              </a:lnSpc>
              <a:spcBef>
                <a:spcPts val="0"/>
              </a:spcBef>
              <a:spcAft>
                <a:spcPts val="0"/>
              </a:spcAft>
              <a:buNone/>
            </a:pPr>
            <a:r>
              <a:rPr b="0" i="0" lang="en-US" sz="1600" u="none" cap="none" strike="noStrike">
                <a:solidFill>
                  <a:srgbClr val="5E5E5E"/>
                </a:solidFill>
                <a:latin typeface="Helvetica Neue"/>
                <a:ea typeface="Helvetica Neue"/>
                <a:cs typeface="Helvetica Neue"/>
                <a:sym typeface="Helvetica Neue"/>
              </a:rPr>
              <a:t>¿</a:t>
            </a:r>
            <a:r>
              <a:rPr b="0" i="0" lang="en-US" sz="2000" u="none" cap="none" strike="noStrike">
                <a:solidFill>
                  <a:srgbClr val="5E5E5E"/>
                </a:solidFill>
                <a:latin typeface="Helvetica Neue"/>
                <a:ea typeface="Helvetica Neue"/>
                <a:cs typeface="Helvetica Neue"/>
                <a:sym typeface="Helvetica Neue"/>
              </a:rPr>
              <a:t>Se me ocurren ideas malas que estoy dejando fuera? No las dejes. </a:t>
            </a:r>
            <a:endParaRPr b="0" i="0" sz="2000" u="none" cap="none" strike="noStrike">
              <a:solidFill>
                <a:srgbClr val="5E5E5E"/>
              </a:solidFill>
              <a:latin typeface="Helvetica Neue"/>
              <a:ea typeface="Helvetica Neue"/>
              <a:cs typeface="Helvetica Neue"/>
              <a:sym typeface="Helvetica Neue"/>
            </a:endParaRPr>
          </a:p>
        </p:txBody>
      </p:sp>
      <p:pic>
        <p:nvPicPr>
          <p:cNvPr descr="EA11.png" id="887" name="Google Shape;887;p18"/>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grpSp>
        <p:nvGrpSpPr>
          <p:cNvPr id="888" name="Google Shape;888;p18"/>
          <p:cNvGrpSpPr/>
          <p:nvPr/>
        </p:nvGrpSpPr>
        <p:grpSpPr>
          <a:xfrm>
            <a:off x="1212905" y="8677287"/>
            <a:ext cx="10578992" cy="621064"/>
            <a:chOff x="0" y="0"/>
            <a:chExt cx="10578990" cy="621062"/>
          </a:xfrm>
        </p:grpSpPr>
        <p:cxnSp>
          <p:nvCxnSpPr>
            <p:cNvPr id="889" name="Google Shape;889;p18"/>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890" name="Google Shape;890;p18"/>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91" name="Google Shape;891;p18"/>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92" name="Google Shape;892;p18"/>
            <p:cNvSpPr/>
            <p:nvPr/>
          </p:nvSpPr>
          <p:spPr>
            <a:xfrm>
              <a:off x="4978963" y="0"/>
              <a:ext cx="621063" cy="621062"/>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93" name="Google Shape;893;p18"/>
            <p:cNvSpPr/>
            <p:nvPr/>
          </p:nvSpPr>
          <p:spPr>
            <a:xfrm>
              <a:off x="7468444"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894" name="Google Shape;894;p18"/>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895" name="Google Shape;895;p18"/>
          <p:cNvSpPr txBox="1"/>
          <p:nvPr/>
        </p:nvSpPr>
        <p:spPr>
          <a:xfrm>
            <a:off x="793435" y="1379272"/>
            <a:ext cx="11417930" cy="684133"/>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F3E84C"/>
              </a:buClr>
              <a:buSzPts val="3900"/>
              <a:buFont typeface="Helvetica Neue"/>
              <a:buNone/>
            </a:pPr>
            <a:r>
              <a:rPr b="0" i="0" lang="en-US" sz="3900" u="none" cap="none" strike="noStrike">
                <a:solidFill>
                  <a:srgbClr val="F3E84C"/>
                </a:solidFill>
                <a:latin typeface="Helvetica Neue"/>
                <a:ea typeface="Helvetica Neue"/>
                <a:cs typeface="Helvetica Neue"/>
                <a:sym typeface="Helvetica Neue"/>
              </a:rPr>
              <a:t>PREGUNTAS PARA MULTIPLICAR IDEAS</a:t>
            </a:r>
            <a:endParaRPr b="0" i="0" sz="14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g366035f45a8_0_48"/>
          <p:cNvSpPr txBox="1"/>
          <p:nvPr/>
        </p:nvSpPr>
        <p:spPr>
          <a:xfrm>
            <a:off x="1069100" y="622575"/>
            <a:ext cx="10866600" cy="6957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Mochila con compartimentos más distribuidos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Kit básico para estudiantes </a:t>
            </a:r>
            <a:r>
              <a:rPr lang="en-US" sz="2000">
                <a:latin typeface="Helvetica Neue"/>
                <a:ea typeface="Helvetica Neue"/>
                <a:cs typeface="Helvetica Neue"/>
                <a:sym typeface="Helvetica Neue"/>
              </a:rPr>
              <a:t>universitarios</a:t>
            </a:r>
            <a:r>
              <a:rPr lang="en-US" sz="2000">
                <a:latin typeface="Helvetica Neue"/>
                <a:ea typeface="Helvetica Neue"/>
                <a:cs typeface="Helvetica Neue"/>
                <a:sym typeface="Helvetica Neue"/>
              </a:rPr>
              <a:t> (tablet, computador)</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Casilleros más amplios y seguros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Residencias estudiantiles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Digitalización </a:t>
            </a:r>
            <a:r>
              <a:rPr lang="en-US" sz="2000">
                <a:latin typeface="Helvetica Neue"/>
                <a:ea typeface="Helvetica Neue"/>
                <a:cs typeface="Helvetica Neue"/>
                <a:sym typeface="Helvetica Neue"/>
              </a:rPr>
              <a:t>estudiantil</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Carga académica menor</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Poder pedir prestado computadores, ipad, etc. en la universidad durante el día (en óptimas condiciones)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Eliminar los colores del metro, los trenes cortos y los vagones separados.</a:t>
            </a:r>
            <a:endParaRPr sz="2000">
              <a:latin typeface="Helvetica Neue"/>
              <a:ea typeface="Helvetica Neue"/>
              <a:cs typeface="Helvetica Neue"/>
              <a:sym typeface="Helvetica Neue"/>
            </a:endParaRPr>
          </a:p>
          <a:p>
            <a:pPr indent="0" lvl="0" marL="0" rtl="0" algn="l">
              <a:spcBef>
                <a:spcPts val="0"/>
              </a:spcBef>
              <a:spcAft>
                <a:spcPts val="0"/>
              </a:spcAft>
              <a:buNone/>
            </a:pPr>
            <a:r>
              <a:rPr lang="en-US" sz="2000">
                <a:latin typeface="Helvetica Neue"/>
                <a:ea typeface="Helvetica Neue"/>
                <a:cs typeface="Helvetica Neue"/>
                <a:sym typeface="Helvetica Neue"/>
              </a:rPr>
              <a:t>9.   Poder vivir en la universidad</a:t>
            </a:r>
            <a:endParaRPr sz="2000">
              <a:latin typeface="Helvetica Neue"/>
              <a:ea typeface="Helvetica Neue"/>
              <a:cs typeface="Helvetica Neue"/>
              <a:sym typeface="Helvetica Neue"/>
            </a:endParaRPr>
          </a:p>
          <a:p>
            <a:pPr indent="0" lvl="0" marL="0" rtl="0" algn="l">
              <a:spcBef>
                <a:spcPts val="0"/>
              </a:spcBef>
              <a:spcAft>
                <a:spcPts val="0"/>
              </a:spcAft>
              <a:buNone/>
            </a:pPr>
            <a:r>
              <a:rPr lang="en-US" sz="2000">
                <a:latin typeface="Helvetica Neue"/>
                <a:ea typeface="Helvetica Neue"/>
                <a:cs typeface="Helvetica Neue"/>
                <a:sym typeface="Helvetica Neue"/>
              </a:rPr>
              <a:t>10. Buses de acercamiento</a:t>
            </a:r>
            <a:endParaRPr sz="2000">
              <a:latin typeface="Helvetica Neue"/>
              <a:ea typeface="Helvetica Neue"/>
              <a:cs typeface="Helvetica Neue"/>
              <a:sym typeface="Helvetica Neue"/>
            </a:endParaRPr>
          </a:p>
          <a:p>
            <a:pPr indent="0" lvl="0" marL="0" rtl="0" algn="l">
              <a:spcBef>
                <a:spcPts val="0"/>
              </a:spcBef>
              <a:spcAft>
                <a:spcPts val="0"/>
              </a:spcAft>
              <a:buNone/>
            </a:pPr>
            <a:r>
              <a:rPr lang="en-US" sz="2000">
                <a:latin typeface="Helvetica Neue"/>
                <a:ea typeface="Helvetica Neue"/>
                <a:cs typeface="Helvetica Neue"/>
                <a:sym typeface="Helvetica Neue"/>
              </a:rPr>
              <a:t>11. Agenda para ayudar a organizarse</a:t>
            </a:r>
            <a:endParaRPr sz="2000">
              <a:latin typeface="Helvetica Neue"/>
              <a:ea typeface="Helvetica Neue"/>
              <a:cs typeface="Helvetica Neue"/>
              <a:sym typeface="Helvetica Neue"/>
            </a:endParaRPr>
          </a:p>
          <a:p>
            <a:pPr indent="0" lvl="0" marL="0" rtl="0" algn="l">
              <a:spcBef>
                <a:spcPts val="0"/>
              </a:spcBef>
              <a:spcAft>
                <a:spcPts val="0"/>
              </a:spcAft>
              <a:buNone/>
            </a:pPr>
            <a:r>
              <a:rPr lang="en-US" sz="2000">
                <a:latin typeface="Helvetica Neue"/>
                <a:ea typeface="Helvetica Neue"/>
                <a:cs typeface="Helvetica Neue"/>
                <a:sym typeface="Helvetica Neue"/>
              </a:rPr>
              <a:t>12. Centralizar las clases por facultad</a:t>
            </a:r>
            <a:endParaRPr sz="2000">
              <a:latin typeface="Helvetica Neue"/>
              <a:ea typeface="Helvetica Neue"/>
              <a:cs typeface="Helvetica Neue"/>
              <a:sym typeface="Helvetica Neue"/>
            </a:endParaRPr>
          </a:p>
          <a:p>
            <a:pPr indent="0" lvl="0" marL="0" rtl="0" algn="l">
              <a:spcBef>
                <a:spcPts val="0"/>
              </a:spcBef>
              <a:spcAft>
                <a:spcPts val="0"/>
              </a:spcAft>
              <a:buNone/>
            </a:pPr>
            <a:r>
              <a:rPr lang="en-US" sz="2000">
                <a:latin typeface="Helvetica Neue"/>
                <a:ea typeface="Helvetica Neue"/>
                <a:cs typeface="Helvetica Neue"/>
                <a:sym typeface="Helvetica Neue"/>
              </a:rPr>
              <a:t>13. Horarios mas equilibrados</a:t>
            </a:r>
            <a:endParaRPr sz="2000">
              <a:latin typeface="Helvetica Neue"/>
              <a:ea typeface="Helvetica Neue"/>
              <a:cs typeface="Helvetica Neue"/>
              <a:sym typeface="Helvetica Neue"/>
            </a:endParaRPr>
          </a:p>
          <a:p>
            <a:pPr indent="0" lvl="0" marL="0" rtl="0" algn="l">
              <a:spcBef>
                <a:spcPts val="0"/>
              </a:spcBef>
              <a:spcAft>
                <a:spcPts val="0"/>
              </a:spcAft>
              <a:buNone/>
            </a:pPr>
            <a:r>
              <a:rPr lang="en-US" sz="2000">
                <a:latin typeface="Helvetica Neue"/>
                <a:ea typeface="Helvetica Neue"/>
                <a:cs typeface="Helvetica Neue"/>
                <a:sym typeface="Helvetica Neue"/>
              </a:rPr>
              <a:t>14. Capacitaciones para mejorar la organización</a:t>
            </a:r>
            <a:endParaRPr sz="2000">
              <a:latin typeface="Helvetica Neue"/>
              <a:ea typeface="Helvetica Neue"/>
              <a:cs typeface="Helvetica Neue"/>
              <a:sym typeface="Helvetica Neue"/>
            </a:endParaRPr>
          </a:p>
          <a:p>
            <a:pPr indent="0" lvl="0" marL="0" rtl="0" algn="l">
              <a:spcBef>
                <a:spcPts val="0"/>
              </a:spcBef>
              <a:spcAft>
                <a:spcPts val="0"/>
              </a:spcAft>
              <a:buNone/>
            </a:pPr>
            <a:r>
              <a:rPr lang="en-US" sz="2000">
                <a:latin typeface="Helvetica Neue"/>
                <a:ea typeface="Helvetica Neue"/>
                <a:cs typeface="Helvetica Neue"/>
                <a:sym typeface="Helvetica Neue"/>
              </a:rPr>
              <a:t>15. Lugar de descanso para estudiantes</a:t>
            </a:r>
            <a:endParaRPr sz="2000">
              <a:latin typeface="Helvetica Neue"/>
              <a:ea typeface="Helvetica Neue"/>
              <a:cs typeface="Helvetica Neue"/>
              <a:sym typeface="Helvetica Neue"/>
            </a:endParaRPr>
          </a:p>
          <a:p>
            <a:pPr indent="0" lvl="0" marL="0" rtl="0" algn="l">
              <a:spcBef>
                <a:spcPts val="0"/>
              </a:spcBef>
              <a:spcAft>
                <a:spcPts val="0"/>
              </a:spcAft>
              <a:buNone/>
            </a:pPr>
            <a:r>
              <a:rPr lang="en-US" sz="2000">
                <a:latin typeface="Helvetica Neue"/>
                <a:ea typeface="Helvetica Neue"/>
                <a:cs typeface="Helvetica Neue"/>
                <a:sym typeface="Helvetica Neue"/>
              </a:rPr>
              <a:t>16. Más casinos</a:t>
            </a:r>
            <a:endParaRPr sz="2000">
              <a:latin typeface="Helvetica Neue"/>
              <a:ea typeface="Helvetica Neue"/>
              <a:cs typeface="Helvetica Neue"/>
              <a:sym typeface="Helvetica Neue"/>
            </a:endParaRPr>
          </a:p>
          <a:p>
            <a:pPr indent="0" lvl="0" marL="0" rtl="0" algn="l">
              <a:spcBef>
                <a:spcPts val="0"/>
              </a:spcBef>
              <a:spcAft>
                <a:spcPts val="0"/>
              </a:spcAft>
              <a:buNone/>
            </a:pPr>
            <a:r>
              <a:rPr lang="en-US" sz="2000">
                <a:latin typeface="Helvetica Neue"/>
                <a:ea typeface="Helvetica Neue"/>
                <a:cs typeface="Helvetica Neue"/>
                <a:sym typeface="Helvetica Neue"/>
              </a:rPr>
              <a:t>17. Transporte dentro de la universidad</a:t>
            </a:r>
            <a:endParaRPr sz="2000">
              <a:latin typeface="Helvetica Neue"/>
              <a:ea typeface="Helvetica Neue"/>
              <a:cs typeface="Helvetica Neue"/>
              <a:sym typeface="Helvetica Neue"/>
            </a:endParaRPr>
          </a:p>
          <a:p>
            <a:pPr indent="0" lvl="0" marL="0" rtl="0" algn="l">
              <a:spcBef>
                <a:spcPts val="0"/>
              </a:spcBef>
              <a:spcAft>
                <a:spcPts val="0"/>
              </a:spcAft>
              <a:buNone/>
            </a:pPr>
            <a:r>
              <a:rPr lang="en-US" sz="2000">
                <a:latin typeface="Helvetica Neue"/>
                <a:ea typeface="Helvetica Neue"/>
                <a:cs typeface="Helvetica Neue"/>
                <a:sym typeface="Helvetica Neue"/>
              </a:rPr>
              <a:t>18. Cintas transportadoras (tipo aeropuerto) para caminar menos</a:t>
            </a:r>
            <a:endParaRPr sz="2000">
              <a:latin typeface="Helvetica Neue"/>
              <a:ea typeface="Helvetica Neue"/>
              <a:cs typeface="Helvetica Neue"/>
              <a:sym typeface="Helvetica Neue"/>
            </a:endParaRPr>
          </a:p>
          <a:p>
            <a:pPr indent="0" lvl="0" marL="0" rtl="0" algn="l">
              <a:spcBef>
                <a:spcPts val="0"/>
              </a:spcBef>
              <a:spcAft>
                <a:spcPts val="0"/>
              </a:spcAft>
              <a:buNone/>
            </a:pPr>
            <a:r>
              <a:rPr lang="en-US" sz="2000">
                <a:latin typeface="Helvetica Neue"/>
                <a:ea typeface="Helvetica Neue"/>
                <a:cs typeface="Helvetica Neue"/>
                <a:sym typeface="Helvetica Neue"/>
              </a:rPr>
              <a:t>19. Consultas gratis de masajes o fisioterapia para mejorar el dolor de espalda </a:t>
            </a:r>
            <a:endParaRPr sz="2000">
              <a:latin typeface="Helvetica Neue"/>
              <a:ea typeface="Helvetica Neue"/>
              <a:cs typeface="Helvetica Neue"/>
              <a:sym typeface="Helvetica Neue"/>
            </a:endParaRPr>
          </a:p>
          <a:p>
            <a:pPr indent="0" lvl="0" marL="0" rtl="0" algn="l">
              <a:spcBef>
                <a:spcPts val="0"/>
              </a:spcBef>
              <a:spcAft>
                <a:spcPts val="0"/>
              </a:spcAft>
              <a:buNone/>
            </a:pPr>
            <a:r>
              <a:rPr lang="en-US" sz="2000">
                <a:latin typeface="Helvetica Neue"/>
                <a:ea typeface="Helvetica Neue"/>
                <a:cs typeface="Helvetica Neue"/>
                <a:sym typeface="Helvetica Neue"/>
              </a:rPr>
              <a:t>20. Salas individuales para poder arrendar por día</a:t>
            </a:r>
            <a:endParaRPr sz="2000">
              <a:latin typeface="Helvetica Neue"/>
              <a:ea typeface="Helvetica Neue"/>
              <a:cs typeface="Helvetica Neue"/>
              <a:sym typeface="Helvetica Neue"/>
            </a:endParaRPr>
          </a:p>
          <a:p>
            <a:pPr indent="0" lvl="0" marL="0" rtl="0" algn="l">
              <a:spcBef>
                <a:spcPts val="0"/>
              </a:spcBef>
              <a:spcAft>
                <a:spcPts val="0"/>
              </a:spcAft>
              <a:buNone/>
            </a:pPr>
            <a:r>
              <a:rPr lang="en-US" sz="2000">
                <a:latin typeface="Helvetica Neue"/>
                <a:ea typeface="Helvetica Neue"/>
                <a:cs typeface="Helvetica Neue"/>
                <a:sym typeface="Helvetica Neue"/>
              </a:rPr>
              <a:t>21. App para organizarse</a:t>
            </a:r>
            <a:endParaRPr sz="2000">
              <a:latin typeface="Helvetica Neue"/>
              <a:ea typeface="Helvetica Neue"/>
              <a:cs typeface="Helvetica Neue"/>
              <a:sym typeface="Helvetica Neue"/>
            </a:endParaRPr>
          </a:p>
        </p:txBody>
      </p:sp>
      <p:sp>
        <p:nvSpPr>
          <p:cNvPr id="901" name="Google Shape;901;g366035f45a8_0_48"/>
          <p:cNvSpPr txBox="1"/>
          <p:nvPr/>
        </p:nvSpPr>
        <p:spPr>
          <a:xfrm>
            <a:off x="8684000" y="8688375"/>
            <a:ext cx="4357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latin typeface="Helvetica Neue"/>
                <a:ea typeface="Helvetica Neue"/>
                <a:cs typeface="Helvetica Neue"/>
                <a:sym typeface="Helvetica Neue"/>
              </a:rPr>
              <a:t>TAN LOCAS LAS IDEAS :)</a:t>
            </a:r>
            <a:endParaRPr sz="3000">
              <a:latin typeface="Helvetica Neue"/>
              <a:ea typeface="Helvetica Neue"/>
              <a:cs typeface="Helvetica Neue"/>
              <a:sym typeface="Helvetica Neue"/>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g3672ed3eb96_0_15"/>
          <p:cNvSpPr txBox="1"/>
          <p:nvPr/>
        </p:nvSpPr>
        <p:spPr>
          <a:xfrm>
            <a:off x="1069100" y="127025"/>
            <a:ext cx="10866600" cy="97281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Mochilas modulares.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Distribución peso mejorada.</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Ruedas integradas, retráctiles.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Carga solar dispositivos.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Mochilas inteligentes, inventario.</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Libros texto digitales.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Escaneo apuntes aula.</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Pizarras interactivas, guardado.</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Laboratorios virtuales, simuladores.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Impresión a demanda campus.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Casilleros con cargadores.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Préstamo dispositivos electrónicos.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Centralización recursos facultad.</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Intercambio libros usados.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Material digital por defecto.</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Campaña peso mochila.</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Talleres organización, planificación.</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Incentivos alternativas digitales.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Horarios clases optimizados.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Recarga agua potable.</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Cuaderno que digitaliza las notas.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En </a:t>
            </a:r>
            <a:r>
              <a:rPr lang="en-US" sz="2000">
                <a:latin typeface="Helvetica Neue"/>
                <a:ea typeface="Helvetica Neue"/>
                <a:cs typeface="Helvetica Neue"/>
                <a:sym typeface="Helvetica Neue"/>
              </a:rPr>
              <a:t>ocasiones</a:t>
            </a:r>
            <a:r>
              <a:rPr lang="en-US" sz="2000">
                <a:latin typeface="Helvetica Neue"/>
                <a:ea typeface="Helvetica Neue"/>
                <a:cs typeface="Helvetica Neue"/>
                <a:sym typeface="Helvetica Neue"/>
              </a:rPr>
              <a:t> especiales, tener la opción de clases online</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Grabadora de audio con ia integrado en cual toma notas de clases, conversaciones etc..</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Talleres para aprender a gestionar el tiempo.</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Talleres para conocer mis capacidades y aprender a regir mi carga académica en base estas (no sobrecargar)</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Aprender a priorizar para ser consciente de las herramientas que realmente usare en el día a día.</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Crear listas para asegurarnos de que llevamos lo necesario.</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Grabar las clases para las personas que faltaron a clases</a:t>
            </a:r>
            <a:endParaRPr sz="2000">
              <a:latin typeface="Helvetica Neue"/>
              <a:ea typeface="Helvetica Neue"/>
              <a:cs typeface="Helvetica Neue"/>
              <a:sym typeface="Helvetica Neue"/>
            </a:endParaRPr>
          </a:p>
          <a:p>
            <a:pPr indent="-355600" lvl="0" marL="457200" rtl="0" algn="l">
              <a:spcBef>
                <a:spcPts val="0"/>
              </a:spcBef>
              <a:spcAft>
                <a:spcPts val="0"/>
              </a:spcAft>
              <a:buSzPts val="2000"/>
              <a:buFont typeface="Helvetica Neue"/>
              <a:buAutoNum type="arabicPeriod"/>
            </a:pPr>
            <a:r>
              <a:rPr lang="en-US" sz="2000">
                <a:latin typeface="Helvetica Neue"/>
                <a:ea typeface="Helvetica Neue"/>
                <a:cs typeface="Helvetica Neue"/>
                <a:sym typeface="Helvetica Neue"/>
              </a:rPr>
              <a:t>Que los profe digitalizen su apuntes antes de la clase y los suban</a:t>
            </a:r>
            <a:endParaRPr sz="2000">
              <a:latin typeface="Helvetica Neue"/>
              <a:ea typeface="Helvetica Neue"/>
              <a:cs typeface="Helvetica Neue"/>
              <a:sym typeface="Helvetica Neue"/>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pic>
        <p:nvPicPr>
          <p:cNvPr descr="EA11.png" id="911" name="Google Shape;911;p21"/>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912" name="Google Shape;912;p21"/>
          <p:cNvSpPr txBox="1"/>
          <p:nvPr/>
        </p:nvSpPr>
        <p:spPr>
          <a:xfrm>
            <a:off x="4971200" y="314625"/>
            <a:ext cx="7588500" cy="7695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Helvetica Neue"/>
                <a:ea typeface="Helvetica Neue"/>
                <a:cs typeface="Helvetica Neue"/>
                <a:sym typeface="Helvetica Neue"/>
              </a:rPr>
              <a:t>Pegar fotos de trabajo en clases</a:t>
            </a:r>
            <a:endParaRPr b="0" i="0" sz="3800" u="none" cap="none" strike="noStrike">
              <a:solidFill>
                <a:schemeClr val="lt1"/>
              </a:solidFill>
              <a:latin typeface="Helvetica Neue"/>
              <a:ea typeface="Helvetica Neue"/>
              <a:cs typeface="Helvetica Neue"/>
              <a:sym typeface="Helvetica Neue"/>
            </a:endParaRPr>
          </a:p>
        </p:txBody>
      </p:sp>
      <p:pic>
        <p:nvPicPr>
          <p:cNvPr id="913" name="Google Shape;913;p21"/>
          <p:cNvPicPr preferRelativeResize="0"/>
          <p:nvPr/>
        </p:nvPicPr>
        <p:blipFill>
          <a:blip r:embed="rId4">
            <a:alphaModFix/>
          </a:blip>
          <a:stretch>
            <a:fillRect/>
          </a:stretch>
        </p:blipFill>
        <p:spPr>
          <a:xfrm>
            <a:off x="1735927" y="1981413"/>
            <a:ext cx="3254844" cy="7431512"/>
          </a:xfrm>
          <a:prstGeom prst="rect">
            <a:avLst/>
          </a:prstGeom>
          <a:noFill/>
          <a:ln>
            <a:noFill/>
          </a:ln>
        </p:spPr>
      </p:pic>
      <p:pic>
        <p:nvPicPr>
          <p:cNvPr id="914" name="Google Shape;914;p21"/>
          <p:cNvPicPr preferRelativeResize="0"/>
          <p:nvPr/>
        </p:nvPicPr>
        <p:blipFill>
          <a:blip r:embed="rId5">
            <a:alphaModFix/>
          </a:blip>
          <a:stretch>
            <a:fillRect/>
          </a:stretch>
        </p:blipFill>
        <p:spPr>
          <a:xfrm>
            <a:off x="4990756" y="1981400"/>
            <a:ext cx="3266145" cy="6386132"/>
          </a:xfrm>
          <a:prstGeom prst="rect">
            <a:avLst/>
          </a:prstGeom>
          <a:noFill/>
          <a:ln>
            <a:noFill/>
          </a:ln>
        </p:spPr>
      </p:pic>
      <p:pic>
        <p:nvPicPr>
          <p:cNvPr id="915" name="Google Shape;915;p21"/>
          <p:cNvPicPr preferRelativeResize="0"/>
          <p:nvPr/>
        </p:nvPicPr>
        <p:blipFill>
          <a:blip r:embed="rId6">
            <a:alphaModFix/>
          </a:blip>
          <a:stretch>
            <a:fillRect/>
          </a:stretch>
        </p:blipFill>
        <p:spPr>
          <a:xfrm>
            <a:off x="8256901" y="1981408"/>
            <a:ext cx="3311351" cy="6717341"/>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pic>
        <p:nvPicPr>
          <p:cNvPr descr="EA11.png" id="920" name="Google Shape;920;p22"/>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921" name="Google Shape;921;p22"/>
          <p:cNvSpPr txBox="1"/>
          <p:nvPr/>
        </p:nvSpPr>
        <p:spPr>
          <a:xfrm>
            <a:off x="4971200" y="314625"/>
            <a:ext cx="7588500" cy="7695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Helvetica Neue"/>
                <a:ea typeface="Helvetica Neue"/>
                <a:cs typeface="Helvetica Neue"/>
                <a:sym typeface="Helvetica Neue"/>
              </a:rPr>
              <a:t>Pegar fotos de trabajo en clases</a:t>
            </a:r>
            <a:endParaRPr b="0" i="0" sz="3800" u="none" cap="none" strike="noStrike">
              <a:solidFill>
                <a:schemeClr val="lt1"/>
              </a:solidFill>
              <a:latin typeface="Helvetica Neue"/>
              <a:ea typeface="Helvetica Neue"/>
              <a:cs typeface="Helvetica Neue"/>
              <a:sym typeface="Helvetica Neue"/>
            </a:endParaRPr>
          </a:p>
        </p:txBody>
      </p:sp>
      <p:pic>
        <p:nvPicPr>
          <p:cNvPr id="922" name="Google Shape;922;p22"/>
          <p:cNvPicPr preferRelativeResize="0"/>
          <p:nvPr/>
        </p:nvPicPr>
        <p:blipFill>
          <a:blip r:embed="rId4">
            <a:alphaModFix/>
          </a:blip>
          <a:stretch>
            <a:fillRect/>
          </a:stretch>
        </p:blipFill>
        <p:spPr>
          <a:xfrm>
            <a:off x="506150" y="1727275"/>
            <a:ext cx="11794351" cy="690752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8F04"/>
        </a:solidFill>
      </p:bgPr>
    </p:bg>
    <p:spTree>
      <p:nvGrpSpPr>
        <p:cNvPr id="926" name="Shape 926"/>
        <p:cNvGrpSpPr/>
        <p:nvPr/>
      </p:nvGrpSpPr>
      <p:grpSpPr>
        <a:xfrm>
          <a:off x="0" y="0"/>
          <a:ext cx="0" cy="0"/>
          <a:chOff x="0" y="0"/>
          <a:chExt cx="0" cy="0"/>
        </a:xfrm>
      </p:grpSpPr>
      <p:grpSp>
        <p:nvGrpSpPr>
          <p:cNvPr id="927" name="Google Shape;927;p23"/>
          <p:cNvGrpSpPr/>
          <p:nvPr/>
        </p:nvGrpSpPr>
        <p:grpSpPr>
          <a:xfrm>
            <a:off x="241323" y="141073"/>
            <a:ext cx="11919216" cy="9157278"/>
            <a:chOff x="241323" y="141073"/>
            <a:chExt cx="11919216" cy="9157278"/>
          </a:xfrm>
        </p:grpSpPr>
        <p:pic>
          <p:nvPicPr>
            <p:cNvPr descr="Captura de Pantalla 2020-08-14 a la(s) 20.46.06.png" id="928" name="Google Shape;928;p23"/>
            <p:cNvPicPr preferRelativeResize="0"/>
            <p:nvPr/>
          </p:nvPicPr>
          <p:blipFill rotWithShape="1">
            <a:blip r:embed="rId3">
              <a:alphaModFix/>
            </a:blip>
            <a:srcRect b="0" l="0" r="0" t="0"/>
            <a:stretch/>
          </p:blipFill>
          <p:spPr>
            <a:xfrm>
              <a:off x="844260" y="641585"/>
              <a:ext cx="11316279" cy="8470430"/>
            </a:xfrm>
            <a:prstGeom prst="rect">
              <a:avLst/>
            </a:prstGeom>
            <a:noFill/>
            <a:ln>
              <a:noFill/>
            </a:ln>
          </p:spPr>
        </p:pic>
        <p:pic>
          <p:nvPicPr>
            <p:cNvPr descr="EA11.png" id="929" name="Google Shape;929;p23"/>
            <p:cNvPicPr preferRelativeResize="0"/>
            <p:nvPr/>
          </p:nvPicPr>
          <p:blipFill rotWithShape="1">
            <a:blip r:embed="rId4">
              <a:alphaModFix/>
            </a:blip>
            <a:srcRect b="0" l="0" r="0" t="0"/>
            <a:stretch/>
          </p:blipFill>
          <p:spPr>
            <a:xfrm>
              <a:off x="241323" y="141073"/>
              <a:ext cx="3975324" cy="1083107"/>
            </a:xfrm>
            <a:prstGeom prst="rect">
              <a:avLst/>
            </a:prstGeom>
            <a:noFill/>
            <a:ln>
              <a:noFill/>
            </a:ln>
          </p:spPr>
        </p:pic>
        <p:grpSp>
          <p:nvGrpSpPr>
            <p:cNvPr id="930" name="Google Shape;930;p23"/>
            <p:cNvGrpSpPr/>
            <p:nvPr/>
          </p:nvGrpSpPr>
          <p:grpSpPr>
            <a:xfrm>
              <a:off x="1212905" y="8677287"/>
              <a:ext cx="10578992" cy="621064"/>
              <a:chOff x="0" y="0"/>
              <a:chExt cx="10578990" cy="621062"/>
            </a:xfrm>
          </p:grpSpPr>
          <p:cxnSp>
            <p:nvCxnSpPr>
              <p:cNvPr id="931" name="Google Shape;931;p23"/>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932" name="Google Shape;932;p23"/>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33" name="Google Shape;933;p23"/>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34" name="Google Shape;934;p23"/>
              <p:cNvSpPr/>
              <p:nvPr/>
            </p:nvSpPr>
            <p:spPr>
              <a:xfrm>
                <a:off x="4978963" y="0"/>
                <a:ext cx="621063" cy="621062"/>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35" name="Google Shape;935;p23"/>
              <p:cNvSpPr/>
              <p:nvPr/>
            </p:nvSpPr>
            <p:spPr>
              <a:xfrm>
                <a:off x="7468444" y="0"/>
                <a:ext cx="621063" cy="621062"/>
              </a:xfrm>
              <a:prstGeom prst="ellipse">
                <a:avLst/>
              </a:prstGeom>
              <a:solidFill>
                <a:srgbClr val="F0763D"/>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36" name="Google Shape;936;p23"/>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gr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grpSp>
        <p:nvGrpSpPr>
          <p:cNvPr id="941" name="Google Shape;941;p24"/>
          <p:cNvGrpSpPr/>
          <p:nvPr/>
        </p:nvGrpSpPr>
        <p:grpSpPr>
          <a:xfrm>
            <a:off x="241323" y="54969"/>
            <a:ext cx="11970042" cy="9157278"/>
            <a:chOff x="241323" y="141073"/>
            <a:chExt cx="11970042" cy="9157278"/>
          </a:xfrm>
        </p:grpSpPr>
        <p:pic>
          <p:nvPicPr>
            <p:cNvPr descr="EA11.png" id="942" name="Google Shape;942;p24"/>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grpSp>
          <p:nvGrpSpPr>
            <p:cNvPr id="943" name="Google Shape;943;p24"/>
            <p:cNvGrpSpPr/>
            <p:nvPr/>
          </p:nvGrpSpPr>
          <p:grpSpPr>
            <a:xfrm>
              <a:off x="1212905" y="8677287"/>
              <a:ext cx="10578992" cy="621064"/>
              <a:chOff x="0" y="0"/>
              <a:chExt cx="10578990" cy="621062"/>
            </a:xfrm>
          </p:grpSpPr>
          <p:cxnSp>
            <p:nvCxnSpPr>
              <p:cNvPr id="944" name="Google Shape;944;p24"/>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945" name="Google Shape;945;p24"/>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46" name="Google Shape;946;p24"/>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47" name="Google Shape;947;p24"/>
              <p:cNvSpPr/>
              <p:nvPr/>
            </p:nvSpPr>
            <p:spPr>
              <a:xfrm>
                <a:off x="4978963" y="0"/>
                <a:ext cx="621063" cy="621062"/>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48" name="Google Shape;948;p24"/>
              <p:cNvSpPr/>
              <p:nvPr/>
            </p:nvSpPr>
            <p:spPr>
              <a:xfrm>
                <a:off x="7468444" y="0"/>
                <a:ext cx="621063" cy="621062"/>
              </a:xfrm>
              <a:prstGeom prst="ellipse">
                <a:avLst/>
              </a:prstGeom>
              <a:solidFill>
                <a:srgbClr val="F2763D"/>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49" name="Google Shape;949;p24"/>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950" name="Google Shape;950;p24"/>
            <p:cNvSpPr txBox="1"/>
            <p:nvPr/>
          </p:nvSpPr>
          <p:spPr>
            <a:xfrm>
              <a:off x="793435" y="1379272"/>
              <a:ext cx="11417930" cy="684133"/>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F0763D"/>
                </a:buClr>
                <a:buSzPts val="3900"/>
                <a:buFont typeface="Helvetica Neue"/>
                <a:buNone/>
              </a:pPr>
              <a:r>
                <a:rPr b="0" i="0" lang="en-US" sz="3900" u="none" cap="none" strike="noStrike">
                  <a:solidFill>
                    <a:srgbClr val="F0763D"/>
                  </a:solidFill>
                  <a:latin typeface="Helvetica Neue"/>
                  <a:ea typeface="Helvetica Neue"/>
                  <a:cs typeface="Helvetica Neue"/>
                  <a:sym typeface="Helvetica Neue"/>
                </a:rPr>
                <a:t>PROTOTIPADO DE SERVICIOS</a:t>
              </a:r>
              <a:endParaRPr b="0" i="0" sz="1400" u="none" cap="none" strike="noStrike">
                <a:solidFill>
                  <a:srgbClr val="000000"/>
                </a:solidFill>
                <a:latin typeface="Helvetica Neue"/>
                <a:ea typeface="Helvetica Neue"/>
                <a:cs typeface="Helvetica Neue"/>
                <a:sym typeface="Helvetica Neue"/>
              </a:endParaRPr>
            </a:p>
          </p:txBody>
        </p:sp>
        <p:sp>
          <p:nvSpPr>
            <p:cNvPr id="951" name="Google Shape;951;p24"/>
            <p:cNvSpPr txBox="1"/>
            <p:nvPr/>
          </p:nvSpPr>
          <p:spPr>
            <a:xfrm>
              <a:off x="1166100" y="2203163"/>
              <a:ext cx="10672500" cy="5894400"/>
            </a:xfrm>
            <a:prstGeom prst="rect">
              <a:avLst/>
            </a:prstGeom>
            <a:noFill/>
            <a:ln>
              <a:noFill/>
            </a:ln>
          </p:spPr>
          <p:txBody>
            <a:bodyPr anchorCtr="0" anchor="ctr" bIns="50800" lIns="50800" spcFirstLastPara="1" rIns="50800" wrap="square" tIns="50800">
              <a:noAutofit/>
            </a:bodyPr>
            <a:lstStyle/>
            <a:p>
              <a:pPr indent="-266700" lvl="0" marL="266700" marR="0" rtl="0" algn="l">
                <a:lnSpc>
                  <a:spcPct val="100000"/>
                </a:lnSpc>
                <a:spcBef>
                  <a:spcPts val="0"/>
                </a:spcBef>
                <a:spcAft>
                  <a:spcPts val="0"/>
                </a:spcAft>
                <a:buClr>
                  <a:srgbClr val="5E5E5E"/>
                </a:buClr>
                <a:buSzPts val="1900"/>
                <a:buFont typeface="Helvetica Neue"/>
                <a:buAutoNum type="alphaLcPeriod"/>
              </a:pPr>
              <a:r>
                <a:rPr b="0" i="0" lang="en-US" sz="1900" u="none" cap="none" strike="noStrike">
                  <a:solidFill>
                    <a:srgbClr val="5E5E5E"/>
                  </a:solidFill>
                  <a:latin typeface="Helvetica Neue"/>
                  <a:ea typeface="Helvetica Neue"/>
                  <a:cs typeface="Helvetica Neue"/>
                  <a:sym typeface="Helvetica Neue"/>
                </a:rPr>
                <a:t>Mapa de Viaje del Usuario: Visualización del recorrido del usuario a lo largo de un servicio, definiendo las actividades que realiza y los puntos de contacto que se asocian a cada interacción. No se requiere una representación profunda ni detallada, si no una fotografía de cómo se desarrolla el proceso desde que la persona se entera del servicio hasta que regresa. </a:t>
              </a:r>
              <a:endParaRPr b="0" i="0" sz="1500" u="none" cap="none" strike="noStrike">
                <a:solidFill>
                  <a:srgbClr val="000000"/>
                </a:solidFill>
                <a:latin typeface="Helvetica Neue"/>
                <a:ea typeface="Helvetica Neue"/>
                <a:cs typeface="Helvetica Neue"/>
                <a:sym typeface="Helvetica Neue"/>
              </a:endParaRPr>
            </a:p>
            <a:p>
              <a:pPr indent="-146050" lvl="0" marL="266700" marR="0" rtl="0" algn="l">
                <a:lnSpc>
                  <a:spcPct val="100000"/>
                </a:lnSpc>
                <a:spcBef>
                  <a:spcPts val="0"/>
                </a:spcBef>
                <a:spcAft>
                  <a:spcPts val="0"/>
                </a:spcAft>
                <a:buClr>
                  <a:srgbClr val="5E5E5E"/>
                </a:buClr>
                <a:buSzPts val="1900"/>
                <a:buFont typeface="Helvetica Neue"/>
                <a:buNone/>
              </a:pPr>
              <a:r>
                <a:t/>
              </a:r>
              <a:endParaRPr b="0" i="0" sz="1500" u="none" cap="none" strike="noStrike">
                <a:solidFill>
                  <a:srgbClr val="5E5E5E"/>
                </a:solidFill>
                <a:latin typeface="Helvetica Neue"/>
                <a:ea typeface="Helvetica Neue"/>
                <a:cs typeface="Helvetica Neue"/>
                <a:sym typeface="Helvetica Neue"/>
              </a:endParaRPr>
            </a:p>
            <a:p>
              <a:pPr indent="-266700" lvl="0" marL="266700" marR="0" rtl="0" algn="l">
                <a:lnSpc>
                  <a:spcPct val="100000"/>
                </a:lnSpc>
                <a:spcBef>
                  <a:spcPts val="0"/>
                </a:spcBef>
                <a:spcAft>
                  <a:spcPts val="0"/>
                </a:spcAft>
                <a:buClr>
                  <a:srgbClr val="5E5E5E"/>
                </a:buClr>
                <a:buSzPts val="1900"/>
                <a:buFont typeface="Helvetica Neue"/>
                <a:buAutoNum type="alphaLcPeriod"/>
              </a:pPr>
              <a:r>
                <a:rPr b="0" i="0" lang="en-US" sz="1900" u="none" cap="none" strike="noStrike">
                  <a:solidFill>
                    <a:srgbClr val="5E5E5E"/>
                  </a:solidFill>
                  <a:latin typeface="Helvetica Neue"/>
                  <a:ea typeface="Helvetica Neue"/>
                  <a:cs typeface="Helvetica Neue"/>
                  <a:sym typeface="Helvetica Neue"/>
                </a:rPr>
                <a:t>Storyboard: Corresponde una serie de dibujos o imágenes que permiten visualizar una secuencia de momentos. No es necesario ser un gran artista. La idea es dibujar los elementos del servicio y pulir la idea que se está desarrollando. Permite entender quiénes, cómo y dónde interactúan en cada momento del servicio. Resulta más acabado que un mapa de viaje. </a:t>
              </a:r>
              <a:endParaRPr b="0" i="0" sz="1500" u="none" cap="none" strike="noStrike">
                <a:solidFill>
                  <a:srgbClr val="000000"/>
                </a:solidFill>
                <a:latin typeface="Helvetica Neue"/>
                <a:ea typeface="Helvetica Neue"/>
                <a:cs typeface="Helvetica Neue"/>
                <a:sym typeface="Helvetica Neue"/>
              </a:endParaRPr>
            </a:p>
            <a:p>
              <a:pPr indent="-146050" lvl="0" marL="266700" marR="0" rtl="0" algn="l">
                <a:lnSpc>
                  <a:spcPct val="100000"/>
                </a:lnSpc>
                <a:spcBef>
                  <a:spcPts val="0"/>
                </a:spcBef>
                <a:spcAft>
                  <a:spcPts val="0"/>
                </a:spcAft>
                <a:buClr>
                  <a:srgbClr val="5E5E5E"/>
                </a:buClr>
                <a:buSzPts val="1900"/>
                <a:buFont typeface="Helvetica Neue"/>
                <a:buNone/>
              </a:pPr>
              <a:r>
                <a:t/>
              </a:r>
              <a:endParaRPr b="0" i="0" sz="1500" u="none" cap="none" strike="noStrike">
                <a:solidFill>
                  <a:srgbClr val="5E5E5E"/>
                </a:solidFill>
                <a:latin typeface="Helvetica Neue"/>
                <a:ea typeface="Helvetica Neue"/>
                <a:cs typeface="Helvetica Neue"/>
                <a:sym typeface="Helvetica Neue"/>
              </a:endParaRPr>
            </a:p>
            <a:p>
              <a:pPr indent="-266700" lvl="0" marL="266700" marR="0" rtl="0" algn="l">
                <a:lnSpc>
                  <a:spcPct val="100000"/>
                </a:lnSpc>
                <a:spcBef>
                  <a:spcPts val="0"/>
                </a:spcBef>
                <a:spcAft>
                  <a:spcPts val="0"/>
                </a:spcAft>
                <a:buClr>
                  <a:srgbClr val="5E5E5E"/>
                </a:buClr>
                <a:buSzPts val="1900"/>
                <a:buFont typeface="Helvetica Neue"/>
                <a:buAutoNum type="alphaLcPeriod"/>
              </a:pPr>
              <a:r>
                <a:rPr b="0" i="0" lang="en-US" sz="1900" u="none" cap="none" strike="noStrike">
                  <a:solidFill>
                    <a:srgbClr val="5E5E5E"/>
                  </a:solidFill>
                  <a:latin typeface="Helvetica Neue"/>
                  <a:ea typeface="Helvetica Neue"/>
                  <a:cs typeface="Helvetica Neue"/>
                  <a:sym typeface="Helvetica Neue"/>
                </a:rPr>
                <a:t>Recorrido a Escala: Representación a escala del servicio y su contexto, a través de la utilización de elementos simples que permiten dar vida al servicio. Al mover los personajes y soportes físicos, permite simular las interacciones que se podrían generar en el servicio. La posibilidad de repetir, tantas veces como sea necesario la puesta en escena del servicio, permite iterar, aprender y mejorar la propuesta. </a:t>
              </a:r>
              <a:endParaRPr b="0" i="0" sz="1500" u="none" cap="none" strike="noStrike">
                <a:solidFill>
                  <a:srgbClr val="000000"/>
                </a:solidFill>
                <a:latin typeface="Helvetica Neue"/>
                <a:ea typeface="Helvetica Neue"/>
                <a:cs typeface="Helvetica Neue"/>
                <a:sym typeface="Helvetica Neue"/>
              </a:endParaRPr>
            </a:p>
            <a:p>
              <a:pPr indent="-146050" lvl="0" marL="266700" marR="0" rtl="0" algn="l">
                <a:lnSpc>
                  <a:spcPct val="100000"/>
                </a:lnSpc>
                <a:spcBef>
                  <a:spcPts val="0"/>
                </a:spcBef>
                <a:spcAft>
                  <a:spcPts val="0"/>
                </a:spcAft>
                <a:buClr>
                  <a:srgbClr val="5E5E5E"/>
                </a:buClr>
                <a:buSzPts val="1900"/>
                <a:buFont typeface="Helvetica Neue"/>
                <a:buNone/>
              </a:pPr>
              <a:r>
                <a:t/>
              </a:r>
              <a:endParaRPr b="0" i="0" sz="1500" u="none" cap="none" strike="noStrike">
                <a:solidFill>
                  <a:srgbClr val="5E5E5E"/>
                </a:solidFill>
                <a:latin typeface="Helvetica Neue"/>
                <a:ea typeface="Helvetica Neue"/>
                <a:cs typeface="Helvetica Neue"/>
                <a:sym typeface="Helvetica Neue"/>
              </a:endParaRPr>
            </a:p>
            <a:p>
              <a:pPr indent="-266700" lvl="0" marL="266700" marR="0" rtl="0" algn="l">
                <a:lnSpc>
                  <a:spcPct val="100000"/>
                </a:lnSpc>
                <a:spcBef>
                  <a:spcPts val="0"/>
                </a:spcBef>
                <a:spcAft>
                  <a:spcPts val="0"/>
                </a:spcAft>
                <a:buClr>
                  <a:srgbClr val="5E5E5E"/>
                </a:buClr>
                <a:buSzPts val="1900"/>
                <a:buFont typeface="Helvetica Neue"/>
                <a:buAutoNum type="alphaLcPeriod"/>
              </a:pPr>
              <a:r>
                <a:rPr b="0" i="0" lang="en-US" sz="1900" u="none" cap="none" strike="noStrike">
                  <a:solidFill>
                    <a:srgbClr val="5E5E5E"/>
                  </a:solidFill>
                  <a:latin typeface="Helvetica Neue"/>
                  <a:ea typeface="Helvetica Neue"/>
                  <a:cs typeface="Helvetica Neue"/>
                  <a:sym typeface="Helvetica Neue"/>
                </a:rPr>
                <a:t>Juego de Roles (Roleplaying): Consiste en ponerse en el papel de un actor del servicio. Permite obtener una gran cantidad de información al interpretar a diferentes actores involucrados en el servicio. Se sugiere realizar la actividad dentro del equipo de diseño, antes de salir a terreno.</a:t>
              </a:r>
              <a:endParaRPr b="0" i="0" sz="1500" u="none" cap="none" strike="noStrike">
                <a:solidFill>
                  <a:srgbClr val="000000"/>
                </a:solidFill>
                <a:latin typeface="Helvetica Neue"/>
                <a:ea typeface="Helvetica Neue"/>
                <a:cs typeface="Helvetica Neue"/>
                <a:sym typeface="Helvetica Neue"/>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grpSp>
        <p:nvGrpSpPr>
          <p:cNvPr id="956" name="Google Shape;956;p25"/>
          <p:cNvGrpSpPr/>
          <p:nvPr/>
        </p:nvGrpSpPr>
        <p:grpSpPr>
          <a:xfrm>
            <a:off x="241323" y="141073"/>
            <a:ext cx="11970042" cy="9157278"/>
            <a:chOff x="241323" y="141073"/>
            <a:chExt cx="11970042" cy="9157278"/>
          </a:xfrm>
        </p:grpSpPr>
        <p:pic>
          <p:nvPicPr>
            <p:cNvPr descr="EA11.png" id="957" name="Google Shape;957;p25"/>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grpSp>
          <p:nvGrpSpPr>
            <p:cNvPr id="958" name="Google Shape;958;p25"/>
            <p:cNvGrpSpPr/>
            <p:nvPr/>
          </p:nvGrpSpPr>
          <p:grpSpPr>
            <a:xfrm>
              <a:off x="1212905" y="8677287"/>
              <a:ext cx="10578992" cy="621064"/>
              <a:chOff x="0" y="0"/>
              <a:chExt cx="10578990" cy="621062"/>
            </a:xfrm>
          </p:grpSpPr>
          <p:cxnSp>
            <p:nvCxnSpPr>
              <p:cNvPr id="959" name="Google Shape;959;p25"/>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960" name="Google Shape;960;p25"/>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61" name="Google Shape;961;p25"/>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62" name="Google Shape;962;p25"/>
              <p:cNvSpPr/>
              <p:nvPr/>
            </p:nvSpPr>
            <p:spPr>
              <a:xfrm>
                <a:off x="4978963" y="0"/>
                <a:ext cx="621063" cy="621062"/>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63" name="Google Shape;963;p25"/>
              <p:cNvSpPr/>
              <p:nvPr/>
            </p:nvSpPr>
            <p:spPr>
              <a:xfrm>
                <a:off x="7468444" y="0"/>
                <a:ext cx="621063" cy="621062"/>
              </a:xfrm>
              <a:prstGeom prst="ellipse">
                <a:avLst/>
              </a:prstGeom>
              <a:solidFill>
                <a:srgbClr val="F2763D"/>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64" name="Google Shape;964;p25"/>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965" name="Google Shape;965;p25"/>
            <p:cNvSpPr txBox="1"/>
            <p:nvPr/>
          </p:nvSpPr>
          <p:spPr>
            <a:xfrm>
              <a:off x="793435" y="1379272"/>
              <a:ext cx="11417930" cy="684133"/>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F0763D"/>
                </a:buClr>
                <a:buSzPts val="3900"/>
                <a:buFont typeface="Helvetica Neue"/>
                <a:buNone/>
              </a:pPr>
              <a:r>
                <a:rPr b="0" i="0" lang="en-US" sz="3900" u="none" cap="none" strike="noStrike">
                  <a:solidFill>
                    <a:srgbClr val="F0763D"/>
                  </a:solidFill>
                  <a:latin typeface="Helvetica Neue"/>
                  <a:ea typeface="Helvetica Neue"/>
                  <a:cs typeface="Helvetica Neue"/>
                  <a:sym typeface="Helvetica Neue"/>
                </a:rPr>
                <a:t>PROTOTIPADO DE SERVICIOS</a:t>
              </a:r>
              <a:endParaRPr b="0" i="0" sz="1400" u="none" cap="none" strike="noStrike">
                <a:solidFill>
                  <a:srgbClr val="000000"/>
                </a:solidFill>
                <a:latin typeface="Helvetica Neue"/>
                <a:ea typeface="Helvetica Neue"/>
                <a:cs typeface="Helvetica Neue"/>
                <a:sym typeface="Helvetica Neue"/>
              </a:endParaRPr>
            </a:p>
          </p:txBody>
        </p:sp>
        <p:sp>
          <p:nvSpPr>
            <p:cNvPr id="966" name="Google Shape;966;p25"/>
            <p:cNvSpPr txBox="1"/>
            <p:nvPr/>
          </p:nvSpPr>
          <p:spPr>
            <a:xfrm>
              <a:off x="1166105" y="2509166"/>
              <a:ext cx="10672590" cy="4883100"/>
            </a:xfrm>
            <a:prstGeom prst="rect">
              <a:avLst/>
            </a:prstGeom>
            <a:noFill/>
            <a:ln>
              <a:noFill/>
            </a:ln>
          </p:spPr>
          <p:txBody>
            <a:bodyPr anchorCtr="0" anchor="ctr" bIns="50800" lIns="50800" spcFirstLastPara="1" rIns="50800" wrap="square" tIns="50800">
              <a:noAutofit/>
            </a:bodyPr>
            <a:lstStyle/>
            <a:p>
              <a:pPr indent="-266700" lvl="0" marL="266700" marR="0" rtl="0" algn="l">
                <a:lnSpc>
                  <a:spcPct val="100000"/>
                </a:lnSpc>
                <a:spcBef>
                  <a:spcPts val="0"/>
                </a:spcBef>
                <a:spcAft>
                  <a:spcPts val="0"/>
                </a:spcAft>
                <a:buClr>
                  <a:srgbClr val="5E5E5E"/>
                </a:buClr>
                <a:buSzPts val="1900"/>
                <a:buFont typeface="Helvetica Neue"/>
                <a:buAutoNum type="alphaLcPeriod" startAt="5"/>
              </a:pPr>
              <a:r>
                <a:rPr b="0" i="0" lang="en-US" sz="1900" u="none" cap="none" strike="noStrike">
                  <a:solidFill>
                    <a:srgbClr val="5E5E5E"/>
                  </a:solidFill>
                  <a:latin typeface="Helvetica Neue"/>
                  <a:ea typeface="Helvetica Neue"/>
                  <a:cs typeface="Helvetica Neue"/>
                  <a:sym typeface="Helvetica Neue"/>
                </a:rPr>
                <a:t>Simulación Audiovisual: Corresponde a la utilización de dispositivos y aplicaciones tecnológicos para lograr representaciones rápidas de ideas y dramatización de alta fidelidad. A través de la experimentación del prototipo en primera persona, ayuda a los diversos actores a comprometerse y empatizar con el nuevo concepto de servicio y conectarse con el valor emocional. Permite recoger las señales conscientes y subconscientes que afectan la experiencia. </a:t>
              </a:r>
              <a:endParaRPr b="0" i="0" sz="1500" u="none" cap="none" strike="noStrike">
                <a:solidFill>
                  <a:srgbClr val="000000"/>
                </a:solidFill>
                <a:latin typeface="Helvetica Neue"/>
                <a:ea typeface="Helvetica Neue"/>
                <a:cs typeface="Helvetica Neue"/>
                <a:sym typeface="Helvetica Neue"/>
              </a:endParaRPr>
            </a:p>
            <a:p>
              <a:pPr indent="-146050" lvl="0" marL="266700" marR="0" rtl="0" algn="l">
                <a:lnSpc>
                  <a:spcPct val="100000"/>
                </a:lnSpc>
                <a:spcBef>
                  <a:spcPts val="0"/>
                </a:spcBef>
                <a:spcAft>
                  <a:spcPts val="0"/>
                </a:spcAft>
                <a:buClr>
                  <a:srgbClr val="5E5E5E"/>
                </a:buClr>
                <a:buSzPts val="1900"/>
                <a:buFont typeface="Helvetica Neue"/>
                <a:buNone/>
              </a:pPr>
              <a:r>
                <a:t/>
              </a:r>
              <a:endParaRPr b="0" i="0" sz="1500" u="none" cap="none" strike="noStrike">
                <a:solidFill>
                  <a:srgbClr val="5E5E5E"/>
                </a:solidFill>
                <a:latin typeface="Helvetica Neue"/>
                <a:ea typeface="Helvetica Neue"/>
                <a:cs typeface="Helvetica Neue"/>
                <a:sym typeface="Helvetica Neue"/>
              </a:endParaRPr>
            </a:p>
            <a:p>
              <a:pPr indent="-266700" lvl="0" marL="266700" marR="0" rtl="0" algn="l">
                <a:lnSpc>
                  <a:spcPct val="100000"/>
                </a:lnSpc>
                <a:spcBef>
                  <a:spcPts val="0"/>
                </a:spcBef>
                <a:spcAft>
                  <a:spcPts val="0"/>
                </a:spcAft>
                <a:buClr>
                  <a:srgbClr val="5E5E5E"/>
                </a:buClr>
                <a:buSzPts val="1900"/>
                <a:buFont typeface="Helvetica Neue"/>
                <a:buAutoNum type="alphaLcPeriod" startAt="5"/>
              </a:pPr>
              <a:r>
                <a:rPr b="0" i="0" lang="en-US" sz="1900" u="none" cap="none" strike="noStrike">
                  <a:solidFill>
                    <a:srgbClr val="5E5E5E"/>
                  </a:solidFill>
                  <a:latin typeface="Helvetica Neue"/>
                  <a:ea typeface="Helvetica Neue"/>
                  <a:cs typeface="Helvetica Neue"/>
                  <a:sym typeface="Helvetica Neue"/>
                </a:rPr>
                <a:t>Plano del Servicio (Blueprint): Representación visual y detallada del servicio completo (antes, durante y después). Muestra el viaje del usuario, los distintos puntos de contacto y lo que debe hacer la organización para que el servicio funcione o lo que se conoce como “tras bambalinas”. Puede considerar la perspectiva de actores y/o agentes relevantes distintos al usuario y al proveedor del servicio. </a:t>
              </a:r>
              <a:endParaRPr b="0" i="0" sz="1500" u="none" cap="none" strike="noStrike">
                <a:solidFill>
                  <a:srgbClr val="000000"/>
                </a:solidFill>
                <a:latin typeface="Helvetica Neue"/>
                <a:ea typeface="Helvetica Neue"/>
                <a:cs typeface="Helvetica Neue"/>
                <a:sym typeface="Helvetica Neue"/>
              </a:endParaRPr>
            </a:p>
            <a:p>
              <a:pPr indent="-146050" lvl="0" marL="266700" marR="0" rtl="0" algn="l">
                <a:lnSpc>
                  <a:spcPct val="100000"/>
                </a:lnSpc>
                <a:spcBef>
                  <a:spcPts val="0"/>
                </a:spcBef>
                <a:spcAft>
                  <a:spcPts val="0"/>
                </a:spcAft>
                <a:buClr>
                  <a:srgbClr val="5E5E5E"/>
                </a:buClr>
                <a:buSzPts val="1900"/>
                <a:buFont typeface="Helvetica Neue"/>
                <a:buNone/>
              </a:pPr>
              <a:r>
                <a:t/>
              </a:r>
              <a:endParaRPr b="0" i="0" sz="1500" u="none" cap="none" strike="noStrike">
                <a:solidFill>
                  <a:srgbClr val="5E5E5E"/>
                </a:solidFill>
                <a:latin typeface="Helvetica Neue"/>
                <a:ea typeface="Helvetica Neue"/>
                <a:cs typeface="Helvetica Neue"/>
                <a:sym typeface="Helvetica Neue"/>
              </a:endParaRPr>
            </a:p>
            <a:p>
              <a:pPr indent="-266700" lvl="0" marL="266700" marR="0" rtl="0" algn="l">
                <a:lnSpc>
                  <a:spcPct val="100000"/>
                </a:lnSpc>
                <a:spcBef>
                  <a:spcPts val="0"/>
                </a:spcBef>
                <a:spcAft>
                  <a:spcPts val="0"/>
                </a:spcAft>
                <a:buClr>
                  <a:srgbClr val="5E5E5E"/>
                </a:buClr>
                <a:buSzPts val="1900"/>
                <a:buFont typeface="Helvetica Neue"/>
                <a:buAutoNum type="alphaLcPeriod" startAt="5"/>
              </a:pPr>
              <a:r>
                <a:rPr b="0" i="0" lang="en-US" sz="1900" u="none" cap="none" strike="noStrike">
                  <a:solidFill>
                    <a:srgbClr val="5E5E5E"/>
                  </a:solidFill>
                  <a:latin typeface="Helvetica Neue"/>
                  <a:ea typeface="Helvetica Neue"/>
                  <a:cs typeface="Helvetica Neue"/>
                  <a:sym typeface="Helvetica Neue"/>
                </a:rPr>
                <a:t>Ludificación: Consiste en el uso de técnicas, elementos y dinámicas de juego en entornos y aplicaciones no lúdicas con el fin de potenciar la motivación, la concentración, el esfuerzo, la fidelización y otros valores positivos comunes a todos los juegos. Permite pasar de la mera conectividad al compromiso, logrando que los participantes del testeo lo hagan de manera dinámica y proactiva en acciones que generalmente requieren un esfuerzo de la voluntad.</a:t>
              </a:r>
              <a:endParaRPr b="0" i="0" sz="1500" u="none" cap="none" strike="noStrike">
                <a:solidFill>
                  <a:srgbClr val="000000"/>
                </a:solidFill>
                <a:latin typeface="Helvetica Neue"/>
                <a:ea typeface="Helvetica Neue"/>
                <a:cs typeface="Helvetica Neue"/>
                <a:sym typeface="Helvetica Neue"/>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pic>
        <p:nvPicPr>
          <p:cNvPr descr="EA11.png" id="971" name="Google Shape;971;p26"/>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grpSp>
        <p:nvGrpSpPr>
          <p:cNvPr id="972" name="Google Shape;972;p26"/>
          <p:cNvGrpSpPr/>
          <p:nvPr/>
        </p:nvGrpSpPr>
        <p:grpSpPr>
          <a:xfrm>
            <a:off x="1212905" y="8677287"/>
            <a:ext cx="10578992" cy="621064"/>
            <a:chOff x="0" y="0"/>
            <a:chExt cx="10578990" cy="621062"/>
          </a:xfrm>
        </p:grpSpPr>
        <p:cxnSp>
          <p:nvCxnSpPr>
            <p:cNvPr id="973" name="Google Shape;973;p26"/>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974" name="Google Shape;974;p26"/>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75" name="Google Shape;975;p26"/>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76" name="Google Shape;976;p26"/>
            <p:cNvSpPr/>
            <p:nvPr/>
          </p:nvSpPr>
          <p:spPr>
            <a:xfrm>
              <a:off x="4978963" y="0"/>
              <a:ext cx="621063" cy="621062"/>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77" name="Google Shape;977;p26"/>
            <p:cNvSpPr/>
            <p:nvPr/>
          </p:nvSpPr>
          <p:spPr>
            <a:xfrm>
              <a:off x="7468444" y="0"/>
              <a:ext cx="621063" cy="621062"/>
            </a:xfrm>
            <a:prstGeom prst="ellipse">
              <a:avLst/>
            </a:prstGeom>
            <a:solidFill>
              <a:srgbClr val="F2763D"/>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78" name="Google Shape;978;p26"/>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979" name="Google Shape;979;p26"/>
          <p:cNvSpPr txBox="1"/>
          <p:nvPr/>
        </p:nvSpPr>
        <p:spPr>
          <a:xfrm>
            <a:off x="793435" y="1379272"/>
            <a:ext cx="11417930" cy="684133"/>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F0763D"/>
              </a:buClr>
              <a:buSzPts val="3900"/>
              <a:buFont typeface="Helvetica Neue"/>
              <a:buNone/>
            </a:pPr>
            <a:r>
              <a:rPr b="0" i="0" lang="en-US" sz="3900" u="none" cap="none" strike="noStrike">
                <a:solidFill>
                  <a:srgbClr val="F0763D"/>
                </a:solidFill>
                <a:latin typeface="Helvetica Neue"/>
                <a:ea typeface="Helvetica Neue"/>
                <a:cs typeface="Helvetica Neue"/>
                <a:sym typeface="Helvetica Neue"/>
              </a:rPr>
              <a:t>PROTOTIPADO DE PRODUCTOS</a:t>
            </a:r>
            <a:endParaRPr b="0" i="0" sz="1400" u="none" cap="none" strike="noStrike">
              <a:solidFill>
                <a:srgbClr val="000000"/>
              </a:solidFill>
              <a:latin typeface="Helvetica Neue"/>
              <a:ea typeface="Helvetica Neue"/>
              <a:cs typeface="Helvetica Neue"/>
              <a:sym typeface="Helvetica Neue"/>
            </a:endParaRPr>
          </a:p>
        </p:txBody>
      </p:sp>
      <p:sp>
        <p:nvSpPr>
          <p:cNvPr id="980" name="Google Shape;980;p26"/>
          <p:cNvSpPr txBox="1"/>
          <p:nvPr/>
        </p:nvSpPr>
        <p:spPr>
          <a:xfrm>
            <a:off x="1166105" y="2096946"/>
            <a:ext cx="10672590" cy="6546800"/>
          </a:xfrm>
          <a:prstGeom prst="rect">
            <a:avLst/>
          </a:prstGeom>
          <a:noFill/>
          <a:ln>
            <a:noFill/>
          </a:ln>
        </p:spPr>
        <p:txBody>
          <a:bodyPr anchorCtr="0" anchor="ctr" bIns="50800" lIns="50800" spcFirstLastPara="1" rIns="50800" wrap="square" tIns="50800">
            <a:noAutofit/>
          </a:bodyPr>
          <a:lstStyle/>
          <a:p>
            <a:pPr indent="-266700" lvl="0" marL="266700" marR="0" rtl="0" algn="l">
              <a:lnSpc>
                <a:spcPct val="100000"/>
              </a:lnSpc>
              <a:spcBef>
                <a:spcPts val="0"/>
              </a:spcBef>
              <a:spcAft>
                <a:spcPts val="0"/>
              </a:spcAft>
              <a:buClr>
                <a:srgbClr val="5E5E5E"/>
              </a:buClr>
              <a:buSzPts val="1800"/>
              <a:buFont typeface="Helvetica Neue"/>
              <a:buAutoNum type="alphaLcPeriod"/>
            </a:pPr>
            <a:r>
              <a:rPr b="0" i="0" lang="en-US" sz="1800" u="none" cap="none" strike="noStrike">
                <a:solidFill>
                  <a:srgbClr val="5E5E5E"/>
                </a:solidFill>
                <a:latin typeface="Helvetica Neue"/>
                <a:ea typeface="Helvetica Neue"/>
                <a:cs typeface="Helvetica Neue"/>
                <a:sym typeface="Helvetica Neue"/>
              </a:rPr>
              <a:t>P</a:t>
            </a:r>
            <a:r>
              <a:rPr b="0" i="0" lang="en-US" sz="1700" u="none" cap="none" strike="noStrike">
                <a:solidFill>
                  <a:srgbClr val="5E5E5E"/>
                </a:solidFill>
                <a:latin typeface="Helvetica Neue"/>
                <a:ea typeface="Helvetica Neue"/>
                <a:cs typeface="Helvetica Neue"/>
                <a:sym typeface="Helvetica Neue"/>
              </a:rPr>
              <a:t>rototipo Rápido o Prototipo de Concepto: Un prototipo rápido es la transformación inmediata de una idea a un objeto tangible. Es un boceto llevado al plano físico, que permite levantar información a través de maquetas de bajo costo y rápida manufactura. </a:t>
            </a:r>
            <a:endParaRPr b="0" i="0" sz="1300" u="none" cap="none" strike="noStrike">
              <a:solidFill>
                <a:srgbClr val="000000"/>
              </a:solidFill>
              <a:latin typeface="Helvetica Neue"/>
              <a:ea typeface="Helvetica Neue"/>
              <a:cs typeface="Helvetica Neue"/>
              <a:sym typeface="Helvetica Neue"/>
            </a:endParaRPr>
          </a:p>
          <a:p>
            <a:pPr indent="-152400" lvl="0" marL="266700" marR="0" rtl="0" algn="l">
              <a:lnSpc>
                <a:spcPct val="100000"/>
              </a:lnSpc>
              <a:spcBef>
                <a:spcPts val="0"/>
              </a:spcBef>
              <a:spcAft>
                <a:spcPts val="0"/>
              </a:spcAft>
              <a:buClr>
                <a:srgbClr val="5E5E5E"/>
              </a:buClr>
              <a:buSzPts val="1800"/>
              <a:buFont typeface="Helvetica Neue"/>
              <a:buNone/>
            </a:pPr>
            <a:r>
              <a:t/>
            </a:r>
            <a:endParaRPr b="0" i="0" sz="1300" u="none" cap="none" strike="noStrike">
              <a:solidFill>
                <a:srgbClr val="5E5E5E"/>
              </a:solidFill>
              <a:latin typeface="Helvetica Neue"/>
              <a:ea typeface="Helvetica Neue"/>
              <a:cs typeface="Helvetica Neue"/>
              <a:sym typeface="Helvetica Neue"/>
            </a:endParaRPr>
          </a:p>
          <a:p>
            <a:pPr indent="-266700" lvl="0" marL="266700" marR="0" rtl="0" algn="l">
              <a:lnSpc>
                <a:spcPct val="100000"/>
              </a:lnSpc>
              <a:spcBef>
                <a:spcPts val="0"/>
              </a:spcBef>
              <a:spcAft>
                <a:spcPts val="0"/>
              </a:spcAft>
              <a:buClr>
                <a:srgbClr val="5E5E5E"/>
              </a:buClr>
              <a:buSzPts val="1800"/>
              <a:buFont typeface="Helvetica Neue"/>
              <a:buAutoNum type="alphaLcPeriod"/>
            </a:pPr>
            <a:r>
              <a:rPr b="0" i="0" lang="en-US" sz="1700" u="none" cap="none" strike="noStrike">
                <a:solidFill>
                  <a:srgbClr val="5E5E5E"/>
                </a:solidFill>
                <a:latin typeface="Helvetica Neue"/>
                <a:ea typeface="Helvetica Neue"/>
                <a:cs typeface="Helvetica Neue"/>
                <a:sym typeface="Helvetica Neue"/>
              </a:rPr>
              <a:t>Prototipado de Apariencia: Se usa impresión 3D y tecnologías aditivas, máquinas router CNC (3D y 2D) y tecnologías sustractivas; cortadoras láser y plotter entre otras tecnologías, para generar prototipos de productos o partes de éstos. Si bien estas tecnologías sirven como herramienta de aproximación a resultados finales de apariencia en productos, la fabricación digital está tomando un rol cada vez más importante en algunas industrias y productos. Las laboratorios de fabricación digital se llaman Fab Labs y en Chile los principales FabLab son:</a:t>
            </a:r>
            <a:endParaRPr b="0" i="0" sz="1300" u="none" cap="none" strike="noStrike">
              <a:solidFill>
                <a:srgbClr val="000000"/>
              </a:solidFill>
              <a:latin typeface="Helvetica Neue"/>
              <a:ea typeface="Helvetica Neue"/>
              <a:cs typeface="Helvetica Neue"/>
              <a:sym typeface="Helvetica Neue"/>
            </a:endParaRPr>
          </a:p>
          <a:p>
            <a:pPr indent="-222250" lvl="0" marL="723900" marR="0" rtl="0" algn="l">
              <a:lnSpc>
                <a:spcPct val="100000"/>
              </a:lnSpc>
              <a:spcBef>
                <a:spcPts val="0"/>
              </a:spcBef>
              <a:spcAft>
                <a:spcPts val="0"/>
              </a:spcAft>
              <a:buClr>
                <a:srgbClr val="5E5E5E"/>
              </a:buClr>
              <a:buSzPts val="2114"/>
              <a:buFont typeface="Nunito"/>
              <a:buChar char="•"/>
            </a:pPr>
            <a:r>
              <a:rPr b="0" i="0" lang="en-US" sz="1700" u="none" cap="none" strike="noStrike">
                <a:solidFill>
                  <a:srgbClr val="5E5E5E"/>
                </a:solidFill>
                <a:latin typeface="Helvetica Neue"/>
                <a:ea typeface="Helvetica Neue"/>
                <a:cs typeface="Helvetica Neue"/>
                <a:sym typeface="Helvetica Neue"/>
              </a:rPr>
              <a:t>Santiago</a:t>
            </a:r>
            <a:endParaRPr b="0" i="0" sz="1300" u="none" cap="none" strike="noStrike">
              <a:solidFill>
                <a:srgbClr val="000000"/>
              </a:solidFill>
              <a:latin typeface="Helvetica Neue"/>
              <a:ea typeface="Helvetica Neue"/>
              <a:cs typeface="Helvetica Neue"/>
              <a:sym typeface="Helvetica Neue"/>
            </a:endParaRPr>
          </a:p>
          <a:p>
            <a:pPr indent="-222250" lvl="0" marL="1320800" marR="0" rtl="0" algn="l">
              <a:lnSpc>
                <a:spcPct val="100000"/>
              </a:lnSpc>
              <a:spcBef>
                <a:spcPts val="0"/>
              </a:spcBef>
              <a:spcAft>
                <a:spcPts val="0"/>
              </a:spcAft>
              <a:buClr>
                <a:srgbClr val="5E5E5E"/>
              </a:buClr>
              <a:buSzPts val="2114"/>
              <a:buFont typeface="Nunito"/>
              <a:buChar char="-"/>
            </a:pPr>
            <a:r>
              <a:rPr b="0" i="0" lang="en-US" sz="1700" u="none" cap="none" strike="noStrike">
                <a:solidFill>
                  <a:srgbClr val="5E5E5E"/>
                </a:solidFill>
                <a:latin typeface="Helvetica Neue"/>
                <a:ea typeface="Helvetica Neue"/>
                <a:cs typeface="Helvetica Neue"/>
                <a:sym typeface="Helvetica Neue"/>
              </a:rPr>
              <a:t>FabLab UC: http://fablabuc.cl </a:t>
            </a:r>
            <a:endParaRPr b="0" i="0" sz="1300" u="none" cap="none" strike="noStrike">
              <a:solidFill>
                <a:srgbClr val="000000"/>
              </a:solidFill>
              <a:latin typeface="Helvetica Neue"/>
              <a:ea typeface="Helvetica Neue"/>
              <a:cs typeface="Helvetica Neue"/>
              <a:sym typeface="Helvetica Neue"/>
            </a:endParaRPr>
          </a:p>
          <a:p>
            <a:pPr indent="-222250" lvl="0" marL="1320800" marR="0" rtl="0" algn="l">
              <a:lnSpc>
                <a:spcPct val="100000"/>
              </a:lnSpc>
              <a:spcBef>
                <a:spcPts val="0"/>
              </a:spcBef>
              <a:spcAft>
                <a:spcPts val="0"/>
              </a:spcAft>
              <a:buClr>
                <a:srgbClr val="5E5E5E"/>
              </a:buClr>
              <a:buSzPts val="2114"/>
              <a:buFont typeface="Nunito"/>
              <a:buChar char="-"/>
            </a:pPr>
            <a:r>
              <a:rPr b="0" i="0" lang="en-US" sz="1700" u="none" cap="none" strike="noStrike">
                <a:solidFill>
                  <a:srgbClr val="5E5E5E"/>
                </a:solidFill>
                <a:latin typeface="Helvetica Neue"/>
                <a:ea typeface="Helvetica Neue"/>
                <a:cs typeface="Helvetica Neue"/>
                <a:sym typeface="Helvetica Neue"/>
              </a:rPr>
              <a:t>FabLab Santiago: http://fablabsantiago.org </a:t>
            </a:r>
            <a:endParaRPr b="0" i="0" sz="1300" u="none" cap="none" strike="noStrike">
              <a:solidFill>
                <a:srgbClr val="000000"/>
              </a:solidFill>
              <a:latin typeface="Helvetica Neue"/>
              <a:ea typeface="Helvetica Neue"/>
              <a:cs typeface="Helvetica Neue"/>
              <a:sym typeface="Helvetica Neue"/>
            </a:endParaRPr>
          </a:p>
          <a:p>
            <a:pPr indent="-222250" lvl="0" marL="1320800" marR="0" rtl="0" algn="l">
              <a:lnSpc>
                <a:spcPct val="100000"/>
              </a:lnSpc>
              <a:spcBef>
                <a:spcPts val="0"/>
              </a:spcBef>
              <a:spcAft>
                <a:spcPts val="0"/>
              </a:spcAft>
              <a:buClr>
                <a:srgbClr val="5E5E5E"/>
              </a:buClr>
              <a:buSzPts val="2114"/>
              <a:buFont typeface="Nunito"/>
              <a:buChar char="-"/>
            </a:pPr>
            <a:r>
              <a:rPr b="0" i="0" lang="en-US" sz="1700" u="none" cap="none" strike="noStrike">
                <a:solidFill>
                  <a:srgbClr val="5E5E5E"/>
                </a:solidFill>
                <a:latin typeface="Helvetica Neue"/>
                <a:ea typeface="Helvetica Neue"/>
                <a:cs typeface="Helvetica Neue"/>
                <a:sym typeface="Helvetica Neue"/>
              </a:rPr>
              <a:t>FabLab U de Chile: http://www.fablab.uchile.cl </a:t>
            </a:r>
            <a:endParaRPr b="0" i="0" sz="1300" u="none" cap="none" strike="noStrike">
              <a:solidFill>
                <a:srgbClr val="000000"/>
              </a:solidFill>
              <a:latin typeface="Helvetica Neue"/>
              <a:ea typeface="Helvetica Neue"/>
              <a:cs typeface="Helvetica Neue"/>
              <a:sym typeface="Helvetica Neue"/>
            </a:endParaRPr>
          </a:p>
          <a:p>
            <a:pPr indent="-222250" lvl="0" marL="1320800" marR="0" rtl="0" algn="l">
              <a:lnSpc>
                <a:spcPct val="100000"/>
              </a:lnSpc>
              <a:spcBef>
                <a:spcPts val="0"/>
              </a:spcBef>
              <a:spcAft>
                <a:spcPts val="0"/>
              </a:spcAft>
              <a:buClr>
                <a:srgbClr val="5E5E5E"/>
              </a:buClr>
              <a:buSzPts val="2114"/>
              <a:buFont typeface="Nunito"/>
              <a:buChar char="-"/>
            </a:pPr>
            <a:r>
              <a:rPr b="0" i="0" lang="en-US" sz="1700" u="none" cap="none" strike="noStrike">
                <a:solidFill>
                  <a:srgbClr val="5E5E5E"/>
                </a:solidFill>
                <a:latin typeface="Helvetica Neue"/>
                <a:ea typeface="Helvetica Neue"/>
                <a:cs typeface="Helvetica Neue"/>
                <a:sym typeface="Helvetica Neue"/>
              </a:rPr>
              <a:t>FabLab UTFSM: </a:t>
            </a:r>
            <a:r>
              <a:rPr b="0" i="0" lang="en-US" sz="1700" u="sng" cap="none" strike="noStrike">
                <a:solidFill>
                  <a:srgbClr val="5E5E5E"/>
                </a:solidFill>
                <a:latin typeface="Helvetica Neue"/>
                <a:ea typeface="Helvetica Neue"/>
                <a:cs typeface="Helvetica Neue"/>
                <a:sym typeface="Helvetica Neue"/>
                <a:hlinkClick r:id="rId4">
                  <a:extLst>
                    <a:ext uri="{A12FA001-AC4F-418D-AE19-62706E023703}">
                      <ahyp:hlinkClr val="tx"/>
                    </a:ext>
                  </a:extLst>
                </a:hlinkClick>
              </a:rPr>
              <a:t>http://fablab.usm.cl</a:t>
            </a:r>
            <a:endParaRPr b="0" i="0" sz="1300" u="none" cap="none" strike="noStrike">
              <a:solidFill>
                <a:srgbClr val="000000"/>
              </a:solidFill>
              <a:latin typeface="Helvetica Neue"/>
              <a:ea typeface="Helvetica Neue"/>
              <a:cs typeface="Helvetica Neue"/>
              <a:sym typeface="Helvetica Neue"/>
            </a:endParaRPr>
          </a:p>
          <a:p>
            <a:pPr indent="-222250" lvl="0" marL="723900" marR="0" rtl="0" algn="l">
              <a:lnSpc>
                <a:spcPct val="100000"/>
              </a:lnSpc>
              <a:spcBef>
                <a:spcPts val="0"/>
              </a:spcBef>
              <a:spcAft>
                <a:spcPts val="0"/>
              </a:spcAft>
              <a:buClr>
                <a:srgbClr val="5E5E5E"/>
              </a:buClr>
              <a:buSzPts val="2114"/>
              <a:buFont typeface="Nunito"/>
              <a:buChar char="•"/>
            </a:pPr>
            <a:r>
              <a:rPr b="0" i="0" lang="en-US" sz="1700" u="none" cap="none" strike="noStrike">
                <a:solidFill>
                  <a:srgbClr val="5E5E5E"/>
                </a:solidFill>
                <a:latin typeface="Helvetica Neue"/>
                <a:ea typeface="Helvetica Neue"/>
                <a:cs typeface="Helvetica Neue"/>
                <a:sym typeface="Helvetica Neue"/>
              </a:rPr>
              <a:t>Regiones </a:t>
            </a:r>
            <a:endParaRPr b="0" i="0" sz="1300" u="none" cap="none" strike="noStrike">
              <a:solidFill>
                <a:srgbClr val="000000"/>
              </a:solidFill>
              <a:latin typeface="Helvetica Neue"/>
              <a:ea typeface="Helvetica Neue"/>
              <a:cs typeface="Helvetica Neue"/>
              <a:sym typeface="Helvetica Neue"/>
            </a:endParaRPr>
          </a:p>
          <a:p>
            <a:pPr indent="-222250" lvl="0" marL="1320800" marR="0" rtl="0" algn="l">
              <a:lnSpc>
                <a:spcPct val="100000"/>
              </a:lnSpc>
              <a:spcBef>
                <a:spcPts val="0"/>
              </a:spcBef>
              <a:spcAft>
                <a:spcPts val="0"/>
              </a:spcAft>
              <a:buClr>
                <a:srgbClr val="5E5E5E"/>
              </a:buClr>
              <a:buSzPts val="2114"/>
              <a:buFont typeface="Nunito"/>
              <a:buChar char="-"/>
            </a:pPr>
            <a:r>
              <a:rPr b="0" i="0" lang="en-US" sz="1700" u="none" cap="none" strike="noStrike">
                <a:solidFill>
                  <a:srgbClr val="5E5E5E"/>
                </a:solidFill>
                <a:latin typeface="Helvetica Neue"/>
                <a:ea typeface="Helvetica Neue"/>
                <a:cs typeface="Helvetica Neue"/>
                <a:sym typeface="Helvetica Neue"/>
              </a:rPr>
              <a:t>FabLab Atacama en Antofagasta: https://fabexperience.cl </a:t>
            </a:r>
            <a:endParaRPr b="0" i="0" sz="1300" u="none" cap="none" strike="noStrike">
              <a:solidFill>
                <a:srgbClr val="000000"/>
              </a:solidFill>
              <a:latin typeface="Helvetica Neue"/>
              <a:ea typeface="Helvetica Neue"/>
              <a:cs typeface="Helvetica Neue"/>
              <a:sym typeface="Helvetica Neue"/>
            </a:endParaRPr>
          </a:p>
          <a:p>
            <a:pPr indent="-222250" lvl="0" marL="1320800" marR="0" rtl="0" algn="l">
              <a:lnSpc>
                <a:spcPct val="100000"/>
              </a:lnSpc>
              <a:spcBef>
                <a:spcPts val="0"/>
              </a:spcBef>
              <a:spcAft>
                <a:spcPts val="0"/>
              </a:spcAft>
              <a:buClr>
                <a:srgbClr val="5E5E5E"/>
              </a:buClr>
              <a:buSzPts val="2114"/>
              <a:buFont typeface="Nunito"/>
              <a:buChar char="-"/>
            </a:pPr>
            <a:r>
              <a:rPr b="0" i="0" lang="en-US" sz="1700" u="none" cap="none" strike="noStrike">
                <a:solidFill>
                  <a:srgbClr val="5E5E5E"/>
                </a:solidFill>
                <a:latin typeface="Helvetica Neue"/>
                <a:ea typeface="Helvetica Neue"/>
                <a:cs typeface="Helvetica Neue"/>
                <a:sym typeface="Helvetica Neue"/>
              </a:rPr>
              <a:t>Koffi Lab Fomento Antofagasta de CORFO (co-work con un espacio de fabricación digital ubicado en el primer piso del Edificio Corporativo de Corfo Antofagasta Jose Miguel Carrera 1701.) </a:t>
            </a:r>
            <a:endParaRPr b="0" i="0" sz="1300" u="none" cap="none" strike="noStrike">
              <a:solidFill>
                <a:srgbClr val="000000"/>
              </a:solidFill>
              <a:latin typeface="Helvetica Neue"/>
              <a:ea typeface="Helvetica Neue"/>
              <a:cs typeface="Helvetica Neue"/>
              <a:sym typeface="Helvetica Neue"/>
            </a:endParaRPr>
          </a:p>
          <a:p>
            <a:pPr indent="-222250" lvl="0" marL="1320800" marR="0" rtl="0" algn="l">
              <a:lnSpc>
                <a:spcPct val="100000"/>
              </a:lnSpc>
              <a:spcBef>
                <a:spcPts val="0"/>
              </a:spcBef>
              <a:spcAft>
                <a:spcPts val="0"/>
              </a:spcAft>
              <a:buClr>
                <a:srgbClr val="5E5E5E"/>
              </a:buClr>
              <a:buSzPts val="2114"/>
              <a:buFont typeface="Nunito"/>
              <a:buChar char="-"/>
            </a:pPr>
            <a:r>
              <a:rPr b="0" i="0" lang="en-US" sz="1700" u="none" cap="none" strike="noStrike">
                <a:solidFill>
                  <a:srgbClr val="5E5E5E"/>
                </a:solidFill>
                <a:latin typeface="Helvetica Neue"/>
                <a:ea typeface="Helvetica Neue"/>
                <a:cs typeface="Helvetica Neue"/>
                <a:sym typeface="Helvetica Neue"/>
              </a:rPr>
              <a:t>FabLab Concepción: https://fablabconcepcion.tumblr.com </a:t>
            </a:r>
            <a:endParaRPr b="0" i="0" sz="1300" u="none" cap="none" strike="noStrike">
              <a:solidFill>
                <a:srgbClr val="000000"/>
              </a:solidFill>
              <a:latin typeface="Helvetica Neue"/>
              <a:ea typeface="Helvetica Neue"/>
              <a:cs typeface="Helvetica Neue"/>
              <a:sym typeface="Helvetica Neue"/>
            </a:endParaRPr>
          </a:p>
          <a:p>
            <a:pPr indent="-222250" lvl="0" marL="1320800" marR="0" rtl="0" algn="l">
              <a:lnSpc>
                <a:spcPct val="100000"/>
              </a:lnSpc>
              <a:spcBef>
                <a:spcPts val="0"/>
              </a:spcBef>
              <a:spcAft>
                <a:spcPts val="0"/>
              </a:spcAft>
              <a:buClr>
                <a:srgbClr val="5E5E5E"/>
              </a:buClr>
              <a:buSzPts val="2114"/>
              <a:buFont typeface="Nunito"/>
              <a:buChar char="-"/>
            </a:pPr>
            <a:r>
              <a:rPr b="0" i="0" lang="en-US" sz="1700" u="none" cap="none" strike="noStrike">
                <a:solidFill>
                  <a:srgbClr val="5E5E5E"/>
                </a:solidFill>
                <a:latin typeface="Helvetica Neue"/>
                <a:ea typeface="Helvetica Neue"/>
                <a:cs typeface="Helvetica Neue"/>
                <a:sym typeface="Helvetica Neue"/>
              </a:rPr>
              <a:t>Industrial Studio en Talca: http://www.industrialstudio.cl </a:t>
            </a:r>
            <a:endParaRPr b="0" i="0" sz="1300" u="none" cap="none" strike="noStrike">
              <a:solidFill>
                <a:srgbClr val="000000"/>
              </a:solidFill>
              <a:latin typeface="Helvetica Neue"/>
              <a:ea typeface="Helvetica Neue"/>
              <a:cs typeface="Helvetica Neue"/>
              <a:sym typeface="Helvetica Neue"/>
            </a:endParaRPr>
          </a:p>
          <a:p>
            <a:pPr indent="-222250" lvl="0" marL="1320800" marR="0" rtl="0" algn="l">
              <a:lnSpc>
                <a:spcPct val="100000"/>
              </a:lnSpc>
              <a:spcBef>
                <a:spcPts val="0"/>
              </a:spcBef>
              <a:spcAft>
                <a:spcPts val="0"/>
              </a:spcAft>
              <a:buClr>
                <a:srgbClr val="5E5E5E"/>
              </a:buClr>
              <a:buSzPts val="2114"/>
              <a:buFont typeface="Nunito"/>
              <a:buChar char="-"/>
            </a:pPr>
            <a:r>
              <a:rPr b="0" i="0" lang="en-US" sz="1700" u="none" cap="none" strike="noStrike">
                <a:solidFill>
                  <a:srgbClr val="5E5E5E"/>
                </a:solidFill>
                <a:latin typeface="Helvetica Neue"/>
                <a:ea typeface="Helvetica Neue"/>
                <a:cs typeface="Helvetica Neue"/>
                <a:sym typeface="Helvetica Neue"/>
              </a:rPr>
              <a:t>FabLab U Valparaíso http://fablab.uv.cl</a:t>
            </a:r>
            <a:endParaRPr b="0" i="0" sz="13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pic>
        <p:nvPicPr>
          <p:cNvPr descr="EA11.png" id="985" name="Google Shape;985;p27"/>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grpSp>
        <p:nvGrpSpPr>
          <p:cNvPr id="986" name="Google Shape;986;p27"/>
          <p:cNvGrpSpPr/>
          <p:nvPr/>
        </p:nvGrpSpPr>
        <p:grpSpPr>
          <a:xfrm>
            <a:off x="1212905" y="8677287"/>
            <a:ext cx="10578992" cy="621064"/>
            <a:chOff x="0" y="0"/>
            <a:chExt cx="10578990" cy="621062"/>
          </a:xfrm>
        </p:grpSpPr>
        <p:cxnSp>
          <p:nvCxnSpPr>
            <p:cNvPr id="987" name="Google Shape;987;p27"/>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988" name="Google Shape;988;p27"/>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89" name="Google Shape;989;p27"/>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90" name="Google Shape;990;p27"/>
            <p:cNvSpPr/>
            <p:nvPr/>
          </p:nvSpPr>
          <p:spPr>
            <a:xfrm>
              <a:off x="4978963" y="0"/>
              <a:ext cx="621063" cy="621062"/>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91" name="Google Shape;991;p27"/>
            <p:cNvSpPr/>
            <p:nvPr/>
          </p:nvSpPr>
          <p:spPr>
            <a:xfrm>
              <a:off x="7468444" y="0"/>
              <a:ext cx="621063" cy="621062"/>
            </a:xfrm>
            <a:prstGeom prst="ellipse">
              <a:avLst/>
            </a:prstGeom>
            <a:solidFill>
              <a:srgbClr val="F2763D"/>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992" name="Google Shape;992;p27"/>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993" name="Google Shape;993;p27"/>
          <p:cNvSpPr txBox="1"/>
          <p:nvPr/>
        </p:nvSpPr>
        <p:spPr>
          <a:xfrm>
            <a:off x="793435" y="1379272"/>
            <a:ext cx="11417930" cy="684133"/>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F0763D"/>
              </a:buClr>
              <a:buSzPts val="3900"/>
              <a:buFont typeface="Helvetica Neue"/>
              <a:buNone/>
            </a:pPr>
            <a:r>
              <a:rPr b="0" i="0" lang="en-US" sz="3900" u="none" cap="none" strike="noStrike">
                <a:solidFill>
                  <a:srgbClr val="F0763D"/>
                </a:solidFill>
                <a:latin typeface="Helvetica Neue"/>
                <a:ea typeface="Helvetica Neue"/>
                <a:cs typeface="Helvetica Neue"/>
                <a:sym typeface="Helvetica Neue"/>
              </a:rPr>
              <a:t>PROTOTIPADO DE MEDIOS DIGITALES</a:t>
            </a:r>
            <a:endParaRPr b="0" i="0" sz="1400" u="none" cap="none" strike="noStrike">
              <a:solidFill>
                <a:srgbClr val="000000"/>
              </a:solidFill>
              <a:latin typeface="Helvetica Neue"/>
              <a:ea typeface="Helvetica Neue"/>
              <a:cs typeface="Helvetica Neue"/>
              <a:sym typeface="Helvetica Neue"/>
            </a:endParaRPr>
          </a:p>
        </p:txBody>
      </p:sp>
      <p:sp>
        <p:nvSpPr>
          <p:cNvPr id="994" name="Google Shape;994;p27"/>
          <p:cNvSpPr txBox="1"/>
          <p:nvPr/>
        </p:nvSpPr>
        <p:spPr>
          <a:xfrm>
            <a:off x="1166150" y="2413476"/>
            <a:ext cx="10672500" cy="4055100"/>
          </a:xfrm>
          <a:prstGeom prst="rect">
            <a:avLst/>
          </a:prstGeom>
          <a:noFill/>
          <a:ln>
            <a:noFill/>
          </a:ln>
        </p:spPr>
        <p:txBody>
          <a:bodyPr anchorCtr="0" anchor="ctr" bIns="50800" lIns="50800" spcFirstLastPara="1" rIns="50800" wrap="square" tIns="50800">
            <a:noAutofit/>
          </a:bodyPr>
          <a:lstStyle/>
          <a:p>
            <a:pPr indent="-266700" lvl="0" marL="266700" marR="0" rtl="0" algn="l">
              <a:lnSpc>
                <a:spcPct val="100000"/>
              </a:lnSpc>
              <a:spcBef>
                <a:spcPts val="0"/>
              </a:spcBef>
              <a:spcAft>
                <a:spcPts val="0"/>
              </a:spcAft>
              <a:buClr>
                <a:srgbClr val="5E5E5E"/>
              </a:buClr>
              <a:buSzPts val="2000"/>
              <a:buFont typeface="Helvetica Neue"/>
              <a:buAutoNum type="alphaLcPeriod"/>
            </a:pPr>
            <a:r>
              <a:rPr b="0" i="0" lang="en-US" sz="2000" u="none" cap="none" strike="noStrike">
                <a:solidFill>
                  <a:srgbClr val="5E5E5E"/>
                </a:solidFill>
                <a:latin typeface="Helvetica Neue"/>
                <a:ea typeface="Helvetica Neue"/>
                <a:cs typeface="Helvetica Neue"/>
                <a:sym typeface="Helvetica Neue"/>
              </a:rPr>
              <a:t>Prototipo en papel de Medios Digitales: Sirve para visualizar y comunicar, de forma rápida, las ideas que se están desarrollando. Mientras más claras sean las ideas en el papel, más fácil será identificar los elementos que se deben prototipar posteriormente en el computador. Ayuda a describir las instancias que faltan por desarrollar en la experiencia de interacción. Durante el desarrollo se modificarán las cosas muchas veces, por lo que el nivel de detalle del prototipo debe ir de acuerdo con la evolución de la idea. </a:t>
            </a:r>
            <a:endParaRPr b="0" i="0" sz="1600" u="none" cap="none" strike="noStrike">
              <a:solidFill>
                <a:srgbClr val="000000"/>
              </a:solidFill>
              <a:latin typeface="Helvetica Neue"/>
              <a:ea typeface="Helvetica Neue"/>
              <a:cs typeface="Helvetica Neue"/>
              <a:sym typeface="Helvetica Neue"/>
            </a:endParaRPr>
          </a:p>
          <a:p>
            <a:pPr indent="-139700" lvl="0" marL="266700" marR="0" rtl="0" algn="l">
              <a:lnSpc>
                <a:spcPct val="100000"/>
              </a:lnSpc>
              <a:spcBef>
                <a:spcPts val="0"/>
              </a:spcBef>
              <a:spcAft>
                <a:spcPts val="0"/>
              </a:spcAft>
              <a:buClr>
                <a:srgbClr val="5E5E5E"/>
              </a:buClr>
              <a:buSzPts val="2000"/>
              <a:buFont typeface="Helvetica Neue"/>
              <a:buNone/>
            </a:pPr>
            <a:r>
              <a:t/>
            </a:r>
            <a:endParaRPr b="0" i="0" sz="1600" u="none" cap="none" strike="noStrike">
              <a:solidFill>
                <a:srgbClr val="5E5E5E"/>
              </a:solidFill>
              <a:latin typeface="Helvetica Neue"/>
              <a:ea typeface="Helvetica Neue"/>
              <a:cs typeface="Helvetica Neue"/>
              <a:sym typeface="Helvetica Neue"/>
            </a:endParaRPr>
          </a:p>
          <a:p>
            <a:pPr indent="-266700" lvl="0" marL="266700" marR="0" rtl="0" algn="l">
              <a:lnSpc>
                <a:spcPct val="100000"/>
              </a:lnSpc>
              <a:spcBef>
                <a:spcPts val="0"/>
              </a:spcBef>
              <a:spcAft>
                <a:spcPts val="0"/>
              </a:spcAft>
              <a:buClr>
                <a:srgbClr val="5E5E5E"/>
              </a:buClr>
              <a:buSzPts val="2000"/>
              <a:buFont typeface="Helvetica Neue"/>
              <a:buAutoNum type="alphaLcPeriod"/>
            </a:pPr>
            <a:r>
              <a:rPr b="0" i="0" lang="en-US" sz="2000" u="none" cap="none" strike="noStrike">
                <a:solidFill>
                  <a:srgbClr val="5E5E5E"/>
                </a:solidFill>
                <a:latin typeface="Helvetica Neue"/>
                <a:ea typeface="Helvetica Neue"/>
                <a:cs typeface="Helvetica Neue"/>
                <a:sym typeface="Helvetica Neue"/>
              </a:rPr>
              <a:t>Prototipo digital de Medios Digitales: Para el desarrollo de aplicaciones web, una vez completada la etapa de prototipo en papel, se pueden utilizar plataformas digitales que permiten crear prototipos funcionales de manera fácil y rápida sin tener que llegar a programar. De esta manera, es más fácil transmitir a clientes o inversionistas la intención del proyecto con un prototipo más cercano a la realidad. Dentro de las más populares se encuentran Invision, Marvel, Flinto, Wix y Origami.</a:t>
            </a:r>
            <a:endParaRPr b="0" i="0" sz="16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pic>
        <p:nvPicPr>
          <p:cNvPr descr="EA11.png" id="999" name="Google Shape;999;p28"/>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grpSp>
        <p:nvGrpSpPr>
          <p:cNvPr id="1000" name="Google Shape;1000;p28"/>
          <p:cNvGrpSpPr/>
          <p:nvPr/>
        </p:nvGrpSpPr>
        <p:grpSpPr>
          <a:xfrm>
            <a:off x="1212905" y="8677287"/>
            <a:ext cx="10578992" cy="621064"/>
            <a:chOff x="0" y="0"/>
            <a:chExt cx="10578990" cy="621062"/>
          </a:xfrm>
        </p:grpSpPr>
        <p:cxnSp>
          <p:nvCxnSpPr>
            <p:cNvPr id="1001" name="Google Shape;1001;p28"/>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1002" name="Google Shape;1002;p28"/>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03" name="Google Shape;1003;p28"/>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04" name="Google Shape;1004;p28"/>
            <p:cNvSpPr/>
            <p:nvPr/>
          </p:nvSpPr>
          <p:spPr>
            <a:xfrm>
              <a:off x="4978963" y="0"/>
              <a:ext cx="621063" cy="621062"/>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05" name="Google Shape;1005;p28"/>
            <p:cNvSpPr/>
            <p:nvPr/>
          </p:nvSpPr>
          <p:spPr>
            <a:xfrm>
              <a:off x="7468444" y="0"/>
              <a:ext cx="621063" cy="621062"/>
            </a:xfrm>
            <a:prstGeom prst="ellipse">
              <a:avLst/>
            </a:prstGeom>
            <a:solidFill>
              <a:srgbClr val="F2763D"/>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06" name="Google Shape;1006;p28"/>
            <p:cNvSpPr/>
            <p:nvPr/>
          </p:nvSpPr>
          <p:spPr>
            <a:xfrm>
              <a:off x="9957927" y="0"/>
              <a:ext cx="621063" cy="621062"/>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1007" name="Google Shape;1007;p28"/>
          <p:cNvSpPr txBox="1"/>
          <p:nvPr/>
        </p:nvSpPr>
        <p:spPr>
          <a:xfrm>
            <a:off x="793435" y="1379272"/>
            <a:ext cx="11417930" cy="684133"/>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F0763D"/>
              </a:buClr>
              <a:buSzPts val="3900"/>
              <a:buFont typeface="Helvetica Neue"/>
              <a:buNone/>
            </a:pPr>
            <a:r>
              <a:rPr b="0" i="0" lang="en-US" sz="3900" u="none" cap="none" strike="noStrike">
                <a:solidFill>
                  <a:srgbClr val="F0763D"/>
                </a:solidFill>
                <a:latin typeface="Helvetica Neue"/>
                <a:ea typeface="Helvetica Neue"/>
                <a:cs typeface="Helvetica Neue"/>
                <a:sym typeface="Helvetica Neue"/>
              </a:rPr>
              <a:t>HERRAMIENTAS DE PROTOTIPADO</a:t>
            </a:r>
            <a:endParaRPr b="0" i="0" sz="1400" u="none" cap="none" strike="noStrike">
              <a:solidFill>
                <a:srgbClr val="000000"/>
              </a:solidFill>
              <a:latin typeface="Helvetica Neue"/>
              <a:ea typeface="Helvetica Neue"/>
              <a:cs typeface="Helvetica Neue"/>
              <a:sym typeface="Helvetica Neue"/>
            </a:endParaRPr>
          </a:p>
        </p:txBody>
      </p:sp>
      <p:sp>
        <p:nvSpPr>
          <p:cNvPr id="1008" name="Google Shape;1008;p28"/>
          <p:cNvSpPr txBox="1"/>
          <p:nvPr/>
        </p:nvSpPr>
        <p:spPr>
          <a:xfrm>
            <a:off x="1123400" y="2373936"/>
            <a:ext cx="10758000" cy="5992819"/>
          </a:xfrm>
          <a:prstGeom prst="rect">
            <a:avLst/>
          </a:prstGeom>
          <a:noFill/>
          <a:ln>
            <a:noFill/>
          </a:ln>
        </p:spPr>
        <p:txBody>
          <a:bodyPr anchorCtr="0" anchor="t" bIns="50800" lIns="50800" spcFirstLastPara="1" rIns="50800" wrap="square" tIns="50800">
            <a:noAutofit/>
          </a:bodyPr>
          <a:lstStyle/>
          <a:p>
            <a:pPr indent="-284478" lvl="0" marL="284478" marR="0" rtl="0" algn="l">
              <a:lnSpc>
                <a:spcPct val="100000"/>
              </a:lnSpc>
              <a:spcBef>
                <a:spcPts val="0"/>
              </a:spcBef>
              <a:spcAft>
                <a:spcPts val="0"/>
              </a:spcAft>
              <a:buClr>
                <a:srgbClr val="5E5E5E"/>
              </a:buClr>
              <a:buSzPts val="2200"/>
              <a:buFont typeface="Nunito"/>
              <a:buAutoNum type="alphaLcPeriod"/>
            </a:pPr>
            <a:r>
              <a:rPr b="0" i="0" lang="en-US" sz="2200" u="none" cap="none" strike="noStrike">
                <a:solidFill>
                  <a:srgbClr val="5E5E5E"/>
                </a:solidFill>
                <a:latin typeface="Helvetica Neue"/>
                <a:ea typeface="Helvetica Neue"/>
                <a:cs typeface="Helvetica Neue"/>
                <a:sym typeface="Helvetica Neue"/>
              </a:rPr>
              <a:t>Diseño de prototipos digitales de aplicaciones y sitios web </a:t>
            </a:r>
            <a:endParaRPr b="0" i="0" sz="2000" u="none" cap="none" strike="noStrike">
              <a:solidFill>
                <a:srgbClr val="000000"/>
              </a:solidFill>
              <a:latin typeface="Helvetica Neue"/>
              <a:ea typeface="Helvetica Neue"/>
              <a:cs typeface="Helvetica Neue"/>
              <a:sym typeface="Helvetica Neue"/>
            </a:endParaRPr>
          </a:p>
          <a:p>
            <a:pPr indent="-241300" lvl="0" marL="698500" marR="0" rtl="0" algn="l">
              <a:lnSpc>
                <a:spcPct val="100000"/>
              </a:lnSpc>
              <a:spcBef>
                <a:spcPts val="0"/>
              </a:spcBef>
              <a:spcAft>
                <a:spcPts val="0"/>
              </a:spcAft>
              <a:buClr>
                <a:srgbClr val="5E5E5E"/>
              </a:buClr>
              <a:buSzPts val="2568"/>
              <a:buFont typeface="Nunito"/>
              <a:buChar char="•"/>
            </a:pPr>
            <a:r>
              <a:rPr b="0" i="0" lang="en-US" sz="2200" u="none" cap="none" strike="noStrike">
                <a:solidFill>
                  <a:srgbClr val="5E5E5E"/>
                </a:solidFill>
                <a:latin typeface="Helvetica Neue"/>
                <a:ea typeface="Helvetica Neue"/>
                <a:cs typeface="Helvetica Neue"/>
                <a:sym typeface="Helvetica Neue"/>
              </a:rPr>
              <a:t>Invision: https://www.invisionapp.com </a:t>
            </a:r>
            <a:endParaRPr b="0" i="0" sz="2000" u="none" cap="none" strike="noStrike">
              <a:solidFill>
                <a:srgbClr val="000000"/>
              </a:solidFill>
              <a:latin typeface="Helvetica Neue"/>
              <a:ea typeface="Helvetica Neue"/>
              <a:cs typeface="Helvetica Neue"/>
              <a:sym typeface="Helvetica Neue"/>
            </a:endParaRPr>
          </a:p>
          <a:p>
            <a:pPr indent="-241300" lvl="0" marL="698500" marR="0" rtl="0" algn="l">
              <a:lnSpc>
                <a:spcPct val="100000"/>
              </a:lnSpc>
              <a:spcBef>
                <a:spcPts val="0"/>
              </a:spcBef>
              <a:spcAft>
                <a:spcPts val="0"/>
              </a:spcAft>
              <a:buClr>
                <a:srgbClr val="5E5E5E"/>
              </a:buClr>
              <a:buSzPts val="2568"/>
              <a:buFont typeface="Nunito"/>
              <a:buChar char="•"/>
            </a:pPr>
            <a:r>
              <a:rPr b="0" i="0" lang="en-US" sz="2200" u="none" cap="none" strike="noStrike">
                <a:solidFill>
                  <a:srgbClr val="5E5E5E"/>
                </a:solidFill>
                <a:latin typeface="Helvetica Neue"/>
                <a:ea typeface="Helvetica Neue"/>
                <a:cs typeface="Helvetica Neue"/>
                <a:sym typeface="Helvetica Neue"/>
              </a:rPr>
              <a:t>Marvel App: https://marvelapp.com </a:t>
            </a:r>
            <a:endParaRPr b="0" i="0" sz="2000" u="none" cap="none" strike="noStrike">
              <a:solidFill>
                <a:srgbClr val="000000"/>
              </a:solidFill>
              <a:latin typeface="Helvetica Neue"/>
              <a:ea typeface="Helvetica Neue"/>
              <a:cs typeface="Helvetica Neue"/>
              <a:sym typeface="Helvetica Neue"/>
            </a:endParaRPr>
          </a:p>
          <a:p>
            <a:pPr indent="-241300" lvl="0" marL="698500" marR="0" rtl="0" algn="l">
              <a:lnSpc>
                <a:spcPct val="100000"/>
              </a:lnSpc>
              <a:spcBef>
                <a:spcPts val="0"/>
              </a:spcBef>
              <a:spcAft>
                <a:spcPts val="0"/>
              </a:spcAft>
              <a:buClr>
                <a:srgbClr val="5E5E5E"/>
              </a:buClr>
              <a:buSzPts val="2568"/>
              <a:buFont typeface="Nunito"/>
              <a:buChar char="•"/>
            </a:pPr>
            <a:r>
              <a:rPr b="0" i="0" lang="en-US" sz="2200" u="none" cap="none" strike="noStrike">
                <a:solidFill>
                  <a:srgbClr val="5E5E5E"/>
                </a:solidFill>
                <a:latin typeface="Helvetica Neue"/>
                <a:ea typeface="Helvetica Neue"/>
                <a:cs typeface="Helvetica Neue"/>
                <a:sym typeface="Helvetica Neue"/>
              </a:rPr>
              <a:t>Flinto: https://www.flinto.com </a:t>
            </a:r>
            <a:endParaRPr b="0" i="0" sz="2000" u="none" cap="none" strike="noStrike">
              <a:solidFill>
                <a:srgbClr val="000000"/>
              </a:solidFill>
              <a:latin typeface="Helvetica Neue"/>
              <a:ea typeface="Helvetica Neue"/>
              <a:cs typeface="Helvetica Neue"/>
              <a:sym typeface="Helvetica Neue"/>
            </a:endParaRPr>
          </a:p>
          <a:p>
            <a:pPr indent="-241300" lvl="0" marL="698500" marR="0" rtl="0" algn="l">
              <a:lnSpc>
                <a:spcPct val="100000"/>
              </a:lnSpc>
              <a:spcBef>
                <a:spcPts val="0"/>
              </a:spcBef>
              <a:spcAft>
                <a:spcPts val="0"/>
              </a:spcAft>
              <a:buClr>
                <a:srgbClr val="5E5E5E"/>
              </a:buClr>
              <a:buSzPts val="2568"/>
              <a:buFont typeface="Nunito"/>
              <a:buChar char="•"/>
            </a:pPr>
            <a:r>
              <a:rPr b="0" i="0" lang="en-US" sz="2200" u="none" cap="none" strike="noStrike">
                <a:solidFill>
                  <a:srgbClr val="5E5E5E"/>
                </a:solidFill>
                <a:latin typeface="Helvetica Neue"/>
                <a:ea typeface="Helvetica Neue"/>
                <a:cs typeface="Helvetica Neue"/>
                <a:sym typeface="Helvetica Neue"/>
              </a:rPr>
              <a:t>Wix: https://es.wix.com </a:t>
            </a:r>
            <a:endParaRPr b="0" i="0" sz="2000" u="none" cap="none" strike="noStrike">
              <a:solidFill>
                <a:srgbClr val="000000"/>
              </a:solidFill>
              <a:latin typeface="Helvetica Neue"/>
              <a:ea typeface="Helvetica Neue"/>
              <a:cs typeface="Helvetica Neue"/>
              <a:sym typeface="Helvetica Neue"/>
            </a:endParaRPr>
          </a:p>
          <a:p>
            <a:pPr indent="-241300" lvl="0" marL="698500" marR="0" rtl="0" algn="l">
              <a:lnSpc>
                <a:spcPct val="100000"/>
              </a:lnSpc>
              <a:spcBef>
                <a:spcPts val="0"/>
              </a:spcBef>
              <a:spcAft>
                <a:spcPts val="0"/>
              </a:spcAft>
              <a:buClr>
                <a:srgbClr val="5E5E5E"/>
              </a:buClr>
              <a:buSzPts val="2568"/>
              <a:buFont typeface="Nunito"/>
              <a:buChar char="•"/>
            </a:pPr>
            <a:r>
              <a:rPr b="0" i="0" lang="en-US" sz="2200" u="none" cap="none" strike="noStrike">
                <a:solidFill>
                  <a:srgbClr val="5E5E5E"/>
                </a:solidFill>
                <a:latin typeface="Helvetica Neue"/>
                <a:ea typeface="Helvetica Neue"/>
                <a:cs typeface="Helvetica Neue"/>
                <a:sym typeface="Helvetica Neue"/>
              </a:rPr>
              <a:t>Origami: https://origami.design </a:t>
            </a:r>
            <a:endParaRPr b="0" i="0" sz="2000" u="none" cap="none" strike="noStrike">
              <a:solidFill>
                <a:srgbClr val="000000"/>
              </a:solidFill>
              <a:latin typeface="Helvetica Neue"/>
              <a:ea typeface="Helvetica Neue"/>
              <a:cs typeface="Helvetica Neue"/>
              <a:sym typeface="Helvetica Neue"/>
            </a:endParaRPr>
          </a:p>
          <a:p>
            <a:pPr indent="-144779" lvl="0" marL="284479" marR="0" rtl="0" algn="l">
              <a:lnSpc>
                <a:spcPct val="100000"/>
              </a:lnSpc>
              <a:spcBef>
                <a:spcPts val="0"/>
              </a:spcBef>
              <a:spcAft>
                <a:spcPts val="0"/>
              </a:spcAft>
              <a:buClr>
                <a:srgbClr val="5E5E5E"/>
              </a:buClr>
              <a:buSzPts val="2200"/>
              <a:buFont typeface="Nunito"/>
              <a:buNone/>
            </a:pPr>
            <a:r>
              <a:t/>
            </a:r>
            <a:endParaRPr b="0" i="0" sz="2200" u="none" cap="none" strike="noStrike">
              <a:solidFill>
                <a:srgbClr val="5E5E5E"/>
              </a:solidFill>
              <a:latin typeface="Helvetica Neue"/>
              <a:ea typeface="Helvetica Neue"/>
              <a:cs typeface="Helvetica Neue"/>
              <a:sym typeface="Helvetica Neue"/>
            </a:endParaRPr>
          </a:p>
          <a:p>
            <a:pPr indent="-284479" lvl="0" marL="284479" marR="0" rtl="0" algn="l">
              <a:lnSpc>
                <a:spcPct val="100000"/>
              </a:lnSpc>
              <a:spcBef>
                <a:spcPts val="0"/>
              </a:spcBef>
              <a:spcAft>
                <a:spcPts val="0"/>
              </a:spcAft>
              <a:buClr>
                <a:srgbClr val="5E5E5E"/>
              </a:buClr>
              <a:buSzPts val="2200"/>
              <a:buFont typeface="Nunito"/>
              <a:buAutoNum type="alphaLcPeriod" startAt="2"/>
            </a:pPr>
            <a:r>
              <a:rPr b="0" i="0" lang="en-US" sz="2200" u="none" cap="none" strike="noStrike">
                <a:solidFill>
                  <a:srgbClr val="5E5E5E"/>
                </a:solidFill>
                <a:latin typeface="Helvetica Neue"/>
                <a:ea typeface="Helvetica Neue"/>
                <a:cs typeface="Helvetica Neue"/>
                <a:sym typeface="Helvetica Neue"/>
              </a:rPr>
              <a:t>Para crear Videos animados </a:t>
            </a:r>
            <a:endParaRPr b="0" i="0" sz="2000" u="none" cap="none" strike="noStrike">
              <a:solidFill>
                <a:srgbClr val="000000"/>
              </a:solidFill>
              <a:latin typeface="Helvetica Neue"/>
              <a:ea typeface="Helvetica Neue"/>
              <a:cs typeface="Helvetica Neue"/>
              <a:sym typeface="Helvetica Neue"/>
            </a:endParaRPr>
          </a:p>
          <a:p>
            <a:pPr indent="-241300" lvl="0" marL="698500" marR="0" rtl="0" algn="l">
              <a:lnSpc>
                <a:spcPct val="100000"/>
              </a:lnSpc>
              <a:spcBef>
                <a:spcPts val="0"/>
              </a:spcBef>
              <a:spcAft>
                <a:spcPts val="0"/>
              </a:spcAft>
              <a:buClr>
                <a:srgbClr val="5E5E5E"/>
              </a:buClr>
              <a:buSzPts val="2568"/>
              <a:buFont typeface="Nunito"/>
              <a:buChar char="•"/>
            </a:pPr>
            <a:r>
              <a:rPr b="0" i="0" lang="en-US" sz="2200" u="none" cap="none" strike="noStrike">
                <a:solidFill>
                  <a:srgbClr val="5E5E5E"/>
                </a:solidFill>
                <a:latin typeface="Helvetica Neue"/>
                <a:ea typeface="Helvetica Neue"/>
                <a:cs typeface="Helvetica Neue"/>
                <a:sym typeface="Helvetica Neue"/>
              </a:rPr>
              <a:t>Powtoon: https://www.powtoon.com/home/g/es/ </a:t>
            </a:r>
            <a:endParaRPr b="0" i="0" sz="2000" u="none" cap="none" strike="noStrike">
              <a:solidFill>
                <a:srgbClr val="000000"/>
              </a:solidFill>
              <a:latin typeface="Helvetica Neue"/>
              <a:ea typeface="Helvetica Neue"/>
              <a:cs typeface="Helvetica Neue"/>
              <a:sym typeface="Helvetica Neue"/>
            </a:endParaRPr>
          </a:p>
          <a:p>
            <a:pPr indent="-241300" lvl="0" marL="698500" marR="0" rtl="0" algn="l">
              <a:lnSpc>
                <a:spcPct val="100000"/>
              </a:lnSpc>
              <a:spcBef>
                <a:spcPts val="0"/>
              </a:spcBef>
              <a:spcAft>
                <a:spcPts val="0"/>
              </a:spcAft>
              <a:buClr>
                <a:srgbClr val="5E5E5E"/>
              </a:buClr>
              <a:buSzPts val="2568"/>
              <a:buFont typeface="Nunito"/>
              <a:buChar char="•"/>
            </a:pPr>
            <a:r>
              <a:rPr b="0" i="0" lang="en-US" sz="2200" u="none" cap="none" strike="noStrike">
                <a:solidFill>
                  <a:srgbClr val="5E5E5E"/>
                </a:solidFill>
                <a:latin typeface="Helvetica Neue"/>
                <a:ea typeface="Helvetica Neue"/>
                <a:cs typeface="Helvetica Neue"/>
                <a:sym typeface="Helvetica Neue"/>
              </a:rPr>
              <a:t>GoAnimate: http://goanimate.com </a:t>
            </a:r>
            <a:endParaRPr b="0" i="0" sz="2000" u="none" cap="none" strike="noStrike">
              <a:solidFill>
                <a:srgbClr val="000000"/>
              </a:solidFill>
              <a:latin typeface="Helvetica Neue"/>
              <a:ea typeface="Helvetica Neue"/>
              <a:cs typeface="Helvetica Neue"/>
              <a:sym typeface="Helvetica Neue"/>
            </a:endParaRPr>
          </a:p>
          <a:p>
            <a:pPr indent="-241300" lvl="0" marL="698500" marR="0" rtl="0" algn="l">
              <a:lnSpc>
                <a:spcPct val="100000"/>
              </a:lnSpc>
              <a:spcBef>
                <a:spcPts val="0"/>
              </a:spcBef>
              <a:spcAft>
                <a:spcPts val="0"/>
              </a:spcAft>
              <a:buClr>
                <a:srgbClr val="5E5E5E"/>
              </a:buClr>
              <a:buSzPts val="2568"/>
              <a:buFont typeface="Nunito"/>
              <a:buChar char="•"/>
            </a:pPr>
            <a:r>
              <a:rPr b="0" i="0" lang="en-US" sz="2200" u="none" cap="none" strike="noStrike">
                <a:solidFill>
                  <a:srgbClr val="5E5E5E"/>
                </a:solidFill>
                <a:latin typeface="Helvetica Neue"/>
                <a:ea typeface="Helvetica Neue"/>
                <a:cs typeface="Helvetica Neue"/>
                <a:sym typeface="Helvetica Neue"/>
              </a:rPr>
              <a:t>Moovly: https://www.moovly.com </a:t>
            </a:r>
            <a:endParaRPr b="0" i="0" sz="2000" u="none" cap="none" strike="noStrike">
              <a:solidFill>
                <a:srgbClr val="000000"/>
              </a:solidFill>
              <a:latin typeface="Helvetica Neue"/>
              <a:ea typeface="Helvetica Neue"/>
              <a:cs typeface="Helvetica Neue"/>
              <a:sym typeface="Helvetica Neue"/>
            </a:endParaRPr>
          </a:p>
          <a:p>
            <a:pPr indent="-241300" lvl="0" marL="698500" marR="0" rtl="0" algn="l">
              <a:lnSpc>
                <a:spcPct val="100000"/>
              </a:lnSpc>
              <a:spcBef>
                <a:spcPts val="0"/>
              </a:spcBef>
              <a:spcAft>
                <a:spcPts val="0"/>
              </a:spcAft>
              <a:buClr>
                <a:srgbClr val="5E5E5E"/>
              </a:buClr>
              <a:buSzPts val="2568"/>
              <a:buFont typeface="Nunito"/>
              <a:buChar char="•"/>
            </a:pPr>
            <a:r>
              <a:rPr b="0" i="0" lang="en-US" sz="2200" u="none" cap="none" strike="noStrike">
                <a:solidFill>
                  <a:srgbClr val="5E5E5E"/>
                </a:solidFill>
                <a:latin typeface="Helvetica Neue"/>
                <a:ea typeface="Helvetica Neue"/>
                <a:cs typeface="Helvetica Neue"/>
                <a:sym typeface="Helvetica Neue"/>
              </a:rPr>
              <a:t>Animation Maker: https://www.animaker.com </a:t>
            </a:r>
            <a:endParaRPr b="0" i="0" sz="2000" u="none" cap="none" strike="noStrike">
              <a:solidFill>
                <a:srgbClr val="000000"/>
              </a:solidFill>
              <a:latin typeface="Helvetica Neue"/>
              <a:ea typeface="Helvetica Neue"/>
              <a:cs typeface="Helvetica Neue"/>
              <a:sym typeface="Helvetica Neue"/>
            </a:endParaRPr>
          </a:p>
          <a:p>
            <a:pPr indent="-241300" lvl="0" marL="698500" marR="0" rtl="0" algn="l">
              <a:lnSpc>
                <a:spcPct val="100000"/>
              </a:lnSpc>
              <a:spcBef>
                <a:spcPts val="0"/>
              </a:spcBef>
              <a:spcAft>
                <a:spcPts val="0"/>
              </a:spcAft>
              <a:buClr>
                <a:srgbClr val="5E5E5E"/>
              </a:buClr>
              <a:buSzPts val="2568"/>
              <a:buFont typeface="Nunito"/>
              <a:buChar char="•"/>
            </a:pPr>
            <a:r>
              <a:rPr b="0" i="0" lang="en-US" sz="2200" u="none" cap="none" strike="noStrike">
                <a:solidFill>
                  <a:srgbClr val="5E5E5E"/>
                </a:solidFill>
                <a:latin typeface="Helvetica Neue"/>
                <a:ea typeface="Helvetica Neue"/>
                <a:cs typeface="Helvetica Neue"/>
                <a:sym typeface="Helvetica Neue"/>
              </a:rPr>
              <a:t>Make Web Videos: https://www.makewebvideo.com </a:t>
            </a:r>
            <a:endParaRPr b="0" i="0" sz="20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pic>
        <p:nvPicPr>
          <p:cNvPr descr="EA11.png" id="1013" name="Google Shape;1013;p29"/>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grpSp>
        <p:nvGrpSpPr>
          <p:cNvPr id="1014" name="Google Shape;1014;p29"/>
          <p:cNvGrpSpPr/>
          <p:nvPr/>
        </p:nvGrpSpPr>
        <p:grpSpPr>
          <a:xfrm>
            <a:off x="1212905" y="8677287"/>
            <a:ext cx="10578927" cy="621000"/>
            <a:chOff x="0" y="0"/>
            <a:chExt cx="10578927" cy="621000"/>
          </a:xfrm>
        </p:grpSpPr>
        <p:cxnSp>
          <p:nvCxnSpPr>
            <p:cNvPr id="1015" name="Google Shape;1015;p29"/>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1016" name="Google Shape;1016;p29"/>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17" name="Google Shape;1017;p29"/>
            <p:cNvSpPr/>
            <p:nvPr/>
          </p:nvSpPr>
          <p:spPr>
            <a:xfrm>
              <a:off x="2489481" y="0"/>
              <a:ext cx="621000" cy="621000"/>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18" name="Google Shape;1018;p29"/>
            <p:cNvSpPr/>
            <p:nvPr/>
          </p:nvSpPr>
          <p:spPr>
            <a:xfrm>
              <a:off x="4978963" y="0"/>
              <a:ext cx="621000" cy="621000"/>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19" name="Google Shape;1019;p29"/>
            <p:cNvSpPr/>
            <p:nvPr/>
          </p:nvSpPr>
          <p:spPr>
            <a:xfrm>
              <a:off x="7468444" y="0"/>
              <a:ext cx="621000" cy="621000"/>
            </a:xfrm>
            <a:prstGeom prst="ellipse">
              <a:avLst/>
            </a:prstGeom>
            <a:solidFill>
              <a:srgbClr val="F2763D"/>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20" name="Google Shape;1020;p29"/>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1021" name="Google Shape;1021;p29"/>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F0763D"/>
              </a:buClr>
              <a:buSzPts val="3900"/>
              <a:buFont typeface="Helvetica Neue"/>
              <a:buNone/>
            </a:pPr>
            <a:r>
              <a:rPr b="0" i="0" lang="en-US" sz="3900" u="none" cap="none" strike="noStrike">
                <a:solidFill>
                  <a:srgbClr val="F0763D"/>
                </a:solidFill>
                <a:latin typeface="Helvetica Neue"/>
                <a:ea typeface="Helvetica Neue"/>
                <a:cs typeface="Helvetica Neue"/>
                <a:sym typeface="Helvetica Neue"/>
              </a:rPr>
              <a:t>HERRAMIENTAS DE PROTOTIPADO</a:t>
            </a:r>
            <a:endParaRPr b="0" i="0" sz="1400" u="none" cap="none" strike="noStrike">
              <a:solidFill>
                <a:srgbClr val="000000"/>
              </a:solidFill>
              <a:latin typeface="Helvetica Neue"/>
              <a:ea typeface="Helvetica Neue"/>
              <a:cs typeface="Helvetica Neue"/>
              <a:sym typeface="Helvetica Neue"/>
            </a:endParaRPr>
          </a:p>
        </p:txBody>
      </p:sp>
      <p:sp>
        <p:nvSpPr>
          <p:cNvPr id="1022" name="Google Shape;1022;p29"/>
          <p:cNvSpPr txBox="1"/>
          <p:nvPr/>
        </p:nvSpPr>
        <p:spPr>
          <a:xfrm>
            <a:off x="793365" y="1918341"/>
            <a:ext cx="11418000" cy="6547500"/>
          </a:xfrm>
          <a:prstGeom prst="rect">
            <a:avLst/>
          </a:prstGeom>
          <a:noFill/>
          <a:ln>
            <a:noFill/>
          </a:ln>
        </p:spPr>
        <p:txBody>
          <a:bodyPr anchorCtr="0" anchor="ctr" bIns="50800" lIns="50800" spcFirstLastPara="1" rIns="50800" wrap="square" tIns="50800">
            <a:noAutofit/>
          </a:bodyPr>
          <a:lstStyle/>
          <a:p>
            <a:pPr indent="-457200" lvl="0" marL="457200" marR="0" rtl="0" algn="l">
              <a:lnSpc>
                <a:spcPct val="100000"/>
              </a:lnSpc>
              <a:spcBef>
                <a:spcPts val="0"/>
              </a:spcBef>
              <a:spcAft>
                <a:spcPts val="0"/>
              </a:spcAft>
              <a:buClr>
                <a:srgbClr val="5E5E5E"/>
              </a:buClr>
              <a:buSzPts val="2200"/>
              <a:buFont typeface="Arial"/>
              <a:buAutoNum type="alphaLcPeriod" startAt="3"/>
            </a:pPr>
            <a:r>
              <a:rPr b="0" i="0" lang="en-US" sz="2200" u="none" cap="none" strike="noStrike">
                <a:solidFill>
                  <a:srgbClr val="5E5E5E"/>
                </a:solidFill>
                <a:latin typeface="Helvetica Neue"/>
                <a:ea typeface="Helvetica Neue"/>
                <a:cs typeface="Helvetica Neue"/>
                <a:sym typeface="Helvetica Neue"/>
              </a:rPr>
              <a:t>Para crear Presentaciones animadas </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Explee: https://explee.com </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Explain Everything: https://explaineverything.com </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Renderforest: https://www.renderforest.com/es/ </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Lensoo Create: https://create.lensoo.com (para tablets) </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Doceri: https://doceri.com/index.php </a:t>
            </a:r>
            <a:endParaRPr b="0" i="0" sz="2200" u="none" cap="none" strike="noStrike">
              <a:solidFill>
                <a:srgbClr val="000000"/>
              </a:solidFill>
              <a:latin typeface="Helvetica Neue"/>
              <a:ea typeface="Helvetica Neue"/>
              <a:cs typeface="Helvetica Neue"/>
              <a:sym typeface="Helvetica Neue"/>
            </a:endParaRPr>
          </a:p>
          <a:p>
            <a:pPr indent="-78232" lvl="0" marL="698500" marR="0" rtl="0" algn="l">
              <a:lnSpc>
                <a:spcPct val="100000"/>
              </a:lnSpc>
              <a:spcBef>
                <a:spcPts val="0"/>
              </a:spcBef>
              <a:spcAft>
                <a:spcPts val="0"/>
              </a:spcAft>
              <a:buClr>
                <a:srgbClr val="5E5E5E"/>
              </a:buClr>
              <a:buSzPts val="2200"/>
              <a:buFont typeface="Nunito"/>
              <a:buNone/>
            </a:pPr>
            <a:r>
              <a:t/>
            </a:r>
            <a:endParaRPr b="0" i="0" sz="2200" u="none" cap="none" strike="noStrike">
              <a:solidFill>
                <a:srgbClr val="5E5E5E"/>
              </a:solidFill>
              <a:latin typeface="Helvetica Neue"/>
              <a:ea typeface="Helvetica Neue"/>
              <a:cs typeface="Helvetica Neue"/>
              <a:sym typeface="Helvetica Neue"/>
            </a:endParaRPr>
          </a:p>
          <a:p>
            <a:pPr indent="-457200" lvl="0" marL="471487" marR="0" rtl="0" algn="l">
              <a:lnSpc>
                <a:spcPct val="100000"/>
              </a:lnSpc>
              <a:spcBef>
                <a:spcPts val="0"/>
              </a:spcBef>
              <a:spcAft>
                <a:spcPts val="0"/>
              </a:spcAft>
              <a:buClr>
                <a:srgbClr val="5E5E5E"/>
              </a:buClr>
              <a:buSzPts val="2200"/>
              <a:buFont typeface="Arial"/>
              <a:buAutoNum type="alphaLcPeriod" startAt="4"/>
            </a:pPr>
            <a:r>
              <a:rPr b="0" i="0" lang="en-US" sz="2200" u="none" cap="none" strike="noStrike">
                <a:solidFill>
                  <a:srgbClr val="5E5E5E"/>
                </a:solidFill>
                <a:latin typeface="Helvetica Neue"/>
                <a:ea typeface="Helvetica Neue"/>
                <a:cs typeface="Helvetica Neue"/>
                <a:sym typeface="Helvetica Neue"/>
              </a:rPr>
              <a:t>Para diseño de contenidos gráficos</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Canva: https://www.canva.com </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Piktochart: https://piktochart.com </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The Noun Project: https://thenounproject.com </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Google imágenes: https://images.google.com (para buscar imágenes libres de uso) </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Venngage: https://venngage.com (para infografías) </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Hatchful (crear logos): https://hatchful.shopify.com/es/ </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Unsplash (imágenes gratuitas): https://unsplash.com/ </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Freepik (imágenes gratuitas): https://www.freepik.es/ </a:t>
            </a:r>
            <a:endParaRPr b="0" i="0" sz="2200" u="none" cap="none" strike="noStrike">
              <a:solidFill>
                <a:srgbClr val="000000"/>
              </a:solidFill>
              <a:latin typeface="Helvetica Neue"/>
              <a:ea typeface="Helvetica Neue"/>
              <a:cs typeface="Helvetica Neue"/>
              <a:sym typeface="Helvetica Neue"/>
            </a:endParaRPr>
          </a:p>
          <a:p>
            <a:pPr indent="-217932" lvl="0" marL="698500" marR="0" rtl="0" algn="l">
              <a:lnSpc>
                <a:spcPct val="100000"/>
              </a:lnSpc>
              <a:spcBef>
                <a:spcPts val="0"/>
              </a:spcBef>
              <a:spcAft>
                <a:spcPts val="0"/>
              </a:spcAft>
              <a:buClr>
                <a:srgbClr val="5E5E5E"/>
              </a:buClr>
              <a:buSzPts val="2200"/>
              <a:buFont typeface="Nunito"/>
              <a:buChar char="•"/>
            </a:pPr>
            <a:r>
              <a:rPr b="0" i="0" lang="en-US" sz="2200" u="none" cap="none" strike="noStrike">
                <a:solidFill>
                  <a:srgbClr val="5E5E5E"/>
                </a:solidFill>
                <a:latin typeface="Helvetica Neue"/>
                <a:ea typeface="Helvetica Neue"/>
                <a:cs typeface="Helvetica Neue"/>
                <a:sym typeface="Helvetica Neue"/>
              </a:rPr>
              <a:t>Que buena foto (fondos para foto de productos): https://www.instagram.com/quebuenafoto.cl/</a:t>
            </a:r>
            <a:endParaRPr b="0" i="0" sz="22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pic>
        <p:nvPicPr>
          <p:cNvPr descr="EA11.png" id="1027" name="Google Shape;1027;p53"/>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grpSp>
        <p:nvGrpSpPr>
          <p:cNvPr id="1028" name="Google Shape;1028;p53"/>
          <p:cNvGrpSpPr/>
          <p:nvPr/>
        </p:nvGrpSpPr>
        <p:grpSpPr>
          <a:xfrm>
            <a:off x="1212905" y="8677287"/>
            <a:ext cx="10578927" cy="621000"/>
            <a:chOff x="0" y="0"/>
            <a:chExt cx="10578927" cy="621000"/>
          </a:xfrm>
        </p:grpSpPr>
        <p:cxnSp>
          <p:nvCxnSpPr>
            <p:cNvPr id="1029" name="Google Shape;1029;p53"/>
            <p:cNvCxnSpPr/>
            <p:nvPr/>
          </p:nvCxnSpPr>
          <p:spPr>
            <a:xfrm>
              <a:off x="582336" y="310531"/>
              <a:ext cx="9414300" cy="0"/>
            </a:xfrm>
            <a:prstGeom prst="straightConnector1">
              <a:avLst/>
            </a:prstGeom>
            <a:noFill/>
            <a:ln cap="flat" cmpd="sng" w="25400">
              <a:solidFill>
                <a:srgbClr val="000000"/>
              </a:solidFill>
              <a:prstDash val="solid"/>
              <a:miter lim="400000"/>
              <a:headEnd len="sm" w="sm" type="none"/>
              <a:tailEnd len="sm" w="sm" type="none"/>
            </a:ln>
          </p:spPr>
        </p:cxnSp>
        <p:sp>
          <p:nvSpPr>
            <p:cNvPr id="1030" name="Google Shape;1030;p53"/>
            <p:cNvSpPr/>
            <p:nvPr/>
          </p:nvSpPr>
          <p:spPr>
            <a:xfrm>
              <a:off x="0" y="0"/>
              <a:ext cx="621000" cy="621000"/>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31" name="Google Shape;1031;p53"/>
            <p:cNvSpPr/>
            <p:nvPr/>
          </p:nvSpPr>
          <p:spPr>
            <a:xfrm>
              <a:off x="2489481" y="0"/>
              <a:ext cx="621000" cy="621000"/>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32" name="Google Shape;1032;p53"/>
            <p:cNvSpPr/>
            <p:nvPr/>
          </p:nvSpPr>
          <p:spPr>
            <a:xfrm>
              <a:off x="4978963" y="0"/>
              <a:ext cx="621000" cy="621000"/>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33" name="Google Shape;1033;p53"/>
            <p:cNvSpPr/>
            <p:nvPr/>
          </p:nvSpPr>
          <p:spPr>
            <a:xfrm>
              <a:off x="7468444" y="0"/>
              <a:ext cx="621000" cy="621000"/>
            </a:xfrm>
            <a:prstGeom prst="ellipse">
              <a:avLst/>
            </a:prstGeom>
            <a:solidFill>
              <a:srgbClr val="F2763D"/>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34" name="Google Shape;1034;p53"/>
            <p:cNvSpPr/>
            <p:nvPr/>
          </p:nvSpPr>
          <p:spPr>
            <a:xfrm>
              <a:off x="9957927" y="0"/>
              <a:ext cx="621000" cy="621000"/>
            </a:xfrm>
            <a:prstGeom prst="ellipse">
              <a:avLst/>
            </a:prstGeom>
            <a:solidFill>
              <a:srgbClr val="FFFFFF"/>
            </a:solidFill>
            <a:ln cap="flat" cmpd="sng" w="12700">
              <a:solidFill>
                <a:srgbClr val="000000"/>
              </a:solidFill>
              <a:prstDash val="solid"/>
              <a:miter lim="400000"/>
              <a:headEnd len="sm" w="sm" type="none"/>
              <a:tailEnd len="sm" w="sm" type="none"/>
            </a:ln>
            <a:effectLst>
              <a:outerShdw blurRad="190500" rotWithShape="0" dir="5400000" dist="165100">
                <a:srgbClr val="000000">
                  <a:alpha val="72156"/>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1035" name="Google Shape;1035;p53"/>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F0763D"/>
              </a:buClr>
              <a:buSzPts val="3900"/>
              <a:buFont typeface="Helvetica Neue"/>
              <a:buNone/>
            </a:pPr>
            <a:r>
              <a:rPr b="0" i="0" lang="en-US" sz="3900" u="none" cap="none" strike="noStrike">
                <a:solidFill>
                  <a:srgbClr val="F0763D"/>
                </a:solidFill>
                <a:latin typeface="Helvetica Neue"/>
                <a:ea typeface="Helvetica Neue"/>
                <a:cs typeface="Helvetica Neue"/>
                <a:sym typeface="Helvetica Neue"/>
              </a:rPr>
              <a:t>PROTOTIPO REALIZADO</a:t>
            </a:r>
            <a:endParaRPr b="0" i="0" sz="1400" u="none" cap="none" strike="noStrike">
              <a:solidFill>
                <a:srgbClr val="000000"/>
              </a:solidFill>
              <a:latin typeface="Helvetica Neue"/>
              <a:ea typeface="Helvetica Neue"/>
              <a:cs typeface="Helvetica Neue"/>
              <a:sym typeface="Helvetica Neue"/>
            </a:endParaRPr>
          </a:p>
        </p:txBody>
      </p:sp>
      <p:sp>
        <p:nvSpPr>
          <p:cNvPr id="1036" name="Google Shape;1036;p53"/>
          <p:cNvSpPr txBox="1"/>
          <p:nvPr/>
        </p:nvSpPr>
        <p:spPr>
          <a:xfrm>
            <a:off x="1212905" y="4687614"/>
            <a:ext cx="10758000" cy="378372"/>
          </a:xfrm>
          <a:prstGeom prst="rect">
            <a:avLst/>
          </a:prstGeom>
          <a:noFill/>
          <a:ln>
            <a:noFill/>
          </a:ln>
        </p:spPr>
        <p:txBody>
          <a:bodyPr anchorCtr="0" anchor="t" bIns="50800" lIns="50800" spcFirstLastPara="1" rIns="50800" wrap="square" tIns="50800">
            <a:noAutofit/>
          </a:bodyPr>
          <a:lstStyle/>
          <a:p>
            <a:pPr indent="0" lvl="0" marL="0" marR="0" rtl="0" algn="ctr">
              <a:lnSpc>
                <a:spcPct val="100000"/>
              </a:lnSpc>
              <a:spcBef>
                <a:spcPts val="0"/>
              </a:spcBef>
              <a:spcAft>
                <a:spcPts val="0"/>
              </a:spcAft>
              <a:buNone/>
            </a:pPr>
            <a:r>
              <a:rPr b="0" i="0" lang="en-US" sz="2200" u="none" cap="none" strike="noStrike">
                <a:solidFill>
                  <a:srgbClr val="5E5E5E"/>
                </a:solidFill>
                <a:latin typeface="Helvetica Neue"/>
                <a:ea typeface="Helvetica Neue"/>
                <a:cs typeface="Helvetica Neue"/>
                <a:sym typeface="Helvetica Neue"/>
              </a:rPr>
              <a:t>PEGAR FOTOS DE PROTOTIPO REALIZADO</a:t>
            </a:r>
            <a:endParaRPr b="0" i="0" sz="2200" u="none" cap="none" strike="noStrike">
              <a:solidFill>
                <a:srgbClr val="000000"/>
              </a:solidFill>
              <a:latin typeface="Helvetica Neue"/>
              <a:ea typeface="Helvetica Neue"/>
              <a:cs typeface="Helvetica Neue"/>
              <a:sym typeface="Helvetica Neue"/>
            </a:endParaRPr>
          </a:p>
        </p:txBody>
      </p:sp>
      <p:pic>
        <p:nvPicPr>
          <p:cNvPr id="1037" name="Google Shape;1037;p53"/>
          <p:cNvPicPr preferRelativeResize="0"/>
          <p:nvPr/>
        </p:nvPicPr>
        <p:blipFill>
          <a:blip r:embed="rId4">
            <a:alphaModFix/>
          </a:blip>
          <a:stretch>
            <a:fillRect/>
          </a:stretch>
        </p:blipFill>
        <p:spPr>
          <a:xfrm>
            <a:off x="6502434" y="2426766"/>
            <a:ext cx="4415240" cy="5886986"/>
          </a:xfrm>
          <a:prstGeom prst="rect">
            <a:avLst/>
          </a:prstGeom>
          <a:noFill/>
          <a:ln>
            <a:noFill/>
          </a:ln>
        </p:spPr>
      </p:pic>
      <p:pic>
        <p:nvPicPr>
          <p:cNvPr id="1038" name="Google Shape;1038;p53"/>
          <p:cNvPicPr preferRelativeResize="0"/>
          <p:nvPr/>
        </p:nvPicPr>
        <p:blipFill>
          <a:blip r:embed="rId5">
            <a:alphaModFix/>
          </a:blip>
          <a:stretch>
            <a:fillRect/>
          </a:stretch>
        </p:blipFill>
        <p:spPr>
          <a:xfrm>
            <a:off x="2087175" y="2426775"/>
            <a:ext cx="4415251" cy="588699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4848"/>
        </a:solidFill>
      </p:bgPr>
    </p:bg>
    <p:spTree>
      <p:nvGrpSpPr>
        <p:cNvPr id="1042" name="Shape 1042"/>
        <p:cNvGrpSpPr/>
        <p:nvPr/>
      </p:nvGrpSpPr>
      <p:grpSpPr>
        <a:xfrm>
          <a:off x="0" y="0"/>
          <a:ext cx="0" cy="0"/>
          <a:chOff x="0" y="0"/>
          <a:chExt cx="0" cy="0"/>
        </a:xfrm>
      </p:grpSpPr>
      <p:grpSp>
        <p:nvGrpSpPr>
          <p:cNvPr id="1043" name="Google Shape;1043;p30"/>
          <p:cNvGrpSpPr/>
          <p:nvPr/>
        </p:nvGrpSpPr>
        <p:grpSpPr>
          <a:xfrm>
            <a:off x="241323" y="141073"/>
            <a:ext cx="11980692" cy="9157278"/>
            <a:chOff x="241323" y="141073"/>
            <a:chExt cx="11980692" cy="9157278"/>
          </a:xfrm>
        </p:grpSpPr>
        <p:pic>
          <p:nvPicPr>
            <p:cNvPr descr="Captura de Pantalla 2020-08-14 a la(s) 21.13.02.png" id="1044" name="Google Shape;1044;p30"/>
            <p:cNvPicPr preferRelativeResize="0"/>
            <p:nvPr/>
          </p:nvPicPr>
          <p:blipFill rotWithShape="1">
            <a:blip r:embed="rId3">
              <a:alphaModFix/>
            </a:blip>
            <a:srcRect b="0" l="0" r="0" t="0"/>
            <a:stretch/>
          </p:blipFill>
          <p:spPr>
            <a:xfrm>
              <a:off x="782785" y="628511"/>
              <a:ext cx="11439230" cy="8496578"/>
            </a:xfrm>
            <a:prstGeom prst="rect">
              <a:avLst/>
            </a:prstGeom>
            <a:noFill/>
            <a:ln>
              <a:noFill/>
            </a:ln>
          </p:spPr>
        </p:pic>
        <p:pic>
          <p:nvPicPr>
            <p:cNvPr descr="EA11.png" id="1045" name="Google Shape;1045;p30"/>
            <p:cNvPicPr preferRelativeResize="0"/>
            <p:nvPr/>
          </p:nvPicPr>
          <p:blipFill rotWithShape="1">
            <a:blip r:embed="rId4">
              <a:alphaModFix/>
            </a:blip>
            <a:srcRect b="0" l="0" r="0" t="0"/>
            <a:stretch/>
          </p:blipFill>
          <p:spPr>
            <a:xfrm>
              <a:off x="241323" y="141073"/>
              <a:ext cx="3975324" cy="1083107"/>
            </a:xfrm>
            <a:prstGeom prst="rect">
              <a:avLst/>
            </a:prstGeom>
            <a:noFill/>
            <a:ln>
              <a:noFill/>
            </a:ln>
          </p:spPr>
        </p:pic>
        <p:grpSp>
          <p:nvGrpSpPr>
            <p:cNvPr id="1046" name="Google Shape;1046;p30"/>
            <p:cNvGrpSpPr/>
            <p:nvPr/>
          </p:nvGrpSpPr>
          <p:grpSpPr>
            <a:xfrm>
              <a:off x="1212905" y="8677287"/>
              <a:ext cx="10578992" cy="621064"/>
              <a:chOff x="0" y="0"/>
              <a:chExt cx="10578990" cy="621062"/>
            </a:xfrm>
          </p:grpSpPr>
          <p:cxnSp>
            <p:nvCxnSpPr>
              <p:cNvPr id="1047" name="Google Shape;1047;p30"/>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1048" name="Google Shape;1048;p30"/>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49" name="Google Shape;1049;p30"/>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50" name="Google Shape;1050;p30"/>
              <p:cNvSpPr/>
              <p:nvPr/>
            </p:nvSpPr>
            <p:spPr>
              <a:xfrm>
                <a:off x="4978963" y="0"/>
                <a:ext cx="621063" cy="621062"/>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51" name="Google Shape;1051;p30"/>
              <p:cNvSpPr/>
              <p:nvPr/>
            </p:nvSpPr>
            <p:spPr>
              <a:xfrm>
                <a:off x="7468444" y="0"/>
                <a:ext cx="621063" cy="621062"/>
              </a:xfrm>
              <a:prstGeom prst="ellipse">
                <a:avLst/>
              </a:prstGeom>
              <a:solidFill>
                <a:srgbClr val="F2763D"/>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52" name="Google Shape;1052;p30"/>
              <p:cNvSpPr/>
              <p:nvPr/>
            </p:nvSpPr>
            <p:spPr>
              <a:xfrm>
                <a:off x="9957927" y="0"/>
                <a:ext cx="621063" cy="621062"/>
              </a:xfrm>
              <a:prstGeom prst="ellipse">
                <a:avLst/>
              </a:prstGeom>
              <a:solidFill>
                <a:srgbClr val="EA4047"/>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pic>
        <p:nvPicPr>
          <p:cNvPr descr="EA11.png" id="1057" name="Google Shape;1057;p31"/>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grpSp>
        <p:nvGrpSpPr>
          <p:cNvPr id="1058" name="Google Shape;1058;p31"/>
          <p:cNvGrpSpPr/>
          <p:nvPr/>
        </p:nvGrpSpPr>
        <p:grpSpPr>
          <a:xfrm>
            <a:off x="1212905" y="8677287"/>
            <a:ext cx="10578992" cy="621064"/>
            <a:chOff x="0" y="0"/>
            <a:chExt cx="10578990" cy="621062"/>
          </a:xfrm>
        </p:grpSpPr>
        <p:cxnSp>
          <p:nvCxnSpPr>
            <p:cNvPr id="1059" name="Google Shape;1059;p31"/>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1060" name="Google Shape;1060;p31"/>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61" name="Google Shape;1061;p31"/>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62" name="Google Shape;1062;p31"/>
            <p:cNvSpPr/>
            <p:nvPr/>
          </p:nvSpPr>
          <p:spPr>
            <a:xfrm>
              <a:off x="4978963" y="0"/>
              <a:ext cx="621063" cy="621062"/>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63" name="Google Shape;1063;p31"/>
            <p:cNvSpPr/>
            <p:nvPr/>
          </p:nvSpPr>
          <p:spPr>
            <a:xfrm>
              <a:off x="7468444" y="0"/>
              <a:ext cx="621063" cy="621062"/>
            </a:xfrm>
            <a:prstGeom prst="ellipse">
              <a:avLst/>
            </a:prstGeom>
            <a:solidFill>
              <a:srgbClr val="F2763D"/>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64" name="Google Shape;1064;p31"/>
            <p:cNvSpPr/>
            <p:nvPr/>
          </p:nvSpPr>
          <p:spPr>
            <a:xfrm>
              <a:off x="9957927" y="0"/>
              <a:ext cx="621063" cy="621062"/>
            </a:xfrm>
            <a:prstGeom prst="ellipse">
              <a:avLst/>
            </a:prstGeom>
            <a:solidFill>
              <a:srgbClr val="EA4047"/>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sp>
        <p:nvSpPr>
          <p:cNvPr id="1065" name="Google Shape;1065;p31"/>
          <p:cNvSpPr txBox="1"/>
          <p:nvPr/>
        </p:nvSpPr>
        <p:spPr>
          <a:xfrm>
            <a:off x="793435" y="1379272"/>
            <a:ext cx="11417930" cy="684133"/>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E94047"/>
              </a:buClr>
              <a:buSzPts val="3900"/>
              <a:buFont typeface="Helvetica Neue"/>
              <a:buNone/>
            </a:pPr>
            <a:r>
              <a:rPr b="0" i="0" lang="en-US" sz="3900" u="none" cap="none" strike="noStrike">
                <a:solidFill>
                  <a:srgbClr val="E94047"/>
                </a:solidFill>
                <a:latin typeface="Helvetica Neue"/>
                <a:ea typeface="Helvetica Neue"/>
                <a:cs typeface="Helvetica Neue"/>
                <a:sym typeface="Helvetica Neue"/>
              </a:rPr>
              <a:t>STORYTELLING</a:t>
            </a:r>
            <a:endParaRPr b="0" i="0" sz="1400" u="none" cap="none" strike="noStrike">
              <a:solidFill>
                <a:srgbClr val="000000"/>
              </a:solidFill>
              <a:latin typeface="Helvetica Neue"/>
              <a:ea typeface="Helvetica Neue"/>
              <a:cs typeface="Helvetica Neue"/>
              <a:sym typeface="Helvetica Neue"/>
            </a:endParaRPr>
          </a:p>
        </p:txBody>
      </p:sp>
      <p:pic>
        <p:nvPicPr>
          <p:cNvPr descr="Captura de Pantalla 2020-08-14 a la(s) 21.17.08.png" id="1066" name="Google Shape;1066;p31"/>
          <p:cNvPicPr preferRelativeResize="0"/>
          <p:nvPr/>
        </p:nvPicPr>
        <p:blipFill rotWithShape="1">
          <a:blip r:embed="rId4">
            <a:alphaModFix/>
          </a:blip>
          <a:srcRect b="0" l="0" r="0" t="0"/>
          <a:stretch/>
        </p:blipFill>
        <p:spPr>
          <a:xfrm>
            <a:off x="2695139" y="2483780"/>
            <a:ext cx="7614522" cy="6034149"/>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pic>
        <p:nvPicPr>
          <p:cNvPr id="1071" name="Google Shape;1071;g36775634400_0_6"/>
          <p:cNvPicPr preferRelativeResize="0"/>
          <p:nvPr/>
        </p:nvPicPr>
        <p:blipFill>
          <a:blip r:embed="rId3">
            <a:alphaModFix/>
          </a:blip>
          <a:stretch>
            <a:fillRect/>
          </a:stretch>
        </p:blipFill>
        <p:spPr>
          <a:xfrm>
            <a:off x="0" y="0"/>
            <a:ext cx="12852401" cy="858566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pic>
        <p:nvPicPr>
          <p:cNvPr id="1076" name="Google Shape;1076;g36775634400_0_10"/>
          <p:cNvPicPr preferRelativeResize="0"/>
          <p:nvPr/>
        </p:nvPicPr>
        <p:blipFill>
          <a:blip r:embed="rId3">
            <a:alphaModFix/>
          </a:blip>
          <a:stretch>
            <a:fillRect/>
          </a:stretch>
        </p:blipFill>
        <p:spPr>
          <a:xfrm>
            <a:off x="0" y="0"/>
            <a:ext cx="13004800" cy="703711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pic>
        <p:nvPicPr>
          <p:cNvPr id="1081" name="Google Shape;1081;g36775634400_0_14"/>
          <p:cNvPicPr preferRelativeResize="0"/>
          <p:nvPr/>
        </p:nvPicPr>
        <p:blipFill>
          <a:blip r:embed="rId3">
            <a:alphaModFix/>
          </a:blip>
          <a:stretch>
            <a:fillRect/>
          </a:stretch>
        </p:blipFill>
        <p:spPr>
          <a:xfrm>
            <a:off x="76200" y="174325"/>
            <a:ext cx="12852399" cy="5286067"/>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pic>
        <p:nvPicPr>
          <p:cNvPr descr="EA11.png" id="1086" name="Google Shape;1086;p32"/>
          <p:cNvPicPr preferRelativeResize="0"/>
          <p:nvPr/>
        </p:nvPicPr>
        <p:blipFill rotWithShape="1">
          <a:blip r:embed="rId3">
            <a:alphaModFix/>
          </a:blip>
          <a:srcRect b="0" l="0" r="0" t="0"/>
          <a:stretch/>
        </p:blipFill>
        <p:spPr>
          <a:xfrm>
            <a:off x="241323" y="141073"/>
            <a:ext cx="3975324" cy="1083107"/>
          </a:xfrm>
          <a:prstGeom prst="rect">
            <a:avLst/>
          </a:prstGeom>
          <a:noFill/>
          <a:ln>
            <a:noFill/>
          </a:ln>
        </p:spPr>
      </p:pic>
      <p:sp>
        <p:nvSpPr>
          <p:cNvPr id="1087" name="Google Shape;1087;p32"/>
          <p:cNvSpPr txBox="1"/>
          <p:nvPr/>
        </p:nvSpPr>
        <p:spPr>
          <a:xfrm>
            <a:off x="793435" y="1379272"/>
            <a:ext cx="11418000" cy="684000"/>
          </a:xfrm>
          <a:prstGeom prst="rect">
            <a:avLst/>
          </a:prstGeom>
          <a:noFill/>
          <a:ln>
            <a:noFill/>
          </a:ln>
        </p:spPr>
        <p:txBody>
          <a:bodyPr anchorCtr="0" anchor="ctr" bIns="50800" lIns="50800" spcFirstLastPara="1" rIns="50800" wrap="square" tIns="50800">
            <a:noAutofit/>
          </a:bodyPr>
          <a:lstStyle/>
          <a:p>
            <a:pPr indent="0" lvl="0" marL="0" marR="0" rtl="0" algn="ctr">
              <a:lnSpc>
                <a:spcPct val="80000"/>
              </a:lnSpc>
              <a:spcBef>
                <a:spcPts val="0"/>
              </a:spcBef>
              <a:spcAft>
                <a:spcPts val="0"/>
              </a:spcAft>
              <a:buClr>
                <a:srgbClr val="E94047"/>
              </a:buClr>
              <a:buSzPts val="3900"/>
              <a:buFont typeface="Helvetica Neue"/>
              <a:buNone/>
            </a:pPr>
            <a:r>
              <a:rPr b="0" i="0" lang="en-US" sz="3900" u="none" cap="none" strike="noStrike">
                <a:solidFill>
                  <a:srgbClr val="E94047"/>
                </a:solidFill>
                <a:latin typeface="Helvetica Neue"/>
                <a:ea typeface="Helvetica Neue"/>
                <a:cs typeface="Helvetica Neue"/>
                <a:sym typeface="Helvetica Neue"/>
              </a:rPr>
              <a:t>STORYBOARD</a:t>
            </a:r>
            <a:endParaRPr b="0" i="0" sz="1400" u="none" cap="none" strike="noStrike">
              <a:solidFill>
                <a:srgbClr val="000000"/>
              </a:solidFill>
              <a:latin typeface="Helvetica Neue"/>
              <a:ea typeface="Helvetica Neue"/>
              <a:cs typeface="Helvetica Neue"/>
              <a:sym typeface="Helvetica Neue"/>
            </a:endParaRPr>
          </a:p>
        </p:txBody>
      </p:sp>
      <p:grpSp>
        <p:nvGrpSpPr>
          <p:cNvPr id="1088" name="Google Shape;1088;p32"/>
          <p:cNvGrpSpPr/>
          <p:nvPr/>
        </p:nvGrpSpPr>
        <p:grpSpPr>
          <a:xfrm>
            <a:off x="1212905" y="8677287"/>
            <a:ext cx="10578992" cy="621064"/>
            <a:chOff x="0" y="0"/>
            <a:chExt cx="10578990" cy="621062"/>
          </a:xfrm>
        </p:grpSpPr>
        <p:cxnSp>
          <p:nvCxnSpPr>
            <p:cNvPr id="1089" name="Google Shape;1089;p32"/>
            <p:cNvCxnSpPr/>
            <p:nvPr/>
          </p:nvCxnSpPr>
          <p:spPr>
            <a:xfrm>
              <a:off x="582336" y="310531"/>
              <a:ext cx="9414316" cy="1"/>
            </a:xfrm>
            <a:prstGeom prst="straightConnector1">
              <a:avLst/>
            </a:prstGeom>
            <a:noFill/>
            <a:ln cap="flat" cmpd="sng" w="25400">
              <a:solidFill>
                <a:srgbClr val="000000"/>
              </a:solidFill>
              <a:prstDash val="solid"/>
              <a:miter lim="400000"/>
              <a:headEnd len="sm" w="sm" type="none"/>
              <a:tailEnd len="sm" w="sm" type="none"/>
            </a:ln>
          </p:spPr>
        </p:cxnSp>
        <p:sp>
          <p:nvSpPr>
            <p:cNvPr id="1090" name="Google Shape;1090;p32"/>
            <p:cNvSpPr/>
            <p:nvPr/>
          </p:nvSpPr>
          <p:spPr>
            <a:xfrm>
              <a:off x="0" y="0"/>
              <a:ext cx="621062" cy="621062"/>
            </a:xfrm>
            <a:prstGeom prst="ellipse">
              <a:avLst/>
            </a:prstGeom>
            <a:solidFill>
              <a:srgbClr val="8FD1E2"/>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91" name="Google Shape;1091;p32"/>
            <p:cNvSpPr/>
            <p:nvPr/>
          </p:nvSpPr>
          <p:spPr>
            <a:xfrm>
              <a:off x="2489481" y="0"/>
              <a:ext cx="621063" cy="621062"/>
            </a:xfrm>
            <a:prstGeom prst="ellipse">
              <a:avLst/>
            </a:prstGeom>
            <a:solidFill>
              <a:srgbClr val="95C136"/>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92" name="Google Shape;1092;p32"/>
            <p:cNvSpPr/>
            <p:nvPr/>
          </p:nvSpPr>
          <p:spPr>
            <a:xfrm>
              <a:off x="4978963" y="0"/>
              <a:ext cx="621063" cy="621062"/>
            </a:xfrm>
            <a:prstGeom prst="ellipse">
              <a:avLst/>
            </a:prstGeom>
            <a:solidFill>
              <a:srgbClr val="F2E894"/>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93" name="Google Shape;1093;p32"/>
            <p:cNvSpPr/>
            <p:nvPr/>
          </p:nvSpPr>
          <p:spPr>
            <a:xfrm>
              <a:off x="7468444" y="0"/>
              <a:ext cx="621063" cy="621062"/>
            </a:xfrm>
            <a:prstGeom prst="ellipse">
              <a:avLst/>
            </a:prstGeom>
            <a:solidFill>
              <a:srgbClr val="F2763D"/>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sp>
          <p:nvSpPr>
            <p:cNvPr id="1094" name="Google Shape;1094;p32"/>
            <p:cNvSpPr/>
            <p:nvPr/>
          </p:nvSpPr>
          <p:spPr>
            <a:xfrm>
              <a:off x="9957927" y="0"/>
              <a:ext cx="621063" cy="621062"/>
            </a:xfrm>
            <a:prstGeom prst="ellipse">
              <a:avLst/>
            </a:prstGeom>
            <a:solidFill>
              <a:srgbClr val="EA4047"/>
            </a:solidFill>
            <a:ln cap="flat" cmpd="sng" w="12700">
              <a:solidFill>
                <a:srgbClr val="000000"/>
              </a:solidFill>
              <a:prstDash val="solid"/>
              <a:miter lim="400000"/>
              <a:headEnd len="sm" w="sm" type="none"/>
              <a:tailEnd len="sm" w="sm" type="none"/>
            </a:ln>
            <a:effectLst>
              <a:outerShdw blurRad="190500" rotWithShape="0" dir="5400000" dist="165100">
                <a:srgbClr val="000000">
                  <a:alpha val="71764"/>
                </a:srgbClr>
              </a:outerShdw>
            </a:effectLst>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600"/>
                <a:buFont typeface="Helvetica Neue"/>
                <a:buNone/>
              </a:pPr>
              <a:r>
                <a:t/>
              </a:r>
              <a:endParaRPr b="0" i="0" sz="1600" u="none" cap="none" strike="noStrike">
                <a:solidFill>
                  <a:srgbClr val="5E5E5E"/>
                </a:solidFill>
                <a:latin typeface="Helvetica Neue"/>
                <a:ea typeface="Helvetica Neue"/>
                <a:cs typeface="Helvetica Neue"/>
                <a:sym typeface="Helvetica Neue"/>
              </a:endParaRPr>
            </a:p>
          </p:txBody>
        </p:sp>
      </p:grpSp>
      <p:pic>
        <p:nvPicPr>
          <p:cNvPr id="1095" name="Google Shape;1095;p32"/>
          <p:cNvPicPr preferRelativeResize="0"/>
          <p:nvPr/>
        </p:nvPicPr>
        <p:blipFill>
          <a:blip r:embed="rId4">
            <a:alphaModFix/>
          </a:blip>
          <a:stretch>
            <a:fillRect/>
          </a:stretch>
        </p:blipFill>
        <p:spPr>
          <a:xfrm>
            <a:off x="1096225" y="2574650"/>
            <a:ext cx="2065700" cy="2076515"/>
          </a:xfrm>
          <a:prstGeom prst="rect">
            <a:avLst/>
          </a:prstGeom>
          <a:noFill/>
          <a:ln>
            <a:noFill/>
          </a:ln>
        </p:spPr>
      </p:pic>
      <p:pic>
        <p:nvPicPr>
          <p:cNvPr id="1096" name="Google Shape;1096;p32"/>
          <p:cNvPicPr preferRelativeResize="0"/>
          <p:nvPr/>
        </p:nvPicPr>
        <p:blipFill>
          <a:blip r:embed="rId5">
            <a:alphaModFix/>
          </a:blip>
          <a:stretch>
            <a:fillRect/>
          </a:stretch>
        </p:blipFill>
        <p:spPr>
          <a:xfrm>
            <a:off x="3994425" y="2593702"/>
            <a:ext cx="2167250" cy="2133209"/>
          </a:xfrm>
          <a:prstGeom prst="rect">
            <a:avLst/>
          </a:prstGeom>
          <a:noFill/>
          <a:ln>
            <a:noFill/>
          </a:ln>
        </p:spPr>
      </p:pic>
      <p:pic>
        <p:nvPicPr>
          <p:cNvPr id="1097" name="Google Shape;1097;p32"/>
          <p:cNvPicPr preferRelativeResize="0"/>
          <p:nvPr/>
        </p:nvPicPr>
        <p:blipFill>
          <a:blip r:embed="rId6">
            <a:alphaModFix/>
          </a:blip>
          <a:stretch>
            <a:fillRect/>
          </a:stretch>
        </p:blipFill>
        <p:spPr>
          <a:xfrm>
            <a:off x="6994175" y="2850675"/>
            <a:ext cx="2428875" cy="1619250"/>
          </a:xfrm>
          <a:prstGeom prst="rect">
            <a:avLst/>
          </a:prstGeom>
          <a:noFill/>
          <a:ln>
            <a:noFill/>
          </a:ln>
        </p:spPr>
      </p:pic>
      <p:pic>
        <p:nvPicPr>
          <p:cNvPr id="1098" name="Google Shape;1098;p32"/>
          <p:cNvPicPr preferRelativeResize="0"/>
          <p:nvPr/>
        </p:nvPicPr>
        <p:blipFill>
          <a:blip r:embed="rId7">
            <a:alphaModFix/>
          </a:blip>
          <a:stretch>
            <a:fillRect/>
          </a:stretch>
        </p:blipFill>
        <p:spPr>
          <a:xfrm>
            <a:off x="10100525" y="2784238"/>
            <a:ext cx="2476500" cy="1657350"/>
          </a:xfrm>
          <a:prstGeom prst="rect">
            <a:avLst/>
          </a:prstGeom>
          <a:noFill/>
          <a:ln>
            <a:noFill/>
          </a:ln>
        </p:spPr>
      </p:pic>
      <p:pic>
        <p:nvPicPr>
          <p:cNvPr id="1099" name="Google Shape;1099;p32"/>
          <p:cNvPicPr preferRelativeResize="0"/>
          <p:nvPr/>
        </p:nvPicPr>
        <p:blipFill>
          <a:blip r:embed="rId8">
            <a:alphaModFix/>
          </a:blip>
          <a:stretch>
            <a:fillRect/>
          </a:stretch>
        </p:blipFill>
        <p:spPr>
          <a:xfrm>
            <a:off x="1096226" y="5853326"/>
            <a:ext cx="2065700" cy="1753326"/>
          </a:xfrm>
          <a:prstGeom prst="rect">
            <a:avLst/>
          </a:prstGeom>
          <a:noFill/>
          <a:ln>
            <a:noFill/>
          </a:ln>
        </p:spPr>
      </p:pic>
      <p:pic>
        <p:nvPicPr>
          <p:cNvPr id="1100" name="Google Shape;1100;p32"/>
          <p:cNvPicPr preferRelativeResize="0"/>
          <p:nvPr/>
        </p:nvPicPr>
        <p:blipFill>
          <a:blip r:embed="rId9">
            <a:alphaModFix/>
          </a:blip>
          <a:stretch>
            <a:fillRect/>
          </a:stretch>
        </p:blipFill>
        <p:spPr>
          <a:xfrm>
            <a:off x="4166975" y="5773600"/>
            <a:ext cx="1943561" cy="1837925"/>
          </a:xfrm>
          <a:prstGeom prst="rect">
            <a:avLst/>
          </a:prstGeom>
          <a:noFill/>
          <a:ln>
            <a:noFill/>
          </a:ln>
        </p:spPr>
      </p:pic>
      <p:pic>
        <p:nvPicPr>
          <p:cNvPr id="1101" name="Google Shape;1101;p32"/>
          <p:cNvPicPr preferRelativeResize="0"/>
          <p:nvPr/>
        </p:nvPicPr>
        <p:blipFill>
          <a:blip r:embed="rId10">
            <a:alphaModFix/>
          </a:blip>
          <a:stretch>
            <a:fillRect/>
          </a:stretch>
        </p:blipFill>
        <p:spPr>
          <a:xfrm>
            <a:off x="6926688" y="5807100"/>
            <a:ext cx="1992734" cy="1914800"/>
          </a:xfrm>
          <a:prstGeom prst="rect">
            <a:avLst/>
          </a:prstGeom>
          <a:noFill/>
          <a:ln>
            <a:noFill/>
          </a:ln>
        </p:spPr>
      </p:pic>
      <p:pic>
        <p:nvPicPr>
          <p:cNvPr id="1102" name="Google Shape;1102;p32"/>
          <p:cNvPicPr preferRelativeResize="0"/>
          <p:nvPr/>
        </p:nvPicPr>
        <p:blipFill>
          <a:blip r:embed="rId11">
            <a:alphaModFix/>
          </a:blip>
          <a:stretch>
            <a:fillRect/>
          </a:stretch>
        </p:blipFill>
        <p:spPr>
          <a:xfrm>
            <a:off x="10254000" y="5786039"/>
            <a:ext cx="2065700" cy="1881842"/>
          </a:xfrm>
          <a:prstGeom prst="rect">
            <a:avLst/>
          </a:prstGeom>
          <a:noFill/>
          <a:ln>
            <a:noFill/>
          </a:ln>
        </p:spPr>
      </p:pic>
      <p:sp>
        <p:nvSpPr>
          <p:cNvPr id="1103" name="Google Shape;1103;p32"/>
          <p:cNvSpPr txBox="1"/>
          <p:nvPr/>
        </p:nvSpPr>
        <p:spPr>
          <a:xfrm>
            <a:off x="3854450" y="4866800"/>
            <a:ext cx="2568600" cy="861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100">
                <a:latin typeface="Times New Roman"/>
                <a:ea typeface="Times New Roman"/>
                <a:cs typeface="Times New Roman"/>
                <a:sym typeface="Times New Roman"/>
              </a:rPr>
              <a:t>Plano entero. Vemos a una estudiante caminando con una mochila visiblemente sobrecargada. Su postura es encorvada por el peso. </a:t>
            </a:r>
            <a:endParaRPr sz="1600"/>
          </a:p>
        </p:txBody>
      </p:sp>
      <p:sp>
        <p:nvSpPr>
          <p:cNvPr id="1104" name="Google Shape;1104;p32"/>
          <p:cNvSpPr txBox="1"/>
          <p:nvPr/>
        </p:nvSpPr>
        <p:spPr>
          <a:xfrm>
            <a:off x="973013" y="4905891"/>
            <a:ext cx="2312100" cy="6927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1200"/>
              </a:spcAft>
              <a:buNone/>
            </a:pPr>
            <a:r>
              <a:rPr lang="en-US" sz="1100">
                <a:latin typeface="Times New Roman"/>
                <a:ea typeface="Times New Roman"/>
                <a:cs typeface="Times New Roman"/>
                <a:sym typeface="Times New Roman"/>
              </a:rPr>
              <a:t>En un plano medio largo, una presentadora con vestimenta casual-profesional y postura segura.</a:t>
            </a:r>
            <a:endParaRPr sz="1600"/>
          </a:p>
        </p:txBody>
      </p:sp>
      <p:sp>
        <p:nvSpPr>
          <p:cNvPr id="1105" name="Google Shape;1105;p32"/>
          <p:cNvSpPr txBox="1"/>
          <p:nvPr/>
        </p:nvSpPr>
        <p:spPr>
          <a:xfrm>
            <a:off x="6782223" y="4866800"/>
            <a:ext cx="25686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latin typeface="Times New Roman"/>
                <a:ea typeface="Times New Roman"/>
                <a:cs typeface="Times New Roman"/>
                <a:sym typeface="Times New Roman"/>
              </a:rPr>
              <a:t>Plano entero. Dos amigas se encuentran para poder estudiar. La mujer de pelo café le cuenta sus problema relacionados a la organización</a:t>
            </a:r>
            <a:endParaRPr sz="1600"/>
          </a:p>
        </p:txBody>
      </p:sp>
      <p:sp>
        <p:nvSpPr>
          <p:cNvPr id="1106" name="Google Shape;1106;p32"/>
          <p:cNvSpPr txBox="1"/>
          <p:nvPr/>
        </p:nvSpPr>
        <p:spPr>
          <a:xfrm>
            <a:off x="10100525" y="4821300"/>
            <a:ext cx="24765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latin typeface="Times New Roman"/>
                <a:ea typeface="Times New Roman"/>
                <a:cs typeface="Times New Roman"/>
                <a:sym typeface="Times New Roman"/>
              </a:rPr>
              <a:t>Plano medio. La mujer de pelo negro le cuenta como a su amiga como solia tener ese problema, y la solución que encontro para una mejor organización</a:t>
            </a:r>
            <a:endParaRPr sz="1600"/>
          </a:p>
        </p:txBody>
      </p:sp>
      <p:sp>
        <p:nvSpPr>
          <p:cNvPr id="1107" name="Google Shape;1107;p32"/>
          <p:cNvSpPr txBox="1"/>
          <p:nvPr/>
        </p:nvSpPr>
        <p:spPr>
          <a:xfrm>
            <a:off x="733123" y="7579775"/>
            <a:ext cx="2428800" cy="1200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100">
                <a:latin typeface="Times New Roman"/>
                <a:ea typeface="Times New Roman"/>
                <a:cs typeface="Times New Roman"/>
                <a:sym typeface="Times New Roman"/>
              </a:rPr>
              <a:t>Plano detalle.Enfocamos de cerca las manos del amigo mientras, con cuidado, saca del bolsillo de su pantalón un pequeño dispositivo: el prototipo de la grabadora con inteligencia artificial.</a:t>
            </a:r>
            <a:endParaRPr sz="1100">
              <a:latin typeface="Times New Roman"/>
              <a:ea typeface="Times New Roman"/>
              <a:cs typeface="Times New Roman"/>
              <a:sym typeface="Times New Roman"/>
            </a:endParaRPr>
          </a:p>
        </p:txBody>
      </p:sp>
      <p:sp>
        <p:nvSpPr>
          <p:cNvPr id="1108" name="Google Shape;1108;p32"/>
          <p:cNvSpPr txBox="1"/>
          <p:nvPr/>
        </p:nvSpPr>
        <p:spPr>
          <a:xfrm>
            <a:off x="3911650" y="8018375"/>
            <a:ext cx="2332800" cy="52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100">
                <a:latin typeface="Times New Roman"/>
                <a:ea typeface="Times New Roman"/>
                <a:cs typeface="Times New Roman"/>
                <a:sym typeface="Times New Roman"/>
              </a:rPr>
              <a:t>Plano medio largo. El presentador, de pie, gesticula con entusiasmo.</a:t>
            </a:r>
            <a:endParaRPr sz="1600"/>
          </a:p>
        </p:txBody>
      </p:sp>
      <p:sp>
        <p:nvSpPr>
          <p:cNvPr id="1109" name="Google Shape;1109;p32"/>
          <p:cNvSpPr txBox="1"/>
          <p:nvPr/>
        </p:nvSpPr>
        <p:spPr>
          <a:xfrm>
            <a:off x="6712925" y="7918474"/>
            <a:ext cx="2206500" cy="861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100">
                <a:latin typeface="Times New Roman"/>
                <a:ea typeface="Times New Roman"/>
                <a:cs typeface="Times New Roman"/>
                <a:sym typeface="Times New Roman"/>
              </a:rPr>
              <a:t>Plano medio largo. El segundo presentador, ubicado junto al primero finaliza la explicación del prototipo.</a:t>
            </a:r>
            <a:endParaRPr sz="1600"/>
          </a:p>
        </p:txBody>
      </p:sp>
      <p:sp>
        <p:nvSpPr>
          <p:cNvPr id="1110" name="Google Shape;1110;p32"/>
          <p:cNvSpPr txBox="1"/>
          <p:nvPr/>
        </p:nvSpPr>
        <p:spPr>
          <a:xfrm>
            <a:off x="9960400" y="7918477"/>
            <a:ext cx="26529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100">
                <a:latin typeface="Times New Roman"/>
                <a:ea typeface="Times New Roman"/>
                <a:cs typeface="Times New Roman"/>
                <a:sym typeface="Times New Roman"/>
              </a:rPr>
              <a:t>Plano detalle. Se enfoca de cerca el prototipo en manos del presentador. Se aprecian claramente su diseño compacto, los botones táctiles y una pequeña pantalla.</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