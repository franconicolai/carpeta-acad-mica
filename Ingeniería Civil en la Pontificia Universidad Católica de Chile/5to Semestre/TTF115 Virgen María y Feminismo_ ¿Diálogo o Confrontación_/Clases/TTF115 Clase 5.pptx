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259" r:id="rId3"/>
    <p:sldId id="260" r:id="rId4"/>
    <p:sldId id="261" r:id="rId5"/>
    <p:sldId id="262" r:id="rId6"/>
    <p:sldId id="267" r:id="rId7"/>
    <p:sldId id="263" r:id="rId8"/>
    <p:sldId id="264" r:id="rId9"/>
    <p:sldId id="268" r:id="rId10"/>
    <p:sldId id="265" r:id="rId11"/>
    <p:sldId id="266" r:id="rId12"/>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81"/>
    <p:restoredTop sz="94694"/>
  </p:normalViewPr>
  <p:slideViewPr>
    <p:cSldViewPr snapToGrid="0" snapToObjects="1">
      <p:cViewPr varScale="1">
        <p:scale>
          <a:sx n="121" d="100"/>
          <a:sy n="121" d="100"/>
        </p:scale>
        <p:origin x="8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_tradnl"/>
              <a:t>Clic para editar título</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solidFill>
                  <a:srgbClr val="696464"/>
                </a:solidFill>
              </a:rPr>
              <a:pPr/>
              <a:t>10/2/24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solidFill>
                  <a:srgbClr val="696464"/>
                </a:solidFill>
              </a:rPr>
              <a:pPr/>
              <a:t>10/2/24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_tradnl"/>
              <a:t>Clic para editar título</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solidFill>
                  <a:srgbClr val="696464"/>
                </a:solidFill>
              </a:rPr>
              <a:pPr/>
              <a:t>10/2/24</a:t>
            </a:fld>
            <a:endParaRPr lang="en-US" dirty="0">
              <a:solidFill>
                <a:srgbClr val="696464"/>
              </a:solidFill>
            </a:endParaRPr>
          </a:p>
        </p:txBody>
      </p:sp>
      <p:sp>
        <p:nvSpPr>
          <p:cNvPr id="5" name="Footer Placeholder 4"/>
          <p:cNvSpPr>
            <a:spLocks noGrp="1"/>
          </p:cNvSpPr>
          <p:nvPr>
            <p:ph type="ftr" sz="quarter" idx="11"/>
          </p:nvPr>
        </p:nvSpPr>
        <p:spPr>
          <a:xfrm>
            <a:off x="2182708" y="6272784"/>
            <a:ext cx="6327648" cy="365125"/>
          </a:xfrm>
        </p:spPr>
        <p:txBody>
          <a:bodyPr/>
          <a:lstStyle/>
          <a:p>
            <a:endParaRPr lang="en-US" dirty="0">
              <a:solidFill>
                <a:srgbClr val="696464"/>
              </a:solidFill>
            </a:endParaRP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solidFill>
                  <a:srgbClr val="696464"/>
                </a:solidFill>
              </a:rPr>
              <a:pPr/>
              <a:t>10/2/24</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solidFill>
                  <a:srgbClr val="696464"/>
                </a:solidFill>
              </a:rPr>
              <a:pPr/>
              <a:t>10/2/24</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a:p>
        </p:txBody>
      </p:sp>
      <p:sp>
        <p:nvSpPr>
          <p:cNvPr id="10" name="Title 9"/>
          <p:cNvSpPr>
            <a:spLocks noGrp="1"/>
          </p:cNvSpPr>
          <p:nvPr>
            <p:ph type="title"/>
          </p:nvPr>
        </p:nvSpPr>
        <p:spPr/>
        <p:txBody>
          <a:bodyPr/>
          <a:lstStyle/>
          <a:p>
            <a:r>
              <a:rPr lang="es-ES_tradnl"/>
              <a:t>Clic para editar título</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solidFill>
                  <a:srgbClr val="696464"/>
                </a:solidFill>
              </a:rPr>
              <a:pPr/>
              <a:t>10/2/24</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4FAB73BC-B049-4115-A692-8D63A059BFB8}" type="slidenum">
              <a:rPr lang="en-US" smtClean="0"/>
              <a:pPr/>
              <a:t>‹Nº›</a:t>
            </a:fld>
            <a:endParaRPr lang="en-US"/>
          </a:p>
        </p:txBody>
      </p:sp>
      <p:sp>
        <p:nvSpPr>
          <p:cNvPr id="6" name="Title 5"/>
          <p:cNvSpPr>
            <a:spLocks noGrp="1"/>
          </p:cNvSpPr>
          <p:nvPr>
            <p:ph type="title"/>
          </p:nvPr>
        </p:nvSpPr>
        <p:spPr/>
        <p:txBody>
          <a:bodyPr/>
          <a:lstStyle/>
          <a:p>
            <a:r>
              <a:rPr lang="es-ES_tradnl"/>
              <a:t>Clic para editar título</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solidFill>
                  <a:srgbClr val="696464"/>
                </a:solidFill>
              </a:rPr>
              <a:pPr/>
              <a:t>10/2/24</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_tradnl"/>
              <a:t>Clic para editar título</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DA16AA21-1863-4931-97CB-99D0A168701B}" type="datetimeFigureOut">
              <a:rPr lang="en-US" smtClean="0">
                <a:solidFill>
                  <a:srgbClr val="696464"/>
                </a:solidFill>
              </a:rPr>
              <a:pPr/>
              <a:t>10/2/24</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_tradnl"/>
              <a:t>Clic para editar título</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a:t>Arrastre la imagen al marcador de posición o haga clic en el icono para agregarla</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3772C379-9A7C-4C87-A116-CBE9F58B04C5}" type="datetimeFigureOut">
              <a:rPr lang="en-US" smtClean="0">
                <a:solidFill>
                  <a:srgbClr val="696464"/>
                </a:solidFill>
              </a:rPr>
              <a:pPr/>
              <a:t>10/2/24</a:t>
            </a:fld>
            <a:endParaRPr lang="en-US">
              <a:solidFill>
                <a:srgbClr val="696464"/>
              </a:solidFill>
            </a:endParaRP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a:p>
        </p:txBody>
      </p:sp>
      <p:sp>
        <p:nvSpPr>
          <p:cNvPr id="3" name="Vertical Text Placeholder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solidFill>
                  <a:srgbClr val="696464"/>
                </a:solidFill>
              </a:rPr>
              <a:pPr/>
              <a:t>10/2/24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_tradnl"/>
              <a:t>Clic para editar título</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solidFill>
                  <a:srgbClr val="696464"/>
                </a:solidFill>
              </a:rPr>
              <a:pPr/>
              <a:t>10/2/24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_tradnl"/>
              <a:t>Clic para editar título</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solidFill>
                  <a:srgbClr val="696464"/>
                </a:solidFill>
              </a:rPr>
              <a:pPr/>
              <a:t>10/2/24</a:t>
            </a:fld>
            <a:endParaRPr lang="en-US" dirty="0">
              <a:solidFill>
                <a:srgbClr val="696464"/>
              </a:solidFill>
            </a:endParaRP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solidFill>
                <a:srgbClr val="696464"/>
              </a:solidFill>
            </a:endParaRP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7343874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0.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74469" y="1063831"/>
            <a:ext cx="10627822" cy="3860213"/>
          </a:xfrm>
        </p:spPr>
        <p:txBody>
          <a:bodyPr/>
          <a:lstStyle/>
          <a:p>
            <a:pPr algn="ctr"/>
            <a:r>
              <a:rPr lang="es-ES_tradnl" dirty="0"/>
              <a:t>Feminismo </a:t>
            </a:r>
            <a:br>
              <a:rPr lang="es-ES_tradnl" dirty="0"/>
            </a:br>
            <a:r>
              <a:rPr lang="es-ES_tradnl" dirty="0"/>
              <a:t>y </a:t>
            </a:r>
            <a:br>
              <a:rPr lang="es-ES_tradnl" dirty="0"/>
            </a:br>
            <a:r>
              <a:rPr lang="es-ES_tradnl" dirty="0" err="1"/>
              <a:t>MariAlogía</a:t>
            </a:r>
            <a:r>
              <a:rPr lang="es-ES_tradnl" dirty="0"/>
              <a:t> </a:t>
            </a:r>
          </a:p>
        </p:txBody>
      </p:sp>
    </p:spTree>
    <p:extLst>
      <p:ext uri="{BB962C8B-B14F-4D97-AF65-F5344CB8AC3E}">
        <p14:creationId xmlns:p14="http://schemas.microsoft.com/office/powerpoint/2010/main" val="126071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8AFD15B-CF29-4306-884F-47675092F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Dibujo de un grupo de personas posando para una foto&#10;&#10;Descripción generada automáticamente">
            <a:extLst>
              <a:ext uri="{FF2B5EF4-FFF2-40B4-BE49-F238E27FC236}">
                <a16:creationId xmlns:a16="http://schemas.microsoft.com/office/drawing/2014/main" id="{62BC4027-9031-1D3C-6F79-BE35E45690DB}"/>
              </a:ext>
            </a:extLst>
          </p:cNvPr>
          <p:cNvPicPr>
            <a:picLocks noChangeAspect="1"/>
          </p:cNvPicPr>
          <p:nvPr/>
        </p:nvPicPr>
        <p:blipFill>
          <a:blip r:embed="rId2"/>
          <a:srcRect l="25222" r="29071"/>
          <a:stretch/>
        </p:blipFill>
        <p:spPr>
          <a:xfrm>
            <a:off x="-9866" y="401980"/>
            <a:ext cx="6115733" cy="6456021"/>
          </a:xfrm>
          <a:custGeom>
            <a:avLst/>
            <a:gdLst/>
            <a:ahLst/>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p:spPr>
      </p:pic>
      <p:sp>
        <p:nvSpPr>
          <p:cNvPr id="11" name="Freeform: Shape 10">
            <a:extLst>
              <a:ext uri="{FF2B5EF4-FFF2-40B4-BE49-F238E27FC236}">
                <a16:creationId xmlns:a16="http://schemas.microsoft.com/office/drawing/2014/main" id="{96349AB3-1BD3-41E1-8979-1DBDCB5CD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66" y="401980"/>
            <a:ext cx="6115733" cy="6456021"/>
          </a:xfrm>
          <a:custGeom>
            <a:avLst/>
            <a:gdLst>
              <a:gd name="connsiteX0" fmla="*/ 2259477 w 6115733"/>
              <a:gd name="connsiteY0" fmla="*/ 433395 h 6456021"/>
              <a:gd name="connsiteX1" fmla="*/ 5681904 w 6115733"/>
              <a:gd name="connsiteY1" fmla="*/ 3852396 h 6456021"/>
              <a:gd name="connsiteX2" fmla="*/ 4679499 w 6115733"/>
              <a:gd name="connsiteY2" fmla="*/ 6269995 h 6456021"/>
              <a:gd name="connsiteX3" fmla="*/ 4474613 w 6115733"/>
              <a:gd name="connsiteY3" fmla="*/ 6456021 h 6456021"/>
              <a:gd name="connsiteX4" fmla="*/ 44341 w 6115733"/>
              <a:gd name="connsiteY4" fmla="*/ 6456021 h 6456021"/>
              <a:gd name="connsiteX5" fmla="*/ 0 w 6115733"/>
              <a:gd name="connsiteY5" fmla="*/ 6415762 h 6456021"/>
              <a:gd name="connsiteX6" fmla="*/ 0 w 6115733"/>
              <a:gd name="connsiteY6" fmla="*/ 1289029 h 6456021"/>
              <a:gd name="connsiteX7" fmla="*/ 82495 w 6115733"/>
              <a:gd name="connsiteY7" fmla="*/ 1214128 h 6456021"/>
              <a:gd name="connsiteX8" fmla="*/ 2259477 w 6115733"/>
              <a:gd name="connsiteY8" fmla="*/ 433395 h 6456021"/>
              <a:gd name="connsiteX9" fmla="*/ 2259477 w 6115733"/>
              <a:gd name="connsiteY9" fmla="*/ 0 h 6456021"/>
              <a:gd name="connsiteX10" fmla="*/ 6115733 w 6115733"/>
              <a:gd name="connsiteY10" fmla="*/ 3852396 h 6456021"/>
              <a:gd name="connsiteX11" fmla="*/ 5235152 w 6115733"/>
              <a:gd name="connsiteY11" fmla="*/ 6302877 h 6456021"/>
              <a:gd name="connsiteX12" fmla="*/ 5095826 w 6115733"/>
              <a:gd name="connsiteY12" fmla="*/ 6456021 h 6456021"/>
              <a:gd name="connsiteX13" fmla="*/ 4617788 w 6115733"/>
              <a:gd name="connsiteY13" fmla="*/ 6456021 h 6456021"/>
              <a:gd name="connsiteX14" fmla="*/ 4747668 w 6115733"/>
              <a:gd name="connsiteY14" fmla="*/ 6338096 h 6456021"/>
              <a:gd name="connsiteX15" fmla="*/ 5778311 w 6115733"/>
              <a:gd name="connsiteY15" fmla="*/ 3852396 h 6456021"/>
              <a:gd name="connsiteX16" fmla="*/ 2259477 w 6115733"/>
              <a:gd name="connsiteY16" fmla="*/ 337085 h 6456021"/>
              <a:gd name="connsiteX17" fmla="*/ 21172 w 6115733"/>
              <a:gd name="connsiteY17" fmla="*/ 1139811 h 6456021"/>
              <a:gd name="connsiteX18" fmla="*/ 0 w 6115733"/>
              <a:gd name="connsiteY18" fmla="*/ 1159034 h 6456021"/>
              <a:gd name="connsiteX19" fmla="*/ 0 w 6115733"/>
              <a:gd name="connsiteY19" fmla="*/ 735177 h 6456021"/>
              <a:gd name="connsiteX20" fmla="*/ 103407 w 6115733"/>
              <a:gd name="connsiteY20" fmla="*/ 657929 h 6456021"/>
              <a:gd name="connsiteX21" fmla="*/ 2259477 w 6115733"/>
              <a:gd name="connsiteY21" fmla="*/ 0 h 645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115733" h="6456021">
                <a:moveTo>
                  <a:pt x="2259477" y="433395"/>
                </a:moveTo>
                <a:cubicBezTo>
                  <a:pt x="4149632" y="433395"/>
                  <a:pt x="5681904" y="1964133"/>
                  <a:pt x="5681904" y="3852396"/>
                </a:cubicBezTo>
                <a:cubicBezTo>
                  <a:pt x="5681904" y="4796527"/>
                  <a:pt x="5298836" y="5651278"/>
                  <a:pt x="4679499" y="6269995"/>
                </a:cubicBezTo>
                <a:lnTo>
                  <a:pt x="4474613" y="6456021"/>
                </a:lnTo>
                <a:lnTo>
                  <a:pt x="44341" y="6456021"/>
                </a:lnTo>
                <a:lnTo>
                  <a:pt x="0" y="6415762"/>
                </a:lnTo>
                <a:lnTo>
                  <a:pt x="0" y="1289029"/>
                </a:lnTo>
                <a:lnTo>
                  <a:pt x="82495" y="1214128"/>
                </a:lnTo>
                <a:cubicBezTo>
                  <a:pt x="674092" y="726388"/>
                  <a:pt x="1432534" y="433395"/>
                  <a:pt x="2259477" y="433395"/>
                </a:cubicBezTo>
                <a:close/>
                <a:moveTo>
                  <a:pt x="2259477" y="0"/>
                </a:moveTo>
                <a:cubicBezTo>
                  <a:pt x="4389229" y="0"/>
                  <a:pt x="6115733" y="1724776"/>
                  <a:pt x="6115733" y="3852396"/>
                </a:cubicBezTo>
                <a:cubicBezTo>
                  <a:pt x="6115733" y="4783230"/>
                  <a:pt x="5785270" y="5636956"/>
                  <a:pt x="5235152" y="6302877"/>
                </a:cubicBezTo>
                <a:lnTo>
                  <a:pt x="5095826" y="6456021"/>
                </a:lnTo>
                <a:lnTo>
                  <a:pt x="4617788" y="6456021"/>
                </a:lnTo>
                <a:lnTo>
                  <a:pt x="4747668" y="6338096"/>
                </a:lnTo>
                <a:cubicBezTo>
                  <a:pt x="5384452" y="5701950"/>
                  <a:pt x="5778311" y="4823122"/>
                  <a:pt x="5778311" y="3852396"/>
                </a:cubicBezTo>
                <a:cubicBezTo>
                  <a:pt x="5778311" y="1910944"/>
                  <a:pt x="4202875" y="337085"/>
                  <a:pt x="2259477" y="337085"/>
                </a:cubicBezTo>
                <a:cubicBezTo>
                  <a:pt x="1409240" y="337085"/>
                  <a:pt x="629434" y="638331"/>
                  <a:pt x="21172" y="1139811"/>
                </a:cubicBezTo>
                <a:lnTo>
                  <a:pt x="0" y="1159034"/>
                </a:lnTo>
                <a:lnTo>
                  <a:pt x="0" y="735177"/>
                </a:lnTo>
                <a:lnTo>
                  <a:pt x="103407" y="657929"/>
                </a:lnTo>
                <a:cubicBezTo>
                  <a:pt x="718869" y="242547"/>
                  <a:pt x="1460820" y="0"/>
                  <a:pt x="2259477" y="0"/>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Marcador de contenido 2"/>
          <p:cNvSpPr>
            <a:spLocks noGrp="1"/>
          </p:cNvSpPr>
          <p:nvPr>
            <p:ph idx="1"/>
          </p:nvPr>
        </p:nvSpPr>
        <p:spPr>
          <a:xfrm>
            <a:off x="6341423" y="570017"/>
            <a:ext cx="5089495" cy="5688856"/>
          </a:xfrm>
        </p:spPr>
        <p:txBody>
          <a:bodyPr anchor="t">
            <a:normAutofit/>
          </a:bodyPr>
          <a:lstStyle/>
          <a:p>
            <a:r>
              <a:rPr lang="es-ES_tradnl" sz="1800" dirty="0">
                <a:solidFill>
                  <a:srgbClr val="000000"/>
                </a:solidFill>
              </a:rPr>
              <a:t>María es una mujer</a:t>
            </a:r>
          </a:p>
          <a:p>
            <a:r>
              <a:rPr lang="es-ES_tradnl" sz="1800" dirty="0">
                <a:solidFill>
                  <a:srgbClr val="000000"/>
                </a:solidFill>
              </a:rPr>
              <a:t>Mujer más importante del cristianismo. </a:t>
            </a:r>
          </a:p>
          <a:p>
            <a:pPr lvl="1"/>
            <a:r>
              <a:rPr lang="es-ES_tradnl" dirty="0">
                <a:solidFill>
                  <a:srgbClr val="000000"/>
                </a:solidFill>
              </a:rPr>
              <a:t>Su historia ha quedado ligada a la interpretación de la vida de las mujeres. </a:t>
            </a:r>
          </a:p>
          <a:p>
            <a:r>
              <a:rPr lang="es-ES_tradnl" sz="1800" dirty="0">
                <a:solidFill>
                  <a:srgbClr val="000000"/>
                </a:solidFill>
              </a:rPr>
              <a:t>Asociación María-mujeres</a:t>
            </a:r>
          </a:p>
          <a:p>
            <a:r>
              <a:rPr lang="es-ES_tradnl" sz="1800" dirty="0">
                <a:solidFill>
                  <a:srgbClr val="000000"/>
                </a:solidFill>
              </a:rPr>
              <a:t>La comprensión que se tenga de María es la comprensión que se tiene de la mujer, así como la comprensión de la mujer no es indiferente para la mariología que se proponga</a:t>
            </a:r>
          </a:p>
          <a:p>
            <a:r>
              <a:rPr lang="es-ES_tradnl" sz="1800" dirty="0">
                <a:solidFill>
                  <a:srgbClr val="000000"/>
                </a:solidFill>
              </a:rPr>
              <a:t>Un primer vínculo que podría establecerse es de carácter histórico-cultural. </a:t>
            </a:r>
          </a:p>
          <a:p>
            <a:endParaRPr lang="es-ES_tradnl" sz="1500" dirty="0">
              <a:solidFill>
                <a:srgbClr val="000000"/>
              </a:solidFill>
            </a:endParaRPr>
          </a:p>
        </p:txBody>
      </p:sp>
      <p:grpSp>
        <p:nvGrpSpPr>
          <p:cNvPr id="13" name="Group 12">
            <a:extLst>
              <a:ext uri="{FF2B5EF4-FFF2-40B4-BE49-F238E27FC236}">
                <a16:creationId xmlns:a16="http://schemas.microsoft.com/office/drawing/2014/main" id="{54CA915D-BDF0-41F8-B00E-FB186EFF7B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317AAC03-BF64-4E67-9032-3BD024998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5" name="Oval 14">
              <a:extLst>
                <a:ext uri="{FF2B5EF4-FFF2-40B4-BE49-F238E27FC236}">
                  <a16:creationId xmlns:a16="http://schemas.microsoft.com/office/drawing/2014/main" id="{1A131397-5A45-4344-9983-5E400A3EA5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extLst>
      <p:ext uri="{BB962C8B-B14F-4D97-AF65-F5344CB8AC3E}">
        <p14:creationId xmlns:p14="http://schemas.microsoft.com/office/powerpoint/2010/main" val="35513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4935793" y="484632"/>
            <a:ext cx="6607277" cy="1609344"/>
          </a:xfrm>
        </p:spPr>
        <p:txBody>
          <a:bodyPr>
            <a:normAutofit/>
          </a:bodyPr>
          <a:lstStyle/>
          <a:p>
            <a:r>
              <a:rPr lang="es-ES_tradnl" sz="3000"/>
              <a:t>Interés de las teologías feministas por abordar la cuestión mariológica</a:t>
            </a:r>
            <a:r>
              <a:rPr lang="is-IS" sz="3000"/>
              <a:t>…</a:t>
            </a:r>
            <a:br>
              <a:rPr lang="es-ES_tradnl" sz="3000"/>
            </a:br>
            <a:endParaRPr lang="es-ES_tradnl" sz="3000"/>
          </a:p>
        </p:txBody>
      </p:sp>
      <p:pic>
        <p:nvPicPr>
          <p:cNvPr id="5" name="Imagen 4" descr="Imagen que contiene persona, hombre, sostener, mujer&#10;&#10;Descripción generada automáticamente">
            <a:extLst>
              <a:ext uri="{FF2B5EF4-FFF2-40B4-BE49-F238E27FC236}">
                <a16:creationId xmlns:a16="http://schemas.microsoft.com/office/drawing/2014/main" id="{F38A949A-8557-150B-B5B5-450C57770F1B}"/>
              </a:ext>
            </a:extLst>
          </p:cNvPr>
          <p:cNvPicPr>
            <a:picLocks noChangeAspect="1"/>
          </p:cNvPicPr>
          <p:nvPr/>
        </p:nvPicPr>
        <p:blipFill>
          <a:blip r:embed="rId2"/>
          <a:stretch>
            <a:fillRect/>
          </a:stretch>
        </p:blipFill>
        <p:spPr>
          <a:xfrm>
            <a:off x="905838" y="640080"/>
            <a:ext cx="3457637" cy="5588101"/>
          </a:xfrm>
          <a:prstGeom prst="rect">
            <a:avLst/>
          </a:prstGeom>
        </p:spPr>
      </p:pic>
      <p:sp>
        <p:nvSpPr>
          <p:cNvPr id="3" name="Marcador de contenido 2"/>
          <p:cNvSpPr>
            <a:spLocks noGrp="1"/>
          </p:cNvSpPr>
          <p:nvPr>
            <p:ph idx="1"/>
          </p:nvPr>
        </p:nvSpPr>
        <p:spPr>
          <a:xfrm>
            <a:off x="4935794" y="2121408"/>
            <a:ext cx="6607276" cy="4050792"/>
          </a:xfrm>
        </p:spPr>
        <p:txBody>
          <a:bodyPr>
            <a:normAutofit/>
          </a:bodyPr>
          <a:lstStyle/>
          <a:p>
            <a:r>
              <a:rPr lang="es-ES_tradnl" dirty="0"/>
              <a:t>Ambigüedad del modelo mariano</a:t>
            </a:r>
          </a:p>
          <a:p>
            <a:r>
              <a:rPr lang="es-ES_tradnl" dirty="0"/>
              <a:t>Puede ser vehículo tanto de una visión subordinada de la mujer, </a:t>
            </a:r>
          </a:p>
          <a:p>
            <a:r>
              <a:rPr lang="es-ES_tradnl" dirty="0"/>
              <a:t>Como de otra liberada y liberadora</a:t>
            </a:r>
          </a:p>
          <a:p>
            <a:r>
              <a:rPr lang="es-ES_tradnl" dirty="0"/>
              <a:t>Según canonice o no determinadas actitudes femeninas</a:t>
            </a:r>
          </a:p>
          <a:p>
            <a:endParaRPr lang="es-ES_tradnl" dirty="0"/>
          </a:p>
        </p:txBody>
      </p:sp>
    </p:spTree>
    <p:extLst>
      <p:ext uri="{BB962C8B-B14F-4D97-AF65-F5344CB8AC3E}">
        <p14:creationId xmlns:p14="http://schemas.microsoft.com/office/powerpoint/2010/main" val="845729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La interpelación del feminismo a la mariología </a:t>
            </a:r>
          </a:p>
        </p:txBody>
      </p:sp>
      <p:sp>
        <p:nvSpPr>
          <p:cNvPr id="3" name="Marcador de contenido 2"/>
          <p:cNvSpPr>
            <a:spLocks noGrp="1"/>
          </p:cNvSpPr>
          <p:nvPr>
            <p:ph idx="1"/>
          </p:nvPr>
        </p:nvSpPr>
        <p:spPr/>
        <p:txBody>
          <a:bodyPr/>
          <a:lstStyle/>
          <a:p>
            <a:r>
              <a:rPr lang="es-ES_tradnl" dirty="0"/>
              <a:t>Fases:</a:t>
            </a:r>
            <a:r>
              <a:rPr lang="es-ES_tradnl" b="1" dirty="0"/>
              <a:t> </a:t>
            </a:r>
            <a:r>
              <a:rPr lang="es-ES_tradnl" dirty="0"/>
              <a:t>desde la referencia tangencial, la contraposición polémica a una confrontación seria y constructiva</a:t>
            </a:r>
          </a:p>
          <a:p>
            <a:r>
              <a:rPr lang="es-ES_tradnl" dirty="0"/>
              <a:t>Primer feminismo: el eje de su interés estaba en la lucha por el reconocimiento de los derechos de la mujer en un plano jurídico, económico y político, </a:t>
            </a:r>
          </a:p>
          <a:p>
            <a:r>
              <a:rPr lang="es-ES_tradnl" dirty="0"/>
              <a:t>Para estos fines María como símbolo carece de injerencia. </a:t>
            </a:r>
          </a:p>
          <a:p>
            <a:pPr lvl="1"/>
            <a:r>
              <a:rPr lang="es-ES_tradnl" dirty="0"/>
              <a:t>O bien por la distancia con la sociedad que ella vivió, </a:t>
            </a:r>
          </a:p>
          <a:p>
            <a:pPr lvl="1"/>
            <a:r>
              <a:rPr lang="es-ES_tradnl" dirty="0"/>
              <a:t>o bien porque su figura no concentra ninguna carga revolucionaria o progresista. </a:t>
            </a:r>
          </a:p>
          <a:p>
            <a:pPr marL="0" indent="0">
              <a:buNone/>
            </a:pPr>
            <a:endParaRPr lang="es-ES_tradnl" dirty="0"/>
          </a:p>
          <a:p>
            <a:pPr marL="0" indent="0">
              <a:buNone/>
            </a:pPr>
            <a:endParaRPr lang="es-ES_tradnl" dirty="0"/>
          </a:p>
          <a:p>
            <a:pPr marL="0" indent="0">
              <a:buNone/>
            </a:pPr>
            <a:r>
              <a:rPr lang="es-ES_tradnl" dirty="0"/>
              <a:t>Stefano de </a:t>
            </a:r>
            <a:r>
              <a:rPr lang="es-ES_tradnl" dirty="0" err="1"/>
              <a:t>Fiores</a:t>
            </a:r>
            <a:r>
              <a:rPr lang="es-ES_tradnl" dirty="0"/>
              <a:t>, </a:t>
            </a:r>
            <a:r>
              <a:rPr lang="es-CL" sz="2000" i="1" dirty="0">
                <a:effectLst/>
                <a:latin typeface="Calibri" panose="020F0502020204030204" pitchFamily="34" charset="0"/>
                <a:ea typeface="Calibri" panose="020F0502020204030204" pitchFamily="34" charset="0"/>
                <a:cs typeface="Times New Roman" panose="02020603050405020304" pitchFamily="18" charset="0"/>
              </a:rPr>
              <a:t>María en la teología contemporánea.</a:t>
            </a:r>
            <a:r>
              <a:rPr lang="es-CL" sz="2000" dirty="0">
                <a:effectLst/>
                <a:latin typeface="Calibri" panose="020F0502020204030204" pitchFamily="34" charset="0"/>
                <a:ea typeface="Calibri" panose="020F0502020204030204" pitchFamily="34" charset="0"/>
                <a:cs typeface="Times New Roman" panose="02020603050405020304" pitchFamily="18" charset="0"/>
              </a:rPr>
              <a:t> 413-450. Salamanca: Sígueme, 1991</a:t>
            </a:r>
            <a:r>
              <a:rPr lang="es-CL" dirty="0">
                <a:effectLst/>
              </a:rPr>
              <a:t> </a:t>
            </a:r>
            <a:endParaRPr lang="es-ES_tradnl" dirty="0"/>
          </a:p>
          <a:p>
            <a:pPr marL="0" indent="0">
              <a:buNone/>
            </a:pPr>
            <a:endParaRPr lang="es-ES_tradnl" dirty="0"/>
          </a:p>
        </p:txBody>
      </p:sp>
    </p:spTree>
    <p:extLst>
      <p:ext uri="{BB962C8B-B14F-4D97-AF65-F5344CB8AC3E}">
        <p14:creationId xmlns:p14="http://schemas.microsoft.com/office/powerpoint/2010/main" val="519375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Imagen 3" descr="Foto en blanco y negro de la cara de una persona&#10;&#10;Descripción generada automáticamente">
            <a:extLst>
              <a:ext uri="{FF2B5EF4-FFF2-40B4-BE49-F238E27FC236}">
                <a16:creationId xmlns:a16="http://schemas.microsoft.com/office/drawing/2014/main" id="{8FBC1C2D-32EA-4D5C-D480-D15494C11F49}"/>
              </a:ext>
            </a:extLst>
          </p:cNvPr>
          <p:cNvPicPr>
            <a:picLocks noChangeAspect="1"/>
          </p:cNvPicPr>
          <p:nvPr/>
        </p:nvPicPr>
        <p:blipFill>
          <a:blip r:embed="rId3"/>
          <a:stretch>
            <a:fillRect/>
          </a:stretch>
        </p:blipFill>
        <p:spPr>
          <a:xfrm>
            <a:off x="1022053" y="1287596"/>
            <a:ext cx="3176361" cy="4373733"/>
          </a:xfrm>
          <a:prstGeom prst="rect">
            <a:avLst/>
          </a:prstGeom>
        </p:spPr>
      </p:pic>
      <p:sp>
        <p:nvSpPr>
          <p:cNvPr id="3" name="Marcador de contenido 2"/>
          <p:cNvSpPr>
            <a:spLocks noGrp="1"/>
          </p:cNvSpPr>
          <p:nvPr>
            <p:ph idx="1"/>
          </p:nvPr>
        </p:nvSpPr>
        <p:spPr>
          <a:xfrm>
            <a:off x="6390290" y="210207"/>
            <a:ext cx="4887310" cy="6476673"/>
          </a:xfrm>
        </p:spPr>
        <p:txBody>
          <a:bodyPr>
            <a:normAutofit fontScale="92500" lnSpcReduction="20000"/>
          </a:bodyPr>
          <a:lstStyle/>
          <a:p>
            <a:r>
              <a:rPr lang="es-ES_tradnl" dirty="0"/>
              <a:t>Época contemporánea: “la cuestión de la mujer”</a:t>
            </a:r>
          </a:p>
          <a:p>
            <a:r>
              <a:rPr lang="es-ES_tradnl" dirty="0"/>
              <a:t>Teología siglo XX </a:t>
            </a:r>
            <a:endParaRPr lang="es-ES_tradnl" dirty="0">
              <a:sym typeface="Wingdings" charset="2"/>
            </a:endParaRPr>
          </a:p>
          <a:p>
            <a:r>
              <a:rPr lang="es-ES_tradnl" dirty="0"/>
              <a:t>Gertrud </a:t>
            </a:r>
            <a:r>
              <a:rPr lang="es-ES_tradnl" dirty="0" err="1"/>
              <a:t>von</a:t>
            </a:r>
            <a:r>
              <a:rPr lang="es-ES_tradnl" dirty="0"/>
              <a:t> Le Fort </a:t>
            </a:r>
            <a:r>
              <a:rPr lang="es-ES_tradnl" i="1" dirty="0"/>
              <a:t>La mujer eterna</a:t>
            </a:r>
            <a:r>
              <a:rPr lang="es-ES_tradnl" dirty="0"/>
              <a:t>, publicada en 1934</a:t>
            </a:r>
          </a:p>
          <a:p>
            <a:r>
              <a:rPr lang="es-ES_tradnl" dirty="0"/>
              <a:t>La cuestión de la mujer en relación con María desde un plano simbólico, partiendo de supuestos biológicos legitima el papel secundario y de colaboración de la mujer.</a:t>
            </a:r>
          </a:p>
          <a:p>
            <a:r>
              <a:rPr lang="es-ES_tradnl" dirty="0"/>
              <a:t>Les asigna un papel subalterno y silencioso</a:t>
            </a:r>
          </a:p>
          <a:p>
            <a:r>
              <a:rPr lang="es-ES_tradnl" dirty="0"/>
              <a:t>Ser mujer implica, ser madre y esposa, esencias que transparentan lo más prístino del ser femenino</a:t>
            </a:r>
          </a:p>
          <a:p>
            <a:r>
              <a:rPr lang="es-ES_tradnl" dirty="0"/>
              <a:t>María es la expresión más alta del «eterno femenino» porque encarna lo mejor de la  naturaleza femenina, la que implica la maternidad-virginidad-</a:t>
            </a:r>
            <a:r>
              <a:rPr lang="es-ES_tradnl" dirty="0" err="1"/>
              <a:t>servicialidad</a:t>
            </a:r>
            <a:r>
              <a:rPr lang="es-ES_tradnl" dirty="0"/>
              <a:t>.</a:t>
            </a:r>
          </a:p>
          <a:p>
            <a:r>
              <a:rPr lang="es-ES_tradnl" dirty="0"/>
              <a:t>María es el símbolo de la feminidad y con sus características de madre, virgen, esclava, colaboradora, representa la vocación de toda mujer</a:t>
            </a:r>
          </a:p>
          <a:p>
            <a:endParaRPr lang="es-ES_tradnl" sz="1100" dirty="0"/>
          </a:p>
          <a:p>
            <a:endParaRPr lang="es-ES_tradnl" sz="1100" dirty="0"/>
          </a:p>
        </p:txBody>
      </p:sp>
      <p:grpSp>
        <p:nvGrpSpPr>
          <p:cNvPr id="13" name="Group 12">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5" name="Oval 14">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extLst>
      <p:ext uri="{BB962C8B-B14F-4D97-AF65-F5344CB8AC3E}">
        <p14:creationId xmlns:p14="http://schemas.microsoft.com/office/powerpoint/2010/main" val="61478474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4452A4A-2853-4001-9BA1-21733333F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3" y="321733"/>
            <a:ext cx="5774268" cy="5780684"/>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2691B5-C927-E531-38C1-EDD4AB5D16C6}"/>
              </a:ext>
            </a:extLst>
          </p:cNvPr>
          <p:cNvSpPr>
            <a:spLocks noGrp="1"/>
          </p:cNvSpPr>
          <p:nvPr>
            <p:ph type="title"/>
          </p:nvPr>
        </p:nvSpPr>
        <p:spPr>
          <a:xfrm>
            <a:off x="644893" y="484632"/>
            <a:ext cx="5168168" cy="1609344"/>
          </a:xfrm>
        </p:spPr>
        <p:txBody>
          <a:bodyPr>
            <a:normAutofit/>
          </a:bodyPr>
          <a:lstStyle/>
          <a:p>
            <a:r>
              <a:rPr lang="es-CL" sz="4400"/>
              <a:t>El eterno femenino…</a:t>
            </a:r>
          </a:p>
        </p:txBody>
      </p:sp>
      <p:sp>
        <p:nvSpPr>
          <p:cNvPr id="3" name="Marcador de contenido 2">
            <a:extLst>
              <a:ext uri="{FF2B5EF4-FFF2-40B4-BE49-F238E27FC236}">
                <a16:creationId xmlns:a16="http://schemas.microsoft.com/office/drawing/2014/main" id="{D35D08D5-0760-FEAD-0A9A-42DEB5D7CE30}"/>
              </a:ext>
            </a:extLst>
          </p:cNvPr>
          <p:cNvSpPr>
            <a:spLocks noGrp="1"/>
          </p:cNvSpPr>
          <p:nvPr>
            <p:ph idx="1"/>
          </p:nvPr>
        </p:nvSpPr>
        <p:spPr>
          <a:xfrm>
            <a:off x="644893" y="2121408"/>
            <a:ext cx="5168168" cy="3759628"/>
          </a:xfrm>
        </p:spPr>
        <p:txBody>
          <a:bodyPr>
            <a:normAutofit/>
          </a:bodyPr>
          <a:lstStyle/>
          <a:p>
            <a:pPr algn="just"/>
            <a:r>
              <a:rPr lang="es-CL" sz="1400" dirty="0"/>
              <a:t>Concepto que introduce Goethe al final de su obra </a:t>
            </a:r>
            <a:r>
              <a:rPr lang="es-CL" sz="1400" i="1" dirty="0">
                <a:effectLst/>
                <a:ea typeface="Calibri" panose="020F0502020204030204" pitchFamily="34" charset="0"/>
                <a:cs typeface="Arial" panose="020B0604020202020204" pitchFamily="34" charset="0"/>
              </a:rPr>
              <a:t>Fausto</a:t>
            </a:r>
            <a:r>
              <a:rPr lang="es-CL" sz="1400" dirty="0">
                <a:effectLst/>
                <a:ea typeface="Calibri" panose="020F0502020204030204" pitchFamily="34" charset="0"/>
                <a:cs typeface="Arial" panose="020B0604020202020204" pitchFamily="34" charset="0"/>
              </a:rPr>
              <a:t>. </a:t>
            </a:r>
          </a:p>
          <a:p>
            <a:pPr algn="just"/>
            <a:r>
              <a:rPr lang="es-CL" sz="1400" dirty="0">
                <a:ea typeface="Calibri" panose="020F0502020204030204" pitchFamily="34" charset="0"/>
                <a:cs typeface="Arial" panose="020B0604020202020204" pitchFamily="34" charset="0"/>
              </a:rPr>
              <a:t>L</a:t>
            </a:r>
            <a:r>
              <a:rPr lang="es-CL" sz="1400" dirty="0">
                <a:effectLst/>
                <a:ea typeface="Calibri" panose="020F0502020204030204" pitchFamily="34" charset="0"/>
                <a:cs typeface="Arial" panose="020B0604020202020204" pitchFamily="34" charset="0"/>
              </a:rPr>
              <a:t>a </a:t>
            </a:r>
            <a:r>
              <a:rPr lang="es-CL" sz="1400" i="1" dirty="0">
                <a:effectLst/>
                <a:ea typeface="Calibri" panose="020F0502020204030204" pitchFamily="34" charset="0"/>
                <a:cs typeface="Arial" panose="020B0604020202020204" pitchFamily="34" charset="0"/>
              </a:rPr>
              <a:t>mujer</a:t>
            </a:r>
            <a:r>
              <a:rPr lang="es-CL" sz="1400" dirty="0">
                <a:effectLst/>
                <a:ea typeface="Calibri" panose="020F0502020204030204" pitchFamily="34" charset="0"/>
                <a:cs typeface="Arial" panose="020B0604020202020204" pitchFamily="34" charset="0"/>
              </a:rPr>
              <a:t> simboliza la pura contemplación, en contraste con la acción, considerada como algo propiamente masculino. </a:t>
            </a:r>
          </a:p>
          <a:p>
            <a:pPr algn="just"/>
            <a:r>
              <a:rPr lang="es-CL" sz="1400" dirty="0">
                <a:effectLst/>
                <a:ea typeface="Calibri" panose="020F0502020204030204" pitchFamily="34" charset="0"/>
                <a:cs typeface="Arial" panose="020B0604020202020204" pitchFamily="34" charset="0"/>
              </a:rPr>
              <a:t>El principio femenino lo articula más adelante Nietzsche en un continuo de vida y muerte, basado en gran parte en sus lecturas de literatura griega antigua, ya que, en esta cultura, tanto el nacimiento como el cuidado de los muertos era gestionado por mujeres. </a:t>
            </a:r>
          </a:p>
          <a:p>
            <a:pPr algn="just"/>
            <a:r>
              <a:rPr lang="es-CL" sz="1400" dirty="0">
                <a:effectLst/>
                <a:ea typeface="Calibri" panose="020F0502020204030204" pitchFamily="34" charset="0"/>
                <a:cs typeface="Arial" panose="020B0604020202020204" pitchFamily="34" charset="0"/>
              </a:rPr>
              <a:t>Lo doméstico y el poder de redimir y servir como guardián de la moral, eran también componentes del </a:t>
            </a:r>
            <a:r>
              <a:rPr lang="es-CL" sz="1400" i="1" dirty="0">
                <a:effectLst/>
                <a:ea typeface="Calibri" panose="020F0502020204030204" pitchFamily="34" charset="0"/>
                <a:cs typeface="Arial" panose="020B0604020202020204" pitchFamily="34" charset="0"/>
              </a:rPr>
              <a:t>eterno femenino</a:t>
            </a:r>
            <a:r>
              <a:rPr lang="es-CL" sz="1400" dirty="0">
                <a:effectLst/>
                <a:ea typeface="Calibri" panose="020F0502020204030204" pitchFamily="34" charset="0"/>
                <a:cs typeface="Arial" panose="020B0604020202020204" pitchFamily="34" charset="0"/>
              </a:rPr>
              <a:t>. </a:t>
            </a:r>
          </a:p>
          <a:p>
            <a:pPr algn="just"/>
            <a:r>
              <a:rPr lang="es-CL" sz="1400" dirty="0">
                <a:effectLst/>
                <a:ea typeface="Calibri" panose="020F0502020204030204" pitchFamily="34" charset="0"/>
                <a:cs typeface="Arial" panose="020B0604020202020204" pitchFamily="34" charset="0"/>
              </a:rPr>
              <a:t>Las virtudes de la mujer pertenecían al plano privado, mientras que las de los varones al público. </a:t>
            </a:r>
            <a:endParaRPr lang="es-CL" sz="1400" dirty="0"/>
          </a:p>
        </p:txBody>
      </p:sp>
      <p:pic>
        <p:nvPicPr>
          <p:cNvPr id="5" name="Imagen 4" descr="Un hombre mayor con barba y bigote&#10;&#10;Descripción generada automáticamente con confianza media">
            <a:extLst>
              <a:ext uri="{FF2B5EF4-FFF2-40B4-BE49-F238E27FC236}">
                <a16:creationId xmlns:a16="http://schemas.microsoft.com/office/drawing/2014/main" id="{7A575C93-D2BF-2431-A20A-EAA936B2FA3F}"/>
              </a:ext>
            </a:extLst>
          </p:cNvPr>
          <p:cNvPicPr>
            <a:picLocks noChangeAspect="1"/>
          </p:cNvPicPr>
          <p:nvPr/>
        </p:nvPicPr>
        <p:blipFill>
          <a:blip r:embed="rId3"/>
          <a:srcRect l="21332" r="22329" b="-3"/>
          <a:stretch/>
        </p:blipFill>
        <p:spPr>
          <a:xfrm>
            <a:off x="6241217" y="321733"/>
            <a:ext cx="2380871" cy="2842075"/>
          </a:xfrm>
          <a:prstGeom prst="rect">
            <a:avLst/>
          </a:prstGeom>
        </p:spPr>
      </p:pic>
      <p:sp>
        <p:nvSpPr>
          <p:cNvPr id="21" name="Rectangle 20">
            <a:extLst>
              <a:ext uri="{FF2B5EF4-FFF2-40B4-BE49-F238E27FC236}">
                <a16:creationId xmlns:a16="http://schemas.microsoft.com/office/drawing/2014/main" id="{7CB9AC1C-79C9-4966-8F90-DBA8A6984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776089" y="321733"/>
            <a:ext cx="3091859" cy="1844147"/>
          </a:xfrm>
          <a:prstGeom prst="rect">
            <a:avLst/>
          </a:prstGeom>
          <a:blipFill dpi="0" rotWithShape="1">
            <a:blip r:embed="rId4">
              <a:duotone>
                <a:schemeClr val="accent5">
                  <a:shade val="45000"/>
                  <a:satMod val="135000"/>
                </a:schemeClr>
                <a:prstClr val="white"/>
              </a:duotone>
            </a:blip>
            <a:srcRect/>
            <a:tile tx="0" ty="0" sx="92000" sy="89000" flip="xy" algn="ctr"/>
          </a:blipFill>
          <a:ln w="25400" cap="flat" cmpd="sng" algn="ctr">
            <a:noFill/>
            <a:prstDash val="solid"/>
          </a:ln>
          <a:effectLst/>
        </p:spPr>
        <p:txBody>
          <a:bodyPr lIns="0" tIns="0" rIns="0" bIns="0" rtlCol="0" anchor="ctr"/>
          <a:lstStyle/>
          <a:p>
            <a:pPr algn="ctr"/>
            <a:endParaRPr lang="en-US" sz="2000" kern="0">
              <a:solidFill>
                <a:prstClr val="white"/>
              </a:solidFill>
              <a:latin typeface="Rockwell Extra Bold" pitchFamily="18" charset="0"/>
            </a:endParaRPr>
          </a:p>
        </p:txBody>
      </p:sp>
      <p:sp>
        <p:nvSpPr>
          <p:cNvPr id="23" name="Rectangle 22">
            <a:extLst>
              <a:ext uri="{FF2B5EF4-FFF2-40B4-BE49-F238E27FC236}">
                <a16:creationId xmlns:a16="http://schemas.microsoft.com/office/drawing/2014/main" id="{D7479254-2731-44C5-88FB-BF4A5EF71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250000" y="3324678"/>
            <a:ext cx="2361497" cy="2777740"/>
          </a:xfrm>
          <a:prstGeom prst="rect">
            <a:avLst/>
          </a:prstGeom>
          <a:blipFill dpi="0" rotWithShape="1">
            <a:blip r:embed="rId4">
              <a:duotone>
                <a:schemeClr val="bg2">
                  <a:shade val="45000"/>
                  <a:satMod val="135000"/>
                </a:schemeClr>
                <a:prstClr val="white"/>
              </a:duotone>
            </a:blip>
            <a:srcRect/>
            <a:tile tx="0" ty="0" sx="92000" sy="89000" flip="xy" algn="ctr"/>
          </a:blipFill>
          <a:ln w="25400" cap="flat" cmpd="sng" algn="ctr">
            <a:noFill/>
            <a:prstDash val="solid"/>
          </a:ln>
          <a:effectLst/>
        </p:spPr>
        <p:txBody>
          <a:bodyPr lIns="0" tIns="0" rIns="0" bIns="0" rtlCol="0" anchor="ctr"/>
          <a:lstStyle/>
          <a:p>
            <a:pPr algn="ctr"/>
            <a:endParaRPr lang="en-US" sz="2000" kern="0">
              <a:solidFill>
                <a:prstClr val="white"/>
              </a:solidFill>
              <a:latin typeface="Rockwell Extra Bold" pitchFamily="18" charset="0"/>
            </a:endParaRPr>
          </a:p>
        </p:txBody>
      </p:sp>
      <p:pic>
        <p:nvPicPr>
          <p:cNvPr id="7" name="Imagen 6" descr="La cara de un hombre con traje y corbata&#10;&#10;Descripción generada automáticamente">
            <a:extLst>
              <a:ext uri="{FF2B5EF4-FFF2-40B4-BE49-F238E27FC236}">
                <a16:creationId xmlns:a16="http://schemas.microsoft.com/office/drawing/2014/main" id="{FB77AF66-6083-693D-36BE-2968E186FA85}"/>
              </a:ext>
            </a:extLst>
          </p:cNvPr>
          <p:cNvPicPr>
            <a:picLocks noChangeAspect="1"/>
          </p:cNvPicPr>
          <p:nvPr/>
        </p:nvPicPr>
        <p:blipFill>
          <a:blip r:embed="rId5"/>
          <a:srcRect r="2" b="10557"/>
          <a:stretch/>
        </p:blipFill>
        <p:spPr>
          <a:xfrm>
            <a:off x="8776087" y="2330472"/>
            <a:ext cx="3106457" cy="3771945"/>
          </a:xfrm>
          <a:prstGeom prst="rect">
            <a:avLst/>
          </a:prstGeom>
        </p:spPr>
      </p:pic>
      <p:grpSp>
        <p:nvGrpSpPr>
          <p:cNvPr id="25" name="Group 24">
            <a:extLst>
              <a:ext uri="{FF2B5EF4-FFF2-40B4-BE49-F238E27FC236}">
                <a16:creationId xmlns:a16="http://schemas.microsoft.com/office/drawing/2014/main" id="{1C0F8264-A19C-4C08-B6EA-A0BC6DEFB7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6" name="Oval 25">
              <a:extLst>
                <a:ext uri="{FF2B5EF4-FFF2-40B4-BE49-F238E27FC236}">
                  <a16:creationId xmlns:a16="http://schemas.microsoft.com/office/drawing/2014/main" id="{4264CC83-0D4A-4285-9A2E-94AAA96B5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7" name="Oval 26">
              <a:extLst>
                <a:ext uri="{FF2B5EF4-FFF2-40B4-BE49-F238E27FC236}">
                  <a16:creationId xmlns:a16="http://schemas.microsoft.com/office/drawing/2014/main" id="{A816401C-2A1E-456D-957D-239422512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692121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859484"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Imagen 3" descr="Dibujo animado de un personaje de caricatura&#10;&#10;Descripción generada automáticamente con confianza media">
            <a:extLst>
              <a:ext uri="{FF2B5EF4-FFF2-40B4-BE49-F238E27FC236}">
                <a16:creationId xmlns:a16="http://schemas.microsoft.com/office/drawing/2014/main" id="{04C2CAEB-E3E5-A363-46C4-E8BB0AE31FC7}"/>
              </a:ext>
            </a:extLst>
          </p:cNvPr>
          <p:cNvPicPr>
            <a:picLocks noChangeAspect="1"/>
          </p:cNvPicPr>
          <p:nvPr/>
        </p:nvPicPr>
        <p:blipFill>
          <a:blip r:embed="rId2"/>
          <a:srcRect t="11939" r="-1" b="12963"/>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3" name="Marcador de contenido 2"/>
          <p:cNvSpPr>
            <a:spLocks noGrp="1"/>
          </p:cNvSpPr>
          <p:nvPr>
            <p:ph idx="1"/>
          </p:nvPr>
        </p:nvSpPr>
        <p:spPr>
          <a:xfrm>
            <a:off x="6550924" y="2927444"/>
            <a:ext cx="4920019" cy="3244755"/>
          </a:xfrm>
        </p:spPr>
        <p:txBody>
          <a:bodyPr>
            <a:normAutofit/>
          </a:bodyPr>
          <a:lstStyle/>
          <a:p>
            <a:pPr marL="0" indent="0">
              <a:buNone/>
            </a:pPr>
            <a:r>
              <a:rPr lang="es-ES_tradnl" dirty="0"/>
              <a:t> </a:t>
            </a:r>
            <a:r>
              <a:rPr lang="es-ES_tradnl"/>
              <a:t>Este camino de sublimación mariana y, por lo tanto, de las mujeres, que opera detrás de la simbólica de María, como tipo o modelo, entrará en crisis y revisión con la irrupción de las teologías feministas hacia mediados del siglo XX.</a:t>
            </a:r>
          </a:p>
          <a:p>
            <a:endParaRPr lang="es-ES_tradnl" dirty="0"/>
          </a:p>
        </p:txBody>
      </p:sp>
    </p:spTree>
    <p:extLst>
      <p:ext uri="{BB962C8B-B14F-4D97-AF65-F5344CB8AC3E}">
        <p14:creationId xmlns:p14="http://schemas.microsoft.com/office/powerpoint/2010/main" val="31389501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B5D8B5-C5C2-7EB3-302F-220555B0F4B1}"/>
              </a:ext>
            </a:extLst>
          </p:cNvPr>
          <p:cNvSpPr>
            <a:spLocks noGrp="1"/>
          </p:cNvSpPr>
          <p:nvPr>
            <p:ph type="title"/>
          </p:nvPr>
        </p:nvSpPr>
        <p:spPr>
          <a:xfrm>
            <a:off x="6386284" y="484632"/>
            <a:ext cx="4741963" cy="1971964"/>
          </a:xfrm>
        </p:spPr>
        <p:txBody>
          <a:bodyPr>
            <a:normAutofit/>
          </a:bodyPr>
          <a:lstStyle/>
          <a:p>
            <a:r>
              <a:rPr lang="es-CL" sz="4800"/>
              <a:t>Simone de beauvior</a:t>
            </a:r>
          </a:p>
        </p:txBody>
      </p:sp>
      <p:pic>
        <p:nvPicPr>
          <p:cNvPr id="5" name="Imagen 4" descr="Una persona con camisa roja&#10;&#10;Descripción generada automáticamente">
            <a:extLst>
              <a:ext uri="{FF2B5EF4-FFF2-40B4-BE49-F238E27FC236}">
                <a16:creationId xmlns:a16="http://schemas.microsoft.com/office/drawing/2014/main" id="{2256F9AF-5AAB-09F4-46F2-545F753FCE68}"/>
              </a:ext>
            </a:extLst>
          </p:cNvPr>
          <p:cNvPicPr>
            <a:picLocks noChangeAspect="1"/>
          </p:cNvPicPr>
          <p:nvPr/>
        </p:nvPicPr>
        <p:blipFill>
          <a:blip r:embed="rId2"/>
          <a:srcRect l="22626" r="27376"/>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12" name="Freeform: Shape 11">
            <a:extLst>
              <a:ext uri="{FF2B5EF4-FFF2-40B4-BE49-F238E27FC236}">
                <a16:creationId xmlns:a16="http://schemas.microsoft.com/office/drawing/2014/main" id="{0060CE1A-A2ED-43AC-857D-05822177F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98"/>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 name="Marcador de contenido 2"/>
          <p:cNvSpPr>
            <a:spLocks noGrp="1"/>
          </p:cNvSpPr>
          <p:nvPr>
            <p:ph idx="1"/>
          </p:nvPr>
        </p:nvSpPr>
        <p:spPr>
          <a:xfrm>
            <a:off x="6386286" y="2456596"/>
            <a:ext cx="4741962" cy="3715603"/>
          </a:xfrm>
        </p:spPr>
        <p:txBody>
          <a:bodyPr>
            <a:normAutofit/>
          </a:bodyPr>
          <a:lstStyle/>
          <a:p>
            <a:r>
              <a:rPr lang="es-ES" dirty="0"/>
              <a:t>También aborda la cuestión del eterno femenino, cuestionando su pretendido carácter natural y esencialista de la identidad de las mujeres. </a:t>
            </a:r>
          </a:p>
          <a:p>
            <a:r>
              <a:rPr lang="es-CL" dirty="0"/>
              <a:t>Considera el </a:t>
            </a:r>
            <a:r>
              <a:rPr lang="es-CL" i="1" dirty="0"/>
              <a:t>eterno femenino </a:t>
            </a:r>
            <a:r>
              <a:rPr lang="es-CL" dirty="0"/>
              <a:t>como un mito patriarcal que construye a la mujer como algo pasivo, erótico y excluido del rol de sujeto activo </a:t>
            </a:r>
            <a:endParaRPr lang="es-ES_tradnl" dirty="0"/>
          </a:p>
          <a:p>
            <a:endParaRPr lang="es-ES_tradnl" dirty="0"/>
          </a:p>
        </p:txBody>
      </p:sp>
      <p:grpSp>
        <p:nvGrpSpPr>
          <p:cNvPr id="14" name="Group 13">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6" name="Oval 15">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Tree>
    <p:extLst>
      <p:ext uri="{BB962C8B-B14F-4D97-AF65-F5344CB8AC3E}">
        <p14:creationId xmlns:p14="http://schemas.microsoft.com/office/powerpoint/2010/main" val="1413596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038A28-0E73-7F1C-696C-06051C661686}"/>
              </a:ext>
            </a:extLst>
          </p:cNvPr>
          <p:cNvSpPr>
            <a:spLocks noGrp="1"/>
          </p:cNvSpPr>
          <p:nvPr>
            <p:ph type="title"/>
          </p:nvPr>
        </p:nvSpPr>
        <p:spPr>
          <a:xfrm>
            <a:off x="4970109" y="484632"/>
            <a:ext cx="6730277" cy="1609344"/>
          </a:xfrm>
          <a:ln>
            <a:noFill/>
          </a:ln>
        </p:spPr>
        <p:txBody>
          <a:bodyPr>
            <a:normAutofit/>
          </a:bodyPr>
          <a:lstStyle/>
          <a:p>
            <a:r>
              <a:rPr lang="es-CL" sz="4800"/>
              <a:t>Mary daly</a:t>
            </a:r>
          </a:p>
        </p:txBody>
      </p:sp>
      <p:pic>
        <p:nvPicPr>
          <p:cNvPr id="5" name="Imagen 4" descr="La cara de un hombre con lentes&#10;&#10;Descripción generada automáticamente">
            <a:extLst>
              <a:ext uri="{FF2B5EF4-FFF2-40B4-BE49-F238E27FC236}">
                <a16:creationId xmlns:a16="http://schemas.microsoft.com/office/drawing/2014/main" id="{DBB45922-C033-5817-AAC6-6F688DA7841F}"/>
              </a:ext>
            </a:extLst>
          </p:cNvPr>
          <p:cNvPicPr>
            <a:picLocks noChangeAspect="1"/>
          </p:cNvPicPr>
          <p:nvPr/>
        </p:nvPicPr>
        <p:blipFill>
          <a:blip r:embed="rId4"/>
          <a:srcRect l="28151" r="31195" b="1"/>
          <a:stretch/>
        </p:blipFill>
        <p:spPr>
          <a:xfrm>
            <a:off x="3344" y="10"/>
            <a:ext cx="4646726" cy="6857990"/>
          </a:xfrm>
          <a:prstGeom prst="rect">
            <a:avLst/>
          </a:prstGeom>
        </p:spPr>
      </p:pic>
      <p:sp>
        <p:nvSpPr>
          <p:cNvPr id="3" name="Marcador de contenido 2">
            <a:extLst>
              <a:ext uri="{FF2B5EF4-FFF2-40B4-BE49-F238E27FC236}">
                <a16:creationId xmlns:a16="http://schemas.microsoft.com/office/drawing/2014/main" id="{92BF35DC-8E4B-F7D3-AF0C-96EF3A9D1B50}"/>
              </a:ext>
            </a:extLst>
          </p:cNvPr>
          <p:cNvSpPr>
            <a:spLocks noGrp="1"/>
          </p:cNvSpPr>
          <p:nvPr>
            <p:ph idx="1"/>
          </p:nvPr>
        </p:nvSpPr>
        <p:spPr>
          <a:xfrm>
            <a:off x="4970109" y="2121408"/>
            <a:ext cx="6730276" cy="4050792"/>
          </a:xfrm>
        </p:spPr>
        <p:txBody>
          <a:bodyPr>
            <a:normAutofit/>
          </a:bodyPr>
          <a:lstStyle/>
          <a:p>
            <a:pPr algn="just"/>
            <a:r>
              <a:rPr lang="es-ES" sz="1800" dirty="0"/>
              <a:t>El</a:t>
            </a:r>
            <a:r>
              <a:rPr lang="es-ES" sz="1800" b="1" dirty="0"/>
              <a:t> </a:t>
            </a:r>
            <a:r>
              <a:rPr lang="es-ES" sz="1800" dirty="0"/>
              <a:t>eterno femenino entra en contradicción con “la mujer individual que busca la autorrealización y la expansión creativa de su propia personalidad única”</a:t>
            </a:r>
          </a:p>
          <a:p>
            <a:pPr algn="just"/>
            <a:r>
              <a:rPr lang="es-ES" sz="1800" dirty="0"/>
              <a:t>Las características que Le Fort asocia a la mujer eterna se contraponen a las de una persona en desarrollo, auténtica, única, autocrítica, auto-creadora, activa y buscadora</a:t>
            </a:r>
            <a:endParaRPr lang="es-ES_tradnl" sz="1800" dirty="0"/>
          </a:p>
          <a:p>
            <a:pPr algn="just"/>
            <a:r>
              <a:rPr lang="es-ES" sz="1800" dirty="0"/>
              <a:t>Que el símbolo del eterno femenino encierra y encasilla a todas las mujeres imponiéndoles un determinado modelo de lo que se ha definido como </a:t>
            </a:r>
            <a:r>
              <a:rPr lang="es-ES_tradnl" sz="1800" dirty="0"/>
              <a:t>«</a:t>
            </a:r>
            <a:r>
              <a:rPr lang="es-ES" sz="1800" dirty="0"/>
              <a:t>femenino</a:t>
            </a:r>
            <a:r>
              <a:rPr lang="es-ES_tradnl" sz="1800" dirty="0"/>
              <a:t>»</a:t>
            </a:r>
          </a:p>
          <a:p>
            <a:endParaRPr lang="es-CL" sz="1800" dirty="0"/>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610878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63AD45-F025-4500-8898-7DE237E4C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261257" y="415636"/>
            <a:ext cx="6864867" cy="5756564"/>
          </a:xfrm>
        </p:spPr>
        <p:txBody>
          <a:bodyPr>
            <a:normAutofit/>
          </a:bodyPr>
          <a:lstStyle/>
          <a:p>
            <a:pPr algn="just"/>
            <a:r>
              <a:rPr lang="es-ES" dirty="0"/>
              <a:t>No existe un mundo metafísico propio de las mujeres. Porque las “mujeres, de hecho, no son símbolos; son personas, y cada persona es un sujeto único.</a:t>
            </a:r>
          </a:p>
          <a:p>
            <a:pPr algn="just"/>
            <a:endParaRPr lang="es-ES" dirty="0"/>
          </a:p>
          <a:p>
            <a:pPr algn="just"/>
            <a:r>
              <a:rPr lang="es-ES" dirty="0"/>
              <a:t>Considerar a una persona -sujeto- como símbolo es tratarla como un objeto</a:t>
            </a:r>
          </a:p>
          <a:p>
            <a:pPr marL="0" indent="0" algn="just">
              <a:buNone/>
            </a:pPr>
            <a:endParaRPr lang="es-ES_tradnl" dirty="0"/>
          </a:p>
          <a:p>
            <a:pPr marL="0" indent="0" algn="ctr">
              <a:buNone/>
            </a:pPr>
            <a:r>
              <a:rPr lang="es-ES" i="1" dirty="0"/>
              <a:t>“Se ha dado una extraña polaridad entre la glorificación de la mujer como símbolo, identificado a menudo con la persona de la Virgen Madre y la depreciación de la misma como ser concreto. La glorificación simbólica ha servido muchas veces para disimular el desprecio y la opresión de la parte femenina de la raza humana” </a:t>
            </a:r>
          </a:p>
          <a:p>
            <a:pPr marL="0" indent="0" algn="ctr">
              <a:buNone/>
            </a:pPr>
            <a:r>
              <a:rPr lang="es-ES" sz="1400" dirty="0"/>
              <a:t>(</a:t>
            </a:r>
            <a:r>
              <a:rPr lang="es-ES" sz="1400" dirty="0" err="1"/>
              <a:t>The</a:t>
            </a:r>
            <a:r>
              <a:rPr lang="es-ES" sz="1400" dirty="0"/>
              <a:t> </a:t>
            </a:r>
            <a:r>
              <a:rPr lang="es-ES" sz="1400" dirty="0" err="1"/>
              <a:t>Church</a:t>
            </a:r>
            <a:r>
              <a:rPr lang="es-ES" sz="1400" dirty="0"/>
              <a:t> and </a:t>
            </a:r>
            <a:r>
              <a:rPr lang="es-ES" sz="1400" dirty="0" err="1"/>
              <a:t>the</a:t>
            </a:r>
            <a:r>
              <a:rPr lang="es-ES" sz="1400" dirty="0"/>
              <a:t> </a:t>
            </a:r>
            <a:r>
              <a:rPr lang="es-ES" sz="1400" dirty="0" err="1"/>
              <a:t>secod</a:t>
            </a:r>
            <a:r>
              <a:rPr lang="es-ES" sz="1400" dirty="0"/>
              <a:t> sex, cap. 4)</a:t>
            </a:r>
          </a:p>
          <a:p>
            <a:endParaRPr lang="es-ES_tradnl" sz="1800" dirty="0"/>
          </a:p>
          <a:p>
            <a:endParaRPr lang="es-ES_tradnl" sz="1800" dirty="0"/>
          </a:p>
        </p:txBody>
      </p:sp>
      <p:pic>
        <p:nvPicPr>
          <p:cNvPr id="5" name="Imagen 4" descr="Diagrama&#10;&#10;Descripción generada automáticamente con confianza baja">
            <a:extLst>
              <a:ext uri="{FF2B5EF4-FFF2-40B4-BE49-F238E27FC236}">
                <a16:creationId xmlns:a16="http://schemas.microsoft.com/office/drawing/2014/main" id="{EA91BC02-535A-B250-B4DD-E158EB3E9543}"/>
              </a:ext>
            </a:extLst>
          </p:cNvPr>
          <p:cNvPicPr>
            <a:picLocks noChangeAspect="1"/>
          </p:cNvPicPr>
          <p:nvPr/>
        </p:nvPicPr>
        <p:blipFill>
          <a:blip r:embed="rId3"/>
          <a:srcRect l="1418"/>
          <a:stretch/>
        </p:blipFill>
        <p:spPr>
          <a:xfrm>
            <a:off x="8203460" y="640080"/>
            <a:ext cx="3369177" cy="5280471"/>
          </a:xfrm>
          <a:prstGeom prst="rect">
            <a:avLst/>
          </a:prstGeom>
        </p:spPr>
      </p:pic>
      <p:grpSp>
        <p:nvGrpSpPr>
          <p:cNvPr id="12" name="Group 11">
            <a:extLst>
              <a:ext uri="{FF2B5EF4-FFF2-40B4-BE49-F238E27FC236}">
                <a16:creationId xmlns:a16="http://schemas.microsoft.com/office/drawing/2014/main" id="{639A5BF8-72C2-43E2-A19E-D54875260B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892693D9-6EE8-42C4-B9CB-C347A34A5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6EB50024-24B3-46AB-9E69-716EE1883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748719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Dibujo de un grupo de personas posando para una foto&#10;&#10;Descripción generada automáticamente">
            <a:extLst>
              <a:ext uri="{FF2B5EF4-FFF2-40B4-BE49-F238E27FC236}">
                <a16:creationId xmlns:a16="http://schemas.microsoft.com/office/drawing/2014/main" id="{E924F3F5-95D7-0D18-B504-52173A5A6E14}"/>
              </a:ext>
            </a:extLst>
          </p:cNvPr>
          <p:cNvPicPr>
            <a:picLocks noChangeAspect="1"/>
          </p:cNvPicPr>
          <p:nvPr/>
        </p:nvPicPr>
        <p:blipFill>
          <a:blip r:embed="rId4"/>
          <a:stretch>
            <a:fillRect/>
          </a:stretch>
        </p:blipFill>
        <p:spPr>
          <a:xfrm>
            <a:off x="0" y="1938391"/>
            <a:ext cx="6178685" cy="2981215"/>
          </a:xfrm>
          <a:prstGeom prst="rect">
            <a:avLst/>
          </a:prstGeom>
        </p:spPr>
      </p:pic>
      <p:sp>
        <p:nvSpPr>
          <p:cNvPr id="3" name="Marcador de contenido 2"/>
          <p:cNvSpPr>
            <a:spLocks noGrp="1"/>
          </p:cNvSpPr>
          <p:nvPr>
            <p:ph idx="1"/>
          </p:nvPr>
        </p:nvSpPr>
        <p:spPr>
          <a:xfrm>
            <a:off x="6479457" y="200311"/>
            <a:ext cx="5299585" cy="5858252"/>
          </a:xfrm>
        </p:spPr>
        <p:txBody>
          <a:bodyPr>
            <a:normAutofit/>
          </a:bodyPr>
          <a:lstStyle/>
          <a:p>
            <a:pPr algn="just"/>
            <a:r>
              <a:rPr lang="es-ES" sz="1800" dirty="0"/>
              <a:t>La cuestión del símbolo permite conectar la reflexión sobre María con la cuestión feminista y entender mejor el interés de las teólogas por abordar la cuestión mariológica</a:t>
            </a:r>
          </a:p>
          <a:p>
            <a:pPr marL="0" indent="0" algn="just">
              <a:buNone/>
            </a:pPr>
            <a:endParaRPr lang="es-ES" sz="1800" dirty="0"/>
          </a:p>
          <a:p>
            <a:pPr algn="just"/>
            <a:r>
              <a:rPr lang="es-ES" sz="1800" dirty="0"/>
              <a:t>Porque el modelo mariano resulta ambiguo: </a:t>
            </a:r>
          </a:p>
          <a:p>
            <a:pPr lvl="1" algn="just"/>
            <a:r>
              <a:rPr lang="es-ES" dirty="0"/>
              <a:t>se glorifica a María como símbolo de mujer</a:t>
            </a:r>
          </a:p>
          <a:p>
            <a:pPr lvl="1" algn="just"/>
            <a:r>
              <a:rPr lang="es-ES" dirty="0"/>
              <a:t>esto permite sostener una visión subordinada de las mujeres </a:t>
            </a:r>
            <a:r>
              <a:rPr lang="es-ES"/>
              <a:t>concretas.</a:t>
            </a:r>
          </a:p>
          <a:p>
            <a:pPr marL="274320" lvl="1" indent="0" algn="just">
              <a:buNone/>
            </a:pPr>
            <a:endParaRPr lang="es-ES_tradnl" dirty="0"/>
          </a:p>
          <a:p>
            <a:pPr algn="just"/>
            <a:r>
              <a:rPr lang="es-ES" sz="1800" dirty="0"/>
              <a:t>El feminismo pone en movimiento a la mariología provocándola para que revise, tanto la concepción de la mujer, como la imagen tradicional de María</a:t>
            </a:r>
            <a:endParaRPr lang="es-ES_tradnl" sz="1800" dirty="0"/>
          </a:p>
          <a:p>
            <a:endParaRPr lang="es-ES_tradnl" sz="1800" dirty="0"/>
          </a:p>
        </p:txBody>
      </p:sp>
      <p:grpSp>
        <p:nvGrpSpPr>
          <p:cNvPr id="17" name="Group 16">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8" name="Oval 17">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6528199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otalTime>3422</TotalTime>
  <Words>855</Words>
  <Application>Microsoft Macintosh PowerPoint</Application>
  <PresentationFormat>Panorámica</PresentationFormat>
  <Paragraphs>56</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Calibri</vt:lpstr>
      <vt:lpstr>Rockwell</vt:lpstr>
      <vt:lpstr>Rockwell Condensed</vt:lpstr>
      <vt:lpstr>Rockwell Extra Bold</vt:lpstr>
      <vt:lpstr>Wingdings</vt:lpstr>
      <vt:lpstr>Tipo de madera</vt:lpstr>
      <vt:lpstr>Feminismo  y  MariAlogía </vt:lpstr>
      <vt:lpstr>Presentación de PowerPoint</vt:lpstr>
      <vt:lpstr>Interés de las teologías feministas por abordar la cuestión mariológica… </vt:lpstr>
      <vt:lpstr>La interpelación del feminismo a la mariología </vt:lpstr>
      <vt:lpstr>Presentación de PowerPoint</vt:lpstr>
      <vt:lpstr>El eterno femenino…</vt:lpstr>
      <vt:lpstr>Presentación de PowerPoint</vt:lpstr>
      <vt:lpstr>Simone de beauvior</vt:lpstr>
      <vt:lpstr>Mary daly</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Blanca Besa</dc:creator>
  <cp:lastModifiedBy>blancabesa@gmail.com</cp:lastModifiedBy>
  <cp:revision>34</cp:revision>
  <dcterms:created xsi:type="dcterms:W3CDTF">2021-03-21T16:01:12Z</dcterms:created>
  <dcterms:modified xsi:type="dcterms:W3CDTF">2024-10-02T12:17:45Z</dcterms:modified>
</cp:coreProperties>
</file>