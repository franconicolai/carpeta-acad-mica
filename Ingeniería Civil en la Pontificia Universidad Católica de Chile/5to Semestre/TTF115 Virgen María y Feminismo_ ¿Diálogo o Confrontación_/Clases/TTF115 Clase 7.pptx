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10"/>
  </p:normalViewPr>
  <p:slideViewPr>
    <p:cSldViewPr snapToGrid="0">
      <p:cViewPr varScale="1">
        <p:scale>
          <a:sx n="116" d="100"/>
          <a:sy n="116" d="100"/>
        </p:scale>
        <p:origin x="416"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anca Besa Bandeira" userId="866f11b1-abf2-492f-acd7-465cb79a174c" providerId="ADAL" clId="{BDF101A1-C785-AF43-B953-194298EEF40B}"/>
    <pc:docChg chg="undo custSel modSld addSection delSection">
      <pc:chgData name="Blanca Besa Bandeira" userId="866f11b1-abf2-492f-acd7-465cb79a174c" providerId="ADAL" clId="{BDF101A1-C785-AF43-B953-194298EEF40B}" dt="2024-10-25T11:50:45.773" v="503" actId="113"/>
      <pc:docMkLst>
        <pc:docMk/>
      </pc:docMkLst>
      <pc:sldChg chg="modSp mod">
        <pc:chgData name="Blanca Besa Bandeira" userId="866f11b1-abf2-492f-acd7-465cb79a174c" providerId="ADAL" clId="{BDF101A1-C785-AF43-B953-194298EEF40B}" dt="2024-10-25T11:25:17.994" v="438" actId="20577"/>
        <pc:sldMkLst>
          <pc:docMk/>
          <pc:sldMk cId="2463580316" sldId="257"/>
        </pc:sldMkLst>
        <pc:spChg chg="mod">
          <ac:chgData name="Blanca Besa Bandeira" userId="866f11b1-abf2-492f-acd7-465cb79a174c" providerId="ADAL" clId="{BDF101A1-C785-AF43-B953-194298EEF40B}" dt="2024-10-25T11:25:13.634" v="437" actId="1076"/>
          <ac:spMkLst>
            <pc:docMk/>
            <pc:sldMk cId="2463580316" sldId="257"/>
            <ac:spMk id="2" creationId="{8A09F761-2330-D817-1BFF-2F19F7DBADC5}"/>
          </ac:spMkLst>
        </pc:spChg>
        <pc:spChg chg="mod">
          <ac:chgData name="Blanca Besa Bandeira" userId="866f11b1-abf2-492f-acd7-465cb79a174c" providerId="ADAL" clId="{BDF101A1-C785-AF43-B953-194298EEF40B}" dt="2024-10-25T11:25:17.994" v="438" actId="20577"/>
          <ac:spMkLst>
            <pc:docMk/>
            <pc:sldMk cId="2463580316" sldId="257"/>
            <ac:spMk id="3" creationId="{15CEC734-006F-B4AC-D255-BC6E15274858}"/>
          </ac:spMkLst>
        </pc:spChg>
      </pc:sldChg>
      <pc:sldChg chg="addSp modSp mod modClrScheme chgLayout">
        <pc:chgData name="Blanca Besa Bandeira" userId="866f11b1-abf2-492f-acd7-465cb79a174c" providerId="ADAL" clId="{BDF101A1-C785-AF43-B953-194298EEF40B}" dt="2024-10-25T11:50:45.773" v="503" actId="113"/>
        <pc:sldMkLst>
          <pc:docMk/>
          <pc:sldMk cId="3070989131" sldId="258"/>
        </pc:sldMkLst>
        <pc:spChg chg="mod ord">
          <ac:chgData name="Blanca Besa Bandeira" userId="866f11b1-abf2-492f-acd7-465cb79a174c" providerId="ADAL" clId="{BDF101A1-C785-AF43-B953-194298EEF40B}" dt="2024-10-25T11:50:45.773" v="503" actId="113"/>
          <ac:spMkLst>
            <pc:docMk/>
            <pc:sldMk cId="3070989131" sldId="258"/>
            <ac:spMk id="3" creationId="{E69C3358-75F9-B1F6-B00C-2E8ECB29DA8A}"/>
          </ac:spMkLst>
        </pc:spChg>
        <pc:spChg chg="add mod ord">
          <ac:chgData name="Blanca Besa Bandeira" userId="866f11b1-abf2-492f-acd7-465cb79a174c" providerId="ADAL" clId="{BDF101A1-C785-AF43-B953-194298EEF40B}" dt="2024-10-25T11:05:40.153" v="46" actId="20577"/>
          <ac:spMkLst>
            <pc:docMk/>
            <pc:sldMk cId="3070989131" sldId="258"/>
            <ac:spMk id="4" creationId="{391FB915-E5AA-63B9-7D11-033D44CE1A16}"/>
          </ac:spMkLst>
        </pc:spChg>
      </pc:sldChg>
      <pc:sldChg chg="delSp modSp mod">
        <pc:chgData name="Blanca Besa Bandeira" userId="866f11b1-abf2-492f-acd7-465cb79a174c" providerId="ADAL" clId="{BDF101A1-C785-AF43-B953-194298EEF40B}" dt="2024-10-25T11:27:25.268" v="456" actId="27636"/>
        <pc:sldMkLst>
          <pc:docMk/>
          <pc:sldMk cId="3824115304" sldId="259"/>
        </pc:sldMkLst>
        <pc:spChg chg="del">
          <ac:chgData name="Blanca Besa Bandeira" userId="866f11b1-abf2-492f-acd7-465cb79a174c" providerId="ADAL" clId="{BDF101A1-C785-AF43-B953-194298EEF40B}" dt="2024-10-25T11:07:21.741" v="62" actId="478"/>
          <ac:spMkLst>
            <pc:docMk/>
            <pc:sldMk cId="3824115304" sldId="259"/>
            <ac:spMk id="2" creationId="{2C77140C-408D-3DB4-9139-DB65DA3939F5}"/>
          </ac:spMkLst>
        </pc:spChg>
        <pc:spChg chg="mod">
          <ac:chgData name="Blanca Besa Bandeira" userId="866f11b1-abf2-492f-acd7-465cb79a174c" providerId="ADAL" clId="{BDF101A1-C785-AF43-B953-194298EEF40B}" dt="2024-10-25T11:27:25.268" v="456" actId="27636"/>
          <ac:spMkLst>
            <pc:docMk/>
            <pc:sldMk cId="3824115304" sldId="259"/>
            <ac:spMk id="3" creationId="{BD149D98-B15E-BCD6-5725-D1A792B89770}"/>
          </ac:spMkLst>
        </pc:spChg>
      </pc:sldChg>
      <pc:sldChg chg="modSp mod">
        <pc:chgData name="Blanca Besa Bandeira" userId="866f11b1-abf2-492f-acd7-465cb79a174c" providerId="ADAL" clId="{BDF101A1-C785-AF43-B953-194298EEF40B}" dt="2024-10-25T11:28:33.176" v="463" actId="14100"/>
        <pc:sldMkLst>
          <pc:docMk/>
          <pc:sldMk cId="3104680400" sldId="260"/>
        </pc:sldMkLst>
        <pc:spChg chg="mod">
          <ac:chgData name="Blanca Besa Bandeira" userId="866f11b1-abf2-492f-acd7-465cb79a174c" providerId="ADAL" clId="{BDF101A1-C785-AF43-B953-194298EEF40B}" dt="2024-10-25T11:28:33.176" v="463" actId="14100"/>
          <ac:spMkLst>
            <pc:docMk/>
            <pc:sldMk cId="3104680400" sldId="260"/>
            <ac:spMk id="3" creationId="{E86A221C-E6E1-519E-E1E0-8576C3C5C506}"/>
          </ac:spMkLst>
        </pc:spChg>
      </pc:sldChg>
      <pc:sldChg chg="modSp mod">
        <pc:chgData name="Blanca Besa Bandeira" userId="866f11b1-abf2-492f-acd7-465cb79a174c" providerId="ADAL" clId="{BDF101A1-C785-AF43-B953-194298EEF40B}" dt="2024-10-25T11:12:02.796" v="182" actId="20577"/>
        <pc:sldMkLst>
          <pc:docMk/>
          <pc:sldMk cId="2102577865" sldId="261"/>
        </pc:sldMkLst>
        <pc:spChg chg="mod">
          <ac:chgData name="Blanca Besa Bandeira" userId="866f11b1-abf2-492f-acd7-465cb79a174c" providerId="ADAL" clId="{BDF101A1-C785-AF43-B953-194298EEF40B}" dt="2024-10-25T11:12:02.796" v="182" actId="20577"/>
          <ac:spMkLst>
            <pc:docMk/>
            <pc:sldMk cId="2102577865" sldId="261"/>
            <ac:spMk id="3" creationId="{AAC33390-DF38-D182-B05C-5B8C066EE2D2}"/>
          </ac:spMkLst>
        </pc:spChg>
      </pc:sldChg>
      <pc:sldChg chg="modSp mod">
        <pc:chgData name="Blanca Besa Bandeira" userId="866f11b1-abf2-492f-acd7-465cb79a174c" providerId="ADAL" clId="{BDF101A1-C785-AF43-B953-194298EEF40B}" dt="2024-10-25T11:30:10.020" v="480" actId="123"/>
        <pc:sldMkLst>
          <pc:docMk/>
          <pc:sldMk cId="2438480667" sldId="262"/>
        </pc:sldMkLst>
        <pc:spChg chg="mod">
          <ac:chgData name="Blanca Besa Bandeira" userId="866f11b1-abf2-492f-acd7-465cb79a174c" providerId="ADAL" clId="{BDF101A1-C785-AF43-B953-194298EEF40B}" dt="2024-10-25T11:15:28.130" v="257" actId="1076"/>
          <ac:spMkLst>
            <pc:docMk/>
            <pc:sldMk cId="2438480667" sldId="262"/>
            <ac:spMk id="2" creationId="{E3C8361C-78DB-A40F-CD2D-2FFDF8F06227}"/>
          </ac:spMkLst>
        </pc:spChg>
        <pc:spChg chg="mod">
          <ac:chgData name="Blanca Besa Bandeira" userId="866f11b1-abf2-492f-acd7-465cb79a174c" providerId="ADAL" clId="{BDF101A1-C785-AF43-B953-194298EEF40B}" dt="2024-10-25T11:30:10.020" v="480" actId="123"/>
          <ac:spMkLst>
            <pc:docMk/>
            <pc:sldMk cId="2438480667" sldId="262"/>
            <ac:spMk id="3" creationId="{04D343E1-F79F-8445-E73A-DC03F402576E}"/>
          </ac:spMkLst>
        </pc:spChg>
      </pc:sldChg>
      <pc:sldChg chg="delSp modSp mod">
        <pc:chgData name="Blanca Besa Bandeira" userId="866f11b1-abf2-492f-acd7-465cb79a174c" providerId="ADAL" clId="{BDF101A1-C785-AF43-B953-194298EEF40B}" dt="2024-10-25T11:30:25.251" v="482" actId="15"/>
        <pc:sldMkLst>
          <pc:docMk/>
          <pc:sldMk cId="2748203753" sldId="263"/>
        </pc:sldMkLst>
        <pc:spChg chg="del">
          <ac:chgData name="Blanca Besa Bandeira" userId="866f11b1-abf2-492f-acd7-465cb79a174c" providerId="ADAL" clId="{BDF101A1-C785-AF43-B953-194298EEF40B}" dt="2024-10-25T11:16:02.819" v="262" actId="478"/>
          <ac:spMkLst>
            <pc:docMk/>
            <pc:sldMk cId="2748203753" sldId="263"/>
            <ac:spMk id="2" creationId="{8C9A470E-EF33-2237-424B-2593143D6C4A}"/>
          </ac:spMkLst>
        </pc:spChg>
        <pc:spChg chg="mod">
          <ac:chgData name="Blanca Besa Bandeira" userId="866f11b1-abf2-492f-acd7-465cb79a174c" providerId="ADAL" clId="{BDF101A1-C785-AF43-B953-194298EEF40B}" dt="2024-10-25T11:30:25.251" v="482" actId="15"/>
          <ac:spMkLst>
            <pc:docMk/>
            <pc:sldMk cId="2748203753" sldId="263"/>
            <ac:spMk id="3" creationId="{75EF7D41-3BD3-6C0F-A91E-66C7879623A6}"/>
          </ac:spMkLst>
        </pc:spChg>
      </pc:sldChg>
      <pc:sldChg chg="modSp mod">
        <pc:chgData name="Blanca Besa Bandeira" userId="866f11b1-abf2-492f-acd7-465cb79a174c" providerId="ADAL" clId="{BDF101A1-C785-AF43-B953-194298EEF40B}" dt="2024-10-25T11:31:46.450" v="491" actId="27636"/>
        <pc:sldMkLst>
          <pc:docMk/>
          <pc:sldMk cId="221321500" sldId="264"/>
        </pc:sldMkLst>
        <pc:spChg chg="mod">
          <ac:chgData name="Blanca Besa Bandeira" userId="866f11b1-abf2-492f-acd7-465cb79a174c" providerId="ADAL" clId="{BDF101A1-C785-AF43-B953-194298EEF40B}" dt="2024-10-25T11:30:57.416" v="484" actId="1076"/>
          <ac:spMkLst>
            <pc:docMk/>
            <pc:sldMk cId="221321500" sldId="264"/>
            <ac:spMk id="2" creationId="{465D04CB-EC43-4928-273B-452EA3A08C9A}"/>
          </ac:spMkLst>
        </pc:spChg>
        <pc:spChg chg="mod">
          <ac:chgData name="Blanca Besa Bandeira" userId="866f11b1-abf2-492f-acd7-465cb79a174c" providerId="ADAL" clId="{BDF101A1-C785-AF43-B953-194298EEF40B}" dt="2024-10-25T11:31:46.450" v="491" actId="27636"/>
          <ac:spMkLst>
            <pc:docMk/>
            <pc:sldMk cId="221321500" sldId="264"/>
            <ac:spMk id="3" creationId="{F391BA74-2745-CEAC-A1DE-F87C76DA0EA8}"/>
          </ac:spMkLst>
        </pc:spChg>
      </pc:sldChg>
      <pc:sldChg chg="modSp mod">
        <pc:chgData name="Blanca Besa Bandeira" userId="866f11b1-abf2-492f-acd7-465cb79a174c" providerId="ADAL" clId="{BDF101A1-C785-AF43-B953-194298EEF40B}" dt="2024-10-25T11:32:34.835" v="501" actId="20577"/>
        <pc:sldMkLst>
          <pc:docMk/>
          <pc:sldMk cId="2922256554" sldId="265"/>
        </pc:sldMkLst>
        <pc:spChg chg="mod">
          <ac:chgData name="Blanca Besa Bandeira" userId="866f11b1-abf2-492f-acd7-465cb79a174c" providerId="ADAL" clId="{BDF101A1-C785-AF43-B953-194298EEF40B}" dt="2024-10-25T11:22:42.856" v="401" actId="1076"/>
          <ac:spMkLst>
            <pc:docMk/>
            <pc:sldMk cId="2922256554" sldId="265"/>
            <ac:spMk id="2" creationId="{F1B4824A-1DAB-D7CA-46D8-C0BB8D368068}"/>
          </ac:spMkLst>
        </pc:spChg>
        <pc:spChg chg="mod">
          <ac:chgData name="Blanca Besa Bandeira" userId="866f11b1-abf2-492f-acd7-465cb79a174c" providerId="ADAL" clId="{BDF101A1-C785-AF43-B953-194298EEF40B}" dt="2024-10-25T11:32:34.835" v="501" actId="20577"/>
          <ac:spMkLst>
            <pc:docMk/>
            <pc:sldMk cId="2922256554" sldId="265"/>
            <ac:spMk id="3" creationId="{EF867B8F-623E-8A6B-01F6-E35A18F80A41}"/>
          </ac:spMkLst>
        </pc:spChg>
      </pc:sldChg>
      <pc:sldChg chg="modSp mod">
        <pc:chgData name="Blanca Besa Bandeira" userId="866f11b1-abf2-492f-acd7-465cb79a174c" providerId="ADAL" clId="{BDF101A1-C785-AF43-B953-194298EEF40B}" dt="2024-10-25T11:24:48.818" v="435" actId="20577"/>
        <pc:sldMkLst>
          <pc:docMk/>
          <pc:sldMk cId="162633217" sldId="266"/>
        </pc:sldMkLst>
        <pc:spChg chg="mod">
          <ac:chgData name="Blanca Besa Bandeira" userId="866f11b1-abf2-492f-acd7-465cb79a174c" providerId="ADAL" clId="{BDF101A1-C785-AF43-B953-194298EEF40B}" dt="2024-10-25T11:24:48.818" v="435" actId="20577"/>
          <ac:spMkLst>
            <pc:docMk/>
            <pc:sldMk cId="162633217" sldId="266"/>
            <ac:spMk id="3" creationId="{8E4A9DE8-1C5E-3202-00E6-415D30178A53}"/>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10/24/24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10/24/24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10/24/24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10/24/24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10/24/24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‹Nº›</a:t>
            </a:fld>
            <a:endParaRPr lang="en-US"/>
          </a:p>
        </p:txBody>
      </p:sp>
      <p:sp>
        <p:nvSpPr>
          <p:cNvPr id="10" name="Title 9"/>
          <p:cNvSpPr>
            <a:spLocks noGrp="1"/>
          </p:cNvSpPr>
          <p:nvPr>
            <p:ph type="title"/>
          </p:nvPr>
        </p:nvSpPr>
        <p:spPr/>
        <p:txBody>
          <a:bodyPr/>
          <a:lstStyle/>
          <a:p>
            <a:r>
              <a:rPr lang="es-MX"/>
              <a:t>Haz clic para modificar el estilo de título del patrón</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10/24/24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‹Nº›</a:t>
            </a:fld>
            <a:endParaRPr lang="en-US"/>
          </a:p>
        </p:txBody>
      </p:sp>
      <p:sp>
        <p:nvSpPr>
          <p:cNvPr id="6" name="Title 5"/>
          <p:cNvSpPr>
            <a:spLocks noGrp="1"/>
          </p:cNvSpPr>
          <p:nvPr>
            <p:ph type="title"/>
          </p:nvPr>
        </p:nvSpPr>
        <p:spPr/>
        <p:txBody>
          <a:bodyPr/>
          <a:lstStyle/>
          <a:p>
            <a:r>
              <a:rPr lang="es-MX"/>
              <a:t>Haz clic para modificar el estilo de título del patrón</a:t>
            </a:r>
            <a:endParaRPr lang="en-US"/>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10/24/24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MX"/>
              <a:t>Haz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DA16AA21-1863-4931-97CB-99D0A168701B}" type="datetimeFigureOut">
              <a:rPr lang="en-US" smtClean="0"/>
              <a:t>10/24/24</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MX"/>
              <a:t>Haz clic para modificar el estilo de título del patrón</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3772C379-9A7C-4C87-A116-CBE9F58B04C5}" type="datetimeFigureOut">
              <a:rPr lang="en-US" smtClean="0"/>
              <a:t>10/24/24</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87157CC2-0FC8-4686-B024-99790E0F5162}" type="datetimeFigureOut">
              <a:rPr lang="en-US" smtClean="0"/>
              <a:t>10/24/24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10/24/24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10/24/24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5D3FDF-83C7-C3D9-813E-6F70297FB359}"/>
              </a:ext>
            </a:extLst>
          </p:cNvPr>
          <p:cNvSpPr>
            <a:spLocks noGrp="1"/>
          </p:cNvSpPr>
          <p:nvPr>
            <p:ph type="ctrTitle"/>
          </p:nvPr>
        </p:nvSpPr>
        <p:spPr/>
        <p:txBody>
          <a:bodyPr/>
          <a:lstStyle/>
          <a:p>
            <a:r>
              <a:rPr lang="es-CL" sz="6000" dirty="0"/>
              <a:t>María y la religiosidad popular </a:t>
            </a:r>
          </a:p>
        </p:txBody>
      </p:sp>
      <p:sp>
        <p:nvSpPr>
          <p:cNvPr id="3" name="Subtítulo 2">
            <a:extLst>
              <a:ext uri="{FF2B5EF4-FFF2-40B4-BE49-F238E27FC236}">
                <a16:creationId xmlns:a16="http://schemas.microsoft.com/office/drawing/2014/main" id="{15711AE5-9EB1-1AE4-446A-A44AC6669ECA}"/>
              </a:ext>
            </a:extLst>
          </p:cNvPr>
          <p:cNvSpPr>
            <a:spLocks noGrp="1"/>
          </p:cNvSpPr>
          <p:nvPr>
            <p:ph type="subTitle" idx="1"/>
          </p:nvPr>
        </p:nvSpPr>
        <p:spPr/>
        <p:txBody>
          <a:bodyPr/>
          <a:lstStyle/>
          <a:p>
            <a:endParaRPr lang="es-CL"/>
          </a:p>
        </p:txBody>
      </p:sp>
    </p:spTree>
    <p:extLst>
      <p:ext uri="{BB962C8B-B14F-4D97-AF65-F5344CB8AC3E}">
        <p14:creationId xmlns:p14="http://schemas.microsoft.com/office/powerpoint/2010/main" val="2330456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09F761-2330-D817-1BFF-2F19F7DBADC5}"/>
              </a:ext>
            </a:extLst>
          </p:cNvPr>
          <p:cNvSpPr>
            <a:spLocks noGrp="1"/>
          </p:cNvSpPr>
          <p:nvPr>
            <p:ph type="title"/>
          </p:nvPr>
        </p:nvSpPr>
        <p:spPr>
          <a:xfrm>
            <a:off x="717308" y="484632"/>
            <a:ext cx="10916504" cy="1636776"/>
          </a:xfrm>
        </p:spPr>
        <p:txBody>
          <a:bodyPr>
            <a:normAutofit fontScale="90000"/>
          </a:bodyPr>
          <a:lstStyle/>
          <a:p>
            <a:pPr algn="ctr"/>
            <a:r>
              <a:rPr lang="es-CL" dirty="0"/>
              <a:t>La complejidad de un concepto escurridizo </a:t>
            </a:r>
            <a:r>
              <a:rPr lang="es-CL" sz="2200" dirty="0"/>
              <a:t>(Hugo Suárez)</a:t>
            </a:r>
            <a:br>
              <a:rPr lang="es-CL" dirty="0"/>
            </a:br>
            <a:endParaRPr lang="es-CL" dirty="0"/>
          </a:p>
        </p:txBody>
      </p:sp>
      <p:sp>
        <p:nvSpPr>
          <p:cNvPr id="3" name="Marcador de contenido 2">
            <a:extLst>
              <a:ext uri="{FF2B5EF4-FFF2-40B4-BE49-F238E27FC236}">
                <a16:creationId xmlns:a16="http://schemas.microsoft.com/office/drawing/2014/main" id="{15CEC734-006F-B4AC-D255-BC6E15274858}"/>
              </a:ext>
            </a:extLst>
          </p:cNvPr>
          <p:cNvSpPr>
            <a:spLocks noGrp="1"/>
          </p:cNvSpPr>
          <p:nvPr>
            <p:ph idx="1"/>
          </p:nvPr>
        </p:nvSpPr>
        <p:spPr/>
        <p:txBody>
          <a:bodyPr/>
          <a:lstStyle/>
          <a:p>
            <a:pPr algn="just"/>
            <a:r>
              <a:rPr lang="es-MX" sz="1800" dirty="0">
                <a:effectLst/>
                <a:ea typeface="Aptos" panose="020B0004020202020204" pitchFamily="34" charset="0"/>
                <a:cs typeface="Times New Roman" panose="02020603050405020304" pitchFamily="18" charset="0"/>
              </a:rPr>
              <a:t>El concepto de religiosidad popular ha ocupado a distintos autores hace varias décadas. </a:t>
            </a:r>
          </a:p>
          <a:p>
            <a:pPr algn="just"/>
            <a:r>
              <a:rPr lang="es-MX" sz="1800" dirty="0">
                <a:effectLst/>
                <a:ea typeface="Aptos" panose="020B0004020202020204" pitchFamily="34" charset="0"/>
                <a:cs typeface="Times New Roman" panose="02020603050405020304" pitchFamily="18" charset="0"/>
              </a:rPr>
              <a:t>Uno de los primeros esfuerzos fue aquel que se realizó en la Pontificia Universidad Católica de Chile en 1973 que dio como resultado el documento Religiosidad y fe en América Latina</a:t>
            </a:r>
            <a:r>
              <a:rPr lang="es-CL" dirty="0">
                <a:effectLst/>
              </a:rPr>
              <a:t> </a:t>
            </a:r>
          </a:p>
          <a:p>
            <a:pPr algn="just"/>
            <a:r>
              <a:rPr lang="es-MX" sz="1800" dirty="0">
                <a:ea typeface="Aptos" panose="020B0004020202020204" pitchFamily="34" charset="0"/>
                <a:cs typeface="Times New Roman" panose="02020603050405020304" pitchFamily="18" charset="0"/>
              </a:rPr>
              <a:t>U</a:t>
            </a:r>
            <a:r>
              <a:rPr lang="es-MX" sz="1800" dirty="0">
                <a:effectLst/>
                <a:ea typeface="Aptos" panose="020B0004020202020204" pitchFamily="34" charset="0"/>
                <a:cs typeface="Times New Roman" panose="02020603050405020304" pitchFamily="18" charset="0"/>
              </a:rPr>
              <a:t>n concepto multidisciplinario utilizado por distintas disciplinas: la teología, la pastoral, las humanidades y las ciencias sociales en sus múltiples vertientes. </a:t>
            </a:r>
          </a:p>
          <a:p>
            <a:pPr algn="just"/>
            <a:r>
              <a:rPr lang="es-MX" sz="1800" dirty="0">
                <a:effectLst/>
                <a:ea typeface="Aptos" panose="020B0004020202020204" pitchFamily="34" charset="0"/>
                <a:cs typeface="Times New Roman" panose="02020603050405020304" pitchFamily="18" charset="0"/>
              </a:rPr>
              <a:t>En los distintos períodos, la religiosidad popular se ha expresado de variadas maneras y en las más diferenciadas formas. </a:t>
            </a:r>
          </a:p>
          <a:p>
            <a:pPr algn="just"/>
            <a:r>
              <a:rPr lang="es-MX" sz="1800" dirty="0">
                <a:effectLst/>
                <a:ea typeface="Aptos" panose="020B0004020202020204" pitchFamily="34" charset="0"/>
                <a:cs typeface="Times New Roman" panose="02020603050405020304" pitchFamily="18" charset="0"/>
              </a:rPr>
              <a:t>La diferencia sociocultural ha impreso un sello todavía más complejo para entender el fenómeno</a:t>
            </a:r>
            <a:r>
              <a:rPr lang="es-CL" sz="1800" dirty="0">
                <a:ea typeface="Aptos" panose="020B0004020202020204" pitchFamily="34" charset="0"/>
                <a:cs typeface="Times New Roman" panose="02020603050405020304" pitchFamily="18" charset="0"/>
              </a:rPr>
              <a:t>. </a:t>
            </a:r>
            <a:endParaRPr lang="es-CL" dirty="0"/>
          </a:p>
        </p:txBody>
      </p:sp>
    </p:spTree>
    <p:extLst>
      <p:ext uri="{BB962C8B-B14F-4D97-AF65-F5344CB8AC3E}">
        <p14:creationId xmlns:p14="http://schemas.microsoft.com/office/powerpoint/2010/main" val="2463580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91FB915-E5AA-63B9-7D11-033D44CE1A16}"/>
              </a:ext>
            </a:extLst>
          </p:cNvPr>
          <p:cNvSpPr>
            <a:spLocks noGrp="1"/>
          </p:cNvSpPr>
          <p:nvPr>
            <p:ph type="title"/>
          </p:nvPr>
        </p:nvSpPr>
        <p:spPr/>
        <p:txBody>
          <a:bodyPr/>
          <a:lstStyle/>
          <a:p>
            <a:r>
              <a:rPr lang="es-CL" dirty="0"/>
              <a:t>Algunas definiciones</a:t>
            </a:r>
            <a:br>
              <a:rPr lang="es-CL" dirty="0"/>
            </a:br>
            <a:endParaRPr lang="es-CL" dirty="0"/>
          </a:p>
        </p:txBody>
      </p:sp>
      <p:sp>
        <p:nvSpPr>
          <p:cNvPr id="3" name="Marcador de contenido 2">
            <a:extLst>
              <a:ext uri="{FF2B5EF4-FFF2-40B4-BE49-F238E27FC236}">
                <a16:creationId xmlns:a16="http://schemas.microsoft.com/office/drawing/2014/main" id="{E69C3358-75F9-B1F6-B00C-2E8ECB29DA8A}"/>
              </a:ext>
            </a:extLst>
          </p:cNvPr>
          <p:cNvSpPr>
            <a:spLocks noGrp="1"/>
          </p:cNvSpPr>
          <p:nvPr>
            <p:ph idx="4294967295"/>
          </p:nvPr>
        </p:nvSpPr>
        <p:spPr>
          <a:xfrm>
            <a:off x="741362" y="1497128"/>
            <a:ext cx="10709275" cy="5599112"/>
          </a:xfrm>
        </p:spPr>
        <p:txBody>
          <a:bodyPr>
            <a:normAutofit/>
          </a:bodyPr>
          <a:lstStyle/>
          <a:p>
            <a:pPr lvl="1" algn="just"/>
            <a:r>
              <a:rPr lang="es-MX" dirty="0">
                <a:effectLst/>
                <a:ea typeface="Aptos" panose="020B0004020202020204" pitchFamily="34" charset="0"/>
                <a:cs typeface="Times New Roman" panose="02020603050405020304" pitchFamily="18" charset="0"/>
              </a:rPr>
              <a:t>Parker, C. (1993). </a:t>
            </a:r>
            <a:r>
              <a:rPr lang="es-MX" i="1" dirty="0">
                <a:effectLst/>
                <a:ea typeface="Aptos" panose="020B0004020202020204" pitchFamily="34" charset="0"/>
                <a:cs typeface="Times New Roman" panose="02020603050405020304" pitchFamily="18" charset="0"/>
              </a:rPr>
              <a:t>Otra lógica en América Latina. Religión popular y Modernización capitalista:</a:t>
            </a:r>
            <a:r>
              <a:rPr lang="es-MX" dirty="0">
                <a:effectLst/>
                <a:latin typeface="Georgia" panose="02040502050405020303" pitchFamily="18" charset="0"/>
                <a:ea typeface="Aptos" panose="020B0004020202020204" pitchFamily="34" charset="0"/>
                <a:cs typeface="Times New Roman" panose="02020603050405020304" pitchFamily="18" charset="0"/>
              </a:rPr>
              <a:t> </a:t>
            </a:r>
            <a:br>
              <a:rPr lang="es-MX" dirty="0">
                <a:effectLst/>
                <a:latin typeface="Georgia" panose="02040502050405020303" pitchFamily="18" charset="0"/>
                <a:ea typeface="Aptos" panose="020B0004020202020204" pitchFamily="34" charset="0"/>
                <a:cs typeface="Times New Roman" panose="02020603050405020304" pitchFamily="18" charset="0"/>
              </a:rPr>
            </a:br>
            <a:endParaRPr lang="es-MX" dirty="0">
              <a:effectLst/>
              <a:latin typeface="Georgia" panose="02040502050405020303" pitchFamily="18" charset="0"/>
              <a:ea typeface="Aptos" panose="020B0004020202020204" pitchFamily="34" charset="0"/>
              <a:cs typeface="Times New Roman" panose="02020603050405020304" pitchFamily="18" charset="0"/>
            </a:endParaRPr>
          </a:p>
          <a:p>
            <a:pPr marL="274320" lvl="1" indent="0" algn="ctr">
              <a:buNone/>
            </a:pPr>
            <a:r>
              <a:rPr lang="es-MX" dirty="0">
                <a:effectLst/>
                <a:ea typeface="Aptos" panose="020B0004020202020204" pitchFamily="34" charset="0"/>
                <a:cs typeface="Times New Roman" panose="02020603050405020304" pitchFamily="18" charset="0"/>
              </a:rPr>
              <a:t>“producto simbólico de grupos sociales histórica y estructuralmente situados, no es una realidad </a:t>
            </a:r>
            <a:r>
              <a:rPr lang="es-MX" i="1" dirty="0">
                <a:effectLst/>
                <a:ea typeface="Aptos" panose="020B0004020202020204" pitchFamily="34" charset="0"/>
                <a:cs typeface="Times New Roman" panose="02020603050405020304" pitchFamily="18" charset="0"/>
              </a:rPr>
              <a:t>en sí</a:t>
            </a:r>
            <a:r>
              <a:rPr lang="es-MX" dirty="0">
                <a:effectLst/>
                <a:ea typeface="Aptos" panose="020B0004020202020204" pitchFamily="34" charset="0"/>
                <a:cs typeface="Times New Roman" panose="02020603050405020304" pitchFamily="18" charset="0"/>
              </a:rPr>
              <a:t>, ni como realidad universal ahistórica, ni como categoría autónoma, fenoménica, libre de todo condicionamiento social. Hay una multiplicidad de manifestaciones de esto que conceptualmente reducimos a un término unitario, pero que, en verdad, recubre una heterogeneidad enorme, tanto desde el punto de vista morfológico y semiótico (en sus representaciones, mitos, creencias y ritos) como desde el punto de vista sociorreligioso (institucional), sociocultural (como expresión de cultura y visión de mundo), social (de diversos grupos étnicos, clases y subculturas) e histórico (de las diversas configuraciones en las épocas y en las coyunturas" (p. 59)</a:t>
            </a:r>
          </a:p>
          <a:p>
            <a:pPr algn="just"/>
            <a:r>
              <a:rPr lang="es-MX" sz="1800" dirty="0">
                <a:effectLst/>
                <a:ea typeface="Aptos" panose="020B0004020202020204" pitchFamily="34" charset="0"/>
                <a:cs typeface="Times New Roman" panose="02020603050405020304" pitchFamily="18" charset="0"/>
              </a:rPr>
              <a:t>Durkheim, E. (2012). </a:t>
            </a:r>
            <a:r>
              <a:rPr lang="es-MX" sz="1800" i="1" dirty="0">
                <a:effectLst/>
                <a:ea typeface="Aptos" panose="020B0004020202020204" pitchFamily="34" charset="0"/>
                <a:cs typeface="Times New Roman" panose="02020603050405020304" pitchFamily="18" charset="0"/>
              </a:rPr>
              <a:t>Las formas elementales de la vida religiosa</a:t>
            </a:r>
            <a:r>
              <a:rPr lang="es-CL" sz="1600" dirty="0">
                <a:effectLst/>
              </a:rPr>
              <a:t> </a:t>
            </a:r>
          </a:p>
          <a:p>
            <a:pPr marL="0" indent="0" algn="ctr">
              <a:buNone/>
            </a:pPr>
            <a:r>
              <a:rPr lang="es-MX" sz="1800" i="1" kern="100" dirty="0">
                <a:ea typeface="Aptos" panose="020B0004020202020204" pitchFamily="34" charset="0"/>
                <a:cs typeface="Times New Roman" panose="02020603050405020304" pitchFamily="18" charset="0"/>
              </a:rPr>
              <a:t>[L</a:t>
            </a:r>
            <a:r>
              <a:rPr lang="es-MX" sz="1800" i="1" kern="100" dirty="0">
                <a:effectLst/>
                <a:ea typeface="Aptos" panose="020B0004020202020204" pitchFamily="34" charset="0"/>
                <a:cs typeface="Times New Roman" panose="02020603050405020304" pitchFamily="18" charset="0"/>
              </a:rPr>
              <a:t>as formas religiosas] como un “sistema solidario de creencias y prácticas relativas a las cosas sagradas (…); creencias y prácticas que unen en una misma comunidad moral, llamada Iglesia, a todos aquellos que adhieren a ellas” (p. 100). </a:t>
            </a:r>
          </a:p>
          <a:p>
            <a:pPr marL="0" indent="0" algn="just">
              <a:buNone/>
            </a:pPr>
            <a:endParaRPr lang="es-CL" dirty="0"/>
          </a:p>
        </p:txBody>
      </p:sp>
    </p:spTree>
    <p:extLst>
      <p:ext uri="{BB962C8B-B14F-4D97-AF65-F5344CB8AC3E}">
        <p14:creationId xmlns:p14="http://schemas.microsoft.com/office/powerpoint/2010/main" val="3070989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D149D98-B15E-BCD6-5725-D1A792B89770}"/>
              </a:ext>
            </a:extLst>
          </p:cNvPr>
          <p:cNvSpPr>
            <a:spLocks noGrp="1"/>
          </p:cNvSpPr>
          <p:nvPr>
            <p:ph idx="1"/>
          </p:nvPr>
        </p:nvSpPr>
        <p:spPr>
          <a:xfrm>
            <a:off x="517793" y="473725"/>
            <a:ext cx="10642294" cy="6103345"/>
          </a:xfrm>
        </p:spPr>
        <p:txBody>
          <a:bodyPr>
            <a:normAutofit lnSpcReduction="10000"/>
          </a:bodyPr>
          <a:lstStyle/>
          <a:p>
            <a:pPr marL="0" indent="0" algn="just">
              <a:buNone/>
            </a:pPr>
            <a:r>
              <a:rPr lang="es-MX" sz="2000" kern="100" dirty="0">
                <a:effectLst/>
                <a:ea typeface="Aptos" panose="020B0004020202020204" pitchFamily="34" charset="0"/>
                <a:cs typeface="Times New Roman" panose="02020603050405020304" pitchFamily="18" charset="0"/>
              </a:rPr>
              <a:t>Siguiendo los parámetros expuestos en esa clásica conceptualización, se puede pensar la religiosidad popular latinoamericana poniendo atención a seis componentes analíticos </a:t>
            </a:r>
            <a:r>
              <a:rPr lang="es-MX" sz="2000" kern="0" dirty="0">
                <a:effectLst/>
                <a:ea typeface="Aptos" panose="020B0004020202020204" pitchFamily="34" charset="0"/>
                <a:cs typeface="Times New Roman" panose="02020603050405020304" pitchFamily="18" charset="0"/>
              </a:rPr>
              <a:t>(Suárez, 2021)</a:t>
            </a:r>
            <a:r>
              <a:rPr lang="es-MX" sz="2000" kern="100" dirty="0">
                <a:effectLst/>
                <a:ea typeface="Aptos" panose="020B0004020202020204" pitchFamily="34" charset="0"/>
                <a:cs typeface="Times New Roman" panose="02020603050405020304" pitchFamily="18" charset="0"/>
              </a:rPr>
              <a:t>:</a:t>
            </a:r>
            <a:endParaRPr lang="es-CL" dirty="0"/>
          </a:p>
          <a:p>
            <a:pPr marL="0" indent="0" algn="just">
              <a:buNone/>
            </a:pPr>
            <a:r>
              <a:rPr lang="es-CL" dirty="0"/>
              <a:t>1) </a:t>
            </a:r>
            <a:r>
              <a:rPr lang="es-MX" sz="1800" b="1" dirty="0">
                <a:effectLst/>
                <a:ea typeface="Aptos" panose="020B0004020202020204" pitchFamily="34" charset="0"/>
                <a:cs typeface="Times New Roman" panose="02020603050405020304" pitchFamily="18" charset="0"/>
              </a:rPr>
              <a:t>Las creencias y disposiciones</a:t>
            </a:r>
            <a:r>
              <a:rPr lang="es-CL" sz="1800" dirty="0">
                <a:ea typeface="Aptos" panose="020B0004020202020204" pitchFamily="34" charset="0"/>
                <a:cs typeface="Times New Roman" panose="02020603050405020304" pitchFamily="18" charset="0"/>
              </a:rPr>
              <a:t>: </a:t>
            </a:r>
            <a:r>
              <a:rPr lang="es-MX" sz="1800" dirty="0">
                <a:effectLst/>
                <a:ea typeface="Aptos" panose="020B0004020202020204" pitchFamily="34" charset="0"/>
                <a:cs typeface="Times New Roman" panose="02020603050405020304" pitchFamily="18" charset="0"/>
              </a:rPr>
              <a:t>sistema de disposiciones simbólicas construidas por creyentes que, administrando distintos repertorios de creencias y construyendo nuevas transacciones en una posición particular en el campo religioso, dan sentido a su vida diaria en el marco de experiencias significativas en su historia personal” </a:t>
            </a:r>
            <a:r>
              <a:rPr lang="es-MX" sz="1800" kern="0" dirty="0">
                <a:effectLst/>
                <a:ea typeface="Aptos" panose="020B0004020202020204" pitchFamily="34" charset="0"/>
                <a:cs typeface="Times New Roman" panose="02020603050405020304" pitchFamily="18" charset="0"/>
              </a:rPr>
              <a:t>(Suárez, 2015, p. 186)</a:t>
            </a:r>
            <a:r>
              <a:rPr lang="es-MX" sz="1800" dirty="0">
                <a:effectLst/>
                <a:ea typeface="Aptos" panose="020B0004020202020204" pitchFamily="34" charset="0"/>
                <a:cs typeface="Times New Roman" panose="02020603050405020304" pitchFamily="18" charset="0"/>
              </a:rPr>
              <a:t>. </a:t>
            </a:r>
            <a:endParaRPr lang="es-CL" sz="1800" dirty="0">
              <a:ea typeface="Aptos" panose="020B0004020202020204" pitchFamily="34" charset="0"/>
              <a:cs typeface="Times New Roman" panose="02020603050405020304" pitchFamily="18" charset="0"/>
            </a:endParaRPr>
          </a:p>
          <a:p>
            <a:pPr marL="0" indent="0" algn="just">
              <a:buNone/>
            </a:pPr>
            <a:r>
              <a:rPr lang="es-CL" sz="1800" dirty="0">
                <a:cs typeface="Times New Roman" panose="02020603050405020304" pitchFamily="18" charset="0"/>
              </a:rPr>
              <a:t>2) </a:t>
            </a:r>
            <a:r>
              <a:rPr lang="es-MX" sz="1800" b="1" dirty="0">
                <a:cs typeface="Times New Roman" panose="02020603050405020304" pitchFamily="18" charset="0"/>
              </a:rPr>
              <a:t>L</a:t>
            </a:r>
            <a:r>
              <a:rPr lang="es-MX" sz="1800" b="1" dirty="0">
                <a:effectLst/>
                <a:ea typeface="Aptos" panose="020B0004020202020204" pitchFamily="34" charset="0"/>
                <a:cs typeface="Times New Roman" panose="02020603050405020304" pitchFamily="18" charset="0"/>
              </a:rPr>
              <a:t>a interacción entre prácticas, rituales y modelos culturales que sostienen y guía</a:t>
            </a:r>
            <a:r>
              <a:rPr lang="es-CL" sz="1800" dirty="0">
                <a:ea typeface="Aptos" panose="020B0004020202020204" pitchFamily="34" charset="0"/>
                <a:cs typeface="Times New Roman" panose="02020603050405020304" pitchFamily="18" charset="0"/>
              </a:rPr>
              <a:t>. </a:t>
            </a:r>
            <a:r>
              <a:rPr lang="es-MX" sz="1800" dirty="0">
                <a:effectLst/>
                <a:ea typeface="Aptos" panose="020B0004020202020204" pitchFamily="34" charset="0"/>
                <a:cs typeface="Times New Roman" panose="02020603050405020304" pitchFamily="18" charset="0"/>
              </a:rPr>
              <a:t>Específicamente, en la religiosidad popular, como se ha demostrado en múltiples estudios,  son centrales las prácticas como la fiesta y la peregrinación (De la Torre, 2016a)</a:t>
            </a:r>
            <a:r>
              <a:rPr lang="es-CL" dirty="0">
                <a:effectLst/>
              </a:rPr>
              <a:t> </a:t>
            </a:r>
            <a:endParaRPr lang="es-CL" dirty="0"/>
          </a:p>
          <a:p>
            <a:pPr marL="0" indent="0" algn="just">
              <a:buNone/>
            </a:pPr>
            <a:r>
              <a:rPr lang="es-MX" sz="1800" dirty="0">
                <a:effectLst/>
                <a:ea typeface="Aptos" panose="020B0004020202020204" pitchFamily="34" charset="0"/>
                <a:cs typeface="Times New Roman" panose="02020603050405020304" pitchFamily="18" charset="0"/>
              </a:rPr>
              <a:t>3) Weber explicó con claridad la existencia de un </a:t>
            </a:r>
            <a:r>
              <a:rPr lang="es-MX" sz="1800" b="1" dirty="0">
                <a:effectLst/>
                <a:ea typeface="Aptos" panose="020B0004020202020204" pitchFamily="34" charset="0"/>
                <a:cs typeface="Times New Roman" panose="02020603050405020304" pitchFamily="18" charset="0"/>
              </a:rPr>
              <a:t>aparato burocrático encargado de la regulación y administración de lo sagrado</a:t>
            </a:r>
            <a:r>
              <a:rPr lang="es-CL" sz="1800" dirty="0">
                <a:ea typeface="Aptos" panose="020B0004020202020204" pitchFamily="34" charset="0"/>
                <a:cs typeface="Times New Roman" panose="02020603050405020304" pitchFamily="18" charset="0"/>
              </a:rPr>
              <a:t>. </a:t>
            </a:r>
            <a:r>
              <a:rPr lang="es-MX" sz="1800" dirty="0">
                <a:effectLst/>
                <a:ea typeface="Aptos" panose="020B0004020202020204" pitchFamily="34" charset="0"/>
                <a:cs typeface="Times New Roman" panose="02020603050405020304" pitchFamily="18" charset="0"/>
              </a:rPr>
              <a:t>En la religiosidad popular, la figura dominante es el “agente para-eclesial.</a:t>
            </a:r>
            <a:r>
              <a:rPr lang="es-CL" dirty="0">
                <a:effectLst/>
              </a:rPr>
              <a:t> </a:t>
            </a:r>
            <a:endParaRPr lang="es-CL" dirty="0"/>
          </a:p>
          <a:p>
            <a:pPr marL="0" indent="0" algn="just">
              <a:buNone/>
            </a:pPr>
            <a:r>
              <a:rPr lang="es-MX" sz="1800" i="1" dirty="0">
                <a:effectLst/>
                <a:ea typeface="Aptos" panose="020B0004020202020204" pitchFamily="34" charset="0"/>
                <a:cs typeface="Times New Roman" panose="02020603050405020304" pitchFamily="18" charset="0"/>
              </a:rPr>
              <a:t>4) “Lo que hace actuar y ayuda a vivir” </a:t>
            </a:r>
            <a:r>
              <a:rPr lang="es-MX" sz="1800" dirty="0">
                <a:effectLst/>
                <a:ea typeface="Aptos" panose="020B0004020202020204" pitchFamily="34" charset="0"/>
                <a:cs typeface="Times New Roman" panose="02020603050405020304" pitchFamily="18" charset="0"/>
              </a:rPr>
              <a:t>(Durkheim, 2012), es decir en </a:t>
            </a:r>
            <a:r>
              <a:rPr lang="es-MX" sz="1800" b="1" dirty="0">
                <a:effectLst/>
                <a:ea typeface="Aptos" panose="020B0004020202020204" pitchFamily="34" charset="0"/>
                <a:cs typeface="Times New Roman" panose="02020603050405020304" pitchFamily="18" charset="0"/>
              </a:rPr>
              <a:t>su vínculo con la cotidianidad</a:t>
            </a:r>
            <a:r>
              <a:rPr lang="es-MX" sz="1800" dirty="0">
                <a:effectLst/>
                <a:ea typeface="Aptos" panose="020B0004020202020204" pitchFamily="34" charset="0"/>
                <a:cs typeface="Times New Roman" panose="02020603050405020304" pitchFamily="18" charset="0"/>
              </a:rPr>
              <a:t>. Lo que sucede en la religiosidad popular no es del orden de la doctrina o de la catequesis; se trata de lo cotidiano, de las aspiraciones, promesas y frustraciones y miedos de la vida ordinaria </a:t>
            </a:r>
          </a:p>
          <a:p>
            <a:pPr marL="0" indent="0" algn="just">
              <a:buNone/>
            </a:pPr>
            <a:r>
              <a:rPr lang="es-MX" sz="1800" dirty="0">
                <a:cs typeface="Times New Roman" panose="02020603050405020304" pitchFamily="18" charset="0"/>
              </a:rPr>
              <a:t>5) </a:t>
            </a:r>
            <a:r>
              <a:rPr lang="es-MX" sz="1800" b="1" dirty="0">
                <a:effectLst/>
                <a:ea typeface="Aptos" panose="020B0004020202020204" pitchFamily="34" charset="0"/>
                <a:cs typeface="Times New Roman" panose="02020603050405020304" pitchFamily="18" charset="0"/>
              </a:rPr>
              <a:t>La centralidad de la materialidad </a:t>
            </a:r>
          </a:p>
          <a:p>
            <a:pPr marL="0" indent="0" algn="just">
              <a:buNone/>
            </a:pPr>
            <a:r>
              <a:rPr lang="es-MX" sz="1800" dirty="0">
                <a:cs typeface="Times New Roman" panose="02020603050405020304" pitchFamily="18" charset="0"/>
              </a:rPr>
              <a:t>6) </a:t>
            </a:r>
            <a:r>
              <a:rPr lang="es-MX" sz="1800" b="1" dirty="0">
                <a:effectLst/>
                <a:ea typeface="Aptos" panose="020B0004020202020204" pitchFamily="34" charset="0"/>
                <a:cs typeface="Times New Roman" panose="02020603050405020304" pitchFamily="18" charset="0"/>
              </a:rPr>
              <a:t>El/la creyente como unidad analítica y de construcción de sentido</a:t>
            </a:r>
            <a:r>
              <a:rPr lang="es-MX" sz="1800" dirty="0">
                <a:effectLst/>
                <a:ea typeface="Aptos" panose="020B0004020202020204" pitchFamily="34" charset="0"/>
                <a:cs typeface="Times New Roman" panose="02020603050405020304" pitchFamily="18" charset="0"/>
              </a:rPr>
              <a:t>. </a:t>
            </a:r>
            <a:r>
              <a:rPr lang="es-MX" sz="1800" kern="100" dirty="0">
                <a:effectLst/>
                <a:ea typeface="Aptos" panose="020B0004020202020204" pitchFamily="34" charset="0"/>
                <a:cs typeface="Times New Roman" panose="02020603050405020304" pitchFamily="18" charset="0"/>
              </a:rPr>
              <a:t>Para comprender la religiosidad popular, se debe poner particular atención en el/la creyente en comunidad, que es el responsable de la gestión y reproducción de su fe en la vida cotidiana más allá de preceptos eclesiales </a:t>
            </a:r>
            <a:r>
              <a:rPr lang="es-MX" sz="1800" kern="0" dirty="0">
                <a:effectLst/>
                <a:ea typeface="Aptos" panose="020B0004020202020204" pitchFamily="34" charset="0"/>
                <a:cs typeface="Times New Roman" panose="02020603050405020304" pitchFamily="18" charset="0"/>
              </a:rPr>
              <a:t>(Suárez, 2015)</a:t>
            </a:r>
            <a:r>
              <a:rPr lang="es-MX" sz="1800" kern="100" dirty="0">
                <a:effectLst/>
                <a:ea typeface="Aptos" panose="020B0004020202020204" pitchFamily="34" charset="0"/>
                <a:cs typeface="Times New Roman" panose="02020603050405020304" pitchFamily="18" charset="0"/>
              </a:rPr>
              <a:t>.</a:t>
            </a:r>
            <a:endParaRPr lang="es-CL" sz="1800" kern="100" dirty="0">
              <a:effectLst/>
              <a:ea typeface="Aptos" panose="020B0004020202020204" pitchFamily="34" charset="0"/>
              <a:cs typeface="Times New Roman" panose="02020603050405020304" pitchFamily="18" charset="0"/>
            </a:endParaRPr>
          </a:p>
          <a:p>
            <a:pPr algn="just"/>
            <a:endParaRPr lang="es-CL" dirty="0"/>
          </a:p>
        </p:txBody>
      </p:sp>
    </p:spTree>
    <p:extLst>
      <p:ext uri="{BB962C8B-B14F-4D97-AF65-F5344CB8AC3E}">
        <p14:creationId xmlns:p14="http://schemas.microsoft.com/office/powerpoint/2010/main" val="3824115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A2B915-59F9-1C39-3238-935E0F0604DD}"/>
              </a:ext>
            </a:extLst>
          </p:cNvPr>
          <p:cNvSpPr>
            <a:spLocks noGrp="1"/>
          </p:cNvSpPr>
          <p:nvPr>
            <p:ph type="title"/>
          </p:nvPr>
        </p:nvSpPr>
        <p:spPr/>
        <p:txBody>
          <a:bodyPr/>
          <a:lstStyle/>
          <a:p>
            <a:r>
              <a:rPr lang="es-CL" dirty="0"/>
              <a:t>RASGOS DE LA RP EN LA ACTUALIDAD</a:t>
            </a:r>
          </a:p>
        </p:txBody>
      </p:sp>
      <p:sp>
        <p:nvSpPr>
          <p:cNvPr id="3" name="Marcador de contenido 2">
            <a:extLst>
              <a:ext uri="{FF2B5EF4-FFF2-40B4-BE49-F238E27FC236}">
                <a16:creationId xmlns:a16="http://schemas.microsoft.com/office/drawing/2014/main" id="{E86A221C-E6E1-519E-E1E0-8576C3C5C506}"/>
              </a:ext>
            </a:extLst>
          </p:cNvPr>
          <p:cNvSpPr>
            <a:spLocks noGrp="1"/>
          </p:cNvSpPr>
          <p:nvPr>
            <p:ph idx="1"/>
          </p:nvPr>
        </p:nvSpPr>
        <p:spPr>
          <a:xfrm>
            <a:off x="1063753" y="2093976"/>
            <a:ext cx="10206502" cy="4428010"/>
          </a:xfrm>
        </p:spPr>
        <p:txBody>
          <a:bodyPr>
            <a:normAutofit/>
          </a:bodyPr>
          <a:lstStyle/>
          <a:p>
            <a:pPr algn="just"/>
            <a:r>
              <a:rPr lang="es-MX" sz="1800" dirty="0">
                <a:ea typeface="Aptos" panose="020B0004020202020204" pitchFamily="34" charset="0"/>
                <a:cs typeface="Times New Roman" panose="02020603050405020304" pitchFamily="18" charset="0"/>
              </a:rPr>
              <a:t>L</a:t>
            </a:r>
            <a:r>
              <a:rPr lang="es-MX" sz="1800" dirty="0">
                <a:effectLst/>
                <a:ea typeface="Aptos" panose="020B0004020202020204" pitchFamily="34" charset="0"/>
                <a:cs typeface="Times New Roman" panose="02020603050405020304" pitchFamily="18" charset="0"/>
              </a:rPr>
              <a:t>ejos de ser una reminiscencia del pasado, se trata de uno de los rostros de la vitalidad de la experiencia religiosa. </a:t>
            </a:r>
          </a:p>
          <a:p>
            <a:pPr algn="just"/>
            <a:r>
              <a:rPr lang="es-MX" sz="1800" kern="100" dirty="0">
                <a:ea typeface="Aptos" panose="020B0004020202020204" pitchFamily="34" charset="0"/>
                <a:cs typeface="Times New Roman" panose="02020603050405020304" pitchFamily="18" charset="0"/>
              </a:rPr>
              <a:t>T</a:t>
            </a:r>
            <a:r>
              <a:rPr lang="es-MX" sz="1800" kern="100" dirty="0">
                <a:effectLst/>
                <a:ea typeface="Aptos" panose="020B0004020202020204" pitchFamily="34" charset="0"/>
                <a:cs typeface="Times New Roman" panose="02020603050405020304" pitchFamily="18" charset="0"/>
              </a:rPr>
              <a:t>res puntos para explicar su importancia actual: </a:t>
            </a:r>
          </a:p>
          <a:p>
            <a:pPr lvl="1" algn="just"/>
            <a:r>
              <a:rPr lang="es-MX" b="1" kern="100" dirty="0">
                <a:ea typeface="Aptos" panose="020B0004020202020204" pitchFamily="34" charset="0"/>
                <a:cs typeface="Times New Roman" panose="02020603050405020304" pitchFamily="18" charset="0"/>
              </a:rPr>
              <a:t>L</a:t>
            </a:r>
            <a:r>
              <a:rPr lang="es-MX" b="1" kern="100" dirty="0">
                <a:effectLst/>
                <a:ea typeface="Aptos" panose="020B0004020202020204" pitchFamily="34" charset="0"/>
                <a:cs typeface="Times New Roman" panose="02020603050405020304" pitchFamily="18" charset="0"/>
              </a:rPr>
              <a:t>a eficacidad en la vida cotidiana</a:t>
            </a:r>
            <a:r>
              <a:rPr lang="es-MX" kern="100" dirty="0">
                <a:effectLst/>
                <a:ea typeface="Aptos" panose="020B0004020202020204" pitchFamily="34" charset="0"/>
                <a:cs typeface="Times New Roman" panose="02020603050405020304" pitchFamily="18" charset="0"/>
              </a:rPr>
              <a:t>: </a:t>
            </a:r>
            <a:r>
              <a:rPr lang="es-MX" dirty="0">
                <a:effectLst/>
                <a:ea typeface="Aptos" panose="020B0004020202020204" pitchFamily="34" charset="0"/>
                <a:cs typeface="Times New Roman" panose="02020603050405020304" pitchFamily="18" charset="0"/>
              </a:rPr>
              <a:t>resuelve problemas ordinarios a los creyentes luego de que otras puertas se cerraron</a:t>
            </a:r>
            <a:r>
              <a:rPr lang="es-CL" dirty="0">
                <a:effectLst/>
              </a:rPr>
              <a:t> </a:t>
            </a:r>
            <a:endParaRPr lang="es-MX" kern="100" dirty="0">
              <a:effectLst/>
              <a:ea typeface="Aptos" panose="020B0004020202020204" pitchFamily="34" charset="0"/>
              <a:cs typeface="Times New Roman" panose="02020603050405020304" pitchFamily="18" charset="0"/>
            </a:endParaRPr>
          </a:p>
          <a:p>
            <a:pPr lvl="1" algn="just"/>
            <a:r>
              <a:rPr lang="es-MX" b="1" kern="100" dirty="0">
                <a:ea typeface="Aptos" panose="020B0004020202020204" pitchFamily="34" charset="0"/>
                <a:cs typeface="Times New Roman" panose="02020603050405020304" pitchFamily="18" charset="0"/>
              </a:rPr>
              <a:t>L</a:t>
            </a:r>
            <a:r>
              <a:rPr lang="es-MX" b="1" kern="100" dirty="0">
                <a:effectLst/>
                <a:ea typeface="Aptos" panose="020B0004020202020204" pitchFamily="34" charset="0"/>
                <a:cs typeface="Times New Roman" panose="02020603050405020304" pitchFamily="18" charset="0"/>
              </a:rPr>
              <a:t>a flexibilidad o capacidad de síntesis y articulación de varias tradiciones</a:t>
            </a:r>
            <a:r>
              <a:rPr lang="es-MX" kern="100" dirty="0">
                <a:effectLst/>
                <a:ea typeface="Aptos" panose="020B0004020202020204" pitchFamily="34" charset="0"/>
                <a:cs typeface="Times New Roman" panose="02020603050405020304" pitchFamily="18" charset="0"/>
              </a:rPr>
              <a:t>: </a:t>
            </a:r>
            <a:r>
              <a:rPr lang="es-ES" dirty="0">
                <a:effectLst/>
                <a:ea typeface="Aptos" panose="020B0004020202020204" pitchFamily="34" charset="0"/>
                <a:cs typeface="Times New Roman" panose="02020603050405020304" pitchFamily="18" charset="0"/>
              </a:rPr>
              <a:t>operar como “bisagra” entre distintos universos simbólicos </a:t>
            </a:r>
            <a:endParaRPr lang="es-MX" kern="100" dirty="0">
              <a:effectLst/>
              <a:ea typeface="Aptos" panose="020B0004020202020204" pitchFamily="34" charset="0"/>
              <a:cs typeface="Times New Roman" panose="02020603050405020304" pitchFamily="18" charset="0"/>
            </a:endParaRPr>
          </a:p>
          <a:p>
            <a:pPr lvl="1" algn="just"/>
            <a:r>
              <a:rPr lang="es-MX" b="1" kern="100" dirty="0">
                <a:ea typeface="Aptos" panose="020B0004020202020204" pitchFamily="34" charset="0"/>
                <a:cs typeface="Times New Roman" panose="02020603050405020304" pitchFamily="18" charset="0"/>
              </a:rPr>
              <a:t>L</a:t>
            </a:r>
            <a:r>
              <a:rPr lang="es-MX" b="1" kern="100" dirty="0">
                <a:effectLst/>
                <a:ea typeface="Aptos" panose="020B0004020202020204" pitchFamily="34" charset="0"/>
                <a:cs typeface="Times New Roman" panose="02020603050405020304" pitchFamily="18" charset="0"/>
              </a:rPr>
              <a:t>a expansión en el mundo global</a:t>
            </a:r>
            <a:r>
              <a:rPr lang="es-MX" kern="100" dirty="0">
                <a:effectLst/>
                <a:ea typeface="Aptos" panose="020B0004020202020204" pitchFamily="34" charset="0"/>
                <a:cs typeface="Times New Roman" panose="02020603050405020304" pitchFamily="18" charset="0"/>
              </a:rPr>
              <a:t>: </a:t>
            </a:r>
            <a:r>
              <a:rPr lang="es-MX" dirty="0">
                <a:effectLst/>
                <a:ea typeface="Aptos" panose="020B0004020202020204" pitchFamily="34" charset="0"/>
                <a:cs typeface="Times New Roman" panose="02020603050405020304" pitchFamily="18" charset="0"/>
              </a:rPr>
              <a:t>no está circunscrita únicamente al mundo rural (como lo que observó Giménez en los años 70) sino que se expresa con fluidez en lo urbano</a:t>
            </a:r>
            <a:r>
              <a:rPr lang="es-CL" dirty="0">
                <a:ea typeface="Aptos" panose="020B0004020202020204" pitchFamily="34" charset="0"/>
                <a:cs typeface="Times New Roman" panose="02020603050405020304" pitchFamily="18" charset="0"/>
              </a:rPr>
              <a:t>. </a:t>
            </a:r>
          </a:p>
          <a:p>
            <a:pPr lvl="2" algn="just"/>
            <a:r>
              <a:rPr lang="es-ES" dirty="0">
                <a:effectLst/>
                <a:ea typeface="Aptos" panose="020B0004020202020204" pitchFamily="34" charset="0"/>
                <a:cs typeface="Times New Roman" panose="02020603050405020304" pitchFamily="18" charset="0"/>
              </a:rPr>
              <a:t>Roldán explica la manera cómo El Señor de los Milagros (Perú) se instala en Roma a través de los migrantes peruanos </a:t>
            </a:r>
            <a:r>
              <a:rPr lang="es-MX" kern="0" dirty="0">
                <a:effectLst/>
                <a:ea typeface="Aptos" panose="020B0004020202020204" pitchFamily="34" charset="0"/>
                <a:cs typeface="Times New Roman" panose="02020603050405020304" pitchFamily="18" charset="0"/>
              </a:rPr>
              <a:t>(Roldán, 2019)</a:t>
            </a:r>
            <a:r>
              <a:rPr lang="es-ES" dirty="0">
                <a:effectLst/>
                <a:ea typeface="Aptos" panose="020B0004020202020204" pitchFamily="34" charset="0"/>
                <a:cs typeface="Times New Roman" panose="02020603050405020304" pitchFamily="18" charset="0"/>
              </a:rPr>
              <a:t>, Rivera, </a:t>
            </a:r>
            <a:r>
              <a:rPr lang="es-ES" dirty="0" err="1">
                <a:effectLst/>
                <a:ea typeface="Aptos" panose="020B0004020202020204" pitchFamily="34" charset="0"/>
                <a:cs typeface="Times New Roman" panose="02020603050405020304" pitchFamily="18" charset="0"/>
              </a:rPr>
              <a:t>Odgers</a:t>
            </a:r>
            <a:r>
              <a:rPr lang="es-ES" dirty="0">
                <a:effectLst/>
                <a:ea typeface="Aptos" panose="020B0004020202020204" pitchFamily="34" charset="0"/>
                <a:cs typeface="Times New Roman" panose="02020603050405020304" pitchFamily="18" charset="0"/>
              </a:rPr>
              <a:t> y Hernández analizan la experiencia de migrantes de Morelos (en México) hacia Estados Unidos, Suárez expone el caso de los guadalupanos en París </a:t>
            </a:r>
            <a:r>
              <a:rPr lang="es-MX" kern="0" dirty="0">
                <a:effectLst/>
                <a:ea typeface="Aptos" panose="020B0004020202020204" pitchFamily="34" charset="0"/>
                <a:cs typeface="Times New Roman" panose="02020603050405020304" pitchFamily="18" charset="0"/>
              </a:rPr>
              <a:t>(Suárez, 2023)</a:t>
            </a:r>
            <a:r>
              <a:rPr lang="es-CL" dirty="0">
                <a:effectLst/>
              </a:rPr>
              <a:t> </a:t>
            </a:r>
            <a:r>
              <a:rPr lang="es-MX" kern="100" dirty="0">
                <a:effectLst/>
                <a:ea typeface="Aptos" panose="020B0004020202020204" pitchFamily="34" charset="0"/>
                <a:cs typeface="Times New Roman" panose="02020603050405020304" pitchFamily="18" charset="0"/>
              </a:rPr>
              <a:t>  </a:t>
            </a:r>
            <a:endParaRPr lang="es-CL" kern="100" dirty="0">
              <a:effectLst/>
              <a:ea typeface="Aptos" panose="020B0004020202020204" pitchFamily="34" charset="0"/>
              <a:cs typeface="Times New Roman" panose="02020603050405020304" pitchFamily="18" charset="0"/>
            </a:endParaRPr>
          </a:p>
          <a:p>
            <a:pPr algn="just"/>
            <a:endParaRPr lang="es-CL" sz="1800" dirty="0"/>
          </a:p>
        </p:txBody>
      </p:sp>
    </p:spTree>
    <p:extLst>
      <p:ext uri="{BB962C8B-B14F-4D97-AF65-F5344CB8AC3E}">
        <p14:creationId xmlns:p14="http://schemas.microsoft.com/office/powerpoint/2010/main" val="3104680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D62D1D-B194-4A48-49D8-70B5F050AF27}"/>
              </a:ext>
            </a:extLst>
          </p:cNvPr>
          <p:cNvSpPr>
            <a:spLocks noGrp="1"/>
          </p:cNvSpPr>
          <p:nvPr>
            <p:ph type="title"/>
          </p:nvPr>
        </p:nvSpPr>
        <p:spPr/>
        <p:txBody>
          <a:bodyPr/>
          <a:lstStyle/>
          <a:p>
            <a:r>
              <a:rPr lang="es-CL" dirty="0"/>
              <a:t>RECEPCIÓN DESDE LA MARIALOGÍA</a:t>
            </a:r>
          </a:p>
        </p:txBody>
      </p:sp>
      <p:sp>
        <p:nvSpPr>
          <p:cNvPr id="3" name="Marcador de contenido 2">
            <a:extLst>
              <a:ext uri="{FF2B5EF4-FFF2-40B4-BE49-F238E27FC236}">
                <a16:creationId xmlns:a16="http://schemas.microsoft.com/office/drawing/2014/main" id="{AAC33390-DF38-D182-B05C-5B8C066EE2D2}"/>
              </a:ext>
            </a:extLst>
          </p:cNvPr>
          <p:cNvSpPr>
            <a:spLocks noGrp="1"/>
          </p:cNvSpPr>
          <p:nvPr>
            <p:ph idx="1"/>
          </p:nvPr>
        </p:nvSpPr>
        <p:spPr/>
        <p:txBody>
          <a:bodyPr>
            <a:normAutofit/>
          </a:bodyPr>
          <a:lstStyle/>
          <a:p>
            <a:pPr algn="just"/>
            <a:r>
              <a:rPr lang="es-ES" sz="1800" dirty="0">
                <a:effectLst/>
                <a:ea typeface="Calibri" panose="020F0502020204030204" pitchFamily="34" charset="0"/>
              </a:rPr>
              <a:t>El desarrollo de la mariología, quizás como ninguna otra área de la teología, ha estado atravesada y marcada desde su inicio por la devoción del pueblo de Dios. </a:t>
            </a:r>
          </a:p>
          <a:p>
            <a:pPr algn="just"/>
            <a:r>
              <a:rPr lang="es-ES" sz="1800" dirty="0">
                <a:ea typeface="Calibri" panose="020F0502020204030204" pitchFamily="34" charset="0"/>
              </a:rPr>
              <a:t>E</a:t>
            </a:r>
            <a:r>
              <a:rPr lang="es-ES" sz="1800" dirty="0">
                <a:effectLst/>
                <a:ea typeface="Calibri" panose="020F0502020204030204" pitchFamily="34" charset="0"/>
              </a:rPr>
              <a:t>l nuestro es un continente mariano y no es posible negar la centralidad de María en la fe del pueblo latinoamericano. </a:t>
            </a:r>
          </a:p>
          <a:p>
            <a:pPr lvl="1" algn="just"/>
            <a:r>
              <a:rPr lang="es-ES" sz="1600" dirty="0">
                <a:effectLst/>
                <a:ea typeface="Calibri" panose="020F0502020204030204" pitchFamily="34" charset="0"/>
              </a:rPr>
              <a:t>Puebla reconocía que una de las expresiones más significativas de la religiosidad popular latinoamericana es la mariana</a:t>
            </a:r>
            <a:r>
              <a:rPr lang="es-CL" sz="1400" dirty="0">
                <a:effectLst/>
              </a:rPr>
              <a:t> </a:t>
            </a:r>
            <a:endParaRPr lang="es-ES" sz="1600" dirty="0"/>
          </a:p>
          <a:p>
            <a:pPr algn="just"/>
            <a:r>
              <a:rPr lang="es-ES" sz="1800" dirty="0">
                <a:effectLst/>
                <a:ea typeface="Calibri" panose="020F0502020204030204" pitchFamily="34" charset="0"/>
                <a:cs typeface="Times New Roman" panose="02020603050405020304" pitchFamily="18" charset="0"/>
              </a:rPr>
              <a:t>Si la devoción a María caracteriza al cristianismo latinoamericano y ésta ha estado presente desde el origen mismo de la fe cristiana en este territorio, la profundización en la religión popular y sus expresiones es un elemento que debe ser considerado para una teología mariana pensada desde aquí. </a:t>
            </a:r>
            <a:endParaRPr lang="es-ES" sz="1800" dirty="0">
              <a:effectLst/>
              <a:ea typeface="Calibri" panose="020F0502020204030204" pitchFamily="34" charset="0"/>
            </a:endParaRPr>
          </a:p>
          <a:p>
            <a:pPr algn="just"/>
            <a:r>
              <a:rPr lang="es-ES" sz="1800" dirty="0">
                <a:effectLst/>
                <a:ea typeface="Calibri" panose="020F0502020204030204" pitchFamily="34" charset="0"/>
              </a:rPr>
              <a:t>Foco en dos de los componentes analíticos presentados por Suárez: el vínculo de la religión popular con la cotidianidad y la consideración del creyente como unidad analítica y de construcción de sentido. </a:t>
            </a:r>
            <a:endParaRPr lang="es-CL" dirty="0"/>
          </a:p>
        </p:txBody>
      </p:sp>
    </p:spTree>
    <p:extLst>
      <p:ext uri="{BB962C8B-B14F-4D97-AF65-F5344CB8AC3E}">
        <p14:creationId xmlns:p14="http://schemas.microsoft.com/office/powerpoint/2010/main" val="2102577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8361C-78DB-A40F-CD2D-2FFDF8F06227}"/>
              </a:ext>
            </a:extLst>
          </p:cNvPr>
          <p:cNvSpPr>
            <a:spLocks noGrp="1"/>
          </p:cNvSpPr>
          <p:nvPr>
            <p:ph type="title"/>
          </p:nvPr>
        </p:nvSpPr>
        <p:spPr>
          <a:xfrm>
            <a:off x="165253" y="0"/>
            <a:ext cx="11611778" cy="1609344"/>
          </a:xfrm>
        </p:spPr>
        <p:txBody>
          <a:bodyPr vert="horz" lIns="91440" tIns="45720" rIns="91440" bIns="45720" rtlCol="0" anchor="ctr">
            <a:normAutofit/>
          </a:bodyPr>
          <a:lstStyle/>
          <a:p>
            <a:r>
              <a:rPr lang="es-ES" sz="4000" dirty="0"/>
              <a:t>El vínculo de la religión popular con la cotidianidad</a:t>
            </a:r>
            <a:r>
              <a:rPr lang="es-CL" sz="4000" dirty="0"/>
              <a:t> </a:t>
            </a:r>
          </a:p>
        </p:txBody>
      </p:sp>
      <p:sp>
        <p:nvSpPr>
          <p:cNvPr id="3" name="Marcador de contenido 2">
            <a:extLst>
              <a:ext uri="{FF2B5EF4-FFF2-40B4-BE49-F238E27FC236}">
                <a16:creationId xmlns:a16="http://schemas.microsoft.com/office/drawing/2014/main" id="{04D343E1-F79F-8445-E73A-DC03F402576E}"/>
              </a:ext>
            </a:extLst>
          </p:cNvPr>
          <p:cNvSpPr>
            <a:spLocks noGrp="1"/>
          </p:cNvSpPr>
          <p:nvPr>
            <p:ph idx="1"/>
          </p:nvPr>
        </p:nvSpPr>
        <p:spPr>
          <a:xfrm>
            <a:off x="616945" y="1575412"/>
            <a:ext cx="10807547" cy="5023692"/>
          </a:xfrm>
        </p:spPr>
        <p:txBody>
          <a:bodyPr>
            <a:normAutofit/>
          </a:bodyPr>
          <a:lstStyle/>
          <a:p>
            <a:pPr algn="just"/>
            <a:r>
              <a:rPr lang="es-ES" sz="1800" dirty="0">
                <a:effectLst/>
                <a:ea typeface="Calibri" panose="020F0502020204030204" pitchFamily="34" charset="0"/>
                <a:cs typeface="Times New Roman" panose="02020603050405020304" pitchFamily="18" charset="0"/>
              </a:rPr>
              <a:t>Durkheim, nos recordaba que la religión es entendida como «lo que hace actuar y ayuda a vivir». </a:t>
            </a:r>
          </a:p>
          <a:p>
            <a:pPr algn="just"/>
            <a:r>
              <a:rPr lang="es-ES" sz="1800" dirty="0">
                <a:effectLst/>
                <a:ea typeface="Calibri" panose="020F0502020204030204" pitchFamily="34" charset="0"/>
                <a:cs typeface="Times New Roman" panose="02020603050405020304" pitchFamily="18" charset="0"/>
              </a:rPr>
              <a:t>En esa sintonía, se plantea que lo que sucede en la religión popular no es del orden de la doctrina, de la catequesis o del libreto, porque está llamado a lo cotidiano, a las aspiraciones, a las promesas, frustraciones y miedos de la vida ordinaria. </a:t>
            </a:r>
          </a:p>
          <a:p>
            <a:pPr algn="just"/>
            <a:r>
              <a:rPr lang="es-CL" sz="1800" dirty="0">
                <a:effectLst/>
                <a:ea typeface="Calibri" panose="020F0502020204030204" pitchFamily="34" charset="0"/>
                <a:cs typeface="Times New Roman" panose="02020603050405020304" pitchFamily="18" charset="0"/>
              </a:rPr>
              <a:t>La tesis doctoral de María Pilar Silveira </a:t>
            </a:r>
            <a:r>
              <a:rPr lang="es-ES_tradnl" sz="1800" i="1" dirty="0">
                <a:effectLst/>
                <a:ea typeface="Calibri" panose="020F0502020204030204" pitchFamily="34" charset="0"/>
                <a:cs typeface="Times New Roman" panose="02020603050405020304" pitchFamily="18" charset="0"/>
              </a:rPr>
              <a:t>Mariología popular latinoamericana: fisonomía de la Mariología popular venezolana (2013) </a:t>
            </a:r>
            <a:r>
              <a:rPr lang="es-CL" sz="1800" dirty="0">
                <a:effectLst/>
                <a:ea typeface="Calibri" panose="020F0502020204030204" pitchFamily="34" charset="0"/>
                <a:cs typeface="Times New Roman" panose="02020603050405020304" pitchFamily="18" charset="0"/>
              </a:rPr>
              <a:t>ofrece un amplio y rico panorama de la religiosidad vivida en Venezuela</a:t>
            </a:r>
          </a:p>
          <a:p>
            <a:pPr marL="742950" lvl="1" indent="-285750" algn="just"/>
            <a:r>
              <a:rPr lang="es-CL" sz="1600" dirty="0">
                <a:effectLst/>
                <a:ea typeface="Calibri" panose="020F0502020204030204" pitchFamily="34" charset="0"/>
                <a:cs typeface="Times New Roman" panose="02020603050405020304" pitchFamily="18" charset="0"/>
              </a:rPr>
              <a:t>reconoce una vivencia positiva de la religiosidad mariana de las mujeres, quienes acuden a María como alguien cercano </a:t>
            </a:r>
          </a:p>
          <a:p>
            <a:pPr marL="742950" lvl="1" indent="-285750" algn="just"/>
            <a:r>
              <a:rPr lang="es-CL" sz="1600" dirty="0">
                <a:effectLst/>
                <a:ea typeface="Calibri" panose="020F0502020204030204" pitchFamily="34" charset="0"/>
                <a:cs typeface="Times New Roman" panose="02020603050405020304" pitchFamily="18" charset="0"/>
              </a:rPr>
              <a:t>se identifican con ella y, al mismo tiempo, es capaz de ayudarlas e inspirarles esperanza y fortaleza. </a:t>
            </a:r>
          </a:p>
          <a:p>
            <a:pPr algn="just"/>
            <a:r>
              <a:rPr lang="es-CL" sz="1800" dirty="0">
                <a:effectLst/>
                <a:ea typeface="Calibri" panose="020F0502020204030204" pitchFamily="34" charset="0"/>
              </a:rPr>
              <a:t>María Pilar Aquino, Ivonne </a:t>
            </a:r>
            <a:r>
              <a:rPr lang="es-CL" sz="1800" dirty="0" err="1">
                <a:effectLst/>
                <a:ea typeface="Calibri" panose="020F0502020204030204" pitchFamily="34" charset="0"/>
              </a:rPr>
              <a:t>Gebara</a:t>
            </a:r>
            <a:r>
              <a:rPr lang="es-CL" sz="1800" dirty="0">
                <a:effectLst/>
                <a:ea typeface="Calibri" panose="020F0502020204030204" pitchFamily="34" charset="0"/>
              </a:rPr>
              <a:t> y María Clara </a:t>
            </a:r>
            <a:r>
              <a:rPr lang="es-CL" sz="1800" dirty="0" err="1">
                <a:effectLst/>
                <a:ea typeface="Calibri" panose="020F0502020204030204" pitchFamily="34" charset="0"/>
              </a:rPr>
              <a:t>Bingemer</a:t>
            </a:r>
            <a:r>
              <a:rPr lang="es-CL" sz="1800" dirty="0">
                <a:effectLst/>
                <a:ea typeface="Calibri" panose="020F0502020204030204" pitchFamily="34" charset="0"/>
              </a:rPr>
              <a:t>, plantean que el encuentro entre María y las mujeres latinoamericanas se produce porque estas se identifican con ella. </a:t>
            </a:r>
          </a:p>
          <a:p>
            <a:pPr lvl="1" algn="just"/>
            <a:r>
              <a:rPr lang="es-CL" sz="1600" dirty="0">
                <a:effectLst/>
                <a:ea typeface="Calibri" panose="020F0502020204030204" pitchFamily="34" charset="0"/>
              </a:rPr>
              <a:t>Como ellas, María es también sólo una mujer pobre y socialmente sin importancia, de manera que comparten con ella la misma esperanza y el mismo lenguaje. </a:t>
            </a:r>
          </a:p>
          <a:p>
            <a:pPr lvl="1" algn="just"/>
            <a:r>
              <a:rPr lang="es-CL" sz="1600" dirty="0">
                <a:effectLst/>
                <a:ea typeface="Calibri" panose="020F0502020204030204" pitchFamily="34" charset="0"/>
              </a:rPr>
              <a:t>María entiende sus sufrimientos porque ella también los padeció</a:t>
            </a:r>
            <a:r>
              <a:rPr lang="es-CL" dirty="0">
                <a:effectLst/>
              </a:rPr>
              <a:t> (</a:t>
            </a:r>
            <a:r>
              <a:rPr lang="es-CL" sz="1600" i="1" dirty="0">
                <a:effectLst/>
                <a:ea typeface="Calibri" panose="020F0502020204030204" pitchFamily="34" charset="0"/>
                <a:cs typeface="Times New Roman" panose="02020603050405020304" pitchFamily="18" charset="0"/>
              </a:rPr>
              <a:t>María mujer profética. Ensayo teológico a partir de la mujer y de América Latina</a:t>
            </a:r>
            <a:r>
              <a:rPr lang="es-CL" sz="1600" i="1" dirty="0">
                <a:ea typeface="Calibri" panose="020F0502020204030204" pitchFamily="34" charset="0"/>
                <a:cs typeface="Times New Roman" panose="02020603050405020304" pitchFamily="18" charset="0"/>
              </a:rPr>
              <a:t>, </a:t>
            </a:r>
            <a:r>
              <a:rPr lang="es-CL" sz="1600" dirty="0">
                <a:effectLst/>
                <a:ea typeface="Calibri" panose="020F0502020204030204" pitchFamily="34" charset="0"/>
                <a:cs typeface="Times New Roman" panose="02020603050405020304" pitchFamily="18" charset="0"/>
              </a:rPr>
              <a:t>Madrid: Paulinas, 1987).</a:t>
            </a:r>
          </a:p>
          <a:p>
            <a:endParaRPr lang="es-CL" dirty="0"/>
          </a:p>
        </p:txBody>
      </p:sp>
    </p:spTree>
    <p:extLst>
      <p:ext uri="{BB962C8B-B14F-4D97-AF65-F5344CB8AC3E}">
        <p14:creationId xmlns:p14="http://schemas.microsoft.com/office/powerpoint/2010/main" val="2438480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5EF7D41-3BD3-6C0F-A91E-66C7879623A6}"/>
              </a:ext>
            </a:extLst>
          </p:cNvPr>
          <p:cNvSpPr>
            <a:spLocks noGrp="1"/>
          </p:cNvSpPr>
          <p:nvPr>
            <p:ph idx="1"/>
          </p:nvPr>
        </p:nvSpPr>
        <p:spPr>
          <a:xfrm>
            <a:off x="585105" y="700232"/>
            <a:ext cx="10828370" cy="5469214"/>
          </a:xfrm>
        </p:spPr>
        <p:txBody>
          <a:bodyPr/>
          <a:lstStyle/>
          <a:p>
            <a:pPr algn="just"/>
            <a:r>
              <a:rPr lang="es-CL" sz="1800" dirty="0">
                <a:effectLst/>
                <a:ea typeface="Calibri" panose="020F0502020204030204" pitchFamily="34" charset="0"/>
              </a:rPr>
              <a:t>A partir de los estudios de estas teólogas es posible afirmar que la devoción mariana no es tanto, o sólo, la fiesta o la peregrinación, sino sobre todo la relación que día a día se establece con María: </a:t>
            </a:r>
          </a:p>
          <a:p>
            <a:pPr lvl="1" algn="just"/>
            <a:r>
              <a:rPr lang="es-CL" sz="1600" dirty="0">
                <a:effectLst/>
                <a:ea typeface="Calibri" panose="020F0502020204030204" pitchFamily="34" charset="0"/>
              </a:rPr>
              <a:t>en el dolor de un hijo muerto en vida por el consumo de la droga, en el esfuerzo por alimentar a sus familias, en la lucha para que sus hijos/as puedan estudiar para acceder a mejores oportunidades, etc. </a:t>
            </a:r>
          </a:p>
          <a:p>
            <a:pPr algn="just"/>
            <a:r>
              <a:rPr lang="es-CL" sz="1800" dirty="0">
                <a:effectLst/>
                <a:ea typeface="Calibri" panose="020F0502020204030204" pitchFamily="34" charset="0"/>
              </a:rPr>
              <a:t>Las mujeres encuentran en su relación con María las razones y el consuelo, la fuerza y el sentido para seguir luchando, esperando y sosteniendo la vida diaria. </a:t>
            </a:r>
          </a:p>
          <a:p>
            <a:pPr algn="just"/>
            <a:r>
              <a:rPr lang="es-CL" sz="1800" dirty="0">
                <a:ea typeface="Calibri" panose="020F0502020204030204" pitchFamily="34" charset="0"/>
              </a:rPr>
              <a:t>E</a:t>
            </a:r>
            <a:r>
              <a:rPr lang="es-CL" sz="1800" dirty="0">
                <a:effectLst/>
                <a:ea typeface="Calibri" panose="020F0502020204030204" pitchFamily="34" charset="0"/>
              </a:rPr>
              <a:t>l punto de partida para el vínculo con la figura mariana está en las necesidades, las contradicciones, las angustias propias de lo humano</a:t>
            </a:r>
            <a:r>
              <a:rPr lang="es-CL" dirty="0">
                <a:effectLst/>
              </a:rPr>
              <a:t> </a:t>
            </a:r>
            <a:endParaRPr lang="es-CL" sz="1800" dirty="0"/>
          </a:p>
          <a:p>
            <a:pPr algn="just"/>
            <a:r>
              <a:rPr lang="es-CL" sz="1800" b="1" dirty="0">
                <a:effectLst/>
                <a:ea typeface="Calibri" panose="020F0502020204030204" pitchFamily="34" charset="0"/>
                <a:cs typeface="Times New Roman" panose="02020603050405020304" pitchFamily="18" charset="0"/>
              </a:rPr>
              <a:t>María es relevante justamente porque el vínculo con ella tiene relación con la vida cotidiana, porque las «hace actuar» de una determinada manera y las «ayuda a vivir». </a:t>
            </a:r>
          </a:p>
          <a:p>
            <a:pPr algn="just"/>
            <a:r>
              <a:rPr lang="es-CL" sz="1800" dirty="0">
                <a:effectLst/>
                <a:ea typeface="Calibri" panose="020F0502020204030204" pitchFamily="34" charset="0"/>
                <a:cs typeface="Times New Roman" panose="02020603050405020304" pitchFamily="18" charset="0"/>
              </a:rPr>
              <a:t>Por tanto, –justamente como Suárez plantea– si lo que se quiere es entender la religiosidad popular mariana, será fundamental entender quiénes son esas mujeres y cómo es su vida.</a:t>
            </a:r>
          </a:p>
          <a:p>
            <a:pPr algn="just"/>
            <a:endParaRPr lang="es-CL" dirty="0"/>
          </a:p>
        </p:txBody>
      </p:sp>
    </p:spTree>
    <p:extLst>
      <p:ext uri="{BB962C8B-B14F-4D97-AF65-F5344CB8AC3E}">
        <p14:creationId xmlns:p14="http://schemas.microsoft.com/office/powerpoint/2010/main" val="2748203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5D04CB-EC43-4928-273B-452EA3A08C9A}"/>
              </a:ext>
            </a:extLst>
          </p:cNvPr>
          <p:cNvSpPr>
            <a:spLocks noGrp="1"/>
          </p:cNvSpPr>
          <p:nvPr>
            <p:ph type="title"/>
          </p:nvPr>
        </p:nvSpPr>
        <p:spPr>
          <a:xfrm>
            <a:off x="286438" y="154126"/>
            <a:ext cx="11457541" cy="1636776"/>
          </a:xfrm>
        </p:spPr>
        <p:txBody>
          <a:bodyPr vert="horz" lIns="91440" tIns="45720" rIns="91440" bIns="45720" rtlCol="0" anchor="ctr">
            <a:normAutofit/>
          </a:bodyPr>
          <a:lstStyle/>
          <a:p>
            <a:r>
              <a:rPr lang="es-ES" sz="4000" dirty="0"/>
              <a:t>El/la creyente como unidad analítica y de construcción de sentido</a:t>
            </a:r>
            <a:r>
              <a:rPr lang="es-CL" sz="4000" dirty="0"/>
              <a:t> </a:t>
            </a:r>
          </a:p>
        </p:txBody>
      </p:sp>
      <p:sp>
        <p:nvSpPr>
          <p:cNvPr id="3" name="Marcador de contenido 2">
            <a:extLst>
              <a:ext uri="{FF2B5EF4-FFF2-40B4-BE49-F238E27FC236}">
                <a16:creationId xmlns:a16="http://schemas.microsoft.com/office/drawing/2014/main" id="{F391BA74-2745-CEAC-A1DE-F87C76DA0EA8}"/>
              </a:ext>
            </a:extLst>
          </p:cNvPr>
          <p:cNvSpPr>
            <a:spLocks noGrp="1"/>
          </p:cNvSpPr>
          <p:nvPr>
            <p:ph idx="1"/>
          </p:nvPr>
        </p:nvSpPr>
        <p:spPr>
          <a:xfrm>
            <a:off x="705080" y="1790902"/>
            <a:ext cx="10840597" cy="4912972"/>
          </a:xfrm>
        </p:spPr>
        <p:txBody>
          <a:bodyPr>
            <a:normAutofit fontScale="92500" lnSpcReduction="10000"/>
          </a:bodyPr>
          <a:lstStyle/>
          <a:p>
            <a:pPr algn="just"/>
            <a:r>
              <a:rPr lang="es-ES" sz="1800" dirty="0">
                <a:ea typeface="Calibri" panose="020F0502020204030204" pitchFamily="34" charset="0"/>
              </a:rPr>
              <a:t>P</a:t>
            </a:r>
            <a:r>
              <a:rPr lang="es-ES" sz="1800" dirty="0">
                <a:effectLst/>
                <a:ea typeface="Calibri" panose="020F0502020204030204" pitchFamily="34" charset="0"/>
              </a:rPr>
              <a:t>ara comprender la religión popular, se debe poner especial atención en el/la creyente que es el responsable de la gestión y reproducción de su fe en su vida cotidiana más allá de los preceptos eclesiales</a:t>
            </a:r>
            <a:r>
              <a:rPr lang="es-CL" dirty="0">
                <a:effectLst/>
              </a:rPr>
              <a:t> </a:t>
            </a:r>
          </a:p>
          <a:p>
            <a:pPr algn="just"/>
            <a:r>
              <a:rPr lang="es-ES" sz="1800" dirty="0">
                <a:effectLst/>
                <a:ea typeface="Calibri" panose="020F0502020204030204" pitchFamily="34" charset="0"/>
                <a:cs typeface="Times New Roman" panose="02020603050405020304" pitchFamily="18" charset="0"/>
              </a:rPr>
              <a:t>¿Qué lugar damos a los actores de estas prácticas a la hora de definirlas? </a:t>
            </a:r>
          </a:p>
          <a:p>
            <a:pPr lvl="1" algn="just"/>
            <a:r>
              <a:rPr lang="es-ES" sz="1600" dirty="0">
                <a:ea typeface="Calibri" panose="020F0502020204030204" pitchFamily="34" charset="0"/>
              </a:rPr>
              <a:t>L</a:t>
            </a:r>
            <a:r>
              <a:rPr lang="es-ES" sz="1600" dirty="0">
                <a:effectLst/>
                <a:ea typeface="Calibri" panose="020F0502020204030204" pitchFamily="34" charset="0"/>
              </a:rPr>
              <a:t>a pregunta es si las personas serán objeto o más bien sujetos activos de nuestra reflexión. </a:t>
            </a:r>
          </a:p>
          <a:p>
            <a:pPr lvl="1" algn="just"/>
            <a:r>
              <a:rPr lang="es-ES" sz="1600" dirty="0">
                <a:effectLst/>
                <a:ea typeface="Calibri" panose="020F0502020204030204" pitchFamily="34" charset="0"/>
              </a:rPr>
              <a:t>cuestionamiento por el lugar que les damos a los actores en la definición implica, en parte, revisar el peso teológico que le damos a sus experiencias.</a:t>
            </a:r>
            <a:r>
              <a:rPr lang="es-CL" sz="1400" dirty="0">
                <a:effectLst/>
              </a:rPr>
              <a:t> </a:t>
            </a:r>
          </a:p>
          <a:p>
            <a:pPr algn="just"/>
            <a:r>
              <a:rPr lang="es-ES" sz="1800" dirty="0">
                <a:ea typeface="Calibri" panose="020F0502020204030204" pitchFamily="34" charset="0"/>
              </a:rPr>
              <a:t>D</a:t>
            </a:r>
            <a:r>
              <a:rPr lang="es-ES" sz="1800" dirty="0">
                <a:effectLst/>
                <a:ea typeface="Calibri" panose="020F0502020204030204" pitchFamily="34" charset="0"/>
              </a:rPr>
              <a:t>esafío interesante y un modo novedoso de pensar el tratado </a:t>
            </a:r>
            <a:r>
              <a:rPr lang="es-ES" sz="1800" dirty="0" err="1">
                <a:effectLst/>
                <a:ea typeface="Calibri" panose="020F0502020204030204" pitchFamily="34" charset="0"/>
              </a:rPr>
              <a:t>marialógico</a:t>
            </a:r>
            <a:r>
              <a:rPr lang="es-ES" sz="1800" dirty="0">
                <a:effectLst/>
                <a:ea typeface="Calibri" panose="020F0502020204030204" pitchFamily="34" charset="0"/>
              </a:rPr>
              <a:t>:</a:t>
            </a:r>
          </a:p>
          <a:p>
            <a:pPr lvl="1" algn="just"/>
            <a:r>
              <a:rPr lang="es-ES" sz="1600" dirty="0">
                <a:effectLst/>
                <a:ea typeface="Calibri" panose="020F0502020204030204" pitchFamily="34" charset="0"/>
              </a:rPr>
              <a:t> la posibilidad de considerar las experiencias individuales y comunitarias marianas de las personas, no sólo como un dato anexo sino integrándolas como parte del desarrollo y, por tanto, con capacidad de ampliar y profundizar nuestra comprensión del tratado</a:t>
            </a:r>
            <a:r>
              <a:rPr lang="es-CL" sz="1400" dirty="0">
                <a:effectLst/>
              </a:rPr>
              <a:t> </a:t>
            </a:r>
            <a:endParaRPr lang="es-CL" sz="1400" dirty="0"/>
          </a:p>
          <a:p>
            <a:pPr algn="just"/>
            <a:r>
              <a:rPr lang="es-ES" sz="1800" dirty="0" err="1">
                <a:effectLst/>
                <a:ea typeface="Calibri" panose="020F0502020204030204" pitchFamily="34" charset="0"/>
              </a:rPr>
              <a:t>Gebara-Bingemer</a:t>
            </a:r>
            <a:r>
              <a:rPr lang="es-ES" sz="1800" dirty="0">
                <a:effectLst/>
                <a:ea typeface="Calibri" panose="020F0502020204030204" pitchFamily="34" charset="0"/>
              </a:rPr>
              <a:t>, quienes en su obra </a:t>
            </a:r>
            <a:r>
              <a:rPr lang="es-ES" sz="1800" dirty="0" err="1">
                <a:effectLst/>
                <a:ea typeface="Calibri" panose="020F0502020204030204" pitchFamily="34" charset="0"/>
              </a:rPr>
              <a:t>marialógica</a:t>
            </a:r>
            <a:r>
              <a:rPr lang="es-ES" sz="1800" dirty="0">
                <a:effectLst/>
                <a:ea typeface="Calibri" panose="020F0502020204030204" pitchFamily="34" charset="0"/>
              </a:rPr>
              <a:t> conjunta </a:t>
            </a:r>
            <a:r>
              <a:rPr lang="es-ES" sz="1800" i="1" dirty="0">
                <a:effectLst/>
                <a:ea typeface="Calibri" panose="020F0502020204030204" pitchFamily="34" charset="0"/>
              </a:rPr>
              <a:t>María, mujer profética; ensayo teológico a partir de la mujer y de América Latina</a:t>
            </a:r>
            <a:r>
              <a:rPr lang="es-ES" sz="1800" dirty="0">
                <a:effectLst/>
                <a:ea typeface="Calibri" panose="020F0502020204030204" pitchFamily="34" charset="0"/>
              </a:rPr>
              <a:t> (1987), ofrecen una reinterpretación de cada dogma mariano a partir de la realidad de los pobres y el contexto latinoamericano</a:t>
            </a:r>
            <a:r>
              <a:rPr lang="es-CL" sz="1600" dirty="0">
                <a:effectLst/>
              </a:rPr>
              <a:t> </a:t>
            </a:r>
          </a:p>
          <a:p>
            <a:pPr lvl="1" algn="just"/>
            <a:r>
              <a:rPr lang="es-ES" sz="1600" dirty="0">
                <a:effectLst/>
                <a:ea typeface="Calibri" panose="020F0502020204030204" pitchFamily="34" charset="0"/>
                <a:cs typeface="Times New Roman" panose="02020603050405020304" pitchFamily="18" charset="0"/>
              </a:rPr>
              <a:t>plantean la posibilidad de una evolución dogmática, entendida como una profundización del misterio cristiano, a la luz de la experiencia religiosa del pueblo y de sus elaboraciones teológicas que nacen a partir de su lucha por la vida. </a:t>
            </a:r>
            <a:endParaRPr lang="es-CL" sz="1600" dirty="0">
              <a:effectLst/>
              <a:ea typeface="Calibri" panose="020F0502020204030204" pitchFamily="34" charset="0"/>
              <a:cs typeface="Times New Roman" panose="02020603050405020304" pitchFamily="18" charset="0"/>
            </a:endParaRPr>
          </a:p>
          <a:p>
            <a:pPr algn="just"/>
            <a:r>
              <a:rPr lang="es-CL" sz="1800" dirty="0">
                <a:effectLst/>
                <a:ea typeface="Calibri" panose="020F0502020204030204" pitchFamily="34" charset="0"/>
                <a:cs typeface="Times New Roman" panose="02020603050405020304" pitchFamily="18" charset="0"/>
              </a:rPr>
              <a:t>Uso de métodos cualitativos en teología</a:t>
            </a:r>
            <a:endParaRPr lang="es-CL" dirty="0"/>
          </a:p>
        </p:txBody>
      </p:sp>
    </p:spTree>
    <p:extLst>
      <p:ext uri="{BB962C8B-B14F-4D97-AF65-F5344CB8AC3E}">
        <p14:creationId xmlns:p14="http://schemas.microsoft.com/office/powerpoint/2010/main" val="221321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B4824A-1DAB-D7CA-46D8-C0BB8D368068}"/>
              </a:ext>
            </a:extLst>
          </p:cNvPr>
          <p:cNvSpPr>
            <a:spLocks noGrp="1"/>
          </p:cNvSpPr>
          <p:nvPr>
            <p:ph type="title"/>
          </p:nvPr>
        </p:nvSpPr>
        <p:spPr>
          <a:xfrm>
            <a:off x="496971" y="-118872"/>
            <a:ext cx="10058400" cy="1609344"/>
          </a:xfrm>
        </p:spPr>
        <p:txBody>
          <a:bodyPr/>
          <a:lstStyle/>
          <a:p>
            <a:r>
              <a:rPr lang="es-CL" dirty="0"/>
              <a:t>Matices y nuevas perspectivas</a:t>
            </a:r>
          </a:p>
        </p:txBody>
      </p:sp>
      <p:sp>
        <p:nvSpPr>
          <p:cNvPr id="3" name="Marcador de contenido 2">
            <a:extLst>
              <a:ext uri="{FF2B5EF4-FFF2-40B4-BE49-F238E27FC236}">
                <a16:creationId xmlns:a16="http://schemas.microsoft.com/office/drawing/2014/main" id="{EF867B8F-623E-8A6B-01F6-E35A18F80A41}"/>
              </a:ext>
            </a:extLst>
          </p:cNvPr>
          <p:cNvSpPr>
            <a:spLocks noGrp="1"/>
          </p:cNvSpPr>
          <p:nvPr>
            <p:ph idx="1"/>
          </p:nvPr>
        </p:nvSpPr>
        <p:spPr>
          <a:xfrm>
            <a:off x="264405" y="1490472"/>
            <a:ext cx="11721947" cy="4756092"/>
          </a:xfrm>
        </p:spPr>
        <p:txBody>
          <a:bodyPr>
            <a:normAutofit/>
          </a:bodyPr>
          <a:lstStyle/>
          <a:p>
            <a:pPr algn="just"/>
            <a:r>
              <a:rPr lang="es-CL" sz="1800" dirty="0">
                <a:effectLst/>
                <a:ea typeface="Calibri" panose="020F0502020204030204" pitchFamily="34" charset="0"/>
              </a:rPr>
              <a:t>Más que entender que lo que ocurre en la religión popular «no es del orden de la doctrina», creo que hay una riqueza esperando a ser descubierta si abrimos un diálogo que permita construir puentes de mutua compenetración. </a:t>
            </a:r>
          </a:p>
          <a:p>
            <a:pPr algn="just"/>
            <a:r>
              <a:rPr lang="es-CL" sz="1800" dirty="0">
                <a:effectLst/>
                <a:ea typeface="Calibri" panose="020F0502020204030204" pitchFamily="34" charset="0"/>
              </a:rPr>
              <a:t>La necesidad de poner la atención en el/la creyente permitiría acortar la brecha entre la reflexión teológica de María y las prácticas devocionales marianas, entre la doctrina y la religión popular. </a:t>
            </a:r>
          </a:p>
          <a:p>
            <a:pPr algn="just"/>
            <a:r>
              <a:rPr lang="es-CL" sz="1800" dirty="0">
                <a:effectLst/>
                <a:ea typeface="Calibri" panose="020F0502020204030204" pitchFamily="34" charset="0"/>
                <a:cs typeface="Times New Roman" panose="02020603050405020304" pitchFamily="18" charset="0"/>
              </a:rPr>
              <a:t>Caso de las mujeres latinoamericanas:</a:t>
            </a:r>
          </a:p>
          <a:p>
            <a:pPr lvl="1" indent="449580" algn="just"/>
            <a:r>
              <a:rPr lang="es-CL" sz="1600" dirty="0">
                <a:effectLst/>
                <a:ea typeface="Calibri" panose="020F0502020204030204" pitchFamily="34" charset="0"/>
                <a:cs typeface="Times New Roman" panose="02020603050405020304" pitchFamily="18" charset="0"/>
              </a:rPr>
              <a:t>hay en el vínculo con María una fuerte identificación por el hecho de que ella también es madre y por eso es capaz de entender y acompañar mi maternidad. </a:t>
            </a:r>
          </a:p>
          <a:p>
            <a:pPr lvl="1" indent="449580" algn="just"/>
            <a:r>
              <a:rPr lang="es-CL" sz="1600" dirty="0">
                <a:effectLst/>
                <a:ea typeface="Calibri" panose="020F0502020204030204" pitchFamily="34" charset="0"/>
                <a:cs typeface="Times New Roman" panose="02020603050405020304" pitchFamily="18" charset="0"/>
              </a:rPr>
              <a:t>Para entender esta identificación: rol central que la maternidad tiene en la cultura. </a:t>
            </a:r>
          </a:p>
          <a:p>
            <a:pPr lvl="1" indent="449580" algn="just"/>
            <a:r>
              <a:rPr lang="es-CL" sz="1600" dirty="0">
                <a:effectLst/>
                <a:ea typeface="Calibri" panose="020F0502020204030204" pitchFamily="34" charset="0"/>
                <a:cs typeface="Times New Roman" panose="02020603050405020304" pitchFamily="18" charset="0"/>
              </a:rPr>
              <a:t>Sonia Montecino: a la base de la construcción de la identidad de las mujeres chilenas, hay una fuerte valoración de la madre que, reforzada por el fenómeno del marianismo,  permitiría entender la preferencia de la figura de María como madre. </a:t>
            </a:r>
            <a:r>
              <a:rPr lang="es-ES_tradnl" sz="1600" dirty="0">
                <a:ea typeface="Calibri" panose="020F0502020204030204" pitchFamily="34" charset="0"/>
                <a:cs typeface="Times New Roman" panose="02020603050405020304" pitchFamily="18" charset="0"/>
              </a:rPr>
              <a:t>M</a:t>
            </a:r>
            <a:r>
              <a:rPr lang="es-ES_tradnl" sz="1600" dirty="0">
                <a:effectLst/>
                <a:ea typeface="Calibri" panose="020F0502020204030204" pitchFamily="34" charset="0"/>
                <a:cs typeface="Times New Roman" panose="02020603050405020304" pitchFamily="18" charset="0"/>
              </a:rPr>
              <a:t>uchos de los rasgos que están contenidos en el modelo mariano maternal, son visibles en la identidad de las mujeres chilenas. </a:t>
            </a:r>
          </a:p>
          <a:p>
            <a:pPr indent="449580" algn="just"/>
            <a:r>
              <a:rPr lang="es-CL" dirty="0">
                <a:effectLst/>
                <a:ea typeface="Calibri" panose="020F0502020204030204" pitchFamily="34" charset="0"/>
                <a:cs typeface="Times New Roman" panose="02020603050405020304" pitchFamily="18" charset="0"/>
              </a:rPr>
              <a:t>Preguntarse acerca de cómo la comprensión del dogma ha impactado en la práctica religiosa, así como también, cómo ésta permea, amplia y nutre la doctrina mariana. </a:t>
            </a:r>
          </a:p>
          <a:p>
            <a:pPr algn="just"/>
            <a:endParaRPr lang="es-CL" dirty="0"/>
          </a:p>
        </p:txBody>
      </p:sp>
    </p:spTree>
    <p:extLst>
      <p:ext uri="{BB962C8B-B14F-4D97-AF65-F5344CB8AC3E}">
        <p14:creationId xmlns:p14="http://schemas.microsoft.com/office/powerpoint/2010/main" val="2922256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8B3C5D-AB65-B89F-B86D-0D1FF2C703B3}"/>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8E4A9DE8-1C5E-3202-00E6-415D30178A53}"/>
              </a:ext>
            </a:extLst>
          </p:cNvPr>
          <p:cNvSpPr>
            <a:spLocks noGrp="1"/>
          </p:cNvSpPr>
          <p:nvPr>
            <p:ph idx="1"/>
          </p:nvPr>
        </p:nvSpPr>
        <p:spPr/>
        <p:txBody>
          <a:bodyPr/>
          <a:lstStyle/>
          <a:p>
            <a:pPr algn="just"/>
            <a:r>
              <a:rPr lang="es-CL" sz="1800" dirty="0">
                <a:ea typeface="Calibri" panose="020F0502020204030204" pitchFamily="34" charset="0"/>
                <a:cs typeface="Times New Roman" panose="02020603050405020304" pitchFamily="18" charset="0"/>
              </a:rPr>
              <a:t>P</a:t>
            </a:r>
            <a:r>
              <a:rPr lang="es-CL" sz="1800" dirty="0">
                <a:effectLst/>
                <a:ea typeface="Calibri" panose="020F0502020204030204" pitchFamily="34" charset="0"/>
                <a:cs typeface="Times New Roman" panose="02020603050405020304" pitchFamily="18" charset="0"/>
              </a:rPr>
              <a:t>ara que efectivamente sea nutritivo, el diálogo tiene que ser bidireccional:</a:t>
            </a:r>
          </a:p>
          <a:p>
            <a:pPr lvl="1" algn="just"/>
            <a:r>
              <a:rPr lang="es-CL" sz="1600" dirty="0">
                <a:effectLst/>
                <a:ea typeface="Calibri" panose="020F0502020204030204" pitchFamily="34" charset="0"/>
                <a:cs typeface="Times New Roman" panose="02020603050405020304" pitchFamily="18" charset="0"/>
              </a:rPr>
              <a:t>no se trata sólo de comprender cómo los sujetos viven la devoción mariana, sino la realidad teologal que permite descubrir esa práctica y, a su vez, como la comprensión del dogma sustenta y opera en ellas. </a:t>
            </a:r>
          </a:p>
          <a:p>
            <a:pPr algn="just"/>
            <a:endParaRPr lang="es-CL" sz="1800" dirty="0">
              <a:effectLst/>
              <a:ea typeface="Calibri" panose="020F0502020204030204" pitchFamily="34" charset="0"/>
              <a:cs typeface="Times New Roman" panose="02020603050405020304" pitchFamily="18" charset="0"/>
            </a:endParaRPr>
          </a:p>
          <a:p>
            <a:pPr marL="0" indent="0" algn="ctr">
              <a:buNone/>
            </a:pPr>
            <a:r>
              <a:rPr lang="es-CL" sz="1800" i="1" dirty="0">
                <a:effectLst/>
                <a:ea typeface="Calibri" panose="020F0502020204030204" pitchFamily="34" charset="0"/>
                <a:cs typeface="Times New Roman" panose="02020603050405020304" pitchFamily="18" charset="0"/>
              </a:rPr>
              <a:t>¿Qué elementos del dogma de la maternidad, por ejemplo, están presentes en la devoción mariana?</a:t>
            </a:r>
          </a:p>
          <a:p>
            <a:pPr marL="0" indent="0" algn="ctr">
              <a:buNone/>
            </a:pPr>
            <a:r>
              <a:rPr lang="es-CL" sz="1800" i="1" dirty="0">
                <a:effectLst/>
                <a:ea typeface="Calibri" panose="020F0502020204030204" pitchFamily="34" charset="0"/>
                <a:cs typeface="Times New Roman" panose="02020603050405020304" pitchFamily="18" charset="0"/>
              </a:rPr>
              <a:t>¿</a:t>
            </a:r>
            <a:r>
              <a:rPr lang="es-CL" sz="1800" i="1" dirty="0">
                <a:ea typeface="Calibri" panose="020F0502020204030204" pitchFamily="34" charset="0"/>
                <a:cs typeface="Times New Roman" panose="02020603050405020304" pitchFamily="18" charset="0"/>
              </a:rPr>
              <a:t>Q</a:t>
            </a:r>
            <a:r>
              <a:rPr lang="es-CL" sz="1800" i="1" dirty="0">
                <a:effectLst/>
                <a:ea typeface="Calibri" panose="020F0502020204030204" pitchFamily="34" charset="0"/>
                <a:cs typeface="Times New Roman" panose="02020603050405020304" pitchFamily="18" charset="0"/>
              </a:rPr>
              <a:t>ué elementos de la devoción a María madre resultan novedosos para la comprensión del dogma y merecen ser analizados y discernidos para una posible profundización del mismo?</a:t>
            </a:r>
          </a:p>
          <a:p>
            <a:pPr algn="just"/>
            <a:endParaRPr lang="es-CL" dirty="0"/>
          </a:p>
        </p:txBody>
      </p:sp>
    </p:spTree>
    <p:extLst>
      <p:ext uri="{BB962C8B-B14F-4D97-AF65-F5344CB8AC3E}">
        <p14:creationId xmlns:p14="http://schemas.microsoft.com/office/powerpoint/2010/main" val="1626332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etras en madera">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Letras en madera</Template>
  <TotalTime>972</TotalTime>
  <Words>2018</Words>
  <Application>Microsoft Macintosh PowerPoint</Application>
  <PresentationFormat>Panorámica</PresentationFormat>
  <Paragraphs>70</Paragraphs>
  <Slides>11</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11</vt:i4>
      </vt:variant>
    </vt:vector>
  </HeadingPairs>
  <TitlesOfParts>
    <vt:vector size="21" baseType="lpstr">
      <vt:lpstr>Aptos</vt:lpstr>
      <vt:lpstr>Arial</vt:lpstr>
      <vt:lpstr>Calibri</vt:lpstr>
      <vt:lpstr>Georgia</vt:lpstr>
      <vt:lpstr>Rockwell</vt:lpstr>
      <vt:lpstr>Rockwell Condensed</vt:lpstr>
      <vt:lpstr>Rockwell Extra Bold</vt:lpstr>
      <vt:lpstr>Times New Roman</vt:lpstr>
      <vt:lpstr>Wingdings</vt:lpstr>
      <vt:lpstr>Letras en madera</vt:lpstr>
      <vt:lpstr>María y la religiosidad popular </vt:lpstr>
      <vt:lpstr>La complejidad de un concepto escurridizo (Hugo Suárez) </vt:lpstr>
      <vt:lpstr>Algunas definiciones </vt:lpstr>
      <vt:lpstr>Presentación de PowerPoint</vt:lpstr>
      <vt:lpstr>RASGOS DE LA RP EN LA ACTUALIDAD</vt:lpstr>
      <vt:lpstr>RECEPCIÓN DESDE LA MARIALOGÍA</vt:lpstr>
      <vt:lpstr>El vínculo de la religión popular con la cotidianidad </vt:lpstr>
      <vt:lpstr>Presentación de PowerPoint</vt:lpstr>
      <vt:lpstr>El/la creyente como unidad analítica y de construcción de sentido </vt:lpstr>
      <vt:lpstr>Matices y nuevas perspectivas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Blanca Besa Bandeira</dc:creator>
  <cp:lastModifiedBy>Blanca Besa Bandeira</cp:lastModifiedBy>
  <cp:revision>1</cp:revision>
  <dcterms:created xsi:type="dcterms:W3CDTF">2024-10-24T19:38:24Z</dcterms:created>
  <dcterms:modified xsi:type="dcterms:W3CDTF">2024-10-25T11:50:46Z</dcterms:modified>
</cp:coreProperties>
</file>