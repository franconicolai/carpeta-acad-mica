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302" r:id="rId2"/>
    <p:sldId id="303" r:id="rId3"/>
    <p:sldId id="304" r:id="rId4"/>
    <p:sldId id="266" r:id="rId5"/>
    <p:sldId id="265" r:id="rId6"/>
    <p:sldId id="305" r:id="rId7"/>
    <p:sldId id="307" r:id="rId8"/>
    <p:sldId id="308" r:id="rId9"/>
    <p:sldId id="272" r:id="rId10"/>
    <p:sldId id="273" r:id="rId11"/>
    <p:sldId id="274" r:id="rId12"/>
    <p:sldId id="275" r:id="rId13"/>
    <p:sldId id="276" r:id="rId14"/>
    <p:sldId id="309" r:id="rId15"/>
    <p:sldId id="310" r:id="rId16"/>
    <p:sldId id="311" r:id="rId17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000"/>
    <p:restoredTop sz="92883"/>
  </p:normalViewPr>
  <p:slideViewPr>
    <p:cSldViewPr snapToGrid="0" snapToObjects="1">
      <p:cViewPr varScale="1">
        <p:scale>
          <a:sx n="86" d="100"/>
          <a:sy n="86" d="100"/>
        </p:scale>
        <p:origin x="21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EBD01-8AC9-844E-9DF4-CA932C3F823B}" type="datetimeFigureOut">
              <a:rPr lang="es-ES_tradnl" smtClean="0"/>
              <a:t>8/9/23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ECA99B-6629-CB49-A153-75911B54A7E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57819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8/9/23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53847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8/9/23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33060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8/9/23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89296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8/9/23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80842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8/9/23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43613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8/9/23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6773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8/9/23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05827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8/9/23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6332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8/9/23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8869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8/9/23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13557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E3E1-D3F4-BB4F-B389-6ADEE42928B7}" type="datetimeFigureOut">
              <a:rPr lang="es-ES_tradnl" smtClean="0"/>
              <a:t>8/9/23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0425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3E3E1-D3F4-BB4F-B389-6ADEE42928B7}" type="datetimeFigureOut">
              <a:rPr lang="es-ES_tradnl" smtClean="0"/>
              <a:t>8/9/23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899B9-0007-F14F-A062-45D7A5C00D9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0222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48112" y="-200910"/>
            <a:ext cx="4319888" cy="7058910"/>
            <a:chOff x="0" y="0"/>
            <a:chExt cx="6143841" cy="1003933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8051" r="41371"/>
            <a:stretch>
              <a:fillRect/>
            </a:stretch>
          </p:blipFill>
          <p:spPr>
            <a:xfrm>
              <a:off x="0" y="0"/>
              <a:ext cx="6143841" cy="1003933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495946" y="2091217"/>
            <a:ext cx="5365048" cy="2101885"/>
            <a:chOff x="-1352735" y="-47625"/>
            <a:chExt cx="6395935" cy="2989346"/>
          </a:xfrm>
        </p:grpSpPr>
        <p:sp>
          <p:nvSpPr>
            <p:cNvPr id="5" name="TextBox 5"/>
            <p:cNvSpPr txBox="1"/>
            <p:nvPr/>
          </p:nvSpPr>
          <p:spPr>
            <a:xfrm>
              <a:off x="-1352735" y="-47625"/>
              <a:ext cx="6395935" cy="7842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4313"/>
                </a:lnSpc>
              </a:pPr>
              <a:r>
                <a:rPr lang="en-US" sz="3600" dirty="0">
                  <a:solidFill>
                    <a:schemeClr val="bg1"/>
                  </a:solidFill>
                </a:rPr>
                <a:t>¿QUÉ ES EL FEMINISMO?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1352735" y="1044907"/>
              <a:ext cx="6395935" cy="18968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595"/>
                </a:lnSpc>
              </a:pPr>
              <a:r>
                <a:rPr lang="en-US" sz="2800" dirty="0">
                  <a:solidFill>
                    <a:schemeClr val="bg1"/>
                  </a:solidFill>
                </a:rPr>
                <a:t>"</a:t>
              </a:r>
              <a:r>
                <a:rPr lang="en-US" sz="2800" i="1" dirty="0">
                  <a:solidFill>
                    <a:schemeClr val="bg1"/>
                  </a:solidFill>
                </a:rPr>
                <a:t>La palabra </a:t>
              </a:r>
              <a:r>
                <a:rPr lang="en-US" sz="2800" i="1" dirty="0" err="1">
                  <a:solidFill>
                    <a:schemeClr val="bg1"/>
                  </a:solidFill>
                </a:rPr>
                <a:t>feminismo</a:t>
              </a:r>
              <a:r>
                <a:rPr lang="en-US" sz="2800" i="1" dirty="0">
                  <a:solidFill>
                    <a:schemeClr val="bg1"/>
                  </a:solidFill>
                </a:rPr>
                <a:t> </a:t>
              </a:r>
              <a:r>
                <a:rPr lang="en-US" sz="2800" i="1" dirty="0" err="1">
                  <a:solidFill>
                    <a:schemeClr val="bg1"/>
                  </a:solidFill>
                </a:rPr>
                <a:t>tiene</a:t>
              </a:r>
              <a:r>
                <a:rPr lang="en-US" sz="2800" i="1" dirty="0">
                  <a:solidFill>
                    <a:schemeClr val="bg1"/>
                  </a:solidFill>
                </a:rPr>
                <a:t> mala </a:t>
              </a:r>
              <a:r>
                <a:rPr lang="en-US" sz="2800" i="1" dirty="0" err="1">
                  <a:solidFill>
                    <a:schemeClr val="bg1"/>
                  </a:solidFill>
                </a:rPr>
                <a:t>fama</a:t>
              </a:r>
              <a:r>
                <a:rPr lang="en-US" sz="2800" i="1" dirty="0">
                  <a:solidFill>
                    <a:schemeClr val="bg1"/>
                  </a:solidFill>
                </a:rPr>
                <a:t> </a:t>
              </a:r>
              <a:r>
                <a:rPr lang="en-US" sz="2800" i="1" dirty="0" err="1">
                  <a:solidFill>
                    <a:schemeClr val="bg1"/>
                  </a:solidFill>
                </a:rPr>
                <a:t>pero</a:t>
              </a:r>
              <a:r>
                <a:rPr lang="en-US" sz="2800" i="1" dirty="0">
                  <a:solidFill>
                    <a:schemeClr val="bg1"/>
                  </a:solidFill>
                </a:rPr>
                <a:t> </a:t>
              </a:r>
              <a:r>
                <a:rPr lang="en-US" sz="2800" i="1" dirty="0" err="1">
                  <a:solidFill>
                    <a:schemeClr val="bg1"/>
                  </a:solidFill>
                </a:rPr>
                <a:t>hermoso</a:t>
              </a:r>
              <a:r>
                <a:rPr lang="en-US" sz="2800" i="1" dirty="0">
                  <a:solidFill>
                    <a:schemeClr val="bg1"/>
                  </a:solidFill>
                </a:rPr>
                <a:t> </a:t>
              </a:r>
              <a:r>
                <a:rPr lang="en-US" sz="2800" i="1" dirty="0" err="1">
                  <a:solidFill>
                    <a:schemeClr val="bg1"/>
                  </a:solidFill>
                </a:rPr>
                <a:t>significado</a:t>
              </a:r>
              <a:r>
                <a:rPr lang="en-US" sz="2800" dirty="0">
                  <a:solidFill>
                    <a:schemeClr val="bg1"/>
                  </a:solidFill>
                </a:rPr>
                <a:t>" </a:t>
              </a:r>
            </a:p>
            <a:p>
              <a:pPr algn="r">
                <a:lnSpc>
                  <a:spcPts val="2595"/>
                </a:lnSpc>
              </a:pPr>
              <a:endParaRPr lang="en-US" sz="2000" dirty="0">
                <a:solidFill>
                  <a:schemeClr val="bg1"/>
                </a:solidFill>
              </a:endParaRPr>
            </a:p>
            <a:p>
              <a:pPr algn="r">
                <a:lnSpc>
                  <a:spcPts val="2595"/>
                </a:lnSpc>
              </a:pPr>
              <a:r>
                <a:rPr lang="en-US" sz="2000" dirty="0">
                  <a:solidFill>
                    <a:schemeClr val="bg1"/>
                  </a:solidFill>
                </a:rPr>
                <a:t>E. Johnson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120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76434" y="330293"/>
            <a:ext cx="5780868" cy="3489809"/>
            <a:chOff x="-598596" y="-47625"/>
            <a:chExt cx="8221679" cy="4963284"/>
          </a:xfrm>
        </p:grpSpPr>
        <p:sp>
          <p:nvSpPr>
            <p:cNvPr id="5" name="TextBox 5"/>
            <p:cNvSpPr txBox="1"/>
            <p:nvPr/>
          </p:nvSpPr>
          <p:spPr>
            <a:xfrm>
              <a:off x="-598596" y="-47625"/>
              <a:ext cx="8221679" cy="7842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313"/>
                </a:lnSpc>
              </a:pPr>
              <a:r>
                <a:rPr lang="en-US" sz="3600" b="1" dirty="0">
                  <a:solidFill>
                    <a:schemeClr val="bg1"/>
                  </a:solidFill>
                </a:rPr>
                <a:t>“NO ES UN HEMBRISMO”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70435"/>
              <a:ext cx="7623083" cy="28452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2595"/>
                </a:lnSpc>
              </a:pPr>
              <a:r>
                <a:rPr lang="en-US" sz="1981" dirty="0">
                  <a:solidFill>
                    <a:srgbClr val="3D3A26"/>
                  </a:solidFill>
                  <a:latin typeface="Glacial Indifference"/>
                </a:rPr>
                <a:t> </a:t>
              </a:r>
              <a:r>
                <a:rPr lang="en-US" sz="2400" dirty="0">
                  <a:solidFill>
                    <a:schemeClr val="bg1"/>
                  </a:solidFill>
                </a:rPr>
                <a:t>"El </a:t>
              </a:r>
              <a:r>
                <a:rPr lang="en-US" sz="2400" dirty="0" err="1">
                  <a:solidFill>
                    <a:schemeClr val="bg1"/>
                  </a:solidFill>
                </a:rPr>
                <a:t>feminismo</a:t>
              </a:r>
              <a:r>
                <a:rPr lang="en-US" sz="2400" dirty="0">
                  <a:solidFill>
                    <a:schemeClr val="bg1"/>
                  </a:solidFill>
                </a:rPr>
                <a:t> al que me </a:t>
              </a:r>
              <a:r>
                <a:rPr lang="en-US" sz="2400" dirty="0" err="1">
                  <a:solidFill>
                    <a:schemeClr val="bg1"/>
                  </a:solidFill>
                </a:rPr>
                <a:t>refiero</a:t>
              </a:r>
              <a:r>
                <a:rPr lang="en-US" sz="2400" dirty="0">
                  <a:solidFill>
                    <a:schemeClr val="bg1"/>
                  </a:solidFill>
                </a:rPr>
                <a:t> no </a:t>
              </a:r>
              <a:r>
                <a:rPr lang="en-US" sz="2400" dirty="0" err="1">
                  <a:solidFill>
                    <a:schemeClr val="bg1"/>
                  </a:solidFill>
                </a:rPr>
                <a:t>es</a:t>
              </a:r>
              <a:r>
                <a:rPr lang="en-US" sz="2400" dirty="0">
                  <a:solidFill>
                    <a:schemeClr val="bg1"/>
                  </a:solidFill>
                </a:rPr>
                <a:t> el </a:t>
              </a:r>
              <a:r>
                <a:rPr lang="en-US" sz="2400" dirty="0" err="1">
                  <a:solidFill>
                    <a:schemeClr val="bg1"/>
                  </a:solidFill>
                </a:rPr>
                <a:t>equivalente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femenino</a:t>
              </a:r>
              <a:r>
                <a:rPr lang="en-US" sz="2400" dirty="0">
                  <a:solidFill>
                    <a:schemeClr val="bg1"/>
                  </a:solidFill>
                </a:rPr>
                <a:t> de machismo; </a:t>
              </a:r>
              <a:r>
                <a:rPr lang="en-US" sz="2400" dirty="0" err="1">
                  <a:solidFill>
                    <a:schemeClr val="bg1"/>
                  </a:solidFill>
                </a:rPr>
                <a:t>eso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en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todo</a:t>
              </a:r>
              <a:r>
                <a:rPr lang="en-US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 err="1">
                  <a:solidFill>
                    <a:schemeClr val="bg1"/>
                  </a:solidFill>
                </a:rPr>
                <a:t>caso</a:t>
              </a:r>
              <a:r>
                <a:rPr lang="en-US" sz="2400" dirty="0">
                  <a:solidFill>
                    <a:schemeClr val="bg1"/>
                  </a:solidFill>
                </a:rPr>
                <a:t> se </a:t>
              </a:r>
              <a:r>
                <a:rPr lang="en-US" sz="2400" dirty="0" err="1">
                  <a:solidFill>
                    <a:schemeClr val="bg1"/>
                  </a:solidFill>
                </a:rPr>
                <a:t>llamaría</a:t>
              </a:r>
              <a:r>
                <a:rPr lang="en-US" sz="2400" dirty="0">
                  <a:solidFill>
                    <a:schemeClr val="bg1"/>
                  </a:solidFill>
                </a:rPr>
                <a:t> “</a:t>
              </a:r>
              <a:r>
                <a:rPr lang="en-US" sz="2400" dirty="0" err="1">
                  <a:solidFill>
                    <a:schemeClr val="bg1"/>
                  </a:solidFill>
                </a:rPr>
                <a:t>hembrismo</a:t>
              </a:r>
              <a:r>
                <a:rPr lang="en-US" sz="2400" dirty="0">
                  <a:solidFill>
                    <a:schemeClr val="bg1"/>
                  </a:solidFill>
                </a:rPr>
                <a:t>”.</a:t>
              </a:r>
            </a:p>
            <a:p>
              <a:pPr algn="r">
                <a:lnSpc>
                  <a:spcPts val="2595"/>
                </a:lnSpc>
              </a:pPr>
              <a:endParaRPr lang="en-US" sz="1981" dirty="0">
                <a:solidFill>
                  <a:schemeClr val="bg1"/>
                </a:solidFill>
              </a:endParaRPr>
            </a:p>
            <a:p>
              <a:pPr algn="r">
                <a:lnSpc>
                  <a:spcPts val="2595"/>
                </a:lnSpc>
              </a:pPr>
              <a:r>
                <a:rPr lang="en-US" sz="2000" dirty="0">
                  <a:solidFill>
                    <a:schemeClr val="bg1"/>
                  </a:solidFill>
                </a:rPr>
                <a:t>Nancy Bedford </a:t>
              </a:r>
            </a:p>
            <a:p>
              <a:pPr algn="r">
                <a:lnSpc>
                  <a:spcPts val="2595"/>
                </a:lnSpc>
              </a:pPr>
              <a:endParaRPr lang="en-US" sz="1981" dirty="0">
                <a:solidFill>
                  <a:schemeClr val="bg1"/>
                </a:solidFill>
              </a:endParaRPr>
            </a:p>
          </p:txBody>
        </p:sp>
      </p:grp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324027" cy="3238846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227307" y="4254906"/>
            <a:ext cx="742885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_tradnl" sz="2400" i="1" dirty="0">
                <a:solidFill>
                  <a:schemeClr val="bg1"/>
                </a:solidFill>
              </a:rPr>
              <a:t>“El objetivo no es que las mujeres asimilen la forma de ser de los varones patriarcales, ni que los varones ocupen un lugar acotado a lo doméstico o relegado a la invisibilidad semejante al que han ocupado las mujeres en el patriarcado, sino que en Cristo mujeres y varones se relacionen de una manera diferente.”</a:t>
            </a:r>
          </a:p>
        </p:txBody>
      </p:sp>
    </p:spTree>
    <p:extLst>
      <p:ext uri="{BB962C8B-B14F-4D97-AF65-F5344CB8AC3E}">
        <p14:creationId xmlns:p14="http://schemas.microsoft.com/office/powerpoint/2010/main" val="147614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4898571" cy="6858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5007970" y="593124"/>
            <a:ext cx="7184030" cy="5755961"/>
            <a:chOff x="0" y="-19050"/>
            <a:chExt cx="8437401" cy="8068251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7847222" cy="11951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800">
                  <a:solidFill>
                    <a:srgbClr val="3D3A26"/>
                  </a:solidFill>
                </a:rPr>
                <a:t>"SE REFIERE A LA ACTITUD QUE PROMUEVE A LAS MUJERES COMO SERES HUMANOS"</a:t>
              </a:r>
              <a:endParaRPr lang="en-US" sz="2800" dirty="0">
                <a:solidFill>
                  <a:srgbClr val="3D3A26"/>
                </a:solidFill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867" y="2474216"/>
              <a:ext cx="8358534" cy="55749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595"/>
                </a:lnSpc>
              </a:pPr>
              <a:r>
                <a:rPr lang="en-US" sz="2800" dirty="0">
                  <a:solidFill>
                    <a:schemeClr val="bg1"/>
                  </a:solidFill>
                </a:rPr>
                <a:t>...</a:t>
              </a:r>
              <a:r>
                <a:rPr lang="en-US" sz="2800" b="1" dirty="0" err="1">
                  <a:solidFill>
                    <a:schemeClr val="bg1"/>
                  </a:solidFill>
                </a:rPr>
                <a:t>plenamente</a:t>
              </a:r>
              <a:r>
                <a:rPr lang="en-US" sz="2800" b="1" dirty="0">
                  <a:solidFill>
                    <a:schemeClr val="bg1"/>
                  </a:solidFill>
                </a:rPr>
                <a:t> </a:t>
              </a:r>
              <a:r>
                <a:rPr lang="en-US" sz="2800" b="1" dirty="0" err="1">
                  <a:solidFill>
                    <a:schemeClr val="bg1"/>
                  </a:solidFill>
                </a:rPr>
                <a:t>dotadas</a:t>
              </a:r>
              <a:r>
                <a:rPr lang="en-US" sz="2800" b="1" dirty="0">
                  <a:solidFill>
                    <a:schemeClr val="bg1"/>
                  </a:solidFill>
                </a:rPr>
                <a:t> </a:t>
              </a:r>
              <a:r>
                <a:rPr lang="en-US" sz="2800" dirty="0">
                  <a:solidFill>
                    <a:schemeClr val="bg1"/>
                  </a:solidFill>
                </a:rPr>
                <a:t>y a la </a:t>
              </a:r>
              <a:r>
                <a:rPr lang="en-US" sz="2800" dirty="0" err="1">
                  <a:solidFill>
                    <a:schemeClr val="bg1"/>
                  </a:solidFill>
                </a:rPr>
                <a:t>vez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b="1" dirty="0" err="1">
                  <a:solidFill>
                    <a:schemeClr val="bg1"/>
                  </a:solidFill>
                </a:rPr>
                <a:t>muy</a:t>
              </a:r>
              <a:r>
                <a:rPr lang="en-US" sz="2800" b="1" dirty="0">
                  <a:solidFill>
                    <a:schemeClr val="bg1"/>
                  </a:solidFill>
                </a:rPr>
                <a:t> </a:t>
              </a:r>
              <a:r>
                <a:rPr lang="en-US" sz="2800" b="1" dirty="0" err="1">
                  <a:solidFill>
                    <a:schemeClr val="bg1"/>
                  </a:solidFill>
                </a:rPr>
                <a:t>diversas</a:t>
              </a:r>
              <a:r>
                <a:rPr lang="en-US" sz="2800" b="1" dirty="0">
                  <a:solidFill>
                    <a:schemeClr val="bg1"/>
                  </a:solidFill>
                </a:rPr>
                <a:t> </a:t>
              </a:r>
              <a:r>
                <a:rPr lang="en-US" sz="2800" dirty="0">
                  <a:solidFill>
                    <a:schemeClr val="bg1"/>
                  </a:solidFill>
                </a:rPr>
                <a:t>y </a:t>
              </a:r>
              <a:r>
                <a:rPr lang="en-US" sz="2800" dirty="0" err="1">
                  <a:solidFill>
                    <a:schemeClr val="bg1"/>
                  </a:solidFill>
                </a:rPr>
                <a:t>merecedoras</a:t>
              </a:r>
              <a:r>
                <a:rPr lang="en-US" sz="2800" dirty="0">
                  <a:solidFill>
                    <a:schemeClr val="bg1"/>
                  </a:solidFill>
                </a:rPr>
                <a:t> de </a:t>
              </a:r>
              <a:r>
                <a:rPr lang="en-US" sz="2800" b="1" dirty="0" err="1">
                  <a:solidFill>
                    <a:schemeClr val="bg1"/>
                  </a:solidFill>
                </a:rPr>
                <a:t>los</a:t>
              </a:r>
              <a:r>
                <a:rPr lang="en-US" sz="2800" b="1" dirty="0">
                  <a:solidFill>
                    <a:schemeClr val="bg1"/>
                  </a:solidFill>
                </a:rPr>
                <a:t> </a:t>
              </a:r>
              <a:r>
                <a:rPr lang="en-US" sz="2800" b="1" dirty="0" err="1">
                  <a:solidFill>
                    <a:schemeClr val="bg1"/>
                  </a:solidFill>
                </a:rPr>
                <a:t>mismos</a:t>
              </a:r>
              <a:r>
                <a:rPr lang="en-US" sz="2800" b="1" dirty="0">
                  <a:solidFill>
                    <a:schemeClr val="bg1"/>
                  </a:solidFill>
                </a:rPr>
                <a:t> </a:t>
              </a:r>
              <a:r>
                <a:rPr lang="en-US" sz="2800" dirty="0">
                  <a:solidFill>
                    <a:schemeClr val="bg1"/>
                  </a:solidFill>
                </a:rPr>
                <a:t>derechos, </a:t>
              </a:r>
              <a:r>
                <a:rPr lang="en-US" sz="2800" dirty="0" err="1">
                  <a:solidFill>
                    <a:schemeClr val="bg1"/>
                  </a:solidFill>
                </a:rPr>
                <a:t>dignidad</a:t>
              </a:r>
              <a:r>
                <a:rPr lang="en-US" sz="2800" dirty="0">
                  <a:solidFill>
                    <a:schemeClr val="bg1"/>
                  </a:solidFill>
                </a:rPr>
                <a:t> y </a:t>
              </a:r>
              <a:r>
                <a:rPr lang="en-US" sz="2800" dirty="0" err="1">
                  <a:solidFill>
                    <a:schemeClr val="bg1"/>
                  </a:solidFill>
                </a:rPr>
                <a:t>poder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en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todas</a:t>
              </a:r>
              <a:r>
                <a:rPr lang="en-US" sz="2800" dirty="0">
                  <a:solidFill>
                    <a:schemeClr val="bg1"/>
                  </a:solidFill>
                </a:rPr>
                <a:t> las </a:t>
              </a:r>
              <a:r>
                <a:rPr lang="en-US" sz="2800" dirty="0" err="1">
                  <a:solidFill>
                    <a:schemeClr val="bg1"/>
                  </a:solidFill>
                </a:rPr>
                <a:t>esferas</a:t>
              </a:r>
              <a:r>
                <a:rPr lang="en-US" sz="2800" dirty="0">
                  <a:solidFill>
                    <a:schemeClr val="bg1"/>
                  </a:solidFill>
                </a:rPr>
                <a:t> de la </a:t>
              </a:r>
              <a:r>
                <a:rPr lang="en-US" sz="2800" dirty="0" err="1">
                  <a:solidFill>
                    <a:schemeClr val="bg1"/>
                  </a:solidFill>
                </a:rPr>
                <a:t>vida</a:t>
              </a:r>
              <a:r>
                <a:rPr lang="en-US" sz="2800" dirty="0">
                  <a:solidFill>
                    <a:schemeClr val="bg1"/>
                  </a:solidFill>
                </a:rPr>
                <a:t>. </a:t>
              </a:r>
            </a:p>
            <a:p>
              <a:pPr>
                <a:lnSpc>
                  <a:spcPts val="2595"/>
                </a:lnSpc>
              </a:pPr>
              <a:endParaRPr lang="en-US" sz="2800" dirty="0">
                <a:solidFill>
                  <a:schemeClr val="bg1"/>
                </a:solidFill>
              </a:endParaRPr>
            </a:p>
            <a:p>
              <a:pPr>
                <a:lnSpc>
                  <a:spcPts val="2595"/>
                </a:lnSpc>
              </a:pPr>
              <a:r>
                <a:rPr lang="en-US" sz="2800" dirty="0">
                  <a:solidFill>
                    <a:schemeClr val="bg1"/>
                  </a:solidFill>
                </a:rPr>
                <a:t>Se </a:t>
              </a:r>
              <a:r>
                <a:rPr lang="en-US" sz="2800" dirty="0" err="1">
                  <a:solidFill>
                    <a:schemeClr val="bg1"/>
                  </a:solidFill>
                </a:rPr>
                <a:t>trata</a:t>
              </a:r>
              <a:r>
                <a:rPr lang="en-US" sz="2800" dirty="0">
                  <a:solidFill>
                    <a:schemeClr val="bg1"/>
                  </a:solidFill>
                </a:rPr>
                <a:t> de </a:t>
              </a:r>
              <a:r>
                <a:rPr lang="en-US" sz="2800" dirty="0" err="1">
                  <a:solidFill>
                    <a:schemeClr val="bg1"/>
                  </a:solidFill>
                </a:rPr>
                <a:t>todo</a:t>
              </a:r>
              <a:r>
                <a:rPr lang="en-US" sz="2800" dirty="0">
                  <a:solidFill>
                    <a:schemeClr val="bg1"/>
                  </a:solidFill>
                </a:rPr>
                <a:t> un </a:t>
              </a:r>
              <a:r>
                <a:rPr lang="en-US" sz="2800" dirty="0" err="1">
                  <a:solidFill>
                    <a:schemeClr val="bg1"/>
                  </a:solidFill>
                </a:rPr>
                <a:t>cuerpo</a:t>
              </a:r>
              <a:r>
                <a:rPr lang="en-US" sz="2800" dirty="0">
                  <a:solidFill>
                    <a:schemeClr val="bg1"/>
                  </a:solidFill>
                </a:rPr>
                <a:t> de ideas ‘que </a:t>
              </a:r>
              <a:r>
                <a:rPr lang="en-US" sz="2800" dirty="0" err="1">
                  <a:solidFill>
                    <a:schemeClr val="bg1"/>
                  </a:solidFill>
                </a:rPr>
                <a:t>hunde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sus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raíces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b="1" dirty="0" err="1">
                  <a:solidFill>
                    <a:schemeClr val="bg1"/>
                  </a:solidFill>
                </a:rPr>
                <a:t>en</a:t>
              </a:r>
              <a:r>
                <a:rPr lang="en-US" sz="2800" b="1" dirty="0">
                  <a:solidFill>
                    <a:schemeClr val="bg1"/>
                  </a:solidFill>
                </a:rPr>
                <a:t> la </a:t>
              </a:r>
              <a:r>
                <a:rPr lang="en-US" sz="2800" b="1" dirty="0" err="1">
                  <a:solidFill>
                    <a:schemeClr val="bg1"/>
                  </a:solidFill>
                </a:rPr>
                <a:t>experiencia</a:t>
              </a:r>
              <a:r>
                <a:rPr lang="en-US" sz="2800" b="1" dirty="0">
                  <a:solidFill>
                    <a:schemeClr val="bg1"/>
                  </a:solidFill>
                </a:rPr>
                <a:t> </a:t>
              </a:r>
              <a:r>
                <a:rPr lang="en-US" sz="2800" dirty="0">
                  <a:solidFill>
                    <a:schemeClr val="bg1"/>
                  </a:solidFill>
                </a:rPr>
                <a:t>de las </a:t>
              </a:r>
              <a:r>
                <a:rPr lang="en-US" sz="2800" dirty="0" err="1">
                  <a:solidFill>
                    <a:schemeClr val="bg1"/>
                  </a:solidFill>
                </a:rPr>
                <a:t>mujeres</a:t>
              </a:r>
              <a:r>
                <a:rPr lang="en-US" sz="2800" dirty="0">
                  <a:solidFill>
                    <a:schemeClr val="bg1"/>
                  </a:solidFill>
                </a:rPr>
                <a:t> de </a:t>
              </a:r>
              <a:r>
                <a:rPr lang="en-US" sz="2800" dirty="0" err="1">
                  <a:solidFill>
                    <a:schemeClr val="bg1"/>
                  </a:solidFill>
                </a:rPr>
                <a:t>su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opresión</a:t>
              </a:r>
              <a:r>
                <a:rPr lang="en-US" sz="2800" dirty="0">
                  <a:solidFill>
                    <a:schemeClr val="bg1"/>
                  </a:solidFill>
                </a:rPr>
                <a:t> sexual, se </a:t>
              </a:r>
              <a:r>
                <a:rPr lang="en-US" sz="2800" dirty="0" err="1">
                  <a:solidFill>
                    <a:schemeClr val="bg1"/>
                  </a:solidFill>
                </a:rPr>
                <a:t>entrega</a:t>
              </a:r>
              <a:r>
                <a:rPr lang="en-US" sz="2800" dirty="0">
                  <a:solidFill>
                    <a:schemeClr val="bg1"/>
                  </a:solidFill>
                </a:rPr>
                <a:t> a </a:t>
              </a:r>
              <a:r>
                <a:rPr lang="en-US" sz="2800" dirty="0" err="1">
                  <a:solidFill>
                    <a:schemeClr val="bg1"/>
                  </a:solidFill>
                </a:rPr>
                <a:t>una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b="1" dirty="0" err="1">
                  <a:solidFill>
                    <a:schemeClr val="bg1"/>
                  </a:solidFill>
                </a:rPr>
                <a:t>crítica</a:t>
              </a:r>
              <a:r>
                <a:rPr lang="en-US" sz="2800" b="1" dirty="0">
                  <a:solidFill>
                    <a:schemeClr val="bg1"/>
                  </a:solidFill>
                </a:rPr>
                <a:t> </a:t>
              </a:r>
              <a:r>
                <a:rPr lang="en-US" sz="2800" dirty="0">
                  <a:solidFill>
                    <a:schemeClr val="bg1"/>
                  </a:solidFill>
                </a:rPr>
                <a:t>del </a:t>
              </a:r>
              <a:r>
                <a:rPr lang="en-US" sz="2800" dirty="0" err="1">
                  <a:solidFill>
                    <a:schemeClr val="bg1"/>
                  </a:solidFill>
                </a:rPr>
                <a:t>patriarcado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como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sistema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especialmente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disfuncional</a:t>
              </a:r>
              <a:r>
                <a:rPr lang="en-US" sz="2800" dirty="0">
                  <a:solidFill>
                    <a:schemeClr val="bg1"/>
                  </a:solidFill>
                </a:rPr>
                <a:t>, </a:t>
              </a:r>
              <a:r>
                <a:rPr lang="en-US" sz="2800" b="1" dirty="0" err="1">
                  <a:solidFill>
                    <a:schemeClr val="bg1"/>
                  </a:solidFill>
                </a:rPr>
                <a:t>adopta</a:t>
              </a:r>
              <a:r>
                <a:rPr lang="en-US" sz="2800" b="1" dirty="0">
                  <a:solidFill>
                    <a:schemeClr val="bg1"/>
                  </a:solidFill>
                </a:rPr>
                <a:t> </a:t>
              </a:r>
              <a:r>
                <a:rPr lang="en-US" sz="2800" b="1" dirty="0" err="1">
                  <a:solidFill>
                    <a:schemeClr val="bg1"/>
                  </a:solidFill>
                </a:rPr>
                <a:t>una</a:t>
              </a:r>
              <a:r>
                <a:rPr lang="en-US" sz="2800" b="1" dirty="0">
                  <a:solidFill>
                    <a:schemeClr val="bg1"/>
                  </a:solidFill>
                </a:rPr>
                <a:t> </a:t>
              </a:r>
              <a:r>
                <a:rPr lang="en-US" sz="2800" b="1" dirty="0" err="1">
                  <a:solidFill>
                    <a:schemeClr val="bg1"/>
                  </a:solidFill>
                </a:rPr>
                <a:t>visión</a:t>
              </a:r>
              <a:r>
                <a:rPr lang="en-US" sz="2800" b="1" dirty="0">
                  <a:solidFill>
                    <a:schemeClr val="bg1"/>
                  </a:solidFill>
                </a:rPr>
                <a:t> </a:t>
              </a:r>
              <a:r>
                <a:rPr lang="en-US" sz="2800" b="1" dirty="0" err="1">
                  <a:solidFill>
                    <a:schemeClr val="bg1"/>
                  </a:solidFill>
                </a:rPr>
                <a:t>alternativa</a:t>
              </a:r>
              <a:r>
                <a:rPr lang="en-US" sz="2800" b="1" dirty="0">
                  <a:solidFill>
                    <a:schemeClr val="bg1"/>
                  </a:solidFill>
                </a:rPr>
                <a:t> de la </a:t>
              </a:r>
              <a:r>
                <a:rPr lang="en-US" sz="2800" b="1" dirty="0" err="1">
                  <a:solidFill>
                    <a:schemeClr val="bg1"/>
                  </a:solidFill>
                </a:rPr>
                <a:t>humanidad</a:t>
              </a:r>
              <a:r>
                <a:rPr lang="en-US" sz="2800" b="1" dirty="0">
                  <a:solidFill>
                    <a:schemeClr val="bg1"/>
                  </a:solidFill>
                </a:rPr>
                <a:t> </a:t>
              </a:r>
              <a:r>
                <a:rPr lang="en-US" sz="2800" dirty="0">
                  <a:solidFill>
                    <a:schemeClr val="bg1"/>
                  </a:solidFill>
                </a:rPr>
                <a:t>y de la </a:t>
              </a:r>
              <a:r>
                <a:rPr lang="en-US" sz="2800" dirty="0" err="1">
                  <a:solidFill>
                    <a:schemeClr val="bg1"/>
                  </a:solidFill>
                </a:rPr>
                <a:t>tierra</a:t>
              </a:r>
              <a:r>
                <a:rPr lang="en-US" sz="2800" dirty="0">
                  <a:solidFill>
                    <a:schemeClr val="bg1"/>
                  </a:solidFill>
                </a:rPr>
                <a:t> y </a:t>
              </a:r>
              <a:r>
                <a:rPr lang="en-US" sz="2800" dirty="0" err="1">
                  <a:solidFill>
                    <a:schemeClr val="bg1"/>
                  </a:solidFill>
                </a:rPr>
                <a:t>procura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activamente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b="1" dirty="0" err="1">
                  <a:solidFill>
                    <a:schemeClr val="bg1"/>
                  </a:solidFill>
                </a:rPr>
                <a:t>hacer</a:t>
              </a:r>
              <a:r>
                <a:rPr lang="en-US" sz="2800" b="1" dirty="0">
                  <a:solidFill>
                    <a:schemeClr val="bg1"/>
                  </a:solidFill>
                </a:rPr>
                <a:t> </a:t>
              </a:r>
              <a:r>
                <a:rPr lang="en-US" sz="2800" b="1" dirty="0" err="1">
                  <a:solidFill>
                    <a:schemeClr val="bg1"/>
                  </a:solidFill>
                </a:rPr>
                <a:t>realidad</a:t>
              </a:r>
              <a:r>
                <a:rPr lang="en-US" sz="2800" b="1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esta</a:t>
              </a:r>
              <a:r>
                <a:rPr lang="en-US" sz="2800" dirty="0">
                  <a:solidFill>
                    <a:schemeClr val="bg1"/>
                  </a:solidFill>
                </a:rPr>
                <a:t> </a:t>
              </a:r>
              <a:r>
                <a:rPr lang="en-US" sz="2800" dirty="0" err="1">
                  <a:solidFill>
                    <a:schemeClr val="bg1"/>
                  </a:solidFill>
                </a:rPr>
                <a:t>visión</a:t>
              </a:r>
              <a:r>
                <a:rPr lang="en-US" sz="2800" dirty="0">
                  <a:solidFill>
                    <a:schemeClr val="bg1"/>
                  </a:solidFill>
                </a:rPr>
                <a:t>’ . </a:t>
              </a:r>
            </a:p>
            <a:p>
              <a:pPr>
                <a:lnSpc>
                  <a:spcPts val="2595"/>
                </a:lnSpc>
              </a:pPr>
              <a:endParaRPr lang="en-US" sz="1981" dirty="0">
                <a:solidFill>
                  <a:srgbClr val="3D3A26"/>
                </a:solidFill>
                <a:latin typeface="Glacial Indifference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1709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16692" y="3643140"/>
            <a:ext cx="10799805" cy="3004794"/>
          </a:xfrm>
        </p:spPr>
        <p:txBody>
          <a:bodyPr>
            <a:normAutofit/>
          </a:bodyPr>
          <a:lstStyle/>
          <a:p>
            <a:r>
              <a:rPr lang="es-ES_tradnl" dirty="0">
                <a:solidFill>
                  <a:schemeClr val="bg1"/>
                </a:solidFill>
              </a:rPr>
              <a:t>RAZONES IMPOSTERGABLES</a:t>
            </a:r>
            <a:br>
              <a:rPr lang="es-ES_tradnl" dirty="0">
                <a:solidFill>
                  <a:schemeClr val="bg1"/>
                </a:solidFill>
              </a:rPr>
            </a:br>
            <a:r>
              <a:rPr lang="es-ES_tradnl" sz="4400" dirty="0">
                <a:solidFill>
                  <a:schemeClr val="bg1"/>
                </a:solidFill>
              </a:rPr>
              <a:t>PARA </a:t>
            </a:r>
            <a:br>
              <a:rPr lang="es-ES_tradnl" dirty="0">
                <a:solidFill>
                  <a:schemeClr val="bg1"/>
                </a:solidFill>
              </a:rPr>
            </a:br>
            <a:r>
              <a:rPr lang="es-ES_tradnl" sz="6600" dirty="0">
                <a:solidFill>
                  <a:schemeClr val="bg1"/>
                </a:solidFill>
              </a:rPr>
              <a:t>LAS TEOLOGÍAS FEMINISTAS 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772" y="0"/>
            <a:ext cx="6845643" cy="39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95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IGLESIA EN EL MUNDO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662574"/>
            <a:ext cx="10515600" cy="1789445"/>
          </a:xfrm>
        </p:spPr>
        <p:txBody>
          <a:bodyPr/>
          <a:lstStyle/>
          <a:p>
            <a:r>
              <a:rPr lang="es-ES_tradnl" dirty="0"/>
              <a:t>Concilio Vaticano II, Constitución </a:t>
            </a:r>
            <a:r>
              <a:rPr lang="es-ES_tradnl" dirty="0" err="1"/>
              <a:t>Gaudium</a:t>
            </a:r>
            <a:r>
              <a:rPr lang="es-ES_tradnl" dirty="0"/>
              <a:t> et </a:t>
            </a:r>
            <a:r>
              <a:rPr lang="es-ES_tradnl" dirty="0" err="1"/>
              <a:t>Spes</a:t>
            </a:r>
            <a:r>
              <a:rPr lang="es-ES_tradnl" dirty="0"/>
              <a:t>:</a:t>
            </a:r>
          </a:p>
          <a:p>
            <a:pPr marL="0" indent="0" algn="just">
              <a:buNone/>
            </a:pPr>
            <a:r>
              <a:rPr lang="es-ES_tradnl" i="1" dirty="0"/>
              <a:t>La Iglesia no puede cumplir su misión sino en diálogo con el mundo, buscando “escrutar a fondo los signos de la época e interpretarlos a la luz del Evangelio” </a:t>
            </a:r>
            <a:r>
              <a:rPr lang="es-ES_tradnl" sz="1800" dirty="0"/>
              <a:t>(nº4)</a:t>
            </a:r>
            <a:r>
              <a:rPr lang="es-ES_tradnl" sz="1800" dirty="0">
                <a:effectLst/>
              </a:rPr>
              <a:t> </a:t>
            </a:r>
            <a:endParaRPr lang="es-ES_tradnl" sz="1800" dirty="0"/>
          </a:p>
          <a:p>
            <a:endParaRPr lang="es-ES_tradnl" dirty="0"/>
          </a:p>
        </p:txBody>
      </p:sp>
      <p:sp>
        <p:nvSpPr>
          <p:cNvPr id="4" name="CuadroTexto 3"/>
          <p:cNvSpPr txBox="1"/>
          <p:nvPr/>
        </p:nvSpPr>
        <p:spPr>
          <a:xfrm>
            <a:off x="838200" y="3615070"/>
            <a:ext cx="10730023" cy="2954655"/>
          </a:xfrm>
          <a:prstGeom prst="rect">
            <a:avLst/>
          </a:prstGeom>
          <a:ln w="508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just">
              <a:buFont typeface="Arial" charset="0"/>
              <a:buChar char="•"/>
            </a:pPr>
            <a:r>
              <a:rPr lang="es-ES_tradnl" sz="2800" b="1" dirty="0">
                <a:solidFill>
                  <a:srgbClr val="7030A0"/>
                </a:solidFill>
              </a:rPr>
              <a:t>¿Se puede decir que hay algo del Espíritu en el movimiento feminista?</a:t>
            </a:r>
          </a:p>
          <a:p>
            <a:pPr marL="457200" indent="-457200" algn="just">
              <a:buFont typeface="Arial" charset="0"/>
              <a:buChar char="•"/>
            </a:pPr>
            <a:r>
              <a:rPr lang="es-ES_tradnl" sz="2800" b="1" dirty="0">
                <a:solidFill>
                  <a:srgbClr val="7030A0"/>
                </a:solidFill>
              </a:rPr>
              <a:t> ¿Habrá algo que Dios nos esté queriendo decir a través del clamor de las mujeres? </a:t>
            </a:r>
          </a:p>
          <a:p>
            <a:pPr marL="457200" indent="-457200" algn="just">
              <a:buFont typeface="Arial" charset="0"/>
              <a:buChar char="•"/>
            </a:pPr>
            <a:r>
              <a:rPr lang="es-ES_tradnl" sz="2800" b="1" dirty="0">
                <a:solidFill>
                  <a:srgbClr val="7030A0"/>
                </a:solidFill>
              </a:rPr>
              <a:t>¿Estaremos frente a lo que el Concilio llama «signos de los tiempos»?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44250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91064" y="3259009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s-ES" sz="3200" dirty="0">
                <a:solidFill>
                  <a:schemeClr val="bg1"/>
                </a:solidFill>
              </a:rPr>
              <a:t>Mujeres cristianas no escapamos a los cambios de la vida social. </a:t>
            </a:r>
          </a:p>
          <a:p>
            <a:pPr algn="just"/>
            <a:r>
              <a:rPr lang="es-ES" sz="3200" dirty="0">
                <a:solidFill>
                  <a:schemeClr val="bg1"/>
                </a:solidFill>
              </a:rPr>
              <a:t>Toma de conciencia progresiva de sus situaciones les ayudó a darse cuenta que también padecen las mismas situaciones que todas las mujeres. </a:t>
            </a:r>
          </a:p>
          <a:p>
            <a:pPr algn="just"/>
            <a:r>
              <a:rPr lang="es-ES" sz="3200" dirty="0">
                <a:solidFill>
                  <a:schemeClr val="bg1"/>
                </a:solidFill>
              </a:rPr>
              <a:t>Responder desde sus experiencias y fe</a:t>
            </a:r>
            <a:endParaRPr lang="es-ES_tradnl" sz="3200" dirty="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978" y="0"/>
            <a:ext cx="7265773" cy="291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7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2603" y="1017737"/>
            <a:ext cx="6425514" cy="1325563"/>
          </a:xfrm>
        </p:spPr>
        <p:txBody>
          <a:bodyPr>
            <a:normAutofit fontScale="90000"/>
          </a:bodyPr>
          <a:lstStyle/>
          <a:p>
            <a:r>
              <a:rPr lang="es-ES_tradnl" b="1" dirty="0">
                <a:solidFill>
                  <a:schemeClr val="bg1"/>
                </a:solidFill>
              </a:rPr>
              <a:t>Está en juego </a:t>
            </a:r>
            <a:br>
              <a:rPr lang="es-ES_tradnl" b="1" dirty="0">
                <a:solidFill>
                  <a:schemeClr val="bg1"/>
                </a:solidFill>
              </a:rPr>
            </a:br>
            <a:r>
              <a:rPr lang="es-ES_tradnl" b="1" dirty="0">
                <a:solidFill>
                  <a:schemeClr val="bg1"/>
                </a:solidFill>
              </a:rPr>
              <a:t>“la </a:t>
            </a:r>
            <a:r>
              <a:rPr lang="es-ES_tradnl" b="1" dirty="0" err="1">
                <a:solidFill>
                  <a:schemeClr val="bg1"/>
                </a:solidFill>
              </a:rPr>
              <a:t>realización</a:t>
            </a:r>
            <a:r>
              <a:rPr lang="es-ES_tradnl" b="1" dirty="0">
                <a:solidFill>
                  <a:schemeClr val="bg1"/>
                </a:solidFill>
              </a:rPr>
              <a:t> de </a:t>
            </a:r>
            <a:r>
              <a:rPr lang="es-ES_tradnl" b="1" dirty="0" err="1">
                <a:solidFill>
                  <a:schemeClr val="bg1"/>
                </a:solidFill>
              </a:rPr>
              <a:t>más</a:t>
            </a:r>
            <a:r>
              <a:rPr lang="es-ES_tradnl" b="1" dirty="0">
                <a:solidFill>
                  <a:schemeClr val="bg1"/>
                </a:solidFill>
              </a:rPr>
              <a:t> de la mitad de la humanidad” </a:t>
            </a:r>
            <a:br>
              <a:rPr lang="es-ES_tradnl" dirty="0"/>
            </a:b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32603" y="2506662"/>
            <a:ext cx="11098426" cy="4351338"/>
          </a:xfrm>
        </p:spPr>
        <p:txBody>
          <a:bodyPr/>
          <a:lstStyle/>
          <a:p>
            <a:pPr marL="0" indent="0">
              <a:buNone/>
            </a:pPr>
            <a:r>
              <a:rPr lang="es-ES_tradnl" b="1" dirty="0">
                <a:solidFill>
                  <a:schemeClr val="bg1"/>
                </a:solidFill>
              </a:rPr>
              <a:t>El quehacer </a:t>
            </a:r>
            <a:r>
              <a:rPr lang="es-ES_tradnl" b="1" dirty="0" err="1">
                <a:solidFill>
                  <a:schemeClr val="bg1"/>
                </a:solidFill>
              </a:rPr>
              <a:t>teológico</a:t>
            </a:r>
            <a:r>
              <a:rPr lang="es-ES_tradnl" b="1" dirty="0">
                <a:solidFill>
                  <a:schemeClr val="bg1"/>
                </a:solidFill>
              </a:rPr>
              <a:t> de las mujeres </a:t>
            </a:r>
          </a:p>
          <a:p>
            <a:pPr marL="0" indent="0">
              <a:buNone/>
            </a:pPr>
            <a:r>
              <a:rPr lang="es-ES_tradnl" dirty="0">
                <a:solidFill>
                  <a:schemeClr val="bg1"/>
                </a:solidFill>
              </a:rPr>
              <a:t>es </a:t>
            </a:r>
            <a:r>
              <a:rPr lang="es-ES_tradnl" dirty="0" err="1">
                <a:solidFill>
                  <a:schemeClr val="bg1"/>
                </a:solidFill>
              </a:rPr>
              <a:t>quizás</a:t>
            </a:r>
            <a:r>
              <a:rPr lang="es-ES_tradnl" dirty="0">
                <a:solidFill>
                  <a:schemeClr val="bg1"/>
                </a:solidFill>
              </a:rPr>
              <a:t> una forma diferente y </a:t>
            </a:r>
            <a:br>
              <a:rPr lang="es-ES_tradnl" dirty="0">
                <a:solidFill>
                  <a:schemeClr val="bg1"/>
                </a:solidFill>
              </a:rPr>
            </a:br>
            <a:r>
              <a:rPr lang="es-ES_tradnl" dirty="0">
                <a:solidFill>
                  <a:schemeClr val="bg1"/>
                </a:solidFill>
              </a:rPr>
              <a:t>alternativa de hacer </a:t>
            </a:r>
            <a:r>
              <a:rPr lang="es-ES_tradnl" dirty="0" err="1">
                <a:solidFill>
                  <a:schemeClr val="bg1"/>
                </a:solidFill>
              </a:rPr>
              <a:t>teología</a:t>
            </a:r>
            <a:r>
              <a:rPr lang="es-ES_tradnl" dirty="0">
                <a:solidFill>
                  <a:schemeClr val="bg1"/>
                </a:solidFill>
              </a:rPr>
              <a:t> pero que no se ocupa </a:t>
            </a:r>
            <a:r>
              <a:rPr lang="es-ES_tradnl" dirty="0" err="1">
                <a:solidFill>
                  <a:schemeClr val="bg1"/>
                </a:solidFill>
              </a:rPr>
              <a:t>únicamente</a:t>
            </a:r>
            <a:r>
              <a:rPr lang="es-ES_tradnl" dirty="0">
                <a:solidFill>
                  <a:schemeClr val="bg1"/>
                </a:solidFill>
              </a:rPr>
              <a:t> de los intereses e interrogantes de las mujeres ni pretende competir o suplantar la </a:t>
            </a:r>
            <a:r>
              <a:rPr lang="es-ES_tradnl" dirty="0" err="1">
                <a:solidFill>
                  <a:schemeClr val="bg1"/>
                </a:solidFill>
              </a:rPr>
              <a:t>teología</a:t>
            </a:r>
            <a:r>
              <a:rPr lang="es-ES_tradnl" dirty="0">
                <a:solidFill>
                  <a:schemeClr val="bg1"/>
                </a:solidFill>
              </a:rPr>
              <a:t> hecha por los hombres. La </a:t>
            </a:r>
            <a:r>
              <a:rPr lang="es-ES_tradnl" b="1" dirty="0" err="1">
                <a:solidFill>
                  <a:schemeClr val="bg1"/>
                </a:solidFill>
              </a:rPr>
              <a:t>teología</a:t>
            </a:r>
            <a:r>
              <a:rPr lang="es-ES_tradnl" b="1" dirty="0">
                <a:solidFill>
                  <a:schemeClr val="bg1"/>
                </a:solidFill>
              </a:rPr>
              <a:t> hecha por mujeres es particularmente sensible a toda forma de inequidad y no solo a las inequidades de </a:t>
            </a:r>
            <a:r>
              <a:rPr lang="es-ES_tradnl" b="1" dirty="0" err="1">
                <a:solidFill>
                  <a:schemeClr val="bg1"/>
                </a:solidFill>
              </a:rPr>
              <a:t>género</a:t>
            </a:r>
            <a:r>
              <a:rPr lang="es-ES_tradnl" b="1" dirty="0">
                <a:solidFill>
                  <a:schemeClr val="bg1"/>
                </a:solidFill>
              </a:rPr>
              <a:t>, sino a toda </a:t>
            </a:r>
            <a:r>
              <a:rPr lang="es-ES_tradnl" b="1" dirty="0" err="1">
                <a:solidFill>
                  <a:schemeClr val="bg1"/>
                </a:solidFill>
              </a:rPr>
              <a:t>situación</a:t>
            </a:r>
            <a:r>
              <a:rPr lang="es-ES_tradnl" b="1" dirty="0">
                <a:solidFill>
                  <a:schemeClr val="bg1"/>
                </a:solidFill>
              </a:rPr>
              <a:t> de </a:t>
            </a:r>
            <a:r>
              <a:rPr lang="es-ES_tradnl" b="1" dirty="0" err="1">
                <a:solidFill>
                  <a:schemeClr val="bg1"/>
                </a:solidFill>
              </a:rPr>
              <a:t>discriminación</a:t>
            </a:r>
            <a:r>
              <a:rPr lang="es-ES_tradnl" b="1" dirty="0">
                <a:solidFill>
                  <a:schemeClr val="bg1"/>
                </a:solidFill>
              </a:rPr>
              <a:t> y </a:t>
            </a:r>
            <a:r>
              <a:rPr lang="es-ES_tradnl" b="1" dirty="0" err="1">
                <a:solidFill>
                  <a:schemeClr val="bg1"/>
                </a:solidFill>
              </a:rPr>
              <a:t>opresión</a:t>
            </a:r>
            <a:r>
              <a:rPr lang="es-ES_tradnl" b="1" dirty="0">
                <a:solidFill>
                  <a:schemeClr val="bg1"/>
                </a:solidFill>
              </a:rPr>
              <a:t> </a:t>
            </a:r>
            <a:r>
              <a:rPr lang="es-ES_tradnl" dirty="0">
                <a:solidFill>
                  <a:schemeClr val="bg1"/>
                </a:solidFill>
              </a:rPr>
              <a:t>que impide el pleno desarrollo de los individuos y de los grupos, particularmente la </a:t>
            </a:r>
            <a:r>
              <a:rPr lang="es-ES_tradnl" dirty="0" err="1">
                <a:solidFill>
                  <a:schemeClr val="bg1"/>
                </a:solidFill>
              </a:rPr>
              <a:t>realización</a:t>
            </a:r>
            <a:r>
              <a:rPr lang="es-ES_tradnl" dirty="0">
                <a:solidFill>
                  <a:schemeClr val="bg1"/>
                </a:solidFill>
              </a:rPr>
              <a:t> de </a:t>
            </a:r>
            <a:r>
              <a:rPr lang="es-ES_tradnl" dirty="0" err="1">
                <a:solidFill>
                  <a:schemeClr val="bg1"/>
                </a:solidFill>
              </a:rPr>
              <a:t>más</a:t>
            </a:r>
            <a:r>
              <a:rPr lang="es-ES_tradnl" dirty="0">
                <a:solidFill>
                  <a:schemeClr val="bg1"/>
                </a:solidFill>
              </a:rPr>
              <a:t> de la mitad de la humanidad </a:t>
            </a:r>
            <a:br>
              <a:rPr lang="es-ES_tradnl" dirty="0">
                <a:solidFill>
                  <a:schemeClr val="bg1"/>
                </a:solidFill>
              </a:rPr>
            </a:br>
            <a:r>
              <a:rPr lang="es-ES_tradnl" dirty="0" err="1">
                <a:solidFill>
                  <a:schemeClr val="bg1"/>
                </a:solidFill>
              </a:rPr>
              <a:t>poniéndola</a:t>
            </a:r>
            <a:r>
              <a:rPr lang="es-ES_tradnl" dirty="0">
                <a:solidFill>
                  <a:schemeClr val="bg1"/>
                </a:solidFill>
              </a:rPr>
              <a:t> al servicio de la otra mitad. </a:t>
            </a:r>
          </a:p>
          <a:p>
            <a:pPr marL="0" indent="0">
              <a:buNone/>
            </a:pPr>
            <a:endParaRPr lang="es-ES_tradnl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153" y="0"/>
            <a:ext cx="5981847" cy="336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5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35610" y="236184"/>
            <a:ext cx="10515600" cy="1325563"/>
          </a:xfrm>
        </p:spPr>
        <p:txBody>
          <a:bodyPr/>
          <a:lstStyle/>
          <a:p>
            <a:r>
              <a:rPr lang="es-ES_tradnl" dirty="0">
                <a:solidFill>
                  <a:schemeClr val="bg1"/>
                </a:solidFill>
              </a:rPr>
              <a:t>“El androcentrismo mata”</a:t>
            </a: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67" y="935938"/>
            <a:ext cx="3881191" cy="4635252"/>
          </a:xfrm>
        </p:spPr>
      </p:pic>
      <p:sp>
        <p:nvSpPr>
          <p:cNvPr id="5" name="Rectángulo 4"/>
          <p:cNvSpPr/>
          <p:nvPr/>
        </p:nvSpPr>
        <p:spPr>
          <a:xfrm>
            <a:off x="4835610" y="1413462"/>
            <a:ext cx="707630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400" dirty="0">
                <a:solidFill>
                  <a:schemeClr val="bg1"/>
                </a:solidFill>
                <a:latin typeface="CenturyGothic" charset="0"/>
              </a:rPr>
              <a:t>“La violencia masculina contra las mujeres ha tenido una historia extensa y horrible, que alcanzó un extremo inconcebible en lo que los </a:t>
            </a:r>
            <a:r>
              <a:rPr lang="es-ES_tradnl" sz="2400" dirty="0" err="1">
                <a:solidFill>
                  <a:schemeClr val="bg1"/>
                </a:solidFill>
                <a:latin typeface="CenturyGothic" charset="0"/>
              </a:rPr>
              <a:t>académicos</a:t>
            </a:r>
            <a:r>
              <a:rPr lang="es-ES_tradnl" sz="2400" dirty="0">
                <a:solidFill>
                  <a:schemeClr val="bg1"/>
                </a:solidFill>
                <a:latin typeface="CenturyGothic" charset="0"/>
              </a:rPr>
              <a:t> denominan hoy </a:t>
            </a:r>
            <a:r>
              <a:rPr lang="es-ES_tradnl" sz="2400" i="1" dirty="0">
                <a:solidFill>
                  <a:schemeClr val="bg1"/>
                </a:solidFill>
                <a:latin typeface="CenturyGothic" charset="0"/>
              </a:rPr>
              <a:t>feminicidio</a:t>
            </a:r>
            <a:r>
              <a:rPr lang="es-ES_tradnl" sz="2400" dirty="0">
                <a:solidFill>
                  <a:schemeClr val="bg1"/>
                </a:solidFill>
                <a:latin typeface="CenturyGothic" charset="0"/>
              </a:rPr>
              <a:t>. </a:t>
            </a:r>
          </a:p>
          <a:p>
            <a:endParaRPr lang="es-ES_tradnl" sz="2400" dirty="0">
              <a:solidFill>
                <a:schemeClr val="bg1"/>
              </a:solidFill>
            </a:endParaRPr>
          </a:p>
          <a:p>
            <a:r>
              <a:rPr lang="es-ES_tradnl" sz="2400" dirty="0">
                <a:solidFill>
                  <a:schemeClr val="bg1"/>
                </a:solidFill>
                <a:latin typeface="CenturyGothic" charset="0"/>
              </a:rPr>
              <a:t>El feminicidio es, en resumen, el asesinato </a:t>
            </a:r>
            <a:r>
              <a:rPr lang="es-ES_tradnl" sz="2400" dirty="0" err="1">
                <a:solidFill>
                  <a:schemeClr val="bg1"/>
                </a:solidFill>
                <a:latin typeface="CenturyGothic" charset="0"/>
              </a:rPr>
              <a:t>sistemático</a:t>
            </a:r>
            <a:r>
              <a:rPr lang="es-ES_tradnl" sz="2400" dirty="0">
                <a:solidFill>
                  <a:schemeClr val="bg1"/>
                </a:solidFill>
                <a:latin typeface="CenturyGothic" charset="0"/>
              </a:rPr>
              <a:t> de mujeres por el hecho de ser mujeres. Esta </a:t>
            </a:r>
            <a:r>
              <a:rPr lang="es-ES_tradnl" sz="2400" dirty="0" err="1">
                <a:solidFill>
                  <a:schemeClr val="bg1"/>
                </a:solidFill>
                <a:latin typeface="CenturyGothic" charset="0"/>
              </a:rPr>
              <a:t>máxima</a:t>
            </a:r>
            <a:r>
              <a:rPr lang="es-ES_tradnl" sz="2400" dirty="0">
                <a:solidFill>
                  <a:schemeClr val="bg1"/>
                </a:solidFill>
                <a:latin typeface="CenturyGothic" charset="0"/>
              </a:rPr>
              <a:t> forma de violencia contra las mujeres forma parte de una </a:t>
            </a:r>
            <a:r>
              <a:rPr lang="es-ES_tradnl" sz="2400" b="1" dirty="0">
                <a:solidFill>
                  <a:schemeClr val="bg1"/>
                </a:solidFill>
                <a:latin typeface="CenturyGothic" charset="0"/>
              </a:rPr>
              <a:t>red de violencia que ellas han sufrido a lo largo de la historia</a:t>
            </a:r>
            <a:r>
              <a:rPr lang="es-ES_tradnl" sz="2400" dirty="0">
                <a:solidFill>
                  <a:schemeClr val="bg1"/>
                </a:solidFill>
                <a:latin typeface="CenturyGothic" charset="0"/>
              </a:rPr>
              <a:t>: violaciones, violencia </a:t>
            </a:r>
            <a:r>
              <a:rPr lang="es-ES_tradnl" sz="2400" dirty="0" err="1">
                <a:solidFill>
                  <a:schemeClr val="bg1"/>
                </a:solidFill>
                <a:latin typeface="CenturyGothic" charset="0"/>
              </a:rPr>
              <a:t>doméstica</a:t>
            </a:r>
            <a:r>
              <a:rPr lang="es-ES_tradnl" sz="2400" dirty="0">
                <a:solidFill>
                  <a:schemeClr val="bg1"/>
                </a:solidFill>
                <a:latin typeface="CenturyGothic" charset="0"/>
              </a:rPr>
              <a:t>, </a:t>
            </a:r>
            <a:r>
              <a:rPr lang="es-ES_tradnl" sz="2400" dirty="0" err="1">
                <a:solidFill>
                  <a:schemeClr val="bg1"/>
                </a:solidFill>
                <a:latin typeface="CenturyGothic" charset="0"/>
              </a:rPr>
              <a:t>mutilación</a:t>
            </a:r>
            <a:r>
              <a:rPr lang="es-ES_tradnl" sz="2400" dirty="0">
                <a:solidFill>
                  <a:schemeClr val="bg1"/>
                </a:solidFill>
                <a:latin typeface="CenturyGothic" charset="0"/>
              </a:rPr>
              <a:t> femenina y </a:t>
            </a:r>
            <a:r>
              <a:rPr lang="es-ES_tradnl" sz="2400" dirty="0" err="1">
                <a:solidFill>
                  <a:schemeClr val="bg1"/>
                </a:solidFill>
                <a:latin typeface="CenturyGothic" charset="0"/>
              </a:rPr>
              <a:t>tráfico</a:t>
            </a:r>
            <a:r>
              <a:rPr lang="es-ES_tradnl" sz="2400" dirty="0">
                <a:solidFill>
                  <a:schemeClr val="bg1"/>
                </a:solidFill>
                <a:latin typeface="CenturyGothic" charset="0"/>
              </a:rPr>
              <a:t> sexual, entre otras”. </a:t>
            </a:r>
            <a:endParaRPr lang="es-ES_tradnl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371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dirty="0">
                <a:solidFill>
                  <a:schemeClr val="bg1"/>
                </a:solidFill>
              </a:rPr>
              <a:t>3. TEOLOGÍA FEMINISTA</a:t>
            </a:r>
          </a:p>
        </p:txBody>
      </p:sp>
    </p:spTree>
    <p:extLst>
      <p:ext uri="{BB962C8B-B14F-4D97-AF65-F5344CB8AC3E}">
        <p14:creationId xmlns:p14="http://schemas.microsoft.com/office/powerpoint/2010/main" val="331405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871870"/>
            <a:ext cx="10515600" cy="5305093"/>
          </a:xfrm>
        </p:spPr>
        <p:txBody>
          <a:bodyPr/>
          <a:lstStyle/>
          <a:p>
            <a:pPr algn="just"/>
            <a:r>
              <a:rPr lang="es-ES_tradnl" dirty="0"/>
              <a:t>La teología feminista, con la ayuda de la mediación crítico-analítica que le proporcionan las teorías de género, intentará dar respuesta al clamor y sufrimiento de las mujeres oprimidas.</a:t>
            </a:r>
          </a:p>
          <a:p>
            <a:pPr algn="just"/>
            <a:r>
              <a:rPr lang="es-ES_tradnl" dirty="0"/>
              <a:t>“Soy feminista, porque soy cristiana”</a:t>
            </a:r>
          </a:p>
          <a:p>
            <a:pPr algn="just"/>
            <a:r>
              <a:rPr lang="es-ES_tradnl" dirty="0"/>
              <a:t>Algo ”peligroso”: está comprometida con una praxis global de liberación y cuestiona desde la base fenómenos que parecen dados por naturaleza.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838200" y="5103628"/>
            <a:ext cx="10515600" cy="954107"/>
          </a:xfrm>
          <a:prstGeom prst="rect">
            <a:avLst/>
          </a:prstGeom>
          <a:ln w="508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sz="2800" b="1" dirty="0">
                <a:solidFill>
                  <a:srgbClr val="7030A0"/>
                </a:solidFill>
              </a:rPr>
              <a:t>La teología, no puede si no estar comprometida con la justicia, la igualdad y la libertad de todo ser humano</a:t>
            </a:r>
            <a:r>
              <a:rPr lang="es-ES_tradnl" sz="2800" b="1" dirty="0">
                <a:solidFill>
                  <a:srgbClr val="7030A0"/>
                </a:solidFill>
                <a:effectLst/>
              </a:rPr>
              <a:t> </a:t>
            </a:r>
            <a:endParaRPr lang="es-ES_tradnl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32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97713"/>
            <a:ext cx="10515600" cy="2530548"/>
          </a:xfrm>
        </p:spPr>
        <p:txBody>
          <a:bodyPr/>
          <a:lstStyle/>
          <a:p>
            <a:pPr algn="just"/>
            <a:r>
              <a:rPr lang="es-ES_tradnl" dirty="0"/>
              <a:t>Las teorías de género llevan a la teología a una revisión y ampliación de sus puntos de vista. </a:t>
            </a:r>
          </a:p>
          <a:p>
            <a:pPr algn="just"/>
            <a:r>
              <a:rPr lang="es-ES_tradnl" dirty="0"/>
              <a:t>La teología feminista surge, precisamente, para develar que la teología cristiana es ciega al eje de género.</a:t>
            </a:r>
            <a:r>
              <a:rPr lang="es-ES_tradnl" dirty="0">
                <a:sym typeface="Wingdings" charset="2"/>
              </a:rPr>
              <a:t> Ejemplo: lectura feminista de la Biblia.</a:t>
            </a:r>
            <a:endParaRPr lang="es-ES_tradnl" dirty="0"/>
          </a:p>
        </p:txBody>
      </p:sp>
      <p:sp>
        <p:nvSpPr>
          <p:cNvPr id="4" name="CuadroTexto 3"/>
          <p:cNvSpPr txBox="1"/>
          <p:nvPr/>
        </p:nvSpPr>
        <p:spPr>
          <a:xfrm>
            <a:off x="848833" y="2828261"/>
            <a:ext cx="10783186" cy="3108543"/>
          </a:xfrm>
          <a:prstGeom prst="rect">
            <a:avLst/>
          </a:prstGeom>
          <a:ln w="508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_tradnl" sz="2800" b="1" dirty="0">
                <a:solidFill>
                  <a:srgbClr val="7030A0"/>
                </a:solidFill>
              </a:rPr>
              <a:t>Busca reconciliar la teología cristiana con la comprensión contemporánea de las mujeres, buscando revisar las imágenes, símbolos y lenguaje de la tradición cristiana, cuyo discurso predominante ha sido marcadamente androcéntrico.</a:t>
            </a:r>
            <a:r>
              <a:rPr lang="es-ES_tradnl" sz="2800" b="1" dirty="0">
                <a:solidFill>
                  <a:srgbClr val="7030A0"/>
                </a:solidFill>
                <a:effectLst/>
              </a:rPr>
              <a:t> </a:t>
            </a:r>
          </a:p>
          <a:p>
            <a:pPr algn="just"/>
            <a:endParaRPr lang="es-ES_tradnl" sz="2800" b="1" dirty="0">
              <a:solidFill>
                <a:srgbClr val="7030A0"/>
              </a:solidFill>
            </a:endParaRPr>
          </a:p>
          <a:p>
            <a:pPr algn="just"/>
            <a:r>
              <a:rPr lang="es-ES_tradnl" sz="2800" b="1" dirty="0">
                <a:solidFill>
                  <a:srgbClr val="7030A0"/>
                </a:solidFill>
              </a:rPr>
              <a:t>El patriarcado y el androcentrismo están en conflicto con una fe en Dios que se define a sí mismo como amor. </a:t>
            </a:r>
          </a:p>
        </p:txBody>
      </p:sp>
    </p:spTree>
    <p:extLst>
      <p:ext uri="{BB962C8B-B14F-4D97-AF65-F5344CB8AC3E}">
        <p14:creationId xmlns:p14="http://schemas.microsoft.com/office/powerpoint/2010/main" val="1454388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552893"/>
            <a:ext cx="10515600" cy="5624070"/>
          </a:xfrm>
        </p:spPr>
        <p:txBody>
          <a:bodyPr/>
          <a:lstStyle/>
          <a:p>
            <a:endParaRPr lang="es-ES_tradnl" dirty="0"/>
          </a:p>
          <a:p>
            <a:pPr algn="just"/>
            <a:r>
              <a:rPr lang="es-ES_tradnl" dirty="0"/>
              <a:t>Interés abarca toda la tradición cristiana: sus creencias, valores morales, rituales, imágenes y estructuras; buscando aportar nuevas imágenes, símbolos y prácticas que sean más coherentes y cercanas a la justicia del Reino de Dios. </a:t>
            </a:r>
          </a:p>
          <a:p>
            <a:pPr algn="just"/>
            <a:endParaRPr lang="es-ES_tradnl" dirty="0"/>
          </a:p>
          <a:p>
            <a:pPr algn="just"/>
            <a:r>
              <a:rPr lang="es-ES_tradnl" dirty="0"/>
              <a:t>No es posible hablar de </a:t>
            </a:r>
            <a:r>
              <a:rPr lang="es-ES_tradnl" i="1" dirty="0"/>
              <a:t>una</a:t>
            </a:r>
            <a:r>
              <a:rPr lang="es-ES_tradnl" dirty="0"/>
              <a:t> teología feminista, como tampoco es posible hablar de </a:t>
            </a:r>
            <a:r>
              <a:rPr lang="es-ES_tradnl" i="1" dirty="0"/>
              <a:t>la</a:t>
            </a:r>
            <a:r>
              <a:rPr lang="es-ES_tradnl" dirty="0"/>
              <a:t> mujer.</a:t>
            </a:r>
          </a:p>
        </p:txBody>
      </p:sp>
    </p:spTree>
    <p:extLst>
      <p:ext uri="{BB962C8B-B14F-4D97-AF65-F5344CB8AC3E}">
        <p14:creationId xmlns:p14="http://schemas.microsoft.com/office/powerpoint/2010/main" val="192063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Rasgos comunes: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Motivación y objetivo</a:t>
            </a:r>
          </a:p>
          <a:p>
            <a:r>
              <a:rPr lang="es-ES_tradnl" dirty="0"/>
              <a:t>Convicción de que las mujeres no son ontológicamente menos que los varones</a:t>
            </a:r>
          </a:p>
          <a:p>
            <a:r>
              <a:rPr lang="es-ES_tradnl" dirty="0"/>
              <a:t>Crítica al androcentrismo</a:t>
            </a:r>
            <a:r>
              <a:rPr lang="es-ES_tradnl" dirty="0">
                <a:effectLst/>
              </a:rPr>
              <a:t> </a:t>
            </a:r>
          </a:p>
          <a:p>
            <a:r>
              <a:rPr lang="es-ES_tradnl" dirty="0"/>
              <a:t>Ofrecer propuestas constructivas para superarlo.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838200" y="4550735"/>
            <a:ext cx="10515600" cy="1384995"/>
          </a:xfrm>
          <a:prstGeom prst="rect">
            <a:avLst/>
          </a:prstGeom>
          <a:ln w="508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_tradnl" sz="2800" b="1" dirty="0">
                <a:solidFill>
                  <a:srgbClr val="7030A0"/>
                </a:solidFill>
              </a:rPr>
              <a:t>Sacar a la luz los mecanismos de deshumanización -tanto de mujeres como de varones- que se encuentran enquistados en la cultura androcéntrica</a:t>
            </a:r>
            <a:r>
              <a:rPr lang="es-ES_tradnl" sz="2800" b="1" dirty="0">
                <a:solidFill>
                  <a:srgbClr val="7030A0"/>
                </a:solidFill>
                <a:effectLst/>
              </a:rPr>
              <a:t> y proponer vías para transformar esa realidad. </a:t>
            </a:r>
            <a:endParaRPr lang="es-ES_tradnl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58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02940" y="43848"/>
            <a:ext cx="10515600" cy="1325563"/>
          </a:xfrm>
        </p:spPr>
        <p:txBody>
          <a:bodyPr/>
          <a:lstStyle/>
          <a:p>
            <a:r>
              <a:rPr lang="es-ES_tradnl" dirty="0">
                <a:solidFill>
                  <a:schemeClr val="bg1"/>
                </a:solidFill>
              </a:rPr>
              <a:t>¿QUÉ ES LA TEOLOGÍA FEMINISTA?</a:t>
            </a: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092" y="1369411"/>
            <a:ext cx="8957790" cy="5192481"/>
          </a:xfrm>
        </p:spPr>
      </p:pic>
    </p:spTree>
    <p:extLst>
      <p:ext uri="{BB962C8B-B14F-4D97-AF65-F5344CB8AC3E}">
        <p14:creationId xmlns:p14="http://schemas.microsoft.com/office/powerpoint/2010/main" val="347384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9789" y="342814"/>
            <a:ext cx="11543270" cy="6255693"/>
          </a:xfrm>
        </p:spPr>
        <p:txBody>
          <a:bodyPr>
            <a:normAutofit/>
          </a:bodyPr>
          <a:lstStyle/>
          <a:p>
            <a:pPr algn="just"/>
            <a:r>
              <a:rPr lang="es-ES_tradnl" sz="3200" dirty="0"/>
              <a:t>La </a:t>
            </a:r>
            <a:r>
              <a:rPr lang="es-ES_tradnl" sz="3200" dirty="0" err="1"/>
              <a:t>teología</a:t>
            </a:r>
            <a:r>
              <a:rPr lang="es-ES_tradnl" sz="3200" dirty="0"/>
              <a:t> feminista es un </a:t>
            </a:r>
            <a:r>
              <a:rPr lang="es-ES_tradnl" sz="3200" b="1" dirty="0"/>
              <a:t>discurso </a:t>
            </a:r>
            <a:r>
              <a:rPr lang="es-ES_tradnl" sz="3200" b="1" dirty="0" err="1"/>
              <a:t>práctico</a:t>
            </a:r>
            <a:r>
              <a:rPr lang="es-ES_tradnl" sz="3200" b="1" dirty="0"/>
              <a:t> </a:t>
            </a:r>
            <a:r>
              <a:rPr lang="es-ES_tradnl" sz="3200" dirty="0"/>
              <a:t>sobre Dios, la vida humana en </a:t>
            </a:r>
            <a:r>
              <a:rPr lang="es-ES_tradnl" sz="3200" dirty="0" err="1"/>
              <a:t>relación</a:t>
            </a:r>
            <a:r>
              <a:rPr lang="es-ES_tradnl" sz="3200" dirty="0"/>
              <a:t> y la </a:t>
            </a:r>
            <a:r>
              <a:rPr lang="es-ES_tradnl" sz="3200" dirty="0" err="1"/>
              <a:t>creación</a:t>
            </a:r>
            <a:r>
              <a:rPr lang="es-ES_tradnl" sz="3200" dirty="0"/>
              <a:t> en interdependencia. </a:t>
            </a:r>
          </a:p>
          <a:p>
            <a:pPr algn="just"/>
            <a:r>
              <a:rPr lang="es-ES_tradnl" sz="3200" dirty="0"/>
              <a:t>Busca una </a:t>
            </a:r>
            <a:r>
              <a:rPr lang="es-ES_tradnl" sz="3200" b="1" dirty="0"/>
              <a:t>vida digna para las mujeres y toda creatura</a:t>
            </a:r>
            <a:r>
              <a:rPr lang="es-ES_tradnl" sz="3200" dirty="0"/>
              <a:t>, denuncia la desigualdad de </a:t>
            </a:r>
            <a:r>
              <a:rPr lang="es-ES_tradnl" sz="3200" dirty="0" err="1"/>
              <a:t>género</a:t>
            </a:r>
            <a:r>
              <a:rPr lang="es-ES_tradnl" sz="3200" dirty="0"/>
              <a:t> y promueve la justicia del evangelio. </a:t>
            </a:r>
          </a:p>
          <a:p>
            <a:pPr algn="just"/>
            <a:r>
              <a:rPr lang="es-ES_tradnl" sz="3200" dirty="0"/>
              <a:t>Aunque tenga mala fama, su significado es hermoso porque está escrita para </a:t>
            </a:r>
            <a:r>
              <a:rPr lang="es-ES_tradnl" sz="3200" b="1" dirty="0"/>
              <a:t>que la mitad de la humanidad tenga vida plena</a:t>
            </a:r>
            <a:r>
              <a:rPr lang="es-ES_tradnl" sz="3200" dirty="0"/>
              <a:t>. </a:t>
            </a:r>
          </a:p>
          <a:p>
            <a:pPr algn="just"/>
            <a:r>
              <a:rPr lang="es-ES_tradnl" sz="3200" dirty="0"/>
              <a:t>La </a:t>
            </a:r>
            <a:r>
              <a:rPr lang="es-ES_tradnl" sz="3200" dirty="0" err="1"/>
              <a:t>teología</a:t>
            </a:r>
            <a:r>
              <a:rPr lang="es-ES_tradnl" sz="3200" dirty="0"/>
              <a:t> feminista es “feminista” porque critica el patriarcado, el androcentrismo o sesgo masculino dominante (=machismo). </a:t>
            </a:r>
          </a:p>
          <a:p>
            <a:pPr algn="just"/>
            <a:r>
              <a:rPr lang="es-ES_tradnl" sz="3200" dirty="0"/>
              <a:t>Aspiran a la esperanza del Reino de Dios: promesa de una vida en abundancia, </a:t>
            </a:r>
            <a:r>
              <a:rPr lang="es-ES_tradnl" sz="3200" b="1" dirty="0"/>
              <a:t>alrededor de la mesa.</a:t>
            </a:r>
          </a:p>
          <a:p>
            <a:pPr algn="just"/>
            <a:r>
              <a:rPr lang="es-ES_tradnl" sz="3200" dirty="0"/>
              <a:t>Cree en el </a:t>
            </a:r>
            <a:r>
              <a:rPr lang="es-ES_tradnl" sz="3200" dirty="0" err="1"/>
              <a:t>compañerismo</a:t>
            </a:r>
            <a:r>
              <a:rPr lang="es-ES_tradnl" sz="3200" dirty="0"/>
              <a:t> entre varones y mujeres, que supera el sexismo que discrimina y subordina. </a:t>
            </a:r>
          </a:p>
          <a:p>
            <a:endParaRPr lang="es-ES_tradnl" dirty="0"/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2682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36973" y="2090605"/>
            <a:ext cx="6411097" cy="4351338"/>
          </a:xfrm>
        </p:spPr>
        <p:txBody>
          <a:bodyPr/>
          <a:lstStyle/>
          <a:p>
            <a:pPr marL="0" indent="0">
              <a:buNone/>
            </a:pPr>
            <a:r>
              <a:rPr lang="es-ES" sz="3200" dirty="0">
                <a:solidFill>
                  <a:schemeClr val="bg1"/>
                </a:solidFill>
              </a:rPr>
              <a:t>“La toma de conciencia es solo el comienzo, lo necesario es la transformación  del sistema social y de las relaciones para que suceda el cambio.” </a:t>
            </a:r>
            <a:endParaRPr lang="es-ES_tradnl" sz="3200" dirty="0">
              <a:solidFill>
                <a:schemeClr val="bg1"/>
              </a:solidFill>
            </a:endParaRPr>
          </a:p>
          <a:p>
            <a:endParaRPr lang="es-ES_tradnl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68" y="365125"/>
            <a:ext cx="4551748" cy="607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32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10687</TotalTime>
  <Words>1041</Words>
  <Application>Microsoft Macintosh PowerPoint</Application>
  <PresentationFormat>Panorámica</PresentationFormat>
  <Paragraphs>58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CenturyGothic</vt:lpstr>
      <vt:lpstr>Glacial Indifference</vt:lpstr>
      <vt:lpstr>Glacial Indifference Bold</vt:lpstr>
      <vt:lpstr>Tema de Office</vt:lpstr>
      <vt:lpstr>Presentación de PowerPoint</vt:lpstr>
      <vt:lpstr>Presentación de PowerPoint</vt:lpstr>
      <vt:lpstr>Presentación de PowerPoint</vt:lpstr>
      <vt:lpstr>RAZONES IMPOSTERGABLES PARA  LAS TEOLOGÍAS FEMINISTAS </vt:lpstr>
      <vt:lpstr>IGLESIA EN EL MUNDO</vt:lpstr>
      <vt:lpstr>Presentación de PowerPoint</vt:lpstr>
      <vt:lpstr>Está en juego  “la realización de más de la mitad de la humanidad”  </vt:lpstr>
      <vt:lpstr>“El androcentrismo mata”</vt:lpstr>
      <vt:lpstr>3. TEOLOGÍA FEMINISTA</vt:lpstr>
      <vt:lpstr>Presentación de PowerPoint</vt:lpstr>
      <vt:lpstr>Presentación de PowerPoint</vt:lpstr>
      <vt:lpstr>Presentación de PowerPoint</vt:lpstr>
      <vt:lpstr>Rasgos comunes:</vt:lpstr>
      <vt:lpstr>¿QUÉ ES LA TEOLOGÍA FEMINISTA?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Blanca Besa</dc:creator>
  <cp:lastModifiedBy>blancabesa@gmail.com</cp:lastModifiedBy>
  <cp:revision>97</cp:revision>
  <dcterms:created xsi:type="dcterms:W3CDTF">2020-01-12T15:50:37Z</dcterms:created>
  <dcterms:modified xsi:type="dcterms:W3CDTF">2023-09-08T13:05:11Z</dcterms:modified>
</cp:coreProperties>
</file>