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70" r:id="rId3"/>
    <p:sldId id="257" r:id="rId4"/>
    <p:sldId id="260" r:id="rId5"/>
    <p:sldId id="258" r:id="rId6"/>
    <p:sldId id="261" r:id="rId7"/>
    <p:sldId id="263" r:id="rId8"/>
    <p:sldId id="262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36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anca Besa Bandeira" userId="866f11b1-abf2-492f-acd7-465cb79a174c" providerId="ADAL" clId="{794AD5F1-AE07-7049-A30A-86C666AA1B9D}"/>
    <pc:docChg chg="custSel modSld">
      <pc:chgData name="Blanca Besa Bandeira" userId="866f11b1-abf2-492f-acd7-465cb79a174c" providerId="ADAL" clId="{794AD5F1-AE07-7049-A30A-86C666AA1B9D}" dt="2025-03-11T13:54:38.717" v="41" actId="122"/>
      <pc:docMkLst>
        <pc:docMk/>
      </pc:docMkLst>
      <pc:sldChg chg="modSp mod">
        <pc:chgData name="Blanca Besa Bandeira" userId="866f11b1-abf2-492f-acd7-465cb79a174c" providerId="ADAL" clId="{794AD5F1-AE07-7049-A30A-86C666AA1B9D}" dt="2025-03-11T13:54:38.717" v="41" actId="122"/>
        <pc:sldMkLst>
          <pc:docMk/>
          <pc:sldMk cId="1527362551" sldId="256"/>
        </pc:sldMkLst>
        <pc:spChg chg="mod">
          <ac:chgData name="Blanca Besa Bandeira" userId="866f11b1-abf2-492f-acd7-465cb79a174c" providerId="ADAL" clId="{794AD5F1-AE07-7049-A30A-86C666AA1B9D}" dt="2025-03-11T13:54:38.717" v="41" actId="122"/>
          <ac:spMkLst>
            <pc:docMk/>
            <pc:sldMk cId="1527362551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3/11/25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3/11/25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3/11/25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3/11/25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3/11/25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3/11/25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3/11/25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3/11/25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3/11/25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3/11/25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jpe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2D3DCD-4716-40AA-90C0-6F2F9F116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BACED-9574-4AAE-9D04-510030835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4225845"/>
            <a:ext cx="12192000" cy="2610465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1559" y="4355692"/>
            <a:ext cx="10509069" cy="1472224"/>
          </a:xfrm>
        </p:spPr>
        <p:txBody>
          <a:bodyPr anchor="b">
            <a:normAutofit/>
          </a:bodyPr>
          <a:lstStyle/>
          <a:p>
            <a:pPr algn="ctr"/>
            <a:r>
              <a:rPr lang="es-ES_tradnl" sz="6600" dirty="0">
                <a:solidFill>
                  <a:schemeClr val="tx1"/>
                </a:solidFill>
              </a:rPr>
              <a:t>¿Qué es la teología?</a:t>
            </a:r>
          </a:p>
        </p:txBody>
      </p:sp>
      <p:pic>
        <p:nvPicPr>
          <p:cNvPr id="5" name="Imagen 4" descr="Un perro acostado en el suelo&#10;&#10;Descripción generada automáticamente con confianza baja">
            <a:extLst>
              <a:ext uri="{FF2B5EF4-FFF2-40B4-BE49-F238E27FC236}">
                <a16:creationId xmlns:a16="http://schemas.microsoft.com/office/drawing/2014/main" id="{475AE16C-A3E0-4517-1BFA-5D35E9114D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6" b="22869"/>
          <a:stretch/>
        </p:blipFill>
        <p:spPr>
          <a:xfrm>
            <a:off x="20" y="10"/>
            <a:ext cx="12191980" cy="424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62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0934" y="798394"/>
            <a:ext cx="5529366" cy="1637730"/>
          </a:xfrm>
        </p:spPr>
        <p:txBody>
          <a:bodyPr>
            <a:normAutofit/>
          </a:bodyPr>
          <a:lstStyle/>
          <a:p>
            <a:r>
              <a:rPr lang="es-ES_tradnl" sz="3700" dirty="0"/>
              <a:t>1. El ser humano como   </a:t>
            </a:r>
            <a:br>
              <a:rPr lang="es-ES_tradnl" sz="3700" dirty="0"/>
            </a:br>
            <a:r>
              <a:rPr lang="es-ES_tradnl" sz="3700" dirty="0"/>
              <a:t>  incógnita y búsqueda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9848" y="2578608"/>
            <a:ext cx="4730451" cy="3593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1700" b="1"/>
              <a:t>Frontispicio del oráculo de Delfos</a:t>
            </a:r>
          </a:p>
          <a:p>
            <a:pPr marL="0" indent="0">
              <a:buNone/>
            </a:pPr>
            <a:endParaRPr lang="es-ES_tradnl" sz="1700" i="1"/>
          </a:p>
          <a:p>
            <a:pPr marL="0" indent="0">
              <a:buNone/>
            </a:pPr>
            <a:r>
              <a:rPr lang="es-ES_tradnl" sz="1700" i="1"/>
              <a:t>“Te advierto, quien quiera que fueres, Oh! Tú que deseas sondear los arcanos de la Naturaleza, que si no hallas dentro de ti mismo, aquello que buscas, tampoco podrás hallarlo fuera.</a:t>
            </a:r>
          </a:p>
          <a:p>
            <a:pPr marL="0" indent="0">
              <a:buNone/>
            </a:pPr>
            <a:r>
              <a:rPr lang="es-ES_tradnl" sz="1700" i="1"/>
              <a:t>Si tu ignoras las excelencias de tu propia casa, ¿Cómo pretendes encontrar otras excelencias?. En ti se halla oculto el tesoro de los tesoros. Oh! Hombre, conócete a ti mismo y conocerás al Universo y a los Dioses.”</a:t>
            </a:r>
          </a:p>
          <a:p>
            <a:endParaRPr lang="es-ES_tradnl" sz="1700"/>
          </a:p>
        </p:txBody>
      </p:sp>
      <p:pic>
        <p:nvPicPr>
          <p:cNvPr id="5" name="Imagen 4" descr="Edificio de piedra&#10;&#10;Descripción generada automáticamente con confianza media">
            <a:extLst>
              <a:ext uri="{FF2B5EF4-FFF2-40B4-BE49-F238E27FC236}">
                <a16:creationId xmlns:a16="http://schemas.microsoft.com/office/drawing/2014/main" id="{43CD3C42-E89A-134A-B4C1-5FC1991174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1" r="29416" b="1"/>
          <a:stretch/>
        </p:blipFill>
        <p:spPr>
          <a:xfrm>
            <a:off x="5913124" y="10"/>
            <a:ext cx="6278877" cy="6857990"/>
          </a:xfrm>
          <a:custGeom>
            <a:avLst/>
            <a:gdLst/>
            <a:ahLst/>
            <a:cxnLst/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84E34F7-E155-426C-A88E-8AEA6CF3F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3123" y="0"/>
            <a:ext cx="6278877" cy="6858000"/>
          </a:xfrm>
          <a:custGeom>
            <a:avLst/>
            <a:gdLst>
              <a:gd name="connsiteX0" fmla="*/ 45571 w 6278877"/>
              <a:gd name="connsiteY0" fmla="*/ 0 h 6858000"/>
              <a:gd name="connsiteX1" fmla="*/ 6278877 w 6278877"/>
              <a:gd name="connsiteY1" fmla="*/ 0 h 6858000"/>
              <a:gd name="connsiteX2" fmla="*/ 6278877 w 6278877"/>
              <a:gd name="connsiteY2" fmla="*/ 6858000 h 6858000"/>
              <a:gd name="connsiteX3" fmla="*/ 3292307 w 6278877"/>
              <a:gd name="connsiteY3" fmla="*/ 6858000 h 6858000"/>
              <a:gd name="connsiteX4" fmla="*/ 3181525 w 6278877"/>
              <a:gd name="connsiteY4" fmla="*/ 6786980 h 6858000"/>
              <a:gd name="connsiteX5" fmla="*/ 0 w 6278877"/>
              <a:gd name="connsiteY5" fmla="*/ 803252 h 6858000"/>
              <a:gd name="connsiteX6" fmla="*/ 37255 w 6278877"/>
              <a:gd name="connsiteY6" fmla="*/ 65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9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9848" y="1080655"/>
            <a:ext cx="10058400" cy="5583381"/>
          </a:xfrm>
        </p:spPr>
        <p:txBody>
          <a:bodyPr>
            <a:normAutofit/>
          </a:bodyPr>
          <a:lstStyle/>
          <a:p>
            <a:endParaRPr lang="es-ES_tradnl" sz="2400" dirty="0"/>
          </a:p>
          <a:p>
            <a:r>
              <a:rPr lang="es-ES_tradnl" sz="2400" dirty="0"/>
              <a:t>La pregunta por la trascendencia/Dios aparece. </a:t>
            </a:r>
          </a:p>
          <a:p>
            <a:r>
              <a:rPr lang="es-ES_tradnl" sz="2400" dirty="0"/>
              <a:t>La pregunta por Dios es la pregunta por el ser humano. Particularidad del caso cristiano.</a:t>
            </a:r>
          </a:p>
          <a:p>
            <a:r>
              <a:rPr lang="es-ES" sz="2400" dirty="0"/>
              <a:t>Falsa pretensión de posesión, de comprensión, de dominación. No somos del todo transparentes a nosotros mismos, estamos en permanente búsqueda.</a:t>
            </a:r>
          </a:p>
          <a:p>
            <a:r>
              <a:rPr lang="es-ES" sz="2400" dirty="0"/>
              <a:t>Necesidad de la alteridad para comprendernos a nosotros mismos.</a:t>
            </a:r>
          </a:p>
          <a:p>
            <a:r>
              <a:rPr lang="es-ES" sz="2400" dirty="0"/>
              <a:t>En lenguaje teológico esto se llama misterio y, desde aquí, la teología se entiende como ciencia mistagógica. </a:t>
            </a:r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6909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9848" y="942109"/>
            <a:ext cx="10058400" cy="5230091"/>
          </a:xfrm>
        </p:spPr>
        <p:txBody>
          <a:bodyPr>
            <a:normAutofit/>
          </a:bodyPr>
          <a:lstStyle/>
          <a:p>
            <a:pPr algn="just"/>
            <a:r>
              <a:rPr lang="es-ES" sz="2400" dirty="0"/>
              <a:t>Enigma como algo positivo: permite mantener la apertura.</a:t>
            </a:r>
          </a:p>
          <a:p>
            <a:pPr algn="just"/>
            <a:r>
              <a:rPr lang="es-ES" sz="2400" dirty="0"/>
              <a:t>No implica renunciar a la racionalidad.</a:t>
            </a:r>
          </a:p>
          <a:p>
            <a:pPr algn="just"/>
            <a:r>
              <a:rPr lang="es-ES" sz="2400" dirty="0"/>
              <a:t>Aprender a convivir con el enigma (en Teología eso se llama misterio.)</a:t>
            </a:r>
            <a:r>
              <a:rPr lang="es-ES_tradnl" sz="2400" dirty="0"/>
              <a:t> </a:t>
            </a:r>
            <a:endParaRPr lang="es-ES" sz="2400" dirty="0"/>
          </a:p>
          <a:p>
            <a:pPr algn="just"/>
            <a:r>
              <a:rPr lang="es-ES" sz="2400" dirty="0"/>
              <a:t>“El peligro de toda formación consiste en generar la ilusión de respuestas que dejan absolutamente satisfechos.” (Adolph </a:t>
            </a:r>
            <a:r>
              <a:rPr lang="es-CL" sz="2400" dirty="0"/>
              <a:t>Gesché</a:t>
            </a:r>
            <a:r>
              <a:rPr lang="es-ES" sz="2400" dirty="0"/>
              <a:t>)</a:t>
            </a:r>
          </a:p>
          <a:p>
            <a:pPr algn="just"/>
            <a:r>
              <a:rPr lang="es-ES" sz="2400" dirty="0"/>
              <a:t>Desafío es, no olvidar nuestro enigma, sin por eso renunciar a la razón. No nos enfrentamos al sin sentido, sino más bien al misterio, que es distinto. </a:t>
            </a:r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1476226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9848" y="798394"/>
            <a:ext cx="4730451" cy="1637730"/>
          </a:xfrm>
        </p:spPr>
        <p:txBody>
          <a:bodyPr>
            <a:normAutofit/>
          </a:bodyPr>
          <a:lstStyle/>
          <a:p>
            <a:r>
              <a:rPr lang="es-ES_tradnl" sz="4400"/>
              <a:t>2. la teología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9848" y="2578608"/>
            <a:ext cx="4730451" cy="3593592"/>
          </a:xfrm>
        </p:spPr>
        <p:txBody>
          <a:bodyPr>
            <a:normAutofit/>
          </a:bodyPr>
          <a:lstStyle/>
          <a:p>
            <a:r>
              <a:rPr lang="es-ES" sz="1800"/>
              <a:t>Ciencia de la fe revelada. </a:t>
            </a:r>
          </a:p>
          <a:p>
            <a:pPr lvl="1"/>
            <a:r>
              <a:rPr lang="es-ES"/>
              <a:t>Ciencia porque tiene un método </a:t>
            </a:r>
          </a:p>
          <a:p>
            <a:pPr lvl="1"/>
            <a:r>
              <a:rPr lang="es-ES"/>
              <a:t>Objeto: fe revelada. Dios mismo que se da a conocer. </a:t>
            </a:r>
          </a:p>
          <a:p>
            <a:pPr lvl="1"/>
            <a:endParaRPr lang="es-ES_tradnl"/>
          </a:p>
          <a:p>
            <a:r>
              <a:rPr lang="es-ES" sz="1800"/>
              <a:t>Teología: conocimiento de Dios y su revelación expuesto metódicamente. </a:t>
            </a:r>
          </a:p>
          <a:p>
            <a:endParaRPr lang="es-ES_tradnl" sz="1800"/>
          </a:p>
          <a:p>
            <a:r>
              <a:rPr lang="es-ES" sz="1800"/>
              <a:t>Teología es un intento por argumentar racionalmente lo que es la fe. </a:t>
            </a:r>
            <a:endParaRPr lang="es-ES_tradnl" sz="1800"/>
          </a:p>
          <a:p>
            <a:endParaRPr lang="es-ES_tradnl" sz="1800"/>
          </a:p>
        </p:txBody>
      </p:sp>
      <p:pic>
        <p:nvPicPr>
          <p:cNvPr id="5" name="Picture 4" descr="Piedras blancas equilibradas en una pila">
            <a:extLst>
              <a:ext uri="{FF2B5EF4-FFF2-40B4-BE49-F238E27FC236}">
                <a16:creationId xmlns:a16="http://schemas.microsoft.com/office/drawing/2014/main" id="{4B1F14E2-D732-E87E-C344-608057194E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887" r="-1" b="-1"/>
          <a:stretch/>
        </p:blipFill>
        <p:spPr>
          <a:xfrm>
            <a:off x="5913124" y="10"/>
            <a:ext cx="6278877" cy="6857990"/>
          </a:xfrm>
          <a:custGeom>
            <a:avLst/>
            <a:gdLst/>
            <a:ahLst/>
            <a:cxnLst/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84E34F7-E155-426C-A88E-8AEA6CF3F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3123" y="0"/>
            <a:ext cx="6278877" cy="6858000"/>
          </a:xfrm>
          <a:custGeom>
            <a:avLst/>
            <a:gdLst>
              <a:gd name="connsiteX0" fmla="*/ 45571 w 6278877"/>
              <a:gd name="connsiteY0" fmla="*/ 0 h 6858000"/>
              <a:gd name="connsiteX1" fmla="*/ 6278877 w 6278877"/>
              <a:gd name="connsiteY1" fmla="*/ 0 h 6858000"/>
              <a:gd name="connsiteX2" fmla="*/ 6278877 w 6278877"/>
              <a:gd name="connsiteY2" fmla="*/ 6858000 h 6858000"/>
              <a:gd name="connsiteX3" fmla="*/ 3292307 w 6278877"/>
              <a:gd name="connsiteY3" fmla="*/ 6858000 h 6858000"/>
              <a:gd name="connsiteX4" fmla="*/ 3181525 w 6278877"/>
              <a:gd name="connsiteY4" fmla="*/ 6786980 h 6858000"/>
              <a:gd name="connsiteX5" fmla="*/ 0 w 6278877"/>
              <a:gd name="connsiteY5" fmla="*/ 803252 h 6858000"/>
              <a:gd name="connsiteX6" fmla="*/ 37255 w 6278877"/>
              <a:gd name="connsiteY6" fmla="*/ 65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0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vistiendo, pequeño, cuero, perro&#10;&#10;Descripción generada automáticamente">
            <a:extLst>
              <a:ext uri="{FF2B5EF4-FFF2-40B4-BE49-F238E27FC236}">
                <a16:creationId xmlns:a16="http://schemas.microsoft.com/office/drawing/2014/main" id="{FC3CDD77-1917-F20C-9D29-26087172B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1" r="2" b="31500"/>
          <a:stretch/>
        </p:blipFill>
        <p:spPr>
          <a:xfrm>
            <a:off x="3344" y="3509433"/>
            <a:ext cx="4475150" cy="33485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1BB01C-2DAE-48BD-8E81-DAE2E1BC4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070" y="0"/>
            <a:ext cx="7541930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magen en blanco y negro de un hombre con lentes y corbata&#10;&#10;Descripción generada automáticamente">
            <a:extLst>
              <a:ext uri="{FF2B5EF4-FFF2-40B4-BE49-F238E27FC236}">
                <a16:creationId xmlns:a16="http://schemas.microsoft.com/office/drawing/2014/main" id="{838C44B0-DA0C-7941-765B-1D5A97E9A3B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" r="10564" b="-3"/>
          <a:stretch/>
        </p:blipFill>
        <p:spPr>
          <a:xfrm>
            <a:off x="3344" y="10"/>
            <a:ext cx="4475150" cy="3348557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76800" y="1981200"/>
            <a:ext cx="6823585" cy="4191000"/>
          </a:xfrm>
        </p:spPr>
        <p:txBody>
          <a:bodyPr>
            <a:normAutofit lnSpcReduction="10000"/>
          </a:bodyPr>
          <a:lstStyle/>
          <a:p>
            <a:r>
              <a:rPr lang="es-ES" sz="2400" dirty="0"/>
              <a:t>Enrique de Gantes</a:t>
            </a:r>
            <a:br>
              <a:rPr lang="es-ES" sz="1500" dirty="0"/>
            </a:br>
            <a:r>
              <a:rPr lang="es-ES" i="1" dirty="0"/>
              <a:t>Si es posible, es ciencia, porque la ciencia investiga lo posible. Si es imposible, no es ciencia porque no se puede pensar. </a:t>
            </a:r>
          </a:p>
          <a:p>
            <a:endParaRPr lang="es-ES" sz="1500" i="1" dirty="0"/>
          </a:p>
          <a:p>
            <a:r>
              <a:rPr lang="es-ES" sz="2400" dirty="0" err="1"/>
              <a:t>Panenberg</a:t>
            </a:r>
            <a:r>
              <a:rPr lang="es-ES" sz="2400" dirty="0"/>
              <a:t> </a:t>
            </a:r>
            <a:br>
              <a:rPr lang="es-ES" sz="1500" dirty="0"/>
            </a:br>
            <a:r>
              <a:rPr lang="es-ES" i="1" dirty="0"/>
              <a:t>Hecho de que la teología tenga un supuesto no niega la posibilidad de ser ciencia. Dada la imposibilidad de verificar sus afirmaciones los enunciados teológicos son científicamente hipótesis y no tesis. Aunque no por esto hay que dejar de trabajarlos metódicamente y con rigor</a:t>
            </a:r>
            <a:r>
              <a:rPr lang="es-ES" dirty="0"/>
              <a:t>. </a:t>
            </a:r>
          </a:p>
          <a:p>
            <a:pPr lvl="1"/>
            <a:r>
              <a:rPr lang="es-ES" sz="2000" dirty="0"/>
              <a:t>Supuestos: existencia de Dios, existencia de la revelación y la Iglesia como una comunidad portadora de la revelación. </a:t>
            </a:r>
          </a:p>
          <a:p>
            <a:pPr lvl="1"/>
            <a:endParaRPr lang="es-ES_tradnl" sz="15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D55FF18-1979-4730-A345-E74E328F0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8381C4-0751-4A6E-BFF7-48DF67BFA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7320C1D-D7A9-4392-B3B6-ACEF193A8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6007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Un dibujo de un personaje de caricatura&#10;&#10;Descripción generada automáticamente con confianza media">
            <a:extLst>
              <a:ext uri="{FF2B5EF4-FFF2-40B4-BE49-F238E27FC236}">
                <a16:creationId xmlns:a16="http://schemas.microsoft.com/office/drawing/2014/main" id="{DEA4FB54-92F5-694F-4CC2-997EC0E9B4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489890"/>
            <a:ext cx="6882269" cy="3888481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156351" y="372533"/>
            <a:ext cx="3401650" cy="5799667"/>
          </a:xfrm>
        </p:spPr>
        <p:txBody>
          <a:bodyPr>
            <a:normAutofit lnSpcReduction="10000"/>
          </a:bodyPr>
          <a:lstStyle/>
          <a:p>
            <a:r>
              <a:rPr lang="es-ES_tradnl" dirty="0"/>
              <a:t>La teología no está desconectada de la vida de fe.</a:t>
            </a:r>
          </a:p>
          <a:p>
            <a:r>
              <a:rPr lang="es-ES" dirty="0"/>
              <a:t>La teología no sólo como búsqueda del conocimiento de Dios sino búsqueda del sentido de la realidad</a:t>
            </a:r>
            <a:r>
              <a:rPr lang="es-ES_tradnl" dirty="0"/>
              <a:t>.</a:t>
            </a:r>
          </a:p>
          <a:p>
            <a:r>
              <a:rPr lang="es-ES" dirty="0"/>
              <a:t>Conocimiento y espiritualidad no van separados. Círculo hermenéutico. </a:t>
            </a:r>
          </a:p>
          <a:p>
            <a:r>
              <a:rPr lang="es-ES" dirty="0"/>
              <a:t>Teología requiere dos cosas: </a:t>
            </a:r>
          </a:p>
          <a:p>
            <a:pPr lvl="1"/>
            <a:r>
              <a:rPr lang="es-ES" dirty="0"/>
              <a:t>rigor que permite presentar razonablemente la experiencia de fe </a:t>
            </a:r>
          </a:p>
          <a:p>
            <a:pPr lvl="1"/>
            <a:r>
              <a:rPr lang="es-ES" dirty="0"/>
              <a:t>saborear y discernir auto comunicación de Dios. </a:t>
            </a:r>
            <a:endParaRPr lang="es-ES_tradnl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266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0"/>
            <a:ext cx="10058400" cy="4050792"/>
          </a:xfrm>
        </p:spPr>
        <p:txBody>
          <a:bodyPr/>
          <a:lstStyle/>
          <a:p>
            <a:r>
              <a:rPr lang="es-ES" dirty="0"/>
              <a:t>No hay una teología, existen distintas perspectivas y métodos</a:t>
            </a:r>
            <a:r>
              <a:rPr lang="es-ES_tradnl" dirty="0"/>
              <a:t> </a:t>
            </a: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92653"/>
              </p:ext>
            </p:extLst>
          </p:nvPr>
        </p:nvGraphicFramePr>
        <p:xfrm>
          <a:off x="1596448" y="275648"/>
          <a:ext cx="8143298" cy="673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26162" imgH="5063810" progId="Word.Document.8">
                  <p:embed/>
                </p:oleObj>
              </mc:Choice>
              <mc:Fallback>
                <p:oleObj name="Document" r:id="rId2" imgW="6126162" imgH="5063810" progId="Word.Document.8">
                  <p:embed/>
                  <p:pic>
                    <p:nvPicPr>
                      <p:cNvPr id="4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6448" y="275648"/>
                        <a:ext cx="8143298" cy="6732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69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9848" y="219456"/>
            <a:ext cx="10058400" cy="1609344"/>
          </a:xfrm>
        </p:spPr>
        <p:txBody>
          <a:bodyPr/>
          <a:lstStyle/>
          <a:p>
            <a:r>
              <a:rPr lang="es-ES_tradnl" dirty="0"/>
              <a:t>Diccionario de conceptos mínimos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9848" y="1828799"/>
            <a:ext cx="10058400" cy="4752109"/>
          </a:xfrm>
        </p:spPr>
        <p:txBody>
          <a:bodyPr>
            <a:normAutofit/>
          </a:bodyPr>
          <a:lstStyle/>
          <a:p>
            <a:r>
              <a:rPr lang="es-ES_tradnl" b="1" dirty="0"/>
              <a:t>Teología</a:t>
            </a:r>
            <a:r>
              <a:rPr lang="es-ES_tradnl" dirty="0"/>
              <a:t>: </a:t>
            </a:r>
            <a:r>
              <a:rPr lang="es-ES_tradnl" i="1" dirty="0"/>
              <a:t>ciencia de la fe revelada.</a:t>
            </a:r>
          </a:p>
          <a:p>
            <a:r>
              <a:rPr lang="es-ES_tradnl" b="1" dirty="0"/>
              <a:t>Revelación</a:t>
            </a:r>
            <a:r>
              <a:rPr lang="es-ES_tradnl" dirty="0"/>
              <a:t>: </a:t>
            </a:r>
            <a:r>
              <a:rPr lang="es-ES_tradnl" i="1" dirty="0"/>
              <a:t>“llamado de Dios al hombre y una manifestación de sí mismo y su voluntad.” (DVº2) </a:t>
            </a:r>
            <a:br>
              <a:rPr lang="es-ES_tradnl" i="1" dirty="0"/>
            </a:br>
            <a:r>
              <a:rPr lang="es-ES_tradnl" i="1" dirty="0"/>
              <a:t>Dios se da a conocer porque quiere entrar en relación con el ser humano. </a:t>
            </a:r>
          </a:p>
          <a:p>
            <a:r>
              <a:rPr lang="es-ES_tradnl" b="1" dirty="0"/>
              <a:t>Sagrada Escritura</a:t>
            </a:r>
            <a:r>
              <a:rPr lang="es-ES_tradnl" dirty="0"/>
              <a:t>: </a:t>
            </a:r>
            <a:r>
              <a:rPr lang="es-ES_tradnl" i="1" dirty="0"/>
              <a:t>consignación por escrito de la revelación de Dios. Palabra inspirada. </a:t>
            </a:r>
          </a:p>
          <a:p>
            <a:r>
              <a:rPr lang="es-ES_tradnl" b="1" dirty="0"/>
              <a:t>Tradición</a:t>
            </a:r>
            <a:r>
              <a:rPr lang="es-ES_tradnl" dirty="0"/>
              <a:t>: </a:t>
            </a:r>
            <a:r>
              <a:rPr lang="es-ES_tradnl" i="1" dirty="0"/>
              <a:t>transmisión. Íntimamente unida con la Sagrada Escritura. Dos expresiones de una misma cosa. </a:t>
            </a:r>
          </a:p>
          <a:p>
            <a:r>
              <a:rPr lang="es-ES_tradnl" b="1" dirty="0"/>
              <a:t>Magisterio</a:t>
            </a:r>
            <a:r>
              <a:rPr lang="es-ES_tradnl" dirty="0"/>
              <a:t>: </a:t>
            </a:r>
            <a:r>
              <a:rPr lang="es-ES_tradnl" i="1" dirty="0"/>
              <a:t>servicio de exponer rectamente la Palabra de Dios que nos llega por la Sagrada Escritura y por la Tradición. </a:t>
            </a:r>
          </a:p>
          <a:p>
            <a:r>
              <a:rPr lang="es-ES_tradnl" b="1" dirty="0"/>
              <a:t>Iglesia</a:t>
            </a:r>
            <a:r>
              <a:rPr lang="es-ES_tradnl" dirty="0"/>
              <a:t>: </a:t>
            </a:r>
            <a:r>
              <a:rPr lang="es-ES_tradnl" i="1" dirty="0"/>
              <a:t>asamblea reunida</a:t>
            </a:r>
          </a:p>
          <a:p>
            <a:r>
              <a:rPr lang="es-ES_tradnl" b="1" dirty="0"/>
              <a:t>Fe</a:t>
            </a:r>
            <a:r>
              <a:rPr lang="es-ES_tradnl" dirty="0"/>
              <a:t>: </a:t>
            </a:r>
            <a:r>
              <a:rPr lang="es-ES_tradnl" i="1" dirty="0"/>
              <a:t>acto humano. Respuesta positiva del ser humano a Dios que se le revela. No se opone a la razón.</a:t>
            </a:r>
          </a:p>
        </p:txBody>
      </p:sp>
    </p:spTree>
    <p:extLst>
      <p:ext uri="{BB962C8B-B14F-4D97-AF65-F5344CB8AC3E}">
        <p14:creationId xmlns:p14="http://schemas.microsoft.com/office/powerpoint/2010/main" val="17579034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ra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Letras en madera</Template>
  <TotalTime>485</TotalTime>
  <Words>629</Words>
  <Application>Microsoft Macintosh PowerPoint</Application>
  <PresentationFormat>Panorámica</PresentationFormat>
  <Paragraphs>44</Paragraphs>
  <Slides>9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Calibri</vt:lpstr>
      <vt:lpstr>Rockwell</vt:lpstr>
      <vt:lpstr>Rockwell Condensed</vt:lpstr>
      <vt:lpstr>Rockwell Extra Bold</vt:lpstr>
      <vt:lpstr>Wingdings</vt:lpstr>
      <vt:lpstr>Tipo de madera</vt:lpstr>
      <vt:lpstr>Document</vt:lpstr>
      <vt:lpstr>¿Qué es la teología?</vt:lpstr>
      <vt:lpstr>1. El ser humano como      incógnita y búsqueda</vt:lpstr>
      <vt:lpstr>Presentación de PowerPoint</vt:lpstr>
      <vt:lpstr>Presentación de PowerPoint</vt:lpstr>
      <vt:lpstr>2. la teología </vt:lpstr>
      <vt:lpstr>Presentación de PowerPoint</vt:lpstr>
      <vt:lpstr>Presentación de PowerPoint</vt:lpstr>
      <vt:lpstr>Presentación de PowerPoint</vt:lpstr>
      <vt:lpstr>Diccionario de conceptos mínimos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 razón de mi fe</dc:title>
  <dc:creator>Blanca Besa</dc:creator>
  <cp:lastModifiedBy>Blanca Besa Bandeira</cp:lastModifiedBy>
  <cp:revision>25</cp:revision>
  <dcterms:created xsi:type="dcterms:W3CDTF">2020-08-05T15:55:47Z</dcterms:created>
  <dcterms:modified xsi:type="dcterms:W3CDTF">2025-03-11T13:54:48Z</dcterms:modified>
</cp:coreProperties>
</file>