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259" r:id="rId3"/>
    <p:sldId id="260"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2"/>
    <p:restoredTop sz="94569"/>
  </p:normalViewPr>
  <p:slideViewPr>
    <p:cSldViewPr snapToGrid="0" snapToObjects="1">
      <p:cViewPr varScale="1">
        <p:scale>
          <a:sx n="86" d="100"/>
          <a:sy n="86" d="100"/>
        </p:scale>
        <p:origin x="6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_tradnl"/>
              <a:t>Clic para editar título</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solidFill>
                  <a:srgbClr val="696464"/>
                </a:solidFill>
              </a:rPr>
              <a:pPr/>
              <a:t>10/4/24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solidFill>
                  <a:srgbClr val="696464"/>
                </a:solidFill>
              </a:rPr>
              <a:pPr/>
              <a:t>10/4/24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_tradnl"/>
              <a:t>Clic para editar título</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solidFill>
                  <a:srgbClr val="696464"/>
                </a:solidFill>
              </a:rPr>
              <a:pPr/>
              <a:t>10/4/24</a:t>
            </a:fld>
            <a:endParaRPr lang="en-US" dirty="0">
              <a:solidFill>
                <a:srgbClr val="696464"/>
              </a:solidFill>
            </a:endParaRPr>
          </a:p>
        </p:txBody>
      </p:sp>
      <p:sp>
        <p:nvSpPr>
          <p:cNvPr id="5" name="Footer Placeholder 4"/>
          <p:cNvSpPr>
            <a:spLocks noGrp="1"/>
          </p:cNvSpPr>
          <p:nvPr>
            <p:ph type="ftr" sz="quarter" idx="11"/>
          </p:nvPr>
        </p:nvSpPr>
        <p:spPr>
          <a:xfrm>
            <a:off x="2182708" y="6272784"/>
            <a:ext cx="6327648" cy="365125"/>
          </a:xfrm>
        </p:spPr>
        <p:txBody>
          <a:bodyPr/>
          <a:lstStyle/>
          <a:p>
            <a:endParaRPr lang="en-US" dirty="0">
              <a:solidFill>
                <a:srgbClr val="696464"/>
              </a:solidFill>
            </a:endParaRP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solidFill>
                  <a:srgbClr val="696464"/>
                </a:solidFill>
              </a:rPr>
              <a:pPr/>
              <a:t>10/4/24</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solidFill>
                  <a:srgbClr val="696464"/>
                </a:solidFill>
              </a:rPr>
              <a:pPr/>
              <a:t>10/4/24</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pPr/>
              <a:t>‹Nº›</a:t>
            </a:fld>
            <a:endParaRPr lang="en-US"/>
          </a:p>
        </p:txBody>
      </p:sp>
      <p:sp>
        <p:nvSpPr>
          <p:cNvPr id="10" name="Title 9"/>
          <p:cNvSpPr>
            <a:spLocks noGrp="1"/>
          </p:cNvSpPr>
          <p:nvPr>
            <p:ph type="title"/>
          </p:nvPr>
        </p:nvSpPr>
        <p:spPr/>
        <p:txBody>
          <a:bodyPr/>
          <a:lstStyle/>
          <a:p>
            <a:r>
              <a:rPr lang="es-ES_tradnl"/>
              <a:t>Clic para editar título</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solidFill>
                  <a:srgbClr val="696464"/>
                </a:solidFill>
              </a:rPr>
              <a:pPr/>
              <a:t>10/4/24</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4FAB73BC-B049-4115-A692-8D63A059BFB8}" type="slidenum">
              <a:rPr lang="en-US" smtClean="0"/>
              <a:pPr/>
              <a:t>‹Nº›</a:t>
            </a:fld>
            <a:endParaRPr lang="en-US"/>
          </a:p>
        </p:txBody>
      </p:sp>
      <p:sp>
        <p:nvSpPr>
          <p:cNvPr id="6" name="Title 5"/>
          <p:cNvSpPr>
            <a:spLocks noGrp="1"/>
          </p:cNvSpPr>
          <p:nvPr>
            <p:ph type="title"/>
          </p:nvPr>
        </p:nvSpPr>
        <p:spPr/>
        <p:txBody>
          <a:bodyPr/>
          <a:lstStyle/>
          <a:p>
            <a:r>
              <a:rPr lang="es-ES_tradnl"/>
              <a:t>Clic para editar título</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solidFill>
                  <a:srgbClr val="696464"/>
                </a:solidFill>
              </a:rPr>
              <a:pPr/>
              <a:t>10/4/24</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_tradnl"/>
              <a:t>Clic para editar título</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DA16AA21-1863-4931-97CB-99D0A168701B}" type="datetimeFigureOut">
              <a:rPr lang="en-US" smtClean="0">
                <a:solidFill>
                  <a:srgbClr val="696464"/>
                </a:solidFill>
              </a:rPr>
              <a:pPr/>
              <a:t>10/4/24</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_tradnl"/>
              <a:t>Clic para editar título</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a:t>Arrastre la imagen al marcador de posición o haga clic en el icono para agregarla</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Date Placeholder 4"/>
          <p:cNvSpPr>
            <a:spLocks noGrp="1"/>
          </p:cNvSpPr>
          <p:nvPr>
            <p:ph type="dt" sz="half" idx="10"/>
          </p:nvPr>
        </p:nvSpPr>
        <p:spPr/>
        <p:txBody>
          <a:bodyPr/>
          <a:lstStyle/>
          <a:p>
            <a:fld id="{3772C379-9A7C-4C87-A116-CBE9F58B04C5}" type="datetimeFigureOut">
              <a:rPr lang="en-US" smtClean="0">
                <a:solidFill>
                  <a:srgbClr val="696464"/>
                </a:solidFill>
              </a:rPr>
              <a:pPr/>
              <a:t>10/4/24</a:t>
            </a:fld>
            <a:endParaRPr lang="en-US">
              <a:solidFill>
                <a:srgbClr val="696464"/>
              </a:solidFill>
            </a:endParaRP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 para editar título</a:t>
            </a:r>
            <a:endParaRPr lang="en-US"/>
          </a:p>
        </p:txBody>
      </p:sp>
      <p:sp>
        <p:nvSpPr>
          <p:cNvPr id="3" name="Vertical Text Placeholder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a:p>
        </p:txBody>
      </p:sp>
      <p:sp>
        <p:nvSpPr>
          <p:cNvPr id="4" name="Date Placeholder 3"/>
          <p:cNvSpPr>
            <a:spLocks noGrp="1"/>
          </p:cNvSpPr>
          <p:nvPr>
            <p:ph type="dt" sz="half" idx="10"/>
          </p:nvPr>
        </p:nvSpPr>
        <p:spPr/>
        <p:txBody>
          <a:bodyPr/>
          <a:lstStyle/>
          <a:p>
            <a:fld id="{87157CC2-0FC8-4686-B024-99790E0F5162}" type="datetimeFigureOut">
              <a:rPr lang="en-US" smtClean="0">
                <a:solidFill>
                  <a:srgbClr val="696464"/>
                </a:solidFill>
              </a:rPr>
              <a:pPr/>
              <a:t>10/4/24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_tradnl"/>
              <a:t>Clic para editar título</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solidFill>
                  <a:srgbClr val="696464"/>
                </a:solidFill>
              </a:rPr>
              <a:pPr/>
              <a:t>10/4/24</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_tradnl"/>
              <a:t>Clic para editar título</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solidFill>
                  <a:srgbClr val="696464"/>
                </a:solidFill>
              </a:rPr>
              <a:pPr/>
              <a:t>10/4/24</a:t>
            </a:fld>
            <a:endParaRPr lang="en-US" dirty="0">
              <a:solidFill>
                <a:srgbClr val="696464"/>
              </a:solidFill>
            </a:endParaRP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solidFill>
                <a:srgbClr val="696464"/>
              </a:solidFill>
            </a:endParaRP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algn="ctr">
                <a:defRPr/>
              </a:pPr>
              <a:endParaRPr lang="en-US" sz="2000" kern="0" dirty="0">
                <a:solidFill>
                  <a:prstClr val="white"/>
                </a:solidFill>
                <a:latin typeface="Rockwell Extra Bold" pitchFamily="18" charset="0"/>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algn="ctr">
                <a:defRPr/>
              </a:pPr>
              <a:endParaRPr lang="en-US" kern="0" dirty="0">
                <a:solidFill>
                  <a:prstClr val="white"/>
                </a:solidFill>
                <a:latin typeface="Calibri"/>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‹Nº›</a:t>
            </a:fld>
            <a:endParaRPr lang="en-US" dirty="0"/>
          </a:p>
        </p:txBody>
      </p:sp>
    </p:spTree>
    <p:extLst>
      <p:ext uri="{BB962C8B-B14F-4D97-AF65-F5344CB8AC3E}">
        <p14:creationId xmlns:p14="http://schemas.microsoft.com/office/powerpoint/2010/main" val="7343874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74469" y="731322"/>
            <a:ext cx="10627822" cy="3860213"/>
          </a:xfrm>
        </p:spPr>
        <p:txBody>
          <a:bodyPr/>
          <a:lstStyle/>
          <a:p>
            <a:pPr algn="ctr"/>
            <a:r>
              <a:rPr lang="es-ES_tradnl" dirty="0"/>
              <a:t> </a:t>
            </a:r>
            <a:br>
              <a:rPr lang="es-ES_tradnl" dirty="0"/>
            </a:br>
            <a:r>
              <a:rPr lang="es-ES_tradnl" dirty="0"/>
              <a:t>Marialogía </a:t>
            </a:r>
            <a:br>
              <a:rPr lang="es-ES_tradnl" dirty="0"/>
            </a:br>
            <a:r>
              <a:rPr lang="es-ES_tradnl" dirty="0"/>
              <a:t>y</a:t>
            </a:r>
            <a:br>
              <a:rPr lang="es-ES_tradnl" dirty="0"/>
            </a:br>
            <a:r>
              <a:rPr lang="es-ES_tradnl" dirty="0"/>
              <a:t>antropología</a:t>
            </a:r>
          </a:p>
        </p:txBody>
      </p:sp>
      <p:sp>
        <p:nvSpPr>
          <p:cNvPr id="3" name="Subtítulo 2"/>
          <p:cNvSpPr>
            <a:spLocks noGrp="1"/>
          </p:cNvSpPr>
          <p:nvPr>
            <p:ph type="subTitle" idx="1"/>
          </p:nvPr>
        </p:nvSpPr>
        <p:spPr/>
        <p:txBody>
          <a:bodyPr/>
          <a:lstStyle/>
          <a:p>
            <a:pPr algn="r"/>
            <a:endParaRPr lang="es-ES_tradnl" dirty="0"/>
          </a:p>
        </p:txBody>
      </p:sp>
    </p:spTree>
    <p:extLst>
      <p:ext uri="{BB962C8B-B14F-4D97-AF65-F5344CB8AC3E}">
        <p14:creationId xmlns:p14="http://schemas.microsoft.com/office/powerpoint/2010/main" val="1260714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r>
              <a:rPr lang="es-ES_tradnl" dirty="0"/>
              <a:t>el encuentro entre mariología y feminismo conlleva un replanteo antropológico </a:t>
            </a:r>
          </a:p>
          <a:p>
            <a:r>
              <a:rPr lang="es-ES_tradnl" dirty="0"/>
              <a:t>la cuestión del símbolo pone en el tapete el tema del género y los estereotipos asociados a este </a:t>
            </a:r>
          </a:p>
          <a:p>
            <a:r>
              <a:rPr lang="es-ES_tradnl" dirty="0"/>
              <a:t>la propuesta feminista implica un determinado planteamiento antropológico sobre el cual se apoya y construye luego la reflexión mariológica </a:t>
            </a:r>
          </a:p>
        </p:txBody>
      </p:sp>
    </p:spTree>
    <p:extLst>
      <p:ext uri="{BB962C8B-B14F-4D97-AF65-F5344CB8AC3E}">
        <p14:creationId xmlns:p14="http://schemas.microsoft.com/office/powerpoint/2010/main" val="392215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382280" y="484632"/>
            <a:ext cx="6743844" cy="1609344"/>
          </a:xfrm>
        </p:spPr>
        <p:txBody>
          <a:bodyPr>
            <a:normAutofit/>
          </a:bodyPr>
          <a:lstStyle/>
          <a:p>
            <a:r>
              <a:rPr lang="es-ES_tradnl" sz="4800"/>
              <a:t>Kari Børresen </a:t>
            </a:r>
          </a:p>
        </p:txBody>
      </p:sp>
      <p:sp>
        <p:nvSpPr>
          <p:cNvPr id="3" name="Marcador de contenido 2"/>
          <p:cNvSpPr>
            <a:spLocks noGrp="1"/>
          </p:cNvSpPr>
          <p:nvPr>
            <p:ph idx="1"/>
          </p:nvPr>
        </p:nvSpPr>
        <p:spPr>
          <a:xfrm>
            <a:off x="382279" y="2121408"/>
            <a:ext cx="6743845" cy="4050792"/>
          </a:xfrm>
        </p:spPr>
        <p:txBody>
          <a:bodyPr>
            <a:normAutofit/>
          </a:bodyPr>
          <a:lstStyle/>
          <a:p>
            <a:r>
              <a:rPr lang="es-ES_tradnl" dirty="0"/>
              <a:t>Trabaja desde la tradición </a:t>
            </a:r>
          </a:p>
          <a:p>
            <a:r>
              <a:rPr lang="es-ES_tradnl" dirty="0"/>
              <a:t>La teología clásica se ha construido sobre la base de una antropología androcéntrica </a:t>
            </a:r>
          </a:p>
          <a:p>
            <a:pPr marL="0" indent="0" algn="ctr">
              <a:buNone/>
            </a:pPr>
            <a:r>
              <a:rPr lang="es-ES_tradnl" i="1" dirty="0"/>
              <a:t>“</a:t>
            </a:r>
            <a:r>
              <a:rPr lang="es-ES" i="1" dirty="0"/>
              <a:t>la doctrina acerca de la relación entre el hombre y la mujer está elaborada unilateralmente desde el punto de vista del varón, no desde la perspectiva de la reciprocidad de los sexos. Esto quiere decir que la mujer (</a:t>
            </a:r>
            <a:r>
              <a:rPr lang="es-ES" i="1" dirty="0" err="1"/>
              <a:t>femina</a:t>
            </a:r>
            <a:r>
              <a:rPr lang="es-ES" i="1" dirty="0"/>
              <a:t>) es referida al varón (</a:t>
            </a:r>
            <a:r>
              <a:rPr lang="es-ES" i="1" dirty="0" err="1"/>
              <a:t>vir</a:t>
            </a:r>
            <a:r>
              <a:rPr lang="es-ES" i="1" dirty="0"/>
              <a:t>), considerado como el sexo ejemplar”</a:t>
            </a:r>
            <a:r>
              <a:rPr lang="es-ES_tradnl" i="1" dirty="0"/>
              <a:t> </a:t>
            </a:r>
          </a:p>
        </p:txBody>
      </p:sp>
      <p:pic>
        <p:nvPicPr>
          <p:cNvPr id="5" name="Imagen 4" descr="Una persona sonriendo&#10;&#10;Descripción generada automáticamente">
            <a:extLst>
              <a:ext uri="{FF2B5EF4-FFF2-40B4-BE49-F238E27FC236}">
                <a16:creationId xmlns:a16="http://schemas.microsoft.com/office/drawing/2014/main" id="{3C3A66B1-BE62-7812-254C-2EE6936CDAC6}"/>
              </a:ext>
            </a:extLst>
          </p:cNvPr>
          <p:cNvPicPr>
            <a:picLocks noChangeAspect="1"/>
          </p:cNvPicPr>
          <p:nvPr/>
        </p:nvPicPr>
        <p:blipFill>
          <a:blip r:embed="rId4"/>
          <a:srcRect l="7871" r="1464" b="-2"/>
          <a:stretch/>
        </p:blipFill>
        <p:spPr>
          <a:xfrm>
            <a:off x="7545274" y="10"/>
            <a:ext cx="4646726" cy="6857990"/>
          </a:xfrm>
          <a:prstGeom prst="rect">
            <a:avLst/>
          </a:prstGeom>
        </p:spPr>
      </p:pic>
      <p:grpSp>
        <p:nvGrpSpPr>
          <p:cNvPr id="12" name="Group 11">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123534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normAutofit/>
          </a:bodyPr>
          <a:lstStyle/>
          <a:p>
            <a:r>
              <a:rPr lang="es-ES" dirty="0"/>
              <a:t>Agustín, desde la filosofía neoplatónica y Tomás desde la aristotélica, fundamentan que “la finalidad de la existencia de la mujer en el orden de la creación consiste en ser auxiliar del hombre en la generación”</a:t>
            </a:r>
            <a:r>
              <a:rPr lang="es-ES_tradnl" dirty="0"/>
              <a:t>.</a:t>
            </a:r>
          </a:p>
          <a:p>
            <a:pPr marL="0" indent="0">
              <a:buNone/>
            </a:pPr>
            <a:endParaRPr lang="es-ES_tradnl" dirty="0"/>
          </a:p>
          <a:p>
            <a:pPr algn="just"/>
            <a:r>
              <a:rPr lang="es-ES_tradnl" dirty="0"/>
              <a:t>El cristianismo asume esta antropología y, consiguientemente, también la concepción de lo femenino como un elemento auxiliar, pasivo e instrumental, es decir, como un principio secundario y subordinado al masculino. </a:t>
            </a:r>
          </a:p>
        </p:txBody>
      </p:sp>
    </p:spTree>
    <p:extLst>
      <p:ext uri="{BB962C8B-B14F-4D97-AF65-F5344CB8AC3E}">
        <p14:creationId xmlns:p14="http://schemas.microsoft.com/office/powerpoint/2010/main" val="1755451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4970108" y="-173735"/>
            <a:ext cx="6730277" cy="1609344"/>
          </a:xfrm>
          <a:ln>
            <a:noFill/>
          </a:ln>
        </p:spPr>
        <p:txBody>
          <a:bodyPr>
            <a:normAutofit/>
          </a:bodyPr>
          <a:lstStyle/>
          <a:p>
            <a:r>
              <a:rPr lang="es-ES_tradnl" sz="4800" dirty="0"/>
              <a:t>Rosemary </a:t>
            </a:r>
            <a:r>
              <a:rPr lang="es-ES_tradnl" sz="4800" dirty="0" err="1"/>
              <a:t>radford</a:t>
            </a:r>
            <a:r>
              <a:rPr lang="es-ES_tradnl" sz="4800" dirty="0"/>
              <a:t> </a:t>
            </a:r>
            <a:r>
              <a:rPr lang="es-ES_tradnl" sz="4800" dirty="0" err="1"/>
              <a:t>ruether</a:t>
            </a:r>
            <a:endParaRPr lang="es-ES_tradnl" sz="4800" dirty="0"/>
          </a:p>
        </p:txBody>
      </p:sp>
      <p:pic>
        <p:nvPicPr>
          <p:cNvPr id="5" name="Imagen 4" descr="Una persona sonriendo&#10;&#10;Descripción generada automáticamente">
            <a:extLst>
              <a:ext uri="{FF2B5EF4-FFF2-40B4-BE49-F238E27FC236}">
                <a16:creationId xmlns:a16="http://schemas.microsoft.com/office/drawing/2014/main" id="{D3F68E41-1996-4267-1E31-544A00D67016}"/>
              </a:ext>
            </a:extLst>
          </p:cNvPr>
          <p:cNvPicPr>
            <a:picLocks noChangeAspect="1"/>
          </p:cNvPicPr>
          <p:nvPr/>
        </p:nvPicPr>
        <p:blipFill>
          <a:blip r:embed="rId4"/>
          <a:srcRect l="9658" r="-1" b="-1"/>
          <a:stretch/>
        </p:blipFill>
        <p:spPr>
          <a:xfrm>
            <a:off x="3344" y="10"/>
            <a:ext cx="4646726" cy="6857990"/>
          </a:xfrm>
          <a:prstGeom prst="rect">
            <a:avLst/>
          </a:prstGeom>
        </p:spPr>
      </p:pic>
      <p:sp>
        <p:nvSpPr>
          <p:cNvPr id="3" name="Marcador de contenido 2"/>
          <p:cNvSpPr>
            <a:spLocks noGrp="1"/>
          </p:cNvSpPr>
          <p:nvPr>
            <p:ph idx="1"/>
          </p:nvPr>
        </p:nvSpPr>
        <p:spPr>
          <a:xfrm>
            <a:off x="4900048" y="1403603"/>
            <a:ext cx="6730276" cy="4050792"/>
          </a:xfrm>
        </p:spPr>
        <p:txBody>
          <a:bodyPr>
            <a:noAutofit/>
          </a:bodyPr>
          <a:lstStyle/>
          <a:p>
            <a:pPr algn="just"/>
            <a:r>
              <a:rPr lang="es-ES" dirty="0"/>
              <a:t>Critica la concepción sexista de Dios, porque “para hablar de Dios, se necesita un lenguaje inclusivo, fundado en las imágenes y experiencias de ambos géneros”. (</a:t>
            </a:r>
            <a:r>
              <a:rPr lang="es-ES" sz="1600" i="1" dirty="0" err="1"/>
              <a:t>Sexism</a:t>
            </a:r>
            <a:r>
              <a:rPr lang="es-ES" sz="1600" i="1" dirty="0"/>
              <a:t> and </a:t>
            </a:r>
            <a:r>
              <a:rPr lang="es-ES" sz="1600" i="1" dirty="0" err="1"/>
              <a:t>God-Talk</a:t>
            </a:r>
            <a:r>
              <a:rPr lang="es-ES" dirty="0"/>
              <a:t>)</a:t>
            </a:r>
          </a:p>
          <a:p>
            <a:pPr algn="just"/>
            <a:r>
              <a:rPr lang="es-ES" dirty="0"/>
              <a:t>El lenguaje de Dios/diosa no puede validar los roles pertinentes a los hombres o a las mujeres de manera estereotipada que justifiquen la dominación masculina y la subordinación femenina</a:t>
            </a:r>
            <a:r>
              <a:rPr lang="es-ES_tradnl" dirty="0"/>
              <a:t>.</a:t>
            </a:r>
          </a:p>
          <a:p>
            <a:pPr algn="just"/>
            <a:r>
              <a:rPr lang="es-ES" dirty="0"/>
              <a:t>Porque una antropología patriarcal y sexista que asocia la feminidad a la recepción implica que </a:t>
            </a:r>
            <a:r>
              <a:rPr lang="es-ES_tradnl" dirty="0"/>
              <a:t>“lo femenino nunca puede (…) expresar el ser divino en su plenitud, como puede hacerlo la concepción de Dios como principio masculino”. </a:t>
            </a:r>
          </a:p>
          <a:p>
            <a:pPr algn="just"/>
            <a:r>
              <a:rPr lang="es-ES" dirty="0"/>
              <a:t>Mientras la antropología continúe entendiendo la feminidad como el complemento de la dominación masculina, la mariología no podrá ser un símbolo liberador para las mujeres</a:t>
            </a:r>
            <a:r>
              <a:rPr lang="es-ES_tradnl" dirty="0"/>
              <a:t>.</a:t>
            </a:r>
          </a:p>
        </p:txBody>
      </p:sp>
      <p:grpSp>
        <p:nvGrpSpPr>
          <p:cNvPr id="12" name="Group 1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014284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algn="just"/>
            <a:r>
              <a:rPr lang="es-ES" dirty="0"/>
              <a:t>Para que esta comprensión se transforme, plantea la necesidad de un cambio en toda la dinámica de las relaciones. </a:t>
            </a:r>
          </a:p>
          <a:p>
            <a:pPr algn="just"/>
            <a:r>
              <a:rPr lang="es-ES" dirty="0"/>
              <a:t>Dejar de entender la actividad identificada con la acción y, como su contraparte, la receptividad como dependencia.</a:t>
            </a:r>
            <a:r>
              <a:rPr lang="es-ES_tradnl" dirty="0"/>
              <a:t> </a:t>
            </a:r>
          </a:p>
          <a:p>
            <a:pPr algn="just"/>
            <a:r>
              <a:rPr lang="es-ES" dirty="0"/>
              <a:t>En sí misma, la receptividad no es negativa, sino que ha sido la concepción patriarcal y sexista la que ha destruido la verdadera receptividad al equipararla con la impotencia, la incapacidad y la deficiencia</a:t>
            </a:r>
            <a:r>
              <a:rPr lang="es-ES_tradnl" dirty="0"/>
              <a:t>. </a:t>
            </a:r>
          </a:p>
          <a:p>
            <a:pPr algn="just"/>
            <a:r>
              <a:rPr lang="es-ES" dirty="0"/>
              <a:t>La receptividad auténtica solo es posible desde una posición de autonomía y autoestima</a:t>
            </a:r>
            <a:r>
              <a:rPr lang="es-ES_tradnl" dirty="0"/>
              <a:t>. </a:t>
            </a:r>
          </a:p>
        </p:txBody>
      </p:sp>
    </p:spTree>
    <p:extLst>
      <p:ext uri="{BB962C8B-B14F-4D97-AF65-F5344CB8AC3E}">
        <p14:creationId xmlns:p14="http://schemas.microsoft.com/office/powerpoint/2010/main" val="822657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382280" y="484632"/>
            <a:ext cx="6743844" cy="1609344"/>
          </a:xfrm>
        </p:spPr>
        <p:txBody>
          <a:bodyPr>
            <a:normAutofit/>
          </a:bodyPr>
          <a:lstStyle/>
          <a:p>
            <a:r>
              <a:rPr lang="es-ES_tradnl" sz="4800"/>
              <a:t>ELIZABETH JOHNSON </a:t>
            </a:r>
          </a:p>
        </p:txBody>
      </p:sp>
      <p:sp>
        <p:nvSpPr>
          <p:cNvPr id="3" name="Marcador de contenido 2"/>
          <p:cNvSpPr>
            <a:spLocks noGrp="1"/>
          </p:cNvSpPr>
          <p:nvPr>
            <p:ph idx="1"/>
          </p:nvPr>
        </p:nvSpPr>
        <p:spPr>
          <a:xfrm>
            <a:off x="382279" y="2121408"/>
            <a:ext cx="6743845" cy="4050792"/>
          </a:xfrm>
        </p:spPr>
        <p:txBody>
          <a:bodyPr>
            <a:normAutofit/>
          </a:bodyPr>
          <a:lstStyle/>
          <a:p>
            <a:pPr algn="just"/>
            <a:r>
              <a:rPr lang="es-ES" sz="1800" dirty="0"/>
              <a:t>Crítica a la antropología dualista o de la complementariedad y su concepción de María como ideal femenino</a:t>
            </a:r>
            <a:r>
              <a:rPr lang="es-ES_tradnl" sz="1800" dirty="0"/>
              <a:t>.</a:t>
            </a:r>
          </a:p>
          <a:p>
            <a:pPr algn="just"/>
            <a:r>
              <a:rPr lang="es-ES" sz="1800" dirty="0"/>
              <a:t>Se construye sobre una concepción esencialista del género, lo que lleva a asociar al varón y a la mujer dos tipos de naturaleza distinta, cada una con características propias</a:t>
            </a:r>
            <a:r>
              <a:rPr lang="es-ES_tradnl" sz="1800" dirty="0"/>
              <a:t>.</a:t>
            </a:r>
          </a:p>
          <a:p>
            <a:pPr algn="just"/>
            <a:r>
              <a:rPr lang="es-ES" sz="1800" dirty="0"/>
              <a:t>Propone, en cambio, una antropología plural que permita a varones y mujeres conectarse desde sus diferencias, es decir, dejando de poner el centro en garantizar su identidad mediante las oposiciones de género.</a:t>
            </a:r>
            <a:r>
              <a:rPr lang="es-ES_tradnl" sz="1800" dirty="0"/>
              <a:t> </a:t>
            </a:r>
          </a:p>
          <a:p>
            <a:pPr algn="just"/>
            <a:r>
              <a:rPr lang="es-ES_tradnl" sz="1800" dirty="0"/>
              <a:t>Antropología «</a:t>
            </a:r>
            <a:r>
              <a:rPr lang="es-ES" sz="1800" dirty="0"/>
              <a:t>igualitaria del compañerismo</a:t>
            </a:r>
            <a:r>
              <a:rPr lang="es-ES_tradnl" sz="1800" dirty="0"/>
              <a:t>»</a:t>
            </a:r>
            <a:r>
              <a:rPr lang="es-ES" sz="1800" dirty="0"/>
              <a:t>. Ésta entiende que la diferencia sexual tiene una importancia vital, pero no es el único elemento que define a una persona.</a:t>
            </a:r>
            <a:endParaRPr lang="es-ES_tradnl" sz="1800" dirty="0"/>
          </a:p>
        </p:txBody>
      </p:sp>
      <p:pic>
        <p:nvPicPr>
          <p:cNvPr id="5" name="Imagen 4" descr="Un hombre con un micrófono en la mano&#10;&#10;Descripción generada automáticamente con confianza baja">
            <a:extLst>
              <a:ext uri="{FF2B5EF4-FFF2-40B4-BE49-F238E27FC236}">
                <a16:creationId xmlns:a16="http://schemas.microsoft.com/office/drawing/2014/main" id="{2B6C4CE7-620D-9487-113C-A76785594208}"/>
              </a:ext>
            </a:extLst>
          </p:cNvPr>
          <p:cNvPicPr>
            <a:picLocks noChangeAspect="1"/>
          </p:cNvPicPr>
          <p:nvPr/>
        </p:nvPicPr>
        <p:blipFill>
          <a:blip r:embed="rId4"/>
          <a:srcRect l="25757" r="28507"/>
          <a:stretch/>
        </p:blipFill>
        <p:spPr>
          <a:xfrm>
            <a:off x="7545274" y="10"/>
            <a:ext cx="4646726" cy="6857990"/>
          </a:xfrm>
          <a:prstGeom prst="rect">
            <a:avLst/>
          </a:prstGeom>
        </p:spPr>
      </p:pic>
      <p:grpSp>
        <p:nvGrpSpPr>
          <p:cNvPr id="12" name="Group 11">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695605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algn="just"/>
            <a:r>
              <a:rPr lang="es-ES" dirty="0"/>
              <a:t>“La identidad personal se forja no sólo por el sexo sino también por la raza, la clase, la dinámica familiar, la herencia étnica, la pertenencia social y el entorno político, cultural y ecológico en interacción con la forma, irrepetible, en que cada persona incorpora esas marcas”</a:t>
            </a:r>
            <a:r>
              <a:rPr lang="es-ES_tradnl" dirty="0"/>
              <a:t>.</a:t>
            </a:r>
          </a:p>
          <a:p>
            <a:pPr algn="just"/>
            <a:r>
              <a:rPr lang="es-ES" dirty="0"/>
              <a:t>Objetivo liberador debido a la opresión que ésta permite sostener. </a:t>
            </a:r>
          </a:p>
          <a:p>
            <a:pPr algn="just"/>
            <a:r>
              <a:rPr lang="es-ES" dirty="0"/>
              <a:t>Trae como resultado un mundo en que los varones son los seres humanos normativos aptos para ejercer la autoridad en el terreno público –ya que la naturaleza masculina se distinguiría por la razón, la independencia y la capacidad de análisis, de tomar iniciativas y hacer juicios– lo que trae como consecuencia que las mujeres quedan relegadas al mundo privado. </a:t>
            </a:r>
            <a:endParaRPr lang="es-ES_tradnl" dirty="0"/>
          </a:p>
        </p:txBody>
      </p:sp>
    </p:spTree>
    <p:extLst>
      <p:ext uri="{BB962C8B-B14F-4D97-AF65-F5344CB8AC3E}">
        <p14:creationId xmlns:p14="http://schemas.microsoft.com/office/powerpoint/2010/main" val="123058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algn="just"/>
            <a:r>
              <a:rPr lang="es-ES" dirty="0"/>
              <a:t>La separación de los sexos con su atribución de características determinadas según la naturaleza tiene una comprensión dual de la realidad: materia-espíritu, acto-potencia, iniciativa-receptividad, gobierno-obediencia. </a:t>
            </a:r>
          </a:p>
          <a:p>
            <a:pPr algn="just"/>
            <a:r>
              <a:rPr lang="es-ES" dirty="0"/>
              <a:t>Estos binomios se traducen en la práctica en otro de control-subordinación. </a:t>
            </a:r>
          </a:p>
          <a:p>
            <a:pPr algn="just"/>
            <a:r>
              <a:rPr lang="es-ES" dirty="0"/>
              <a:t>Si lo que se quiere es terminar con la concepción y el discurso patriarcal, a donde hay que apuntar es justamente a la oposición masculino-femenino.</a:t>
            </a:r>
            <a:r>
              <a:rPr lang="es-ES_tradnl" dirty="0"/>
              <a:t> </a:t>
            </a:r>
          </a:p>
          <a:p>
            <a:pPr algn="just"/>
            <a:r>
              <a:rPr lang="es-ES" dirty="0"/>
              <a:t>Sin la idea simbólica de lo femenino como principio receptivo se cae la lógica subyacente al sistema patriarcal.</a:t>
            </a:r>
          </a:p>
        </p:txBody>
      </p:sp>
    </p:spTree>
    <p:extLst>
      <p:ext uri="{BB962C8B-B14F-4D97-AF65-F5344CB8AC3E}">
        <p14:creationId xmlns:p14="http://schemas.microsoft.com/office/powerpoint/2010/main" val="2079582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929390" y="824459"/>
            <a:ext cx="10198858" cy="5347741"/>
          </a:xfrm>
        </p:spPr>
        <p:txBody>
          <a:bodyPr>
            <a:normAutofit/>
          </a:bodyPr>
          <a:lstStyle/>
          <a:p>
            <a:pPr algn="just"/>
            <a:r>
              <a:rPr lang="es-ES_tradnl" dirty="0"/>
              <a:t>Importancia de esta deconstrucción</a:t>
            </a:r>
          </a:p>
          <a:p>
            <a:pPr lvl="1" algn="just"/>
            <a:r>
              <a:rPr lang="es-ES" dirty="0"/>
              <a:t>El pensamiento especulativo y el uso de tesis simbólicas, implican comportamientos concretos. Las representaciones simbólicas tienen implicancias en la forma en cómo se actúa con las mujeres reales</a:t>
            </a:r>
            <a:r>
              <a:rPr lang="es-ES_tradnl" dirty="0"/>
              <a:t> .</a:t>
            </a:r>
          </a:p>
          <a:p>
            <a:pPr lvl="1" algn="just"/>
            <a:r>
              <a:rPr lang="es-ES" dirty="0"/>
              <a:t>Esta antropología dualista es la que ha estado operando en la mariología tradicional, razón por la que su demolición resulta crucial para liberar la lectura sobre María</a:t>
            </a:r>
            <a:r>
              <a:rPr lang="es-ES_tradnl" dirty="0"/>
              <a:t>.</a:t>
            </a:r>
          </a:p>
          <a:p>
            <a:pPr marL="274320" lvl="1" indent="0" algn="just">
              <a:buNone/>
            </a:pPr>
            <a:endParaRPr lang="es-ES_tradnl" dirty="0"/>
          </a:p>
          <a:p>
            <a:pPr algn="just"/>
            <a:r>
              <a:rPr lang="es-ES" dirty="0"/>
              <a:t>El eje de la cuestión no es propiamente las virtudes asignadas a María –esto se podrá también discutir– sino el sistema dual de género que da marco a tal interpretación y que entiende que hay virtudes que por naturaleza son femeninas y que, por tanto, se oponen a otras masculinas. </a:t>
            </a:r>
          </a:p>
          <a:p>
            <a:pPr marL="0" indent="0" algn="just">
              <a:buNone/>
            </a:pPr>
            <a:endParaRPr lang="es-ES" dirty="0"/>
          </a:p>
          <a:p>
            <a:pPr algn="just"/>
            <a:r>
              <a:rPr lang="es-ES" dirty="0"/>
              <a:t>Encajonar las capacidades de varones y mujeres en unas diferencias supuestamente innatas basadas en estereotipos de género tradicionales compromete el potencial humano y espiritual tanto de varones como de mujeres.</a:t>
            </a:r>
            <a:endParaRPr lang="es-ES_tradnl" dirty="0"/>
          </a:p>
          <a:p>
            <a:endParaRPr lang="es-ES_tradnl" dirty="0"/>
          </a:p>
        </p:txBody>
      </p:sp>
    </p:spTree>
    <p:extLst>
      <p:ext uri="{BB962C8B-B14F-4D97-AF65-F5344CB8AC3E}">
        <p14:creationId xmlns:p14="http://schemas.microsoft.com/office/powerpoint/2010/main" val="1078816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algn="just"/>
            <a:r>
              <a:rPr lang="es-ES" dirty="0"/>
              <a:t>Mientras se use </a:t>
            </a:r>
            <a:r>
              <a:rPr lang="es-ES_tradnl" dirty="0"/>
              <a:t>“lo femenino para significar el principio receptivo complementario de la iniciativa masculina, María significará menos espacio para las mujeres en el </a:t>
            </a:r>
            <a:r>
              <a:rPr lang="es-ES_tradnl"/>
              <a:t>mundo”.</a:t>
            </a:r>
          </a:p>
          <a:p>
            <a:pPr algn="just"/>
            <a:endParaRPr lang="es-ES_tradnl" dirty="0"/>
          </a:p>
          <a:p>
            <a:pPr algn="just"/>
            <a:r>
              <a:rPr lang="es-ES_tradnl" dirty="0"/>
              <a:t>El camino hacia una mariología liberadora pasa por una antropología que permita salir del esquema dual que inevitablemente termina ligando la feminidad con la subordinación. </a:t>
            </a:r>
          </a:p>
        </p:txBody>
      </p:sp>
    </p:spTree>
    <p:extLst>
      <p:ext uri="{BB962C8B-B14F-4D97-AF65-F5344CB8AC3E}">
        <p14:creationId xmlns:p14="http://schemas.microsoft.com/office/powerpoint/2010/main" val="12808133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otalTime>3579</TotalTime>
  <Words>978</Words>
  <Application>Microsoft Macintosh PowerPoint</Application>
  <PresentationFormat>Panorámica</PresentationFormat>
  <Paragraphs>42</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Calibri</vt:lpstr>
      <vt:lpstr>Rockwell</vt:lpstr>
      <vt:lpstr>Rockwell Condensed</vt:lpstr>
      <vt:lpstr>Rockwell Extra Bold</vt:lpstr>
      <vt:lpstr>Wingdings</vt:lpstr>
      <vt:lpstr>Tipo de madera</vt:lpstr>
      <vt:lpstr>  Marialogía  y antropología</vt:lpstr>
      <vt:lpstr>Presentación de PowerPoint</vt:lpstr>
      <vt:lpstr>Kari Børresen </vt:lpstr>
      <vt:lpstr>Presentación de PowerPoint</vt:lpstr>
      <vt:lpstr>Rosemary radford ruether</vt:lpstr>
      <vt:lpstr>Presentación de PowerPoint</vt:lpstr>
      <vt:lpstr>ELIZABETH JOHNSON </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Blanca Besa</dc:creator>
  <cp:lastModifiedBy>blancabesa@gmail.com</cp:lastModifiedBy>
  <cp:revision>42</cp:revision>
  <dcterms:created xsi:type="dcterms:W3CDTF">2021-03-21T16:01:12Z</dcterms:created>
  <dcterms:modified xsi:type="dcterms:W3CDTF">2024-10-04T13:24:51Z</dcterms:modified>
</cp:coreProperties>
</file>