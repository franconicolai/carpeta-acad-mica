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268" r:id="rId2"/>
    <p:sldId id="270" r:id="rId3"/>
    <p:sldId id="271" r:id="rId4"/>
    <p:sldId id="272" r:id="rId5"/>
    <p:sldId id="275" r:id="rId6"/>
    <p:sldId id="276" r:id="rId7"/>
    <p:sldId id="277" r:id="rId8"/>
    <p:sldId id="278" r:id="rId9"/>
    <p:sldId id="279" r:id="rId10"/>
    <p:sldId id="280" r:id="rId11"/>
    <p:sldId id="28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58"/>
    <p:restoredTop sz="94474"/>
  </p:normalViewPr>
  <p:slideViewPr>
    <p:cSldViewPr snapToGrid="0" snapToObjects="1">
      <p:cViewPr varScale="1">
        <p:scale>
          <a:sx n="79" d="100"/>
          <a:sy n="79" d="100"/>
        </p:scale>
        <p:origin x="216" y="4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_tradnl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smtClean="0"/>
              <a:t>8/20/23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361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smtClean="0"/>
              <a:t>8/20/23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082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smtClean="0"/>
              <a:t>8/20/23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55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smtClean="0"/>
              <a:t>8/20/23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378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smtClean="0"/>
              <a:t>8/20/23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378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smtClean="0"/>
              <a:t>8/20/23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886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smtClean="0"/>
              <a:t>8/20/23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262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smtClean="0"/>
              <a:t>8/20/23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897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_tradnl"/>
              <a:t>Arrastre la imagen al marcador de posición o haga clic en el icono para agregarla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smtClean="0"/>
              <a:t>8/20/23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615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smtClean="0"/>
              <a:t>8/20/23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256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smtClean="0"/>
              <a:t>8/20/23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51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smtClean="0"/>
              <a:t>8/20/23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551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91126" y="979714"/>
            <a:ext cx="5320206" cy="2807540"/>
          </a:xfrm>
        </p:spPr>
        <p:txBody>
          <a:bodyPr>
            <a:normAutofit/>
          </a:bodyPr>
          <a:lstStyle/>
          <a:p>
            <a:pPr algn="ctr"/>
            <a:r>
              <a:rPr lang="es-ES_tradnl" sz="4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¿QUÉ ES LA MARIALOGÍA?</a:t>
            </a:r>
          </a:p>
        </p:txBody>
      </p:sp>
      <p:pic>
        <p:nvPicPr>
          <p:cNvPr id="7" name="Imagen 6" descr="Imagen que contiene tabla, hombre, viejo, grande&#10;&#10;Descripción generada automáticamente">
            <a:extLst>
              <a:ext uri="{FF2B5EF4-FFF2-40B4-BE49-F238E27FC236}">
                <a16:creationId xmlns:a16="http://schemas.microsoft.com/office/drawing/2014/main" id="{58825EAD-AACE-4B46-8ED6-292F7453D4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02" r="2" b="2"/>
          <a:stretch/>
        </p:blipFill>
        <p:spPr>
          <a:xfrm>
            <a:off x="7616215" y="10"/>
            <a:ext cx="4575785" cy="6857990"/>
          </a:xfrm>
          <a:custGeom>
            <a:avLst/>
            <a:gdLst/>
            <a:ahLst/>
            <a:cxnLst/>
            <a:rect l="l" t="t" r="r" b="b"/>
            <a:pathLst>
              <a:path w="4575785" h="6857999">
                <a:moveTo>
                  <a:pt x="517468" y="0"/>
                </a:moveTo>
                <a:lnTo>
                  <a:pt x="4575785" y="0"/>
                </a:lnTo>
                <a:lnTo>
                  <a:pt x="4575785" y="6857999"/>
                </a:lnTo>
                <a:lnTo>
                  <a:pt x="960511" y="6857999"/>
                </a:lnTo>
                <a:lnTo>
                  <a:pt x="942694" y="6843617"/>
                </a:lnTo>
                <a:cubicBezTo>
                  <a:pt x="964945" y="6792705"/>
                  <a:pt x="892574" y="6836929"/>
                  <a:pt x="865960" y="6827318"/>
                </a:cubicBezTo>
                <a:lnTo>
                  <a:pt x="861487" y="6823037"/>
                </a:lnTo>
                <a:lnTo>
                  <a:pt x="859513" y="6806858"/>
                </a:lnTo>
                <a:lnTo>
                  <a:pt x="860461" y="6800037"/>
                </a:lnTo>
                <a:cubicBezTo>
                  <a:pt x="860484" y="6795612"/>
                  <a:pt x="859691" y="6793024"/>
                  <a:pt x="858251" y="6791626"/>
                </a:cubicBezTo>
                <a:lnTo>
                  <a:pt x="857660" y="6791654"/>
                </a:lnTo>
                <a:lnTo>
                  <a:pt x="856643" y="6783314"/>
                </a:lnTo>
                <a:cubicBezTo>
                  <a:pt x="856157" y="6768705"/>
                  <a:pt x="856848" y="6753980"/>
                  <a:pt x="858459" y="6739543"/>
                </a:cubicBezTo>
                <a:cubicBezTo>
                  <a:pt x="825704" y="6742272"/>
                  <a:pt x="849542" y="6681110"/>
                  <a:pt x="794118" y="6710916"/>
                </a:cubicBezTo>
                <a:cubicBezTo>
                  <a:pt x="794610" y="6692179"/>
                  <a:pt x="815573" y="6671806"/>
                  <a:pt x="779817" y="6693690"/>
                </a:cubicBezTo>
                <a:cubicBezTo>
                  <a:pt x="778915" y="6687990"/>
                  <a:pt x="774885" y="6685995"/>
                  <a:pt x="769310" y="6685745"/>
                </a:cubicBezTo>
                <a:lnTo>
                  <a:pt x="766802" y="6686064"/>
                </a:lnTo>
                <a:cubicBezTo>
                  <a:pt x="767473" y="6672038"/>
                  <a:pt x="768145" y="6658011"/>
                  <a:pt x="768816" y="6643985"/>
                </a:cubicBezTo>
                <a:lnTo>
                  <a:pt x="764758" y="6640288"/>
                </a:lnTo>
                <a:lnTo>
                  <a:pt x="771603" y="6610439"/>
                </a:lnTo>
                <a:cubicBezTo>
                  <a:pt x="771799" y="6605729"/>
                  <a:pt x="776328" y="6505678"/>
                  <a:pt x="776524" y="6500968"/>
                </a:cubicBezTo>
                <a:lnTo>
                  <a:pt x="716862" y="6252242"/>
                </a:lnTo>
                <a:cubicBezTo>
                  <a:pt x="710358" y="6209033"/>
                  <a:pt x="712158" y="6177416"/>
                  <a:pt x="706006" y="6116988"/>
                </a:cubicBezTo>
                <a:cubicBezTo>
                  <a:pt x="664744" y="6009788"/>
                  <a:pt x="669134" y="5997889"/>
                  <a:pt x="675681" y="5921438"/>
                </a:cubicBezTo>
                <a:cubicBezTo>
                  <a:pt x="609567" y="5910253"/>
                  <a:pt x="667197" y="5880778"/>
                  <a:pt x="646967" y="5848021"/>
                </a:cubicBezTo>
                <a:cubicBezTo>
                  <a:pt x="633539" y="5819166"/>
                  <a:pt x="610193" y="5775630"/>
                  <a:pt x="595120" y="5722308"/>
                </a:cubicBezTo>
                <a:cubicBezTo>
                  <a:pt x="587517" y="5685814"/>
                  <a:pt x="566330" y="5564010"/>
                  <a:pt x="556522" y="5528087"/>
                </a:cubicBezTo>
                <a:cubicBezTo>
                  <a:pt x="551310" y="5519174"/>
                  <a:pt x="556171" y="5505252"/>
                  <a:pt x="536270" y="5506770"/>
                </a:cubicBezTo>
                <a:cubicBezTo>
                  <a:pt x="512052" y="5506489"/>
                  <a:pt x="543356" y="5459435"/>
                  <a:pt x="516612" y="5473320"/>
                </a:cubicBezTo>
                <a:cubicBezTo>
                  <a:pt x="537947" y="5440196"/>
                  <a:pt x="486731" y="5435838"/>
                  <a:pt x="471989" y="5418523"/>
                </a:cubicBezTo>
                <a:cubicBezTo>
                  <a:pt x="493820" y="5390817"/>
                  <a:pt x="454363" y="5377479"/>
                  <a:pt x="442299" y="5333204"/>
                </a:cubicBezTo>
                <a:cubicBezTo>
                  <a:pt x="467689" y="5302287"/>
                  <a:pt x="420786" y="5307848"/>
                  <a:pt x="452960" y="5255192"/>
                </a:cubicBezTo>
                <a:cubicBezTo>
                  <a:pt x="453300" y="5233631"/>
                  <a:pt x="429983" y="5195187"/>
                  <a:pt x="431339" y="5156169"/>
                </a:cubicBezTo>
                <a:cubicBezTo>
                  <a:pt x="398945" y="5067566"/>
                  <a:pt x="403718" y="5079988"/>
                  <a:pt x="404757" y="5025421"/>
                </a:cubicBezTo>
                <a:cubicBezTo>
                  <a:pt x="400018" y="4966103"/>
                  <a:pt x="402758" y="4976631"/>
                  <a:pt x="395660" y="4924394"/>
                </a:cubicBezTo>
                <a:cubicBezTo>
                  <a:pt x="383838" y="4897752"/>
                  <a:pt x="406451" y="4876973"/>
                  <a:pt x="390158" y="4861232"/>
                </a:cubicBezTo>
                <a:cubicBezTo>
                  <a:pt x="362582" y="4877952"/>
                  <a:pt x="368360" y="4813711"/>
                  <a:pt x="341238" y="4838615"/>
                </a:cubicBezTo>
                <a:cubicBezTo>
                  <a:pt x="311503" y="4831441"/>
                  <a:pt x="352577" y="4804970"/>
                  <a:pt x="326273" y="4796524"/>
                </a:cubicBezTo>
                <a:lnTo>
                  <a:pt x="284996" y="4672372"/>
                </a:lnTo>
                <a:cubicBezTo>
                  <a:pt x="298118" y="4649489"/>
                  <a:pt x="287003" y="4640074"/>
                  <a:pt x="267970" y="4634255"/>
                </a:cubicBezTo>
                <a:cubicBezTo>
                  <a:pt x="263754" y="4595383"/>
                  <a:pt x="222766" y="4593405"/>
                  <a:pt x="203275" y="4555830"/>
                </a:cubicBezTo>
                <a:cubicBezTo>
                  <a:pt x="181514" y="4524570"/>
                  <a:pt x="154438" y="4520149"/>
                  <a:pt x="133797" y="4479914"/>
                </a:cubicBezTo>
                <a:cubicBezTo>
                  <a:pt x="124082" y="4457346"/>
                  <a:pt x="105185" y="4427564"/>
                  <a:pt x="84156" y="4415916"/>
                </a:cubicBezTo>
                <a:lnTo>
                  <a:pt x="83303" y="4414752"/>
                </a:lnTo>
                <a:lnTo>
                  <a:pt x="72062" y="4388525"/>
                </a:lnTo>
                <a:lnTo>
                  <a:pt x="75315" y="4375182"/>
                </a:lnTo>
                <a:cubicBezTo>
                  <a:pt x="75941" y="4370194"/>
                  <a:pt x="75530" y="4367154"/>
                  <a:pt x="74333" y="4365355"/>
                </a:cubicBezTo>
                <a:lnTo>
                  <a:pt x="68893" y="4364787"/>
                </a:lnTo>
                <a:cubicBezTo>
                  <a:pt x="68887" y="4364737"/>
                  <a:pt x="68881" y="4364686"/>
                  <a:pt x="68875" y="4364636"/>
                </a:cubicBezTo>
                <a:cubicBezTo>
                  <a:pt x="68620" y="4351507"/>
                  <a:pt x="69309" y="4337030"/>
                  <a:pt x="58168" y="4323582"/>
                </a:cubicBezTo>
                <a:cubicBezTo>
                  <a:pt x="61811" y="4263350"/>
                  <a:pt x="99263" y="4233013"/>
                  <a:pt x="79972" y="4208494"/>
                </a:cubicBezTo>
                <a:cubicBezTo>
                  <a:pt x="88758" y="4180446"/>
                  <a:pt x="125844" y="4152085"/>
                  <a:pt x="106280" y="4120638"/>
                </a:cubicBezTo>
                <a:cubicBezTo>
                  <a:pt x="111598" y="4121936"/>
                  <a:pt x="113804" y="4120147"/>
                  <a:pt x="114398" y="4116558"/>
                </a:cubicBezTo>
                <a:cubicBezTo>
                  <a:pt x="114157" y="4114248"/>
                  <a:pt x="113917" y="4111937"/>
                  <a:pt x="113677" y="4109627"/>
                </a:cubicBezTo>
                <a:lnTo>
                  <a:pt x="105699" y="4105626"/>
                </a:lnTo>
                <a:cubicBezTo>
                  <a:pt x="77890" y="4088880"/>
                  <a:pt x="108987" y="4082598"/>
                  <a:pt x="106408" y="4051443"/>
                </a:cubicBezTo>
                <a:cubicBezTo>
                  <a:pt x="106858" y="4036630"/>
                  <a:pt x="97032" y="3985550"/>
                  <a:pt x="103822" y="3988496"/>
                </a:cubicBezTo>
                <a:lnTo>
                  <a:pt x="75372" y="3857059"/>
                </a:lnTo>
                <a:cubicBezTo>
                  <a:pt x="82817" y="3836376"/>
                  <a:pt x="81742" y="3824520"/>
                  <a:pt x="64937" y="3815652"/>
                </a:cubicBezTo>
                <a:cubicBezTo>
                  <a:pt x="102287" y="3718925"/>
                  <a:pt x="55573" y="3772320"/>
                  <a:pt x="59080" y="3696747"/>
                </a:cubicBezTo>
                <a:cubicBezTo>
                  <a:pt x="66269" y="3629648"/>
                  <a:pt x="63240" y="3571908"/>
                  <a:pt x="85623" y="3491441"/>
                </a:cubicBezTo>
                <a:cubicBezTo>
                  <a:pt x="98410" y="3474059"/>
                  <a:pt x="99525" y="3431012"/>
                  <a:pt x="100691" y="3417526"/>
                </a:cubicBezTo>
                <a:cubicBezTo>
                  <a:pt x="101857" y="3404040"/>
                  <a:pt x="95556" y="3412369"/>
                  <a:pt x="92620" y="3410525"/>
                </a:cubicBezTo>
                <a:cubicBezTo>
                  <a:pt x="92153" y="3374230"/>
                  <a:pt x="83244" y="3285268"/>
                  <a:pt x="79737" y="3235496"/>
                </a:cubicBezTo>
                <a:cubicBezTo>
                  <a:pt x="70953" y="3207448"/>
                  <a:pt x="52012" y="3143347"/>
                  <a:pt x="71576" y="3111898"/>
                </a:cubicBezTo>
                <a:cubicBezTo>
                  <a:pt x="66408" y="3077014"/>
                  <a:pt x="53542" y="3056489"/>
                  <a:pt x="48725" y="3026189"/>
                </a:cubicBezTo>
                <a:cubicBezTo>
                  <a:pt x="35029" y="3013335"/>
                  <a:pt x="35295" y="2950066"/>
                  <a:pt x="42673" y="2930099"/>
                </a:cubicBezTo>
                <a:cubicBezTo>
                  <a:pt x="72765" y="2876461"/>
                  <a:pt x="20837" y="2811743"/>
                  <a:pt x="43260" y="2768401"/>
                </a:cubicBezTo>
                <a:cubicBezTo>
                  <a:pt x="44784" y="2755816"/>
                  <a:pt x="43709" y="2744724"/>
                  <a:pt x="41022" y="2734617"/>
                </a:cubicBezTo>
                <a:lnTo>
                  <a:pt x="29707" y="2708118"/>
                </a:lnTo>
                <a:lnTo>
                  <a:pt x="18896" y="2704187"/>
                </a:lnTo>
                <a:lnTo>
                  <a:pt x="16157" y="2686013"/>
                </a:lnTo>
                <a:lnTo>
                  <a:pt x="0" y="2656506"/>
                </a:lnTo>
                <a:cubicBezTo>
                  <a:pt x="46275" y="2648213"/>
                  <a:pt x="-21852" y="2580542"/>
                  <a:pt x="20000" y="2589495"/>
                </a:cubicBezTo>
                <a:cubicBezTo>
                  <a:pt x="9004" y="2539865"/>
                  <a:pt x="51725" y="2561406"/>
                  <a:pt x="4503" y="2517909"/>
                </a:cubicBezTo>
                <a:cubicBezTo>
                  <a:pt x="18312" y="2426183"/>
                  <a:pt x="2043" y="2320005"/>
                  <a:pt x="38580" y="2235940"/>
                </a:cubicBezTo>
                <a:cubicBezTo>
                  <a:pt x="39530" y="2131535"/>
                  <a:pt x="31342" y="1983035"/>
                  <a:pt x="28357" y="1891475"/>
                </a:cubicBezTo>
                <a:cubicBezTo>
                  <a:pt x="18536" y="1816240"/>
                  <a:pt x="53985" y="1820215"/>
                  <a:pt x="16422" y="1754299"/>
                </a:cubicBezTo>
                <a:cubicBezTo>
                  <a:pt x="22523" y="1748800"/>
                  <a:pt x="14115" y="1712020"/>
                  <a:pt x="17619" y="1704948"/>
                </a:cubicBezTo>
                <a:lnTo>
                  <a:pt x="11875" y="1640075"/>
                </a:lnTo>
                <a:lnTo>
                  <a:pt x="10148" y="1637400"/>
                </a:lnTo>
                <a:cubicBezTo>
                  <a:pt x="6571" y="1625366"/>
                  <a:pt x="7662" y="1617809"/>
                  <a:pt x="10809" y="1612250"/>
                </a:cubicBezTo>
                <a:lnTo>
                  <a:pt x="30710" y="1498099"/>
                </a:lnTo>
                <a:lnTo>
                  <a:pt x="28832" y="1497366"/>
                </a:lnTo>
                <a:lnTo>
                  <a:pt x="25420" y="1490044"/>
                </a:lnTo>
                <a:lnTo>
                  <a:pt x="36357" y="1429750"/>
                </a:lnTo>
                <a:cubicBezTo>
                  <a:pt x="56105" y="1395764"/>
                  <a:pt x="51096" y="1348657"/>
                  <a:pt x="63323" y="1316453"/>
                </a:cubicBezTo>
                <a:cubicBezTo>
                  <a:pt x="113953" y="1206017"/>
                  <a:pt x="97314" y="1160971"/>
                  <a:pt x="167299" y="1100758"/>
                </a:cubicBezTo>
                <a:cubicBezTo>
                  <a:pt x="183322" y="1066821"/>
                  <a:pt x="207320" y="1013057"/>
                  <a:pt x="218971" y="997428"/>
                </a:cubicBezTo>
                <a:cubicBezTo>
                  <a:pt x="225661" y="983599"/>
                  <a:pt x="245059" y="996998"/>
                  <a:pt x="249304" y="969068"/>
                </a:cubicBezTo>
                <a:cubicBezTo>
                  <a:pt x="273910" y="912445"/>
                  <a:pt x="257335" y="876944"/>
                  <a:pt x="307518" y="815816"/>
                </a:cubicBezTo>
                <a:cubicBezTo>
                  <a:pt x="319844" y="734499"/>
                  <a:pt x="427269" y="648257"/>
                  <a:pt x="438631" y="588216"/>
                </a:cubicBezTo>
                <a:cubicBezTo>
                  <a:pt x="468336" y="534577"/>
                  <a:pt x="480025" y="521047"/>
                  <a:pt x="494548" y="466832"/>
                </a:cubicBezTo>
                <a:cubicBezTo>
                  <a:pt x="513994" y="444023"/>
                  <a:pt x="469014" y="421695"/>
                  <a:pt x="512985" y="406165"/>
                </a:cubicBezTo>
                <a:cubicBezTo>
                  <a:pt x="519819" y="312467"/>
                  <a:pt x="496295" y="285415"/>
                  <a:pt x="499246" y="226337"/>
                </a:cubicBezTo>
                <a:cubicBezTo>
                  <a:pt x="511217" y="180655"/>
                  <a:pt x="525793" y="85726"/>
                  <a:pt x="530694" y="51692"/>
                </a:cubicBezTo>
                <a:cubicBezTo>
                  <a:pt x="512001" y="39736"/>
                  <a:pt x="522977" y="34428"/>
                  <a:pt x="528655" y="22135"/>
                </a:cubicBezTo>
                <a:cubicBezTo>
                  <a:pt x="511506" y="14446"/>
                  <a:pt x="513258" y="7722"/>
                  <a:pt x="516964" y="1039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0170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Introducción 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sz="2400" dirty="0"/>
              <a:t>Mariología: área de la teología que se dedica a estudiar la figura de María: quién es, su papel en la historia de la salvación, qué se puede (o no se puede) afirmar de ella, etc. </a:t>
            </a:r>
          </a:p>
          <a:p>
            <a:r>
              <a:rPr lang="es-ES_tradnl" sz="2400" dirty="0"/>
              <a:t> Complejidad a la que nos enfrentamos:</a:t>
            </a:r>
          </a:p>
          <a:p>
            <a:pPr lvl="1"/>
            <a:r>
              <a:rPr lang="es-ES_tradnl" sz="2200" dirty="0"/>
              <a:t>Supone una síntesis teológica</a:t>
            </a:r>
          </a:p>
          <a:p>
            <a:pPr lvl="1"/>
            <a:r>
              <a:rPr lang="es-ES_tradnl" sz="2200" dirty="0"/>
              <a:t>Cruza muchas de sus áreas. </a:t>
            </a:r>
          </a:p>
          <a:p>
            <a:pPr lvl="1"/>
            <a:r>
              <a:rPr lang="es-ES_tradnl" sz="2200" dirty="0"/>
              <a:t>Se hace necesario conocer algunas nociones básicas para poder entender la crítica y propuesta feminista. 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930697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Punto de partida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Fuente de la teología: la Sagrada Escritura </a:t>
            </a:r>
          </a:p>
          <a:p>
            <a:r>
              <a:rPr lang="es-ES_tradnl" dirty="0"/>
              <a:t>En el caso de la mariología: pocos textos </a:t>
            </a:r>
          </a:p>
          <a:p>
            <a:r>
              <a:rPr lang="es-ES_tradnl" dirty="0"/>
              <a:t>La función/intención de los Evangelios es transmitir la fe en Jesús. María aparece “en función” de transmitir esa fe. </a:t>
            </a:r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894659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Gálatas 4, 4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69848" y="1705771"/>
            <a:ext cx="10058400" cy="4819719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s-ES_tradnl" i="1" dirty="0"/>
              <a:t>“Al llegar la plenitud de los tiempos, envió Dios a su Hijo, nacido de una mujer, nacido bajo la ley, para rescatar a los que se hallaban bajo la ley, y para que recibiéramos la condición de hijos. ”</a:t>
            </a:r>
          </a:p>
          <a:p>
            <a:pPr marL="0" indent="0">
              <a:buNone/>
            </a:pPr>
            <a:r>
              <a:rPr lang="es-ES_tradnl" dirty="0"/>
              <a:t>Elementos importantes que el texto nos revela:</a:t>
            </a:r>
          </a:p>
          <a:p>
            <a:r>
              <a:rPr lang="es-ES_tradnl" dirty="0"/>
              <a:t>Misterio de la Encarnación. </a:t>
            </a:r>
          </a:p>
          <a:p>
            <a:r>
              <a:rPr lang="es-ES_tradnl" dirty="0"/>
              <a:t>Misterio de la maternidad/ </a:t>
            </a:r>
            <a:r>
              <a:rPr lang="es-ES_tradnl" dirty="0" err="1"/>
              <a:t>kénosis</a:t>
            </a:r>
            <a:r>
              <a:rPr lang="es-ES_tradnl" dirty="0"/>
              <a:t>. Fue un verdadero hombre, nació de una mujer.</a:t>
            </a:r>
          </a:p>
          <a:p>
            <a:r>
              <a:rPr lang="es-ES_tradnl" dirty="0"/>
              <a:t>Nacido bajo la ley: pertenencia al pueblo de Israel. La ley es expresión de la alianza, de ser un pueblo escogido. </a:t>
            </a:r>
          </a:p>
          <a:p>
            <a:r>
              <a:rPr lang="es-ES_tradnl" dirty="0"/>
              <a:t>Para rescatar a los que se hallaban bajo la ley: agrega finalidad, recatar. Se trata de un envío de salvación</a:t>
            </a:r>
          </a:p>
          <a:p>
            <a:r>
              <a:rPr lang="es-ES_tradnl" dirty="0"/>
              <a:t>Para que reciban filiación divina. Hijos en el hijo. El plan divino es la filiación (relación).</a:t>
            </a:r>
          </a:p>
          <a:p>
            <a:pPr marL="0" indent="0" algn="ctr">
              <a:buNone/>
            </a:pPr>
            <a:r>
              <a:rPr lang="es-ES_tradnl" b="1" dirty="0"/>
              <a:t>El misterio de María se debe comprender a la luz de un plan de salvación en el que ella ocupa un lugar central. </a:t>
            </a:r>
          </a:p>
          <a:p>
            <a:pPr marL="0" indent="0">
              <a:buNone/>
            </a:pPr>
            <a:endParaRPr lang="es-ES_tradnl" dirty="0"/>
          </a:p>
          <a:p>
            <a:pPr marL="0" indent="0">
              <a:buNone/>
            </a:pPr>
            <a:endParaRPr lang="es-ES_tradnl" dirty="0"/>
          </a:p>
          <a:p>
            <a:pPr marL="0" indent="0">
              <a:buNone/>
            </a:pP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361188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Desarrollo del dogma: María, Madre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Afirmaciones cristológicas que van derivando en unas mariológicas </a:t>
            </a:r>
          </a:p>
          <a:p>
            <a:r>
              <a:rPr lang="es-ES_tradnl" dirty="0"/>
              <a:t>Contra los docetas: Ignacio de Antioquía habla de que Jesús nació de María virgen para enfatizar su humanidad. </a:t>
            </a:r>
          </a:p>
          <a:p>
            <a:r>
              <a:rPr lang="es-ES_tradnl" dirty="0"/>
              <a:t>Primera afirmación de María (Éfeso 431) : madre virginal de Dios. </a:t>
            </a:r>
          </a:p>
          <a:p>
            <a:pPr lvl="1"/>
            <a:r>
              <a:rPr lang="es-ES_tradnl" dirty="0"/>
              <a:t>Humano Y divino. </a:t>
            </a:r>
          </a:p>
          <a:p>
            <a:pPr lvl="1"/>
            <a:r>
              <a:rPr lang="es-ES_tradnl" dirty="0"/>
              <a:t>Ella no es madre de una naturaleza, sino de la persona. </a:t>
            </a:r>
          </a:p>
          <a:p>
            <a:pPr lvl="1"/>
            <a:r>
              <a:rPr lang="es-ES_tradnl" dirty="0"/>
              <a:t>Con el tiempo esto implicó que María tiene un lugar especial en el plan de salvación. </a:t>
            </a:r>
          </a:p>
          <a:p>
            <a:pPr lvl="1"/>
            <a:r>
              <a:rPr lang="es-ES_tradnl" dirty="0"/>
              <a:t>María es el lugar histórico en el que Dios se hace carne para habitar entre nosotros. Es una verdadera madre. </a:t>
            </a:r>
          </a:p>
          <a:p>
            <a:r>
              <a:rPr lang="es-ES_tradnl" dirty="0"/>
              <a:t>La creencia mariana estuvo siempre ligada al culto, a la experiencia </a:t>
            </a:r>
          </a:p>
        </p:txBody>
      </p:sp>
    </p:spTree>
    <p:extLst>
      <p:ext uri="{BB962C8B-B14F-4D97-AF65-F5344CB8AC3E}">
        <p14:creationId xmlns:p14="http://schemas.microsoft.com/office/powerpoint/2010/main" val="148202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María, Virgen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Virgen: sin intervención humana, puro don. El ser humano no puede salvarse a sí mismo. </a:t>
            </a:r>
          </a:p>
          <a:p>
            <a:r>
              <a:rPr lang="es-ES_tradnl" dirty="0"/>
              <a:t> Desarrollo comprensión virginidad: María completamente consagrada a su hijo. Deriva en María siempre virgen (ni tuvo relaciones sexuales ni otros hijos). </a:t>
            </a:r>
          </a:p>
          <a:p>
            <a:r>
              <a:rPr lang="es-ES_tradnl" dirty="0"/>
              <a:t>Verdadero parto, lo otro concepciones piadosas. María da a luz verdadera y realmente. </a:t>
            </a:r>
          </a:p>
          <a:p>
            <a:r>
              <a:rPr lang="es-ES_tradnl" dirty="0"/>
              <a:t>Virginidad </a:t>
            </a:r>
            <a:r>
              <a:rPr lang="es-ES_tradnl" dirty="0">
                <a:sym typeface="Wingdings" charset="2"/>
              </a:rPr>
              <a:t></a:t>
            </a:r>
            <a:r>
              <a:rPr lang="es-ES_tradnl" dirty="0"/>
              <a:t> es cristológica. Para explicar el origen divino de Jesús. No producimos al redentor, es una iniciativa gratuita de Dios.</a:t>
            </a:r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988395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siglos VIII-XI: explosión de piedad mariana. </a:t>
            </a:r>
          </a:p>
          <a:p>
            <a:r>
              <a:rPr lang="es-ES_tradnl" dirty="0"/>
              <a:t>Grandes fiestas que preparan el desarrollo mariológico de XI-XII, este último, siglo mariano por excelencia. </a:t>
            </a:r>
          </a:p>
          <a:p>
            <a:r>
              <a:rPr lang="es-ES_tradnl" dirty="0"/>
              <a:t>Importancia de la piedad mariana del pueblo. Desarrollo mariológico no puede entenderse desligado de esto. </a:t>
            </a:r>
          </a:p>
        </p:txBody>
      </p:sp>
    </p:spTree>
    <p:extLst>
      <p:ext uri="{BB962C8B-B14F-4D97-AF65-F5344CB8AC3E}">
        <p14:creationId xmlns:p14="http://schemas.microsoft.com/office/powerpoint/2010/main" val="1675342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Inmaculada Concepción, 1854</a:t>
            </a:r>
            <a:br>
              <a:rPr lang="es-ES_tradnl" dirty="0"/>
            </a:b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Hace referencia a María llena de gracia. En contraposición al pecado original.</a:t>
            </a:r>
          </a:p>
          <a:p>
            <a:r>
              <a:rPr lang="es-ES_tradnl" dirty="0"/>
              <a:t>Pecado v/s gracia</a:t>
            </a:r>
          </a:p>
          <a:p>
            <a:r>
              <a:rPr lang="es-ES_tradnl" dirty="0"/>
              <a:t>María no fue purificada (nosotros en la redención) sino preservada del pecado original desde el momento de su concepción. </a:t>
            </a:r>
          </a:p>
          <a:p>
            <a:r>
              <a:rPr lang="es-ES_tradnl" dirty="0"/>
              <a:t>Afirmación de la primacía absoluta de la iniciativa de Dios, manifestada de modo singular en María. </a:t>
            </a:r>
          </a:p>
          <a:p>
            <a:r>
              <a:rPr lang="es-ES_tradnl" dirty="0"/>
              <a:t>Privilegio por su misión única</a:t>
            </a:r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712235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Asunción, 1950</a:t>
            </a:r>
            <a:br>
              <a:rPr lang="es-ES_tradnl" dirty="0"/>
            </a:b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69848" y="1316181"/>
            <a:ext cx="10058400" cy="5375563"/>
          </a:xfrm>
        </p:spPr>
        <p:txBody>
          <a:bodyPr/>
          <a:lstStyle/>
          <a:p>
            <a:r>
              <a:rPr lang="es-ES_tradnl" dirty="0"/>
              <a:t>Glorificación de su cuerpo anticipada. </a:t>
            </a:r>
          </a:p>
          <a:p>
            <a:r>
              <a:rPr lang="es-ES_tradnl" dirty="0"/>
              <a:t>“Cumplido el curso de su vida terrestre, fue asunta en cuerpo y alma. Se encuentra en aquel estado en el que se hallarán los justos después de la Resurrección final.” </a:t>
            </a:r>
          </a:p>
          <a:p>
            <a:r>
              <a:rPr lang="es-ES_tradnl" dirty="0"/>
              <a:t>No significa que no haya muerte y sepulcro. No se menciona un desplazamiento espacial (al cielo) sino un estado (la gloria celestial). </a:t>
            </a:r>
          </a:p>
          <a:p>
            <a:r>
              <a:rPr lang="es-ES_tradnl" dirty="0"/>
              <a:t>Es un misterio de fe como consecuencia de la unión amorosa entre María-madre y su hijo. “Honrarás a tu padre y a tu madre”. </a:t>
            </a:r>
          </a:p>
          <a:p>
            <a:r>
              <a:rPr lang="es-ES_tradnl" dirty="0"/>
              <a:t>No es contrario a la muerte, propia del ser humano. Es anticipación de la Resurrección. </a:t>
            </a:r>
          </a:p>
          <a:p>
            <a:r>
              <a:rPr lang="es-ES_tradnl" dirty="0"/>
              <a:t>Nos anuncia nuestro destino último y original: participación en la vida de la Trinidad sin perder nuestra identidad (corporalidad). </a:t>
            </a:r>
          </a:p>
          <a:p>
            <a:r>
              <a:rPr lang="es-ES_tradnl" dirty="0"/>
              <a:t>Es un privilegio mariano, pero no es exclusivo suyo. El privilegio consiste en la anticipación. </a:t>
            </a:r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072105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Síntesis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_tradnl" dirty="0"/>
              <a:t>a) María, madre de Dios</a:t>
            </a:r>
          </a:p>
          <a:p>
            <a:pPr marL="0" indent="0">
              <a:buNone/>
            </a:pPr>
            <a:r>
              <a:rPr lang="es-ES_tradnl" dirty="0"/>
              <a:t>b) María, siempre virgen</a:t>
            </a:r>
          </a:p>
          <a:p>
            <a:pPr marL="0" indent="0">
              <a:buNone/>
            </a:pPr>
            <a:r>
              <a:rPr lang="es-ES_tradnl" dirty="0"/>
              <a:t>c) Inmaculada</a:t>
            </a:r>
          </a:p>
          <a:p>
            <a:pPr marL="0" indent="0">
              <a:buNone/>
            </a:pPr>
            <a:r>
              <a:rPr lang="es-ES_tradnl" dirty="0"/>
              <a:t>d) Asunción </a:t>
            </a:r>
          </a:p>
          <a:p>
            <a:pPr marL="0" indent="0">
              <a:buNone/>
            </a:pPr>
            <a:endParaRPr lang="es-ES_tradnl" dirty="0"/>
          </a:p>
          <a:p>
            <a:r>
              <a:rPr lang="es-ES_tradnl" dirty="0"/>
              <a:t>Época antigua: maternidad divina y virginidad </a:t>
            </a:r>
            <a:r>
              <a:rPr lang="es-ES_tradnl" dirty="0">
                <a:sym typeface="Wingdings" charset="2"/>
              </a:rPr>
              <a:t></a:t>
            </a:r>
            <a:r>
              <a:rPr lang="es-ES_tradnl" dirty="0"/>
              <a:t> encuadre cristológico</a:t>
            </a:r>
          </a:p>
          <a:p>
            <a:r>
              <a:rPr lang="es-ES_tradnl" dirty="0"/>
              <a:t>Época moderna: Inmaculada y Asunción </a:t>
            </a:r>
            <a:r>
              <a:rPr lang="es-ES_tradnl" dirty="0">
                <a:sym typeface="Wingdings" charset="2"/>
              </a:rPr>
              <a:t></a:t>
            </a:r>
            <a:r>
              <a:rPr lang="es-ES_tradnl" dirty="0"/>
              <a:t> encuadre antropológico. </a:t>
            </a:r>
          </a:p>
          <a:p>
            <a:r>
              <a:rPr lang="es-ES_tradnl" dirty="0"/>
              <a:t>Todos los dogmas se entienden desde la maternidad divina. No se puede pensar a María sino desde Cristo. </a:t>
            </a:r>
          </a:p>
          <a:p>
            <a:pPr marL="0" indent="0">
              <a:buNone/>
            </a:pPr>
            <a:endParaRPr lang="es-ES_tradnl" dirty="0"/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657456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D195B5-11E8-C594-D1A1-858E3E1F4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Marialogía hoy </a:t>
            </a:r>
          </a:p>
        </p:txBody>
      </p:sp>
      <p:pic>
        <p:nvPicPr>
          <p:cNvPr id="5" name="Marcador de contenido 4" descr="Texto&#10;&#10;Descripción generada automáticamente">
            <a:extLst>
              <a:ext uri="{FF2B5EF4-FFF2-40B4-BE49-F238E27FC236}">
                <a16:creationId xmlns:a16="http://schemas.microsoft.com/office/drawing/2014/main" id="{9C7955E1-FB77-B7BE-E194-CE4026ADA6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9615" y="2322068"/>
            <a:ext cx="6232769" cy="4051300"/>
          </a:xfrm>
        </p:spPr>
      </p:pic>
    </p:spTree>
    <p:extLst>
      <p:ext uri="{BB962C8B-B14F-4D97-AF65-F5344CB8AC3E}">
        <p14:creationId xmlns:p14="http://schemas.microsoft.com/office/powerpoint/2010/main" val="35565751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ipo de madera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Letras en madera</Template>
  <TotalTime>1628</TotalTime>
  <Words>837</Words>
  <Application>Microsoft Macintosh PowerPoint</Application>
  <PresentationFormat>Panorámica</PresentationFormat>
  <Paragraphs>62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Calibri</vt:lpstr>
      <vt:lpstr>Rockwell</vt:lpstr>
      <vt:lpstr>Rockwell Condensed</vt:lpstr>
      <vt:lpstr>Rockwell Extra Bold</vt:lpstr>
      <vt:lpstr>Wingdings</vt:lpstr>
      <vt:lpstr>Tipo de madera</vt:lpstr>
      <vt:lpstr>¿QUÉ ES LA MARIALOGÍA?</vt:lpstr>
      <vt:lpstr>Introducción </vt:lpstr>
      <vt:lpstr>Punto de partida</vt:lpstr>
      <vt:lpstr>Gálatas 4, 4</vt:lpstr>
      <vt:lpstr>Desarrollo del dogma: María, Madre</vt:lpstr>
      <vt:lpstr>María, Virgen</vt:lpstr>
      <vt:lpstr>Presentación de PowerPoint</vt:lpstr>
      <vt:lpstr>Inmaculada Concepción, 1854 </vt:lpstr>
      <vt:lpstr>Asunción, 1950 </vt:lpstr>
      <vt:lpstr>Síntesis </vt:lpstr>
      <vt:lpstr>Marialogía hoy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 razón de mi fe</dc:title>
  <dc:creator>Blanca Besa</dc:creator>
  <cp:lastModifiedBy>blancabesa@gmail.com</cp:lastModifiedBy>
  <cp:revision>39</cp:revision>
  <dcterms:created xsi:type="dcterms:W3CDTF">2020-08-05T15:55:47Z</dcterms:created>
  <dcterms:modified xsi:type="dcterms:W3CDTF">2023-08-20T20:51:39Z</dcterms:modified>
</cp:coreProperties>
</file>